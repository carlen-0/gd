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81" r:id="rId3"/>
    <p:sldId id="282" r:id="rId5"/>
    <p:sldId id="283" r:id="rId6"/>
    <p:sldId id="284" r:id="rId7"/>
    <p:sldId id="285" r:id="rId8"/>
    <p:sldId id="286" r:id="rId9"/>
    <p:sldId id="287" r:id="rId10"/>
    <p:sldId id="288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6146" name="文本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6146" name="文本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6146" name="文本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6146" name="文本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6146" name="文本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6146" name="文本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6146" name="文本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6146" name="文本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50000">
              <a:schemeClr val="tx1"/>
            </a:gs>
            <a:gs pos="0">
              <a:schemeClr val="tx1">
                <a:lumMod val="25000"/>
                <a:lumOff val="75000"/>
              </a:schemeClr>
            </a:gs>
            <a:gs pos="100000">
              <a:schemeClr val="tx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png"/><Relationship Id="rId8" Type="http://schemas.openxmlformats.org/officeDocument/2006/relationships/image" Target="../media/image15.png"/><Relationship Id="rId7" Type="http://schemas.openxmlformats.org/officeDocument/2006/relationships/image" Target="../media/image14.png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1" Type="http://schemas.openxmlformats.org/officeDocument/2006/relationships/notesSlide" Target="../notesSlides/notesSlide4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6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23.png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vmlDrawing" Target="../drawings/vmlDrawing1.v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emf"/><Relationship Id="rId3" Type="http://schemas.openxmlformats.org/officeDocument/2006/relationships/oleObject" Target="../embeddings/oleObject1.bin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211_画板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779494" y="441025"/>
            <a:ext cx="6607175" cy="6802755"/>
          </a:xfrm>
          <a:prstGeom prst="rect">
            <a:avLst/>
          </a:prstGeom>
        </p:spPr>
      </p:pic>
      <p:pic>
        <p:nvPicPr>
          <p:cNvPr id="14" name="图片 13" descr="未标题33_画板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0685" y="-99060"/>
            <a:ext cx="1499235" cy="135128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35360" y="332656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图像增强</a:t>
            </a:r>
            <a:endParaRPr lang="zh-CN" altLang="en-US" sz="28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54487" y="964245"/>
            <a:ext cx="8045769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048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  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细节增强算法</a:t>
            </a:r>
            <a:r>
              <a:rPr lang="zh-CN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的主要思想：一帧红外图像经单边灰度滤波之后得到基频分量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Base1</a:t>
            </a:r>
            <a:r>
              <a:rPr lang="zh-CN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；基频分量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Base1</a:t>
            </a:r>
            <a:r>
              <a:rPr lang="zh-CN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经过高斯滤波之后获得被修正的基频分量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Base2</a:t>
            </a:r>
            <a:r>
              <a:rPr lang="zh-CN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；被修正的基频分量经过调光处理得到基频分量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Base</a:t>
            </a:r>
            <a:r>
              <a:rPr lang="zh-CN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，原始红外图像减去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Base2</a:t>
            </a:r>
            <a:r>
              <a:rPr lang="zh-CN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得到细节分量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Detail1</a:t>
            </a:r>
            <a:r>
              <a:rPr lang="zh-CN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，将该细节分量经过限值处理，得到动态范围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[-</a:t>
            </a:r>
            <a:r>
              <a:rPr lang="en-US" altLang="zh-CN" sz="24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dr,dr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]</a:t>
            </a:r>
            <a:r>
              <a:rPr lang="zh-CN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的细节分量图像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Detail2</a:t>
            </a:r>
            <a:r>
              <a:rPr lang="zh-CN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，最后，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Base+Detail2 </a:t>
            </a:r>
            <a:r>
              <a:rPr lang="zh-CN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得到经过数字细节增强后的处理图像。</a:t>
            </a:r>
            <a:endParaRPr lang="en-US" altLang="zh-CN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1580" y="1124744"/>
            <a:ext cx="3486642" cy="51291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211_画板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779494" y="441025"/>
            <a:ext cx="6607175" cy="6802755"/>
          </a:xfrm>
          <a:prstGeom prst="rect">
            <a:avLst/>
          </a:prstGeom>
        </p:spPr>
      </p:pic>
      <p:pic>
        <p:nvPicPr>
          <p:cNvPr id="14" name="图片 13" descr="未标题33_画板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0685" y="-99060"/>
            <a:ext cx="1499235" cy="135128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35360" y="332656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图像增强效果图</a:t>
            </a:r>
            <a:endParaRPr lang="zh-CN" altLang="en-US" sz="28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511" y="2372499"/>
            <a:ext cx="3600400" cy="27003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7935" y="855876"/>
            <a:ext cx="3600400" cy="27003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1737" y="855876"/>
            <a:ext cx="3600400" cy="27003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3071" y="3717032"/>
            <a:ext cx="3576059" cy="2682044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9845" y="3733947"/>
            <a:ext cx="3592292" cy="2694219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1655545" y="202136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原图</a:t>
            </a:r>
            <a:endParaRPr lang="zh-CN" altLang="en-US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473355" y="44102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细节层</a:t>
            </a:r>
            <a:endParaRPr lang="zh-CN" altLang="en-US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9304137" y="44102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增强图像</a:t>
            </a:r>
            <a:endParaRPr lang="zh-CN" altLang="en-US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211_画板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752600" y="476884"/>
            <a:ext cx="6607175" cy="6802755"/>
          </a:xfrm>
          <a:prstGeom prst="rect">
            <a:avLst/>
          </a:prstGeom>
        </p:spPr>
      </p:pic>
      <p:pic>
        <p:nvPicPr>
          <p:cNvPr id="14" name="图片 13" descr="未标题33_画板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0685" y="-99060"/>
            <a:ext cx="1499235" cy="135128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35360" y="332656"/>
            <a:ext cx="22413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Gamma</a:t>
            </a:r>
            <a:r>
              <a:rPr lang="zh-CN" altLang="en-US" sz="28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校正</a:t>
            </a:r>
            <a:endParaRPr lang="zh-CN" altLang="en-US" sz="28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7728" y="2483816"/>
            <a:ext cx="4536504" cy="407764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335360" y="769928"/>
            <a:ext cx="1144927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       Gamma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校正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是一种重要的非线性变换，其是对输入图像灰度值进行指数变换，进而校正亮度偏差，通常应用于扩展暗调的细节。一般情况下，当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Gamma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校正的值大于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时，图像的高光部分被压缩而暗调部分被扩展；当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Gamma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校正的值小于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时，图像的高光部分被扩展而暗调部分被压缩。</a:t>
            </a:r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211_画板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779494" y="476884"/>
            <a:ext cx="6607175" cy="6802755"/>
          </a:xfrm>
          <a:prstGeom prst="rect">
            <a:avLst/>
          </a:prstGeom>
        </p:spPr>
      </p:pic>
      <p:pic>
        <p:nvPicPr>
          <p:cNvPr id="14" name="图片 13" descr="未标题33_画板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0685" y="-99060"/>
            <a:ext cx="1499235" cy="135128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35360" y="332656"/>
            <a:ext cx="22413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Gamma</a:t>
            </a:r>
            <a:r>
              <a:rPr lang="zh-CN" altLang="en-US" sz="28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校正</a:t>
            </a:r>
            <a:endParaRPr lang="zh-CN" altLang="en-US" sz="28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60" y="961931"/>
            <a:ext cx="3600400" cy="268504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5920" y="3785758"/>
            <a:ext cx="3584778" cy="2688584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5920" y="958391"/>
            <a:ext cx="3584778" cy="2688584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60" y="3782982"/>
            <a:ext cx="3600400" cy="27003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矩形 12"/>
              <p:cNvSpPr/>
              <p:nvPr/>
            </p:nvSpPr>
            <p:spPr>
              <a:xfrm>
                <a:off x="8979208" y="2142148"/>
                <a:ext cx="96237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altLang="zh-CN" sz="2400" dirty="0">
                    <a:solidFill>
                      <a:schemeClr val="bg1"/>
                    </a:solidFill>
                  </a:rPr>
                  <a:t>=1.0</a:t>
                </a:r>
                <a:endParaRPr lang="zh-CN" alt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9208" y="2142148"/>
                <a:ext cx="962379" cy="461665"/>
              </a:xfrm>
              <a:prstGeom prst="rect">
                <a:avLst/>
              </a:prstGeom>
              <a:blipFill rotWithShape="1">
                <a:blip r:embed="rId7"/>
                <a:stretch>
                  <a:fillRect l="-32" t="-63" r="3" b="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矩形 14"/>
              <p:cNvSpPr/>
              <p:nvPr/>
            </p:nvSpPr>
            <p:spPr>
              <a:xfrm>
                <a:off x="3889646" y="4725144"/>
                <a:ext cx="113390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altLang="zh-CN" sz="2400" dirty="0">
                    <a:solidFill>
                      <a:schemeClr val="bg1"/>
                    </a:solidFill>
                  </a:rPr>
                  <a:t>=0.67</a:t>
                </a:r>
                <a:endParaRPr lang="zh-CN" alt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9646" y="4725144"/>
                <a:ext cx="1133900" cy="461665"/>
              </a:xfrm>
              <a:prstGeom prst="rect">
                <a:avLst/>
              </a:prstGeom>
              <a:blipFill rotWithShape="1">
                <a:blip r:embed="rId8"/>
                <a:stretch>
                  <a:fillRect l="-24" t="-24" r="5" b="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矩形 15"/>
              <p:cNvSpPr/>
              <p:nvPr/>
            </p:nvSpPr>
            <p:spPr>
              <a:xfrm>
                <a:off x="8864786" y="4725143"/>
                <a:ext cx="96237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altLang="zh-CN" sz="2400" dirty="0">
                    <a:solidFill>
                      <a:schemeClr val="bg1"/>
                    </a:solidFill>
                  </a:rPr>
                  <a:t>=1.5</a:t>
                </a:r>
                <a:endParaRPr lang="zh-CN" alt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4786" y="4725143"/>
                <a:ext cx="962379" cy="461665"/>
              </a:xfrm>
              <a:prstGeom prst="rect">
                <a:avLst/>
              </a:prstGeom>
              <a:blipFill rotWithShape="1">
                <a:blip r:embed="rId9"/>
                <a:stretch>
                  <a:fillRect l="-19" t="-23" r="56" b="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211_画板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779494" y="476884"/>
            <a:ext cx="6607175" cy="6802755"/>
          </a:xfrm>
          <a:prstGeom prst="rect">
            <a:avLst/>
          </a:prstGeom>
        </p:spPr>
      </p:pic>
      <p:pic>
        <p:nvPicPr>
          <p:cNvPr id="14" name="图片 13" descr="未标题33_画板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0685" y="-99060"/>
            <a:ext cx="1499235" cy="135128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35360" y="332656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图像放大</a:t>
            </a:r>
            <a:endParaRPr lang="zh-CN" altLang="en-US" sz="28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52996" y="914296"/>
            <a:ext cx="1064906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最邻近插值算法</a:t>
            </a:r>
            <a:r>
              <a:rPr lang="zh-CN" altLang="en-US" sz="24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输出的像素灰度值等于距离该像素最近的输入像素的灰度</a:t>
            </a:r>
            <a:endParaRPr lang="en-US" altLang="zh-CN" sz="24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4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值，是最简单的插值算法。但是当图像中像素之间灰度级有细微结构变化时，</a:t>
            </a:r>
            <a:endParaRPr lang="en-US" altLang="zh-CN" sz="24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4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最邻近插值会在图像中产生明显锯齿现象。</a:t>
            </a:r>
            <a:endParaRPr lang="en-US" altLang="zh-CN" sz="24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24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双线性插值算法</a:t>
            </a:r>
            <a:r>
              <a:rPr lang="zh-CN" altLang="en-US" sz="24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在</a:t>
            </a:r>
            <a:r>
              <a:rPr lang="en-US" altLang="zh-CN" sz="24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zh-CN" altLang="en-US" sz="24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sz="24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Y</a:t>
            </a:r>
            <a:r>
              <a:rPr lang="zh-CN" altLang="en-US" sz="24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方向先后进行一次线性插值。</a:t>
            </a:r>
            <a:endParaRPr lang="en-US" altLang="zh-CN" sz="24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050" name="Picture 2" descr="在这里插入图片描述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0013" y="2628184"/>
            <a:ext cx="5735051" cy="3312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9" y="3204128"/>
            <a:ext cx="5143500" cy="22002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211_画板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779494" y="476884"/>
            <a:ext cx="6607175" cy="6802755"/>
          </a:xfrm>
          <a:prstGeom prst="rect">
            <a:avLst/>
          </a:prstGeom>
        </p:spPr>
      </p:pic>
      <p:pic>
        <p:nvPicPr>
          <p:cNvPr id="14" name="图片 13" descr="未标题33_画板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0685" y="-99060"/>
            <a:ext cx="1499235" cy="135128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35360" y="332656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图像放大</a:t>
            </a:r>
            <a:endParaRPr lang="zh-CN" altLang="en-US" sz="28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348" y="1000104"/>
            <a:ext cx="1143000" cy="8572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2848" y="142854"/>
            <a:ext cx="4572000" cy="3429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8048" y="142854"/>
            <a:ext cx="4572000" cy="34290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708451" y="1941282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X1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519711" y="3571854"/>
            <a:ext cx="1620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最邻近插值</a:t>
            </a:r>
            <a:r>
              <a:rPr lang="en-US" altLang="zh-CN" dirty="0">
                <a:solidFill>
                  <a:schemeClr val="bg1"/>
                </a:solidFill>
              </a:rPr>
              <a:t>X4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003569" y="3651870"/>
            <a:ext cx="1620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双线性插值</a:t>
            </a:r>
            <a:r>
              <a:rPr lang="en-US" altLang="zh-CN" dirty="0">
                <a:solidFill>
                  <a:schemeClr val="bg1"/>
                </a:solidFill>
              </a:rPr>
              <a:t>X4</a:t>
            </a:r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12848" y="4021202"/>
            <a:ext cx="4572000" cy="227461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8048" y="4021202"/>
            <a:ext cx="4706359" cy="22746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211_画板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752600" y="476884"/>
            <a:ext cx="6607175" cy="6802755"/>
          </a:xfrm>
          <a:prstGeom prst="rect">
            <a:avLst/>
          </a:prstGeom>
        </p:spPr>
      </p:pic>
      <p:pic>
        <p:nvPicPr>
          <p:cNvPr id="14" name="图片 13" descr="未标题33_画板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0685" y="-99060"/>
            <a:ext cx="1499235" cy="135128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35360" y="332656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伪彩</a:t>
            </a:r>
            <a:endParaRPr lang="zh-CN" altLang="en-US" sz="28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-654389" y="1000104"/>
            <a:ext cx="12679815" cy="5428162"/>
            <a:chOff x="-654389" y="1000104"/>
            <a:chExt cx="12679815" cy="5428162"/>
          </a:xfrm>
        </p:grpSpPr>
        <p:grpSp>
          <p:nvGrpSpPr>
            <p:cNvPr id="5" name="组合 4"/>
            <p:cNvGrpSpPr/>
            <p:nvPr/>
          </p:nvGrpSpPr>
          <p:grpSpPr>
            <a:xfrm>
              <a:off x="653852" y="1000104"/>
              <a:ext cx="11210794" cy="2586832"/>
              <a:chOff x="633306" y="1887098"/>
              <a:chExt cx="11210794" cy="2586832"/>
            </a:xfrm>
          </p:grpSpPr>
          <p:sp>
            <p:nvSpPr>
              <p:cNvPr id="6" name="右箭头 5"/>
              <p:cNvSpPr/>
              <p:nvPr/>
            </p:nvSpPr>
            <p:spPr>
              <a:xfrm>
                <a:off x="4644485" y="2711181"/>
                <a:ext cx="3347709" cy="765943"/>
              </a:xfrm>
              <a:prstGeom prst="rightArrow">
                <a:avLst/>
              </a:prstGeom>
              <a:solidFill>
                <a:srgbClr val="FFD1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>
                  <a:lnSpc>
                    <a:spcPct val="150000"/>
                  </a:lnSpc>
                </a:pPr>
                <a:endPara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pic>
            <p:nvPicPr>
              <p:cNvPr id="8" name="图片 7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3306" y="2304259"/>
                <a:ext cx="3600000" cy="1655865"/>
              </a:xfrm>
              <a:prstGeom prst="rect">
                <a:avLst/>
              </a:prstGeom>
            </p:spPr>
          </p:pic>
          <p:pic>
            <p:nvPicPr>
              <p:cNvPr id="9" name="图片 8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244100" y="2291053"/>
                <a:ext cx="3600000" cy="1624719"/>
              </a:xfrm>
              <a:prstGeom prst="rect">
                <a:avLst/>
              </a:prstGeom>
            </p:spPr>
          </p:pic>
          <p:grpSp>
            <p:nvGrpSpPr>
              <p:cNvPr id="10" name="组合 9"/>
              <p:cNvGrpSpPr/>
              <p:nvPr/>
            </p:nvGrpSpPr>
            <p:grpSpPr>
              <a:xfrm>
                <a:off x="5799103" y="1891956"/>
                <a:ext cx="1388848" cy="2581974"/>
                <a:chOff x="996484" y="1389408"/>
                <a:chExt cx="1163061" cy="4460454"/>
              </a:xfrm>
            </p:grpSpPr>
            <p:sp>
              <p:nvSpPr>
                <p:cNvPr id="13" name="文本框 12"/>
                <p:cNvSpPr txBox="1"/>
                <p:nvPr/>
              </p:nvSpPr>
              <p:spPr>
                <a:xfrm>
                  <a:off x="996484" y="1389408"/>
                  <a:ext cx="869646" cy="58486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600" dirty="0">
                      <a:solidFill>
                        <a:schemeClr val="bg1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色带条</a:t>
                  </a:r>
                  <a:endParaRPr lang="zh-CN" altLang="en-US" sz="16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15" name="文本框 14"/>
                <p:cNvSpPr txBox="1"/>
                <p:nvPr/>
              </p:nvSpPr>
              <p:spPr>
                <a:xfrm>
                  <a:off x="1689081" y="5264998"/>
                  <a:ext cx="360040" cy="58486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600" dirty="0">
                      <a:solidFill>
                        <a:schemeClr val="bg1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0</a:t>
                  </a:r>
                  <a:endParaRPr lang="zh-CN" altLang="en-US" sz="16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16" name="文本框 15"/>
                <p:cNvSpPr txBox="1"/>
                <p:nvPr/>
              </p:nvSpPr>
              <p:spPr>
                <a:xfrm>
                  <a:off x="1629530" y="1673448"/>
                  <a:ext cx="530015" cy="58486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600" dirty="0">
                      <a:solidFill>
                        <a:schemeClr val="bg1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255</a:t>
                  </a:r>
                  <a:endParaRPr lang="zh-CN" altLang="en-US" sz="16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17" name="上箭头 16"/>
                <p:cNvSpPr/>
                <p:nvPr/>
              </p:nvSpPr>
              <p:spPr>
                <a:xfrm>
                  <a:off x="1727498" y="2041660"/>
                  <a:ext cx="144016" cy="3223336"/>
                </a:xfrm>
                <a:prstGeom prst="upArrow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8800" dirty="0">
                    <a:solidFill>
                      <a:schemeClr val="tx1"/>
                    </a:solidFill>
                  </a:endParaRPr>
                </a:p>
              </p:txBody>
            </p:sp>
            <p:pic>
              <p:nvPicPr>
                <p:cNvPr id="18" name="图片 17"/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74787" y="2041660"/>
                  <a:ext cx="297539" cy="3223337"/>
                </a:xfrm>
                <a:prstGeom prst="rect">
                  <a:avLst/>
                </a:prstGeom>
              </p:spPr>
            </p:pic>
          </p:grpSp>
          <p:sp>
            <p:nvSpPr>
              <p:cNvPr id="11" name="文本框 10"/>
              <p:cNvSpPr txBox="1"/>
              <p:nvPr/>
            </p:nvSpPr>
            <p:spPr>
              <a:xfrm>
                <a:off x="1704772" y="1952499"/>
                <a:ext cx="81481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灰度图</a:t>
                </a:r>
                <a:endPara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2" name="文本框 11"/>
              <p:cNvSpPr txBox="1"/>
              <p:nvPr/>
            </p:nvSpPr>
            <p:spPr>
              <a:xfrm>
                <a:off x="9529002" y="1887098"/>
                <a:ext cx="112748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RGB</a:t>
                </a:r>
                <a:r>
                  <a:rPr lang="zh-CN" altLang="en-US" sz="16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图</a:t>
                </a:r>
                <a:endPara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cxnSp>
          <p:nvCxnSpPr>
            <p:cNvPr id="19" name="直接连接符 18"/>
            <p:cNvCxnSpPr/>
            <p:nvPr/>
          </p:nvCxnSpPr>
          <p:spPr>
            <a:xfrm>
              <a:off x="-654389" y="3928506"/>
              <a:ext cx="12385376" cy="0"/>
            </a:xfrm>
            <a:prstGeom prst="line">
              <a:avLst/>
            </a:prstGeom>
            <a:ln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" name="组合 19"/>
            <p:cNvGrpSpPr/>
            <p:nvPr/>
          </p:nvGrpSpPr>
          <p:grpSpPr>
            <a:xfrm>
              <a:off x="337007" y="4150719"/>
              <a:ext cx="11688419" cy="2277547"/>
              <a:chOff x="709628" y="4940517"/>
              <a:chExt cx="11688419" cy="2277547"/>
            </a:xfrm>
          </p:grpSpPr>
          <p:sp>
            <p:nvSpPr>
              <p:cNvPr id="21" name="右箭头 20"/>
              <p:cNvSpPr/>
              <p:nvPr/>
            </p:nvSpPr>
            <p:spPr>
              <a:xfrm>
                <a:off x="3809344" y="5808763"/>
                <a:ext cx="4351447" cy="711139"/>
              </a:xfrm>
              <a:prstGeom prst="rightArrow">
                <a:avLst/>
              </a:prstGeom>
              <a:solidFill>
                <a:srgbClr val="FFD1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>
                  <a:lnSpc>
                    <a:spcPct val="150000"/>
                  </a:lnSpc>
                </a:pPr>
                <a:endPara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22" name="文本框 21"/>
              <p:cNvSpPr txBox="1"/>
              <p:nvPr/>
            </p:nvSpPr>
            <p:spPr>
              <a:xfrm>
                <a:off x="5047672" y="4940517"/>
                <a:ext cx="258448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色带二维数组</a:t>
                </a:r>
                <a:r>
                  <a:rPr lang="en-US" altLang="zh-CN" sz="16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{{R,G,B,A}</a:t>
                </a:r>
                <a:endPara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23" name="矩形 22"/>
              <p:cNvSpPr/>
              <p:nvPr/>
            </p:nvSpPr>
            <p:spPr>
              <a:xfrm>
                <a:off x="5112216" y="5279072"/>
                <a:ext cx="2468902" cy="19389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0"/>
                  </a:spcAft>
                  <a:tabLst>
                    <a:tab pos="4770755" algn="l"/>
                  </a:tabLst>
                </a:pPr>
                <a:r>
                  <a:rPr lang="en-US" altLang="zh-CN" sz="2400" kern="1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Times New Roman" panose="02020603050405020304" pitchFamily="18" charset="0"/>
                  </a:rPr>
                  <a:t>{{0, 0, 0,0},</a:t>
                </a:r>
                <a:endParaRPr lang="en-US" altLang="zh-CN" sz="2400" kern="1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0"/>
                  </a:spcAft>
                  <a:tabLst>
                    <a:tab pos="4770755" algn="l"/>
                  </a:tabLst>
                </a:pPr>
                <a:r>
                  <a:rPr lang="en-US" altLang="zh-CN" sz="2400" kern="1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Times New Roman" panose="02020603050405020304" pitchFamily="18" charset="0"/>
                  </a:rPr>
                  <a:t>{4, 4, 4,0},</a:t>
                </a:r>
                <a:endParaRPr lang="en-US" altLang="zh-CN" sz="2400" kern="1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0"/>
                  </a:spcAft>
                  <a:tabLst>
                    <a:tab pos="4770755" algn="l"/>
                  </a:tabLst>
                </a:pPr>
                <a:r>
                  <a:rPr lang="en-US" altLang="zh-CN" sz="2400" kern="1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Times New Roman" panose="02020603050405020304" pitchFamily="18" charset="0"/>
                  </a:rPr>
                  <a:t>{8, 8, 8,0},</a:t>
                </a:r>
                <a:endParaRPr lang="en-US" altLang="zh-CN" sz="2400" kern="1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0"/>
                  </a:spcAft>
                  <a:tabLst>
                    <a:tab pos="4770755" algn="l"/>
                  </a:tabLst>
                </a:pPr>
                <a:r>
                  <a:rPr lang="en-US" altLang="zh-CN" sz="2400" kern="1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Times New Roman" panose="02020603050405020304" pitchFamily="18" charset="0"/>
                  </a:rPr>
                  <a:t>…… ,</a:t>
                </a:r>
                <a:endParaRPr lang="en-US" altLang="zh-CN" sz="2400" kern="1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0"/>
                  </a:spcAft>
                  <a:tabLst>
                    <a:tab pos="4770755" algn="l"/>
                  </a:tabLst>
                </a:pPr>
                <a:r>
                  <a:rPr lang="en-US" altLang="zh-CN" sz="2400" kern="1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Times New Roman" panose="02020603050405020304" pitchFamily="18" charset="0"/>
                  </a:rPr>
                  <a:t>{252,252,252,0}}</a:t>
                </a:r>
                <a:endParaRPr lang="zh-CN" altLang="zh-CN" sz="2400" kern="100" dirty="0">
                  <a:solidFill>
                    <a:schemeClr val="bg1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24" name="组合 23"/>
              <p:cNvGrpSpPr/>
              <p:nvPr/>
            </p:nvGrpSpPr>
            <p:grpSpPr>
              <a:xfrm>
                <a:off x="709628" y="5110070"/>
                <a:ext cx="2783144" cy="1871706"/>
                <a:chOff x="978585" y="2493600"/>
                <a:chExt cx="4343352" cy="2793615"/>
              </a:xfrm>
            </p:grpSpPr>
            <p:pic>
              <p:nvPicPr>
                <p:cNvPr id="40" name="图片 39"/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479008" y="2953589"/>
                  <a:ext cx="3095624" cy="2333626"/>
                </a:xfrm>
                <a:prstGeom prst="rect">
                  <a:avLst/>
                </a:prstGeom>
              </p:spPr>
            </p:pic>
            <p:sp>
              <p:nvSpPr>
                <p:cNvPr id="41" name="文本框 40"/>
                <p:cNvSpPr txBox="1"/>
                <p:nvPr/>
              </p:nvSpPr>
              <p:spPr>
                <a:xfrm>
                  <a:off x="978585" y="3323344"/>
                  <a:ext cx="475548" cy="124030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600" dirty="0">
                      <a:solidFill>
                        <a:schemeClr val="bg1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灰度图</a:t>
                  </a:r>
                  <a:endParaRPr lang="zh-CN" altLang="en-US" sz="16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42" name="文本框 41"/>
                <p:cNvSpPr txBox="1"/>
                <p:nvPr/>
              </p:nvSpPr>
              <p:spPr>
                <a:xfrm>
                  <a:off x="1149904" y="2493600"/>
                  <a:ext cx="4172033" cy="50530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600" dirty="0">
                      <a:solidFill>
                        <a:schemeClr val="bg1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单通道，</a:t>
                  </a:r>
                  <a:r>
                    <a:rPr lang="zh-CN" altLang="zh-CN" sz="1600" dirty="0">
                      <a:solidFill>
                        <a:schemeClr val="bg1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取值范围【</a:t>
                  </a:r>
                  <a:r>
                    <a:rPr lang="en-US" altLang="zh-CN" sz="1600" dirty="0">
                      <a:solidFill>
                        <a:schemeClr val="bg1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0-255</a:t>
                  </a:r>
                  <a:r>
                    <a:rPr lang="zh-CN" altLang="zh-CN" sz="1600" dirty="0">
                      <a:solidFill>
                        <a:schemeClr val="bg1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】</a:t>
                  </a:r>
                  <a:endParaRPr lang="zh-CN" altLang="en-US" sz="16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cxnSp>
              <p:nvCxnSpPr>
                <p:cNvPr id="43" name="直接箭头连接符 42"/>
                <p:cNvCxnSpPr/>
                <p:nvPr/>
              </p:nvCxnSpPr>
              <p:spPr>
                <a:xfrm flipV="1">
                  <a:off x="1598149" y="3070437"/>
                  <a:ext cx="216024" cy="308680"/>
                </a:xfrm>
                <a:prstGeom prst="straightConnector1">
                  <a:avLst/>
                </a:prstGeom>
                <a:ln w="3810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" name="组合 24"/>
              <p:cNvGrpSpPr/>
              <p:nvPr/>
            </p:nvGrpSpPr>
            <p:grpSpPr>
              <a:xfrm>
                <a:off x="11489525" y="5774299"/>
                <a:ext cx="908522" cy="1068867"/>
                <a:chOff x="9109713" y="1989802"/>
                <a:chExt cx="2311324" cy="3072623"/>
              </a:xfrm>
            </p:grpSpPr>
            <p:sp>
              <p:nvSpPr>
                <p:cNvPr id="37" name="矩形 36"/>
                <p:cNvSpPr/>
                <p:nvPr/>
              </p:nvSpPr>
              <p:spPr>
                <a:xfrm>
                  <a:off x="9404813" y="1989802"/>
                  <a:ext cx="2016224" cy="2880320"/>
                </a:xfrm>
                <a:prstGeom prst="rect">
                  <a:avLst/>
                </a:prstGeom>
                <a:solidFill>
                  <a:srgbClr val="43A2E2"/>
                </a:solidFill>
                <a:ln>
                  <a:solidFill>
                    <a:srgbClr val="43A2E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8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8" name="矩形 37"/>
                <p:cNvSpPr/>
                <p:nvPr/>
              </p:nvSpPr>
              <p:spPr>
                <a:xfrm>
                  <a:off x="9257263" y="2097698"/>
                  <a:ext cx="2016224" cy="2880320"/>
                </a:xfrm>
                <a:prstGeom prst="rect">
                  <a:avLst/>
                </a:prstGeom>
                <a:solidFill>
                  <a:srgbClr val="92D050"/>
                </a:solidFill>
                <a:ln>
                  <a:solidFill>
                    <a:srgbClr val="92D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8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9" name="矩形 38"/>
                <p:cNvSpPr/>
                <p:nvPr/>
              </p:nvSpPr>
              <p:spPr>
                <a:xfrm>
                  <a:off x="9109713" y="2182105"/>
                  <a:ext cx="2016224" cy="288032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88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26" name="文本框 25"/>
              <p:cNvSpPr txBox="1"/>
              <p:nvPr/>
            </p:nvSpPr>
            <p:spPr>
              <a:xfrm>
                <a:off x="4825766" y="5344697"/>
                <a:ext cx="42993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0</a:t>
                </a:r>
                <a:endPara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27" name="文本框 26"/>
              <p:cNvSpPr txBox="1"/>
              <p:nvPr/>
            </p:nvSpPr>
            <p:spPr>
              <a:xfrm>
                <a:off x="4726318" y="6852572"/>
                <a:ext cx="54857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255</a:t>
                </a:r>
                <a:endPara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28" name="文本框 27"/>
              <p:cNvSpPr txBox="1"/>
              <p:nvPr/>
            </p:nvSpPr>
            <p:spPr>
              <a:xfrm>
                <a:off x="4825766" y="5746680"/>
                <a:ext cx="42993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1</a:t>
                </a:r>
                <a:endPara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29" name="文本框 28"/>
              <p:cNvSpPr txBox="1"/>
              <p:nvPr/>
            </p:nvSpPr>
            <p:spPr>
              <a:xfrm>
                <a:off x="4823842" y="6142792"/>
                <a:ext cx="42993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2</a:t>
                </a:r>
                <a:endPara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0" name="文本框 29"/>
              <p:cNvSpPr txBox="1"/>
              <p:nvPr/>
            </p:nvSpPr>
            <p:spPr>
              <a:xfrm>
                <a:off x="4751834" y="6466760"/>
                <a:ext cx="42993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…</a:t>
                </a:r>
                <a:endPara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grpSp>
            <p:nvGrpSpPr>
              <p:cNvPr id="31" name="组合 30"/>
              <p:cNvGrpSpPr/>
              <p:nvPr/>
            </p:nvGrpSpPr>
            <p:grpSpPr>
              <a:xfrm>
                <a:off x="8504042" y="5036306"/>
                <a:ext cx="2985483" cy="1927414"/>
                <a:chOff x="600864" y="2704268"/>
                <a:chExt cx="4659121" cy="2876761"/>
              </a:xfrm>
            </p:grpSpPr>
            <p:pic>
              <p:nvPicPr>
                <p:cNvPr id="32" name="图片 31"/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479008" y="3247404"/>
                  <a:ext cx="3095625" cy="2333625"/>
                </a:xfrm>
                <a:prstGeom prst="rect">
                  <a:avLst/>
                </a:prstGeom>
              </p:spPr>
            </p:pic>
            <p:sp>
              <p:nvSpPr>
                <p:cNvPr id="33" name="文本框 32"/>
                <p:cNvSpPr txBox="1"/>
                <p:nvPr/>
              </p:nvSpPr>
              <p:spPr>
                <a:xfrm>
                  <a:off x="600864" y="3360208"/>
                  <a:ext cx="475548" cy="160780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600" dirty="0">
                      <a:solidFill>
                        <a:schemeClr val="bg1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RGB</a:t>
                  </a:r>
                  <a:endParaRPr lang="en-US" altLang="zh-CN" sz="16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  <a:p>
                  <a:r>
                    <a:rPr lang="zh-CN" altLang="en-US" sz="1600" dirty="0">
                      <a:solidFill>
                        <a:schemeClr val="bg1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图</a:t>
                  </a:r>
                  <a:endParaRPr lang="zh-CN" altLang="en-US" sz="16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34" name="文本框 33"/>
                <p:cNvSpPr txBox="1"/>
                <p:nvPr/>
              </p:nvSpPr>
              <p:spPr>
                <a:xfrm>
                  <a:off x="1437269" y="2704268"/>
                  <a:ext cx="2983307" cy="50530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600" dirty="0">
                      <a:solidFill>
                        <a:schemeClr val="bg1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RGB 4</a:t>
                  </a:r>
                  <a:r>
                    <a:rPr lang="zh-CN" altLang="en-US" sz="1600" dirty="0">
                      <a:solidFill>
                        <a:schemeClr val="bg1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通道</a:t>
                  </a:r>
                  <a:endParaRPr lang="zh-CN" altLang="en-US" sz="16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cxnSp>
              <p:nvCxnSpPr>
                <p:cNvPr id="35" name="直接箭头连接符 34"/>
                <p:cNvCxnSpPr>
                  <a:endCxn id="39" idx="1"/>
                </p:cNvCxnSpPr>
                <p:nvPr/>
              </p:nvCxnSpPr>
              <p:spPr>
                <a:xfrm>
                  <a:off x="1648407" y="3421747"/>
                  <a:ext cx="3611578" cy="1231604"/>
                </a:xfrm>
                <a:prstGeom prst="straightConnector1">
                  <a:avLst/>
                </a:prstGeom>
                <a:ln w="3810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211_画板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752600" y="476884"/>
            <a:ext cx="6607175" cy="6802755"/>
          </a:xfrm>
          <a:prstGeom prst="rect">
            <a:avLst/>
          </a:prstGeom>
        </p:spPr>
      </p:pic>
      <p:pic>
        <p:nvPicPr>
          <p:cNvPr id="14" name="图片 13" descr="未标题33_画板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0685" y="-99060"/>
            <a:ext cx="1499235" cy="135128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35360" y="332656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竞品对比</a:t>
            </a:r>
            <a:endParaRPr lang="zh-CN" altLang="en-US" sz="28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44" name="对象 43"/>
          <p:cNvGraphicFramePr>
            <a:graphicFrameLocks noChangeAspect="1"/>
          </p:cNvGraphicFramePr>
          <p:nvPr/>
        </p:nvGraphicFramePr>
        <p:xfrm>
          <a:off x="8419229" y="949762"/>
          <a:ext cx="1872208" cy="50500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Visio" r:id="rId3" imgW="1802130" imgH="4850130" progId="Visio.Drawing.15">
                  <p:embed/>
                </p:oleObj>
              </mc:Choice>
              <mc:Fallback>
                <p:oleObj name="Visio" r:id="rId3" imgW="1802130" imgH="4850130" progId="Visio.Drawing.15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19229" y="949762"/>
                        <a:ext cx="1872208" cy="505003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5" name="图片 4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851" y="1252220"/>
            <a:ext cx="7805135" cy="444512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664</Words>
  <Application>WPS 演示</Application>
  <PresentationFormat>宽屏</PresentationFormat>
  <Paragraphs>80</Paragraphs>
  <Slides>8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1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黑体</vt:lpstr>
      <vt:lpstr>方正楷体_GBK</vt:lpstr>
      <vt:lpstr>Times New Roman</vt:lpstr>
      <vt:lpstr>Cambria Math</vt:lpstr>
      <vt:lpstr>WPS</vt:lpstr>
      <vt:lpstr>Visio.Drawing.15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Carlen</cp:lastModifiedBy>
  <cp:revision>155</cp:revision>
  <dcterms:created xsi:type="dcterms:W3CDTF">2019-06-19T02:08:00Z</dcterms:created>
  <dcterms:modified xsi:type="dcterms:W3CDTF">2025-04-25T03:35:25Z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79FAE40DBC384FAE93D479F53C0EC503_11</vt:lpwstr>
  </property>
</Properties>
</file>