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tx1"/>
            </a:gs>
            <a:gs pos="0">
              <a:schemeClr val="tx1">
                <a:lumMod val="25000"/>
                <a:lumOff val="75000"/>
              </a:schemeClr>
            </a:gs>
            <a:gs pos="100000">
              <a:schemeClr val="tx1">
                <a:lumMod val="85000"/>
              </a:schemeClr>
            </a:gs>
          </a:gsLst>
          <a:lin ang="5400000" scaled="1"/>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259795" y="307426"/>
            <a:ext cx="902811"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调光</a:t>
            </a:r>
            <a:endParaRPr lang="zh-CN" altLang="en-US" sz="2800" dirty="0">
              <a:solidFill>
                <a:srgbClr val="FFFFFF"/>
              </a:solidFill>
              <a:latin typeface="微软雅黑" panose="020B0503020204020204" charset="-122"/>
              <a:ea typeface="微软雅黑" panose="020B0503020204020204" charset="-122"/>
            </a:endParaRPr>
          </a:p>
        </p:txBody>
      </p:sp>
      <p:pic>
        <p:nvPicPr>
          <p:cNvPr id="45" name="Picture 2" descr="在这里插入图片描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09" y="3917832"/>
            <a:ext cx="5815507" cy="2830215"/>
          </a:xfrm>
          <a:prstGeom prst="rect">
            <a:avLst/>
          </a:prstGeom>
          <a:noFill/>
          <a:extLst>
            <a:ext uri="{909E8E84-426E-40DD-AFC4-6F175D3DCCD1}">
              <a14:hiddenFill xmlns:a14="http://schemas.microsoft.com/office/drawing/2010/main">
                <a:solidFill>
                  <a:srgbClr val="FFFFFF"/>
                </a:solidFill>
              </a14:hiddenFill>
            </a:ext>
          </a:extLst>
        </p:spPr>
      </p:pic>
      <p:sp>
        <p:nvSpPr>
          <p:cNvPr id="46" name="矩形 45"/>
          <p:cNvSpPr/>
          <p:nvPr/>
        </p:nvSpPr>
        <p:spPr>
          <a:xfrm>
            <a:off x="263352" y="839018"/>
            <a:ext cx="11290507" cy="3046988"/>
          </a:xfrm>
          <a:prstGeom prst="rect">
            <a:avLst/>
          </a:prstGeom>
        </p:spPr>
        <p:txBody>
          <a:bodyPr wrap="square">
            <a:spAutoFit/>
          </a:bodyPr>
          <a:lstStyle/>
          <a:p>
            <a:r>
              <a:rPr lang="zh-CN" altLang="en-US" sz="2400" dirty="0">
                <a:solidFill>
                  <a:schemeClr val="bg1"/>
                </a:solidFill>
                <a:latin typeface="微软雅黑" panose="020B0503020204020204" charset="-122"/>
                <a:ea typeface="微软雅黑" panose="020B0503020204020204" charset="-122"/>
              </a:rPr>
              <a:t>       </a:t>
            </a:r>
            <a:r>
              <a:rPr lang="zh-CN" altLang="en-US" sz="2400" dirty="0">
                <a:solidFill>
                  <a:srgbClr val="FF0000"/>
                </a:solidFill>
                <a:latin typeface="微软雅黑" panose="020B0503020204020204" charset="-122"/>
                <a:ea typeface="微软雅黑" panose="020B0503020204020204" charset="-122"/>
              </a:rPr>
              <a:t>对比度受限的自适应直方图均衡</a:t>
            </a:r>
            <a:r>
              <a:rPr lang="en-US" altLang="zh-CN" sz="2400" dirty="0">
                <a:solidFill>
                  <a:srgbClr val="FF0000"/>
                </a:solidFill>
                <a:latin typeface="微软雅黑" panose="020B0503020204020204" charset="-122"/>
                <a:ea typeface="微软雅黑" panose="020B0503020204020204" charset="-122"/>
              </a:rPr>
              <a:t>CLAHE</a:t>
            </a:r>
            <a:r>
              <a:rPr lang="zh-CN" altLang="zh-CN" sz="2400" dirty="0">
                <a:solidFill>
                  <a:srgbClr val="FF0000"/>
                </a:solidFill>
                <a:latin typeface="微软雅黑" panose="020B0503020204020204" charset="-122"/>
                <a:ea typeface="微软雅黑" panose="020B0503020204020204" charset="-122"/>
              </a:rPr>
              <a:t>算法</a:t>
            </a:r>
            <a:r>
              <a:rPr lang="zh-CN" altLang="zh-CN" sz="2400" dirty="0">
                <a:solidFill>
                  <a:schemeClr val="bg1"/>
                </a:solidFill>
                <a:latin typeface="微软雅黑" panose="020B0503020204020204" charset="-122"/>
                <a:ea typeface="微软雅黑" panose="020B0503020204020204" charset="-122"/>
              </a:rPr>
              <a:t>，通过计算图像的局部直方图，并将对比度限幅，重新分布亮度，达到了改进图像局部对比度同时增强图像细节的目的。</a:t>
            </a:r>
            <a:endParaRPr lang="en-US" altLang="zh-CN" sz="2400" dirty="0">
              <a:solidFill>
                <a:schemeClr val="bg1"/>
              </a:solidFill>
              <a:latin typeface="微软雅黑" panose="020B0503020204020204" charset="-122"/>
              <a:ea typeface="微软雅黑" panose="020B0503020204020204" charset="-122"/>
            </a:endParaRPr>
          </a:p>
          <a:p>
            <a:r>
              <a:rPr lang="en-US" altLang="zh-CN" sz="2400" dirty="0">
                <a:solidFill>
                  <a:schemeClr val="bg1"/>
                </a:solidFill>
                <a:latin typeface="微软雅黑" panose="020B0503020204020204" charset="-122"/>
                <a:ea typeface="微软雅黑" panose="020B0503020204020204" charset="-122"/>
              </a:rPr>
              <a:t>1</a:t>
            </a:r>
            <a:r>
              <a:rPr lang="zh-CN" altLang="en-US" sz="2400" dirty="0">
                <a:solidFill>
                  <a:schemeClr val="bg1"/>
                </a:solidFill>
                <a:latin typeface="微软雅黑" panose="020B0503020204020204" charset="-122"/>
                <a:ea typeface="微软雅黑" panose="020B0503020204020204" charset="-122"/>
              </a:rPr>
              <a:t>）将图像分为多个矩形块，分别计算每个图像块灰度直方图和对应的累积直方图。</a:t>
            </a:r>
            <a:endParaRPr lang="en-US" altLang="zh-CN" sz="2400" dirty="0">
              <a:solidFill>
                <a:schemeClr val="bg1"/>
              </a:solidFill>
              <a:latin typeface="微软雅黑" panose="020B0503020204020204" charset="-122"/>
              <a:ea typeface="微软雅黑" panose="020B0503020204020204" charset="-122"/>
            </a:endParaRPr>
          </a:p>
          <a:p>
            <a:r>
              <a:rPr lang="en-US" altLang="zh-CN" sz="2400" dirty="0">
                <a:solidFill>
                  <a:schemeClr val="bg1"/>
                </a:solidFill>
                <a:latin typeface="微软雅黑" panose="020B0503020204020204" charset="-122"/>
                <a:ea typeface="微软雅黑" panose="020B0503020204020204" charset="-122"/>
              </a:rPr>
              <a:t>2</a:t>
            </a:r>
            <a:r>
              <a:rPr lang="zh-CN" altLang="en-US" sz="2400" dirty="0">
                <a:solidFill>
                  <a:schemeClr val="bg1"/>
                </a:solidFill>
                <a:latin typeface="微软雅黑" panose="020B0503020204020204" charset="-122"/>
                <a:ea typeface="微软雅黑" panose="020B0503020204020204" charset="-122"/>
              </a:rPr>
              <a:t>）将原始图像中的像素分为以下三种情况处理，红色区域中的像素按照其所在子图的变换函数进行灰度映射；绿色区域中的像素按照所在的两个相邻子图变换函数变换后进行线性插值得到；紫色区域中的像素按照其所在的四个相邻子图变换函数变换后双线性插值得到。</a:t>
            </a:r>
            <a:endParaRPr lang="zh-CN" altLang="en-US" sz="2400" dirty="0">
              <a:solidFill>
                <a:schemeClr val="bg1"/>
              </a:solidFill>
              <a:latin typeface="微软雅黑" panose="020B0503020204020204" charset="-122"/>
              <a:ea typeface="微软雅黑" panose="020B0503020204020204" charset="-122"/>
            </a:endParaRPr>
          </a:p>
        </p:txBody>
      </p:sp>
      <p:pic>
        <p:nvPicPr>
          <p:cNvPr id="47" name="图片 46"/>
          <p:cNvPicPr>
            <a:picLocks noChangeAspect="1"/>
          </p:cNvPicPr>
          <p:nvPr/>
        </p:nvPicPr>
        <p:blipFill>
          <a:blip r:embed="rId4"/>
          <a:stretch>
            <a:fillRect/>
          </a:stretch>
        </p:blipFill>
        <p:spPr>
          <a:xfrm>
            <a:off x="6240016" y="4411978"/>
            <a:ext cx="5462247" cy="1562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211_画板 1"/>
          <p:cNvPicPr>
            <a:picLocks noChangeAspect="1"/>
          </p:cNvPicPr>
          <p:nvPr/>
        </p:nvPicPr>
        <p:blipFill>
          <a:blip r:embed="rId1"/>
          <a:stretch>
            <a:fillRect/>
          </a:stretch>
        </p:blipFill>
        <p:spPr>
          <a:xfrm>
            <a:off x="-1752600" y="476884"/>
            <a:ext cx="6607175" cy="6802755"/>
          </a:xfrm>
          <a:prstGeom prst="rect">
            <a:avLst/>
          </a:prstGeom>
        </p:spPr>
      </p:pic>
      <p:pic>
        <p:nvPicPr>
          <p:cNvPr id="14" name="图片 13" descr="未标题33_画板 1"/>
          <p:cNvPicPr>
            <a:picLocks noChangeAspect="1"/>
          </p:cNvPicPr>
          <p:nvPr/>
        </p:nvPicPr>
        <p:blipFill>
          <a:blip r:embed="rId2"/>
          <a:stretch>
            <a:fillRect/>
          </a:stretch>
        </p:blipFill>
        <p:spPr>
          <a:xfrm>
            <a:off x="10560685" y="-99060"/>
            <a:ext cx="1499235" cy="1351280"/>
          </a:xfrm>
          <a:prstGeom prst="rect">
            <a:avLst/>
          </a:prstGeom>
        </p:spPr>
      </p:pic>
      <p:sp>
        <p:nvSpPr>
          <p:cNvPr id="2" name="文本框 1"/>
          <p:cNvSpPr txBox="1"/>
          <p:nvPr/>
        </p:nvSpPr>
        <p:spPr>
          <a:xfrm>
            <a:off x="133252" y="315798"/>
            <a:ext cx="1980029" cy="523220"/>
          </a:xfrm>
          <a:prstGeom prst="rect">
            <a:avLst/>
          </a:prstGeom>
          <a:noFill/>
        </p:spPr>
        <p:txBody>
          <a:bodyPr wrap="none" rtlCol="0">
            <a:spAutoFit/>
          </a:bodyPr>
          <a:lstStyle/>
          <a:p>
            <a:r>
              <a:rPr lang="zh-CN" altLang="en-US" sz="2800" dirty="0">
                <a:solidFill>
                  <a:srgbClr val="FFFFFF"/>
                </a:solidFill>
                <a:latin typeface="微软雅黑" panose="020B0503020204020204" charset="-122"/>
                <a:ea typeface="微软雅黑" panose="020B0503020204020204" charset="-122"/>
              </a:rPr>
              <a:t>调光效果图</a:t>
            </a:r>
            <a:endParaRPr lang="zh-CN" altLang="en-US" sz="2800" dirty="0">
              <a:solidFill>
                <a:srgbClr val="FFFFFF"/>
              </a:solidFill>
              <a:latin typeface="微软雅黑" panose="020B0503020204020204" charset="-122"/>
              <a:ea typeface="微软雅黑" panose="020B0503020204020204" charset="-122"/>
            </a:endParaRPr>
          </a:p>
        </p:txBody>
      </p:sp>
      <p:pic>
        <p:nvPicPr>
          <p:cNvPr id="9" name="图片 8" descr="D:\工作相关\专利申请\一种局部对比度增强的红外图像动态范围压缩算法\论文对比代码\对比数据\线性映射\20211123_100513.bmp"/>
          <p:cNvPicPr/>
          <p:nvPr/>
        </p:nvPicPr>
        <p:blipFill>
          <a:blip r:embed="rId3">
            <a:extLst>
              <a:ext uri="{28A0092B-C50C-407E-A947-70E740481C1C}">
                <a14:useLocalDpi xmlns:a14="http://schemas.microsoft.com/office/drawing/2010/main" val="0"/>
              </a:ext>
            </a:extLst>
          </a:blip>
          <a:srcRect/>
          <a:stretch>
            <a:fillRect/>
          </a:stretch>
        </p:blipFill>
        <p:spPr bwMode="auto">
          <a:xfrm>
            <a:off x="839416" y="1000104"/>
            <a:ext cx="3384376" cy="2644920"/>
          </a:xfrm>
          <a:prstGeom prst="rect">
            <a:avLst/>
          </a:prstGeom>
          <a:noFill/>
          <a:ln>
            <a:noFill/>
          </a:ln>
        </p:spPr>
      </p:pic>
      <p:pic>
        <p:nvPicPr>
          <p:cNvPr id="10" name="图片 9" descr="D:\工作相关\专利申请\一种局部对比度增强的红外图像动态范围压缩算法\论文对比代码\对比数据\平台直方图映射\20211123_101057.bmp"/>
          <p:cNvPicPr/>
          <p:nvPr/>
        </p:nvPicPr>
        <p:blipFill>
          <a:blip r:embed="rId4">
            <a:extLst>
              <a:ext uri="{28A0092B-C50C-407E-A947-70E740481C1C}">
                <a14:useLocalDpi xmlns:a14="http://schemas.microsoft.com/office/drawing/2010/main" val="0"/>
              </a:ext>
            </a:extLst>
          </a:blip>
          <a:srcRect/>
          <a:stretch>
            <a:fillRect/>
          </a:stretch>
        </p:blipFill>
        <p:spPr bwMode="auto">
          <a:xfrm>
            <a:off x="4880934" y="1000101"/>
            <a:ext cx="3231290" cy="2644923"/>
          </a:xfrm>
          <a:prstGeom prst="rect">
            <a:avLst/>
          </a:prstGeom>
          <a:noFill/>
          <a:ln>
            <a:noFill/>
          </a:ln>
        </p:spPr>
      </p:pic>
      <p:pic>
        <p:nvPicPr>
          <p:cNvPr id="11" name="图片 10" descr="D:\工作相关\专利申请\一种局部对比度增强的红外图像动态范围压缩算法\论文对比代码\对比数据\CLAHE调光\IRI0000309 (2).bmp"/>
          <p:cNvPicPr/>
          <p:nvPr/>
        </p:nvPicPr>
        <p:blipFill>
          <a:blip r:embed="rId5">
            <a:extLst>
              <a:ext uri="{28A0092B-C50C-407E-A947-70E740481C1C}">
                <a14:useLocalDpi xmlns:a14="http://schemas.microsoft.com/office/drawing/2010/main" val="0"/>
              </a:ext>
            </a:extLst>
          </a:blip>
          <a:srcRect/>
          <a:stretch>
            <a:fillRect/>
          </a:stretch>
        </p:blipFill>
        <p:spPr bwMode="auto">
          <a:xfrm>
            <a:off x="2711624" y="3827397"/>
            <a:ext cx="3672408" cy="2842385"/>
          </a:xfrm>
          <a:prstGeom prst="rect">
            <a:avLst/>
          </a:prstGeom>
          <a:noFill/>
          <a:ln>
            <a:noFill/>
          </a:ln>
        </p:spPr>
      </p:pic>
      <p:sp>
        <p:nvSpPr>
          <p:cNvPr id="3" name="文本框 2"/>
          <p:cNvSpPr txBox="1"/>
          <p:nvPr/>
        </p:nvSpPr>
        <p:spPr>
          <a:xfrm>
            <a:off x="4297697" y="1860897"/>
            <a:ext cx="415498" cy="923330"/>
          </a:xfrm>
          <a:prstGeom prst="rect">
            <a:avLst/>
          </a:prstGeom>
          <a:noFill/>
        </p:spPr>
        <p:txBody>
          <a:bodyPr wrap="none" rtlCol="0">
            <a:spAutoFit/>
          </a:bodyPr>
          <a:lstStyle/>
          <a:p>
            <a:r>
              <a:rPr lang="zh-CN" altLang="en-US" dirty="0">
                <a:solidFill>
                  <a:schemeClr val="bg1"/>
                </a:solidFill>
              </a:rPr>
              <a:t>线</a:t>
            </a:r>
            <a:endParaRPr lang="en-US" altLang="zh-CN" dirty="0">
              <a:solidFill>
                <a:schemeClr val="bg1"/>
              </a:solidFill>
            </a:endParaRPr>
          </a:p>
          <a:p>
            <a:endParaRPr lang="en-US" altLang="zh-CN" dirty="0">
              <a:solidFill>
                <a:schemeClr val="bg1"/>
              </a:solidFill>
            </a:endParaRPr>
          </a:p>
          <a:p>
            <a:r>
              <a:rPr lang="zh-CN" altLang="en-US" dirty="0">
                <a:solidFill>
                  <a:schemeClr val="bg1"/>
                </a:solidFill>
              </a:rPr>
              <a:t>性</a:t>
            </a:r>
            <a:endParaRPr lang="zh-CN" altLang="en-US" dirty="0">
              <a:solidFill>
                <a:schemeClr val="bg1"/>
              </a:solidFill>
            </a:endParaRPr>
          </a:p>
        </p:txBody>
      </p:sp>
      <p:sp>
        <p:nvSpPr>
          <p:cNvPr id="12" name="文本框 11"/>
          <p:cNvSpPr txBox="1"/>
          <p:nvPr/>
        </p:nvSpPr>
        <p:spPr>
          <a:xfrm>
            <a:off x="8138583" y="1772816"/>
            <a:ext cx="415498" cy="923330"/>
          </a:xfrm>
          <a:prstGeom prst="rect">
            <a:avLst/>
          </a:prstGeom>
          <a:noFill/>
        </p:spPr>
        <p:txBody>
          <a:bodyPr wrap="none" rtlCol="0">
            <a:spAutoFit/>
          </a:bodyPr>
          <a:lstStyle/>
          <a:p>
            <a:r>
              <a:rPr lang="zh-CN" altLang="en-US" dirty="0">
                <a:solidFill>
                  <a:schemeClr val="bg1"/>
                </a:solidFill>
              </a:rPr>
              <a:t>直</a:t>
            </a:r>
            <a:endParaRPr lang="en-US" altLang="zh-CN" dirty="0">
              <a:solidFill>
                <a:schemeClr val="bg1"/>
              </a:solidFill>
            </a:endParaRPr>
          </a:p>
          <a:p>
            <a:r>
              <a:rPr lang="zh-CN" altLang="en-US" dirty="0">
                <a:solidFill>
                  <a:schemeClr val="bg1"/>
                </a:solidFill>
              </a:rPr>
              <a:t>方</a:t>
            </a:r>
            <a:endParaRPr lang="en-US" altLang="zh-CN" dirty="0">
              <a:solidFill>
                <a:schemeClr val="bg1"/>
              </a:solidFill>
            </a:endParaRPr>
          </a:p>
          <a:p>
            <a:r>
              <a:rPr lang="zh-CN" altLang="en-US" dirty="0">
                <a:solidFill>
                  <a:schemeClr val="bg1"/>
                </a:solidFill>
              </a:rPr>
              <a:t>图</a:t>
            </a:r>
            <a:endParaRPr lang="zh-CN" altLang="en-US" dirty="0">
              <a:solidFill>
                <a:schemeClr val="bg1"/>
              </a:solidFill>
            </a:endParaRPr>
          </a:p>
        </p:txBody>
      </p:sp>
      <p:sp>
        <p:nvSpPr>
          <p:cNvPr id="13" name="文本框 12"/>
          <p:cNvSpPr txBox="1"/>
          <p:nvPr/>
        </p:nvSpPr>
        <p:spPr>
          <a:xfrm>
            <a:off x="6463043" y="4509925"/>
            <a:ext cx="351378" cy="1477328"/>
          </a:xfrm>
          <a:prstGeom prst="rect">
            <a:avLst/>
          </a:prstGeom>
          <a:noFill/>
        </p:spPr>
        <p:txBody>
          <a:bodyPr wrap="none" rtlCol="0">
            <a:spAutoFit/>
          </a:bodyPr>
          <a:lstStyle/>
          <a:p>
            <a:r>
              <a:rPr lang="en-US" altLang="zh-CN" dirty="0">
                <a:solidFill>
                  <a:schemeClr val="bg1"/>
                </a:solidFill>
              </a:rPr>
              <a:t>C</a:t>
            </a:r>
            <a:endParaRPr lang="en-US" altLang="zh-CN" dirty="0">
              <a:solidFill>
                <a:schemeClr val="bg1"/>
              </a:solidFill>
            </a:endParaRPr>
          </a:p>
          <a:p>
            <a:r>
              <a:rPr lang="en-US" altLang="zh-CN" dirty="0">
                <a:solidFill>
                  <a:schemeClr val="bg1"/>
                </a:solidFill>
              </a:rPr>
              <a:t>L</a:t>
            </a:r>
            <a:endParaRPr lang="en-US" altLang="zh-CN" dirty="0">
              <a:solidFill>
                <a:schemeClr val="bg1"/>
              </a:solidFill>
            </a:endParaRPr>
          </a:p>
          <a:p>
            <a:r>
              <a:rPr lang="en-US" altLang="zh-CN" dirty="0">
                <a:solidFill>
                  <a:schemeClr val="bg1"/>
                </a:solidFill>
              </a:rPr>
              <a:t>A</a:t>
            </a:r>
            <a:endParaRPr lang="en-US" altLang="zh-CN" dirty="0">
              <a:solidFill>
                <a:schemeClr val="bg1"/>
              </a:solidFill>
            </a:endParaRPr>
          </a:p>
          <a:p>
            <a:r>
              <a:rPr lang="en-US" altLang="zh-CN" dirty="0">
                <a:solidFill>
                  <a:schemeClr val="bg1"/>
                </a:solidFill>
              </a:rPr>
              <a:t>H</a:t>
            </a:r>
            <a:endParaRPr lang="en-US" altLang="zh-CN" dirty="0">
              <a:solidFill>
                <a:schemeClr val="bg1"/>
              </a:solidFill>
            </a:endParaRPr>
          </a:p>
          <a:p>
            <a:r>
              <a:rPr lang="en-US" altLang="zh-CN" dirty="0">
                <a:solidFill>
                  <a:schemeClr val="bg1"/>
                </a:solidFill>
              </a:rPr>
              <a:t>E</a:t>
            </a:r>
            <a:endParaRPr lang="zh-CN" altLang="en-US" dirty="0">
              <a:solidFill>
                <a:schemeClr val="bg1"/>
              </a:solidFill>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Words>
  <Application>WPS 演示</Application>
  <PresentationFormat>宽屏</PresentationFormat>
  <Paragraphs>22</Paragraphs>
  <Slides>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Carlen</cp:lastModifiedBy>
  <cp:revision>155</cp:revision>
  <dcterms:created xsi:type="dcterms:W3CDTF">2019-06-19T02:08:00Z</dcterms:created>
  <dcterms:modified xsi:type="dcterms:W3CDTF">2025-04-25T03:43:35Z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92DA4599AC5243B68A70FA8A717114E0_11</vt:lpwstr>
  </property>
</Properties>
</file>