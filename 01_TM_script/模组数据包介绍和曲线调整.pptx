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7"/>
  </p:notesMasterIdLst>
  <p:handoutMasterIdLst>
    <p:handoutMasterId r:id="rId18"/>
  </p:handoutMasterIdLst>
  <p:sldIdLst>
    <p:sldId id="365" r:id="rId3"/>
    <p:sldId id="257" r:id="rId4"/>
    <p:sldId id="531" r:id="rId5"/>
    <p:sldId id="582" r:id="rId6"/>
    <p:sldId id="583" r:id="rId7"/>
    <p:sldId id="584" r:id="rId8"/>
    <p:sldId id="585" r:id="rId9"/>
    <p:sldId id="587" r:id="rId10"/>
    <p:sldId id="589" r:id="rId11"/>
    <p:sldId id="591" r:id="rId12"/>
    <p:sldId id="592" r:id="rId13"/>
    <p:sldId id="588" r:id="rId14"/>
    <p:sldId id="590" r:id="rId15"/>
    <p:sldId id="549" r:id="rId16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0501my2" initials="1" lastIdx="2" clrIdx="0"/>
  <p:cmAuthor id="2" name="01177zp2" initials="0" lastIdx="1" clrIdx="1"/>
  <p:cmAuthor id="3" name="02081tyd" initials="0" lastIdx="1" clrIdx="2"/>
  <p:cmAuthor id="4" name="05621wzp-3" initials="0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959"/>
    <a:srgbClr val="DCDCDC"/>
    <a:srgbClr val="E6E6E6"/>
    <a:srgbClr val="EAEAEA"/>
    <a:srgbClr val="404040"/>
    <a:srgbClr val="CECECE"/>
    <a:srgbClr val="CCD0E0"/>
    <a:srgbClr val="363636"/>
    <a:srgbClr val="74309F"/>
    <a:srgbClr val="F0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04" autoAdjust="0"/>
  </p:normalViewPr>
  <p:slideViewPr>
    <p:cSldViewPr showGuides="1">
      <p:cViewPr>
        <p:scale>
          <a:sx n="100" d="100"/>
          <a:sy n="100" d="100"/>
        </p:scale>
        <p:origin x="384" y="-72"/>
      </p:cViewPr>
      <p:guideLst>
        <p:guide orient="horz" pos="225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2023/9/4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6832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2023/9/4</a:t>
            </a:fld>
            <a:endParaRPr lang="zh-CN" altLang="en-US" strike="noStrike" noProof="1"/>
          </a:p>
        </p:txBody>
      </p:sp>
      <p:sp>
        <p:nvSpPr>
          <p:cNvPr id="307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7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  <p:extLst>
      <p:ext uri="{BB962C8B-B14F-4D97-AF65-F5344CB8AC3E}">
        <p14:creationId xmlns:p14="http://schemas.microsoft.com/office/powerpoint/2010/main" val="35142458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139" y="1122486"/>
            <a:ext cx="9144833" cy="2387863"/>
          </a:xfrm>
        </p:spPr>
        <p:txBody>
          <a:bodyPr anchor="b"/>
          <a:lstStyle>
            <a:lvl1pPr algn="ctr">
              <a:defRPr sz="4505"/>
            </a:lvl1pPr>
          </a:lstStyle>
          <a:p>
            <a:pPr fontAlgn="base"/>
            <a:r>
              <a:rPr lang="zh-CN" altLang="en-US" sz="35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139" y="3602434"/>
            <a:ext cx="9144833" cy="1655945"/>
          </a:xfrm>
        </p:spPr>
        <p:txBody>
          <a:bodyPr/>
          <a:lstStyle>
            <a:lvl1pPr marL="0" indent="0" algn="ctr">
              <a:buNone/>
              <a:defRPr sz="1795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5"/>
            </a:lvl3pPr>
            <a:lvl4pPr marL="1029335" indent="0" algn="ctr">
              <a:buNone/>
              <a:defRPr sz="1200"/>
            </a:lvl4pPr>
            <a:lvl5pPr marL="1372235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835" indent="0" algn="ctr">
              <a:buNone/>
              <a:defRPr sz="1200"/>
            </a:lvl9pPr>
          </a:lstStyle>
          <a:p>
            <a:pPr fontAlgn="base"/>
            <a:r>
              <a:rPr lang="zh-CN" altLang="en-US" sz="1415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</a:p>
          <a:p>
            <a:pPr lvl="1" fontAlgn="base"/>
            <a:r>
              <a:rPr lang="zh-CN" altLang="en-US" sz="2520" strike="noStrike" noProof="1" smtClean="0"/>
              <a:t>第二级</a:t>
            </a:r>
          </a:p>
          <a:p>
            <a:pPr lvl="2" fontAlgn="base"/>
            <a:r>
              <a:rPr lang="zh-CN" altLang="en-US" sz="2520" strike="noStrike" noProof="1" smtClean="0"/>
              <a:t>第三级</a:t>
            </a:r>
          </a:p>
          <a:p>
            <a:pPr lvl="3" fontAlgn="base"/>
            <a:r>
              <a:rPr lang="zh-CN" altLang="en-US" sz="2520" strike="noStrike" noProof="1" smtClean="0"/>
              <a:t>第四级</a:t>
            </a:r>
          </a:p>
          <a:p>
            <a:pPr lvl="4" fontAlgn="base"/>
            <a:r>
              <a:rPr lang="zh-CN" altLang="en-US" sz="252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926" y="1709926"/>
            <a:ext cx="10516556" cy="2853051"/>
          </a:xfrm>
        </p:spPr>
        <p:txBody>
          <a:bodyPr anchor="b"/>
          <a:lstStyle>
            <a:lvl1pPr>
              <a:defRPr sz="4505"/>
            </a:lvl1pPr>
          </a:lstStyle>
          <a:p>
            <a:pPr fontAlgn="base"/>
            <a:r>
              <a:rPr lang="zh-CN" altLang="en-US" sz="35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926" y="4589968"/>
            <a:ext cx="10516556" cy="1500353"/>
          </a:xfrm>
        </p:spPr>
        <p:txBody>
          <a:bodyPr/>
          <a:lstStyle>
            <a:lvl1pPr marL="0" indent="0">
              <a:buNone/>
              <a:defRPr sz="1795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5">
                <a:solidFill>
                  <a:schemeClr val="tx1">
                    <a:tint val="75000"/>
                  </a:schemeClr>
                </a:solidFill>
              </a:defRPr>
            </a:lvl3pPr>
            <a:lvl4pPr marL="10293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22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8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1415" strike="noStrike" noProof="1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56" y="1600376"/>
            <a:ext cx="5377162" cy="4526461"/>
          </a:xfrm>
        </p:spPr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</a:p>
          <a:p>
            <a:pPr lvl="1" fontAlgn="base"/>
            <a:r>
              <a:rPr lang="zh-CN" altLang="en-US" sz="2520" strike="noStrike" noProof="1" smtClean="0"/>
              <a:t>第二级</a:t>
            </a:r>
          </a:p>
          <a:p>
            <a:pPr lvl="2" fontAlgn="base"/>
            <a:r>
              <a:rPr lang="zh-CN" altLang="en-US" sz="2520" strike="noStrike" noProof="1" smtClean="0"/>
              <a:t>第三级</a:t>
            </a:r>
          </a:p>
          <a:p>
            <a:pPr lvl="3" fontAlgn="base"/>
            <a:r>
              <a:rPr lang="zh-CN" altLang="en-US" sz="2520" strike="noStrike" noProof="1" smtClean="0"/>
              <a:t>第四级</a:t>
            </a:r>
          </a:p>
          <a:p>
            <a:pPr lvl="4" fontAlgn="base"/>
            <a:r>
              <a:rPr lang="zh-CN" altLang="en-US" sz="252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6293" y="1600376"/>
            <a:ext cx="5377162" cy="4526461"/>
          </a:xfrm>
        </p:spPr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</a:p>
          <a:p>
            <a:pPr lvl="1" fontAlgn="base"/>
            <a:r>
              <a:rPr lang="zh-CN" altLang="en-US" sz="2520" strike="noStrike" noProof="1" smtClean="0"/>
              <a:t>第二级</a:t>
            </a:r>
          </a:p>
          <a:p>
            <a:pPr lvl="2" fontAlgn="base"/>
            <a:r>
              <a:rPr lang="zh-CN" altLang="en-US" sz="2520" strike="noStrike" noProof="1" smtClean="0"/>
              <a:t>第三级</a:t>
            </a:r>
          </a:p>
          <a:p>
            <a:pPr lvl="3" fontAlgn="base"/>
            <a:r>
              <a:rPr lang="zh-CN" altLang="en-US" sz="2520" strike="noStrike" noProof="1" smtClean="0"/>
              <a:t>第四级</a:t>
            </a:r>
          </a:p>
          <a:p>
            <a:pPr lvl="4" fontAlgn="base"/>
            <a:r>
              <a:rPr lang="zh-CN" altLang="en-US" sz="252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365165"/>
            <a:ext cx="10516556" cy="1325709"/>
          </a:xfrm>
        </p:spPr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882" y="1778634"/>
            <a:ext cx="4874017" cy="824003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795"/>
            </a:lvl2pPr>
            <a:lvl3pPr marL="685800" indent="0">
              <a:buNone/>
              <a:defRPr sz="1500"/>
            </a:lvl3pPr>
            <a:lvl4pPr marL="1029335" indent="0">
              <a:buNone/>
              <a:defRPr sz="1355"/>
            </a:lvl4pPr>
            <a:lvl5pPr marL="1372235" indent="0">
              <a:buNone/>
              <a:defRPr sz="1355"/>
            </a:lvl5pPr>
            <a:lvl6pPr marL="1714500" indent="0">
              <a:buNone/>
              <a:defRPr sz="1355"/>
            </a:lvl6pPr>
            <a:lvl7pPr marL="2057400" indent="0">
              <a:buNone/>
              <a:defRPr sz="1355"/>
            </a:lvl7pPr>
            <a:lvl8pPr marL="2400300" indent="0">
              <a:buNone/>
              <a:defRPr sz="1355"/>
            </a:lvl8pPr>
            <a:lvl9pPr marL="2743835" indent="0">
              <a:buNone/>
              <a:defRPr sz="1355"/>
            </a:lvl9pPr>
          </a:lstStyle>
          <a:p>
            <a:pPr lvl="0" fontAlgn="base"/>
            <a:r>
              <a:rPr lang="zh-CN" altLang="en-US" sz="1655" strike="noStrike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882" y="2665673"/>
            <a:ext cx="4874017" cy="3524673"/>
          </a:xfrm>
        </p:spPr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</a:p>
          <a:p>
            <a:pPr lvl="1" fontAlgn="base"/>
            <a:r>
              <a:rPr lang="zh-CN" altLang="en-US" sz="2520" strike="noStrike" noProof="1" smtClean="0"/>
              <a:t>第二级</a:t>
            </a:r>
          </a:p>
          <a:p>
            <a:pPr lvl="2" fontAlgn="base"/>
            <a:r>
              <a:rPr lang="zh-CN" altLang="en-US" sz="2520" strike="noStrike" noProof="1" smtClean="0"/>
              <a:t>第三级</a:t>
            </a:r>
          </a:p>
          <a:p>
            <a:pPr lvl="3" fontAlgn="base"/>
            <a:r>
              <a:rPr lang="zh-CN" altLang="en-US" sz="2520" strike="noStrike" noProof="1" smtClean="0"/>
              <a:t>第四级</a:t>
            </a:r>
          </a:p>
          <a:p>
            <a:pPr lvl="4" fontAlgn="base"/>
            <a:r>
              <a:rPr lang="zh-CN" altLang="en-US" sz="252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7508" y="1778634"/>
            <a:ext cx="4898022" cy="824003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795"/>
            </a:lvl2pPr>
            <a:lvl3pPr marL="685800" indent="0">
              <a:buNone/>
              <a:defRPr sz="1500"/>
            </a:lvl3pPr>
            <a:lvl4pPr marL="1029335" indent="0">
              <a:buNone/>
              <a:defRPr sz="1355"/>
            </a:lvl4pPr>
            <a:lvl5pPr marL="1372235" indent="0">
              <a:buNone/>
              <a:defRPr sz="1355"/>
            </a:lvl5pPr>
            <a:lvl6pPr marL="1714500" indent="0">
              <a:buNone/>
              <a:defRPr sz="1355"/>
            </a:lvl6pPr>
            <a:lvl7pPr marL="2057400" indent="0">
              <a:buNone/>
              <a:defRPr sz="1355"/>
            </a:lvl7pPr>
            <a:lvl8pPr marL="2400300" indent="0">
              <a:buNone/>
              <a:defRPr sz="1355"/>
            </a:lvl8pPr>
            <a:lvl9pPr marL="2743835" indent="0">
              <a:buNone/>
              <a:defRPr sz="1355"/>
            </a:lvl9pPr>
          </a:lstStyle>
          <a:p>
            <a:pPr lvl="0" fontAlgn="base"/>
            <a:r>
              <a:rPr lang="zh-CN" altLang="en-US" sz="1655" strike="noStrike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7508" y="2665673"/>
            <a:ext cx="4898022" cy="3524673"/>
          </a:xfrm>
        </p:spPr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</a:p>
          <a:p>
            <a:pPr lvl="1" fontAlgn="base"/>
            <a:r>
              <a:rPr lang="zh-CN" altLang="en-US" sz="2520" strike="noStrike" noProof="1" smtClean="0"/>
              <a:t>第二级</a:t>
            </a:r>
          </a:p>
          <a:p>
            <a:pPr lvl="2" fontAlgn="base"/>
            <a:r>
              <a:rPr lang="zh-CN" altLang="en-US" sz="2520" strike="noStrike" noProof="1" smtClean="0"/>
              <a:t>第三级</a:t>
            </a:r>
          </a:p>
          <a:p>
            <a:pPr lvl="3" fontAlgn="base"/>
            <a:r>
              <a:rPr lang="zh-CN" altLang="en-US" sz="2520" strike="noStrike" noProof="1" smtClean="0"/>
              <a:t>第四级</a:t>
            </a:r>
          </a:p>
          <a:p>
            <a:pPr lvl="4" fontAlgn="base"/>
            <a:r>
              <a:rPr lang="zh-CN" altLang="en-US" sz="252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457250"/>
            <a:ext cx="3932595" cy="1600376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z="189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659" y="987534"/>
            <a:ext cx="6172762" cy="487416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795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z="1890" strike="noStrike" noProof="1" smtClean="0"/>
              <a:t>单击此处编辑母版文本样式</a:t>
            </a:r>
          </a:p>
          <a:p>
            <a:pPr lvl="1" fontAlgn="base"/>
            <a:r>
              <a:rPr lang="zh-CN" altLang="en-US" sz="1890" strike="noStrike" noProof="1" smtClean="0"/>
              <a:t>第二级</a:t>
            </a:r>
          </a:p>
          <a:p>
            <a:pPr lvl="2" fontAlgn="base"/>
            <a:r>
              <a:rPr lang="zh-CN" altLang="en-US" sz="1890" strike="noStrike" noProof="1" smtClean="0"/>
              <a:t>第三级</a:t>
            </a:r>
          </a:p>
          <a:p>
            <a:pPr lvl="3" fontAlgn="base"/>
            <a:r>
              <a:rPr lang="zh-CN" altLang="en-US" sz="1890" strike="noStrike" noProof="1" smtClean="0"/>
              <a:t>第四级</a:t>
            </a:r>
          </a:p>
          <a:p>
            <a:pPr lvl="4" fontAlgn="base"/>
            <a:r>
              <a:rPr lang="zh-CN" altLang="en-US" sz="189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65" y="2057627"/>
            <a:ext cx="3932595" cy="381200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9335" indent="0">
              <a:buNone/>
              <a:defRPr sz="750"/>
            </a:lvl4pPr>
            <a:lvl5pPr marL="1372235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835" indent="0">
              <a:buNone/>
              <a:defRPr sz="750"/>
            </a:lvl9pPr>
          </a:lstStyle>
          <a:p>
            <a:pPr lvl="0" fontAlgn="base"/>
            <a:r>
              <a:rPr lang="zh-CN" altLang="en-US" sz="945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457250"/>
            <a:ext cx="4165728" cy="1600376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z="189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659" y="457252"/>
            <a:ext cx="6172762" cy="540444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795"/>
            </a:lvl3pPr>
            <a:lvl4pPr marL="1029335" indent="0">
              <a:buNone/>
              <a:defRPr sz="1500"/>
            </a:lvl4pPr>
            <a:lvl5pPr marL="1372235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pPr fontAlgn="base"/>
            <a:r>
              <a:rPr lang="zh-CN" altLang="en-US" strike="noStrike" noProof="1" smtClean="0"/>
              <a:t>单击图标添加图片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65" y="2057627"/>
            <a:ext cx="4165728" cy="381200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5"/>
            </a:lvl2pPr>
            <a:lvl3pPr marL="685800" indent="0">
              <a:buNone/>
              <a:defRPr sz="1200"/>
            </a:lvl3pPr>
            <a:lvl4pPr marL="1029335" indent="0">
              <a:buNone/>
              <a:defRPr sz="1050"/>
            </a:lvl4pPr>
            <a:lvl5pPr marL="1372235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835" indent="0">
              <a:buNone/>
              <a:defRPr sz="1050"/>
            </a:lvl9pPr>
          </a:lstStyle>
          <a:p>
            <a:pPr lvl="0" fontAlgn="base"/>
            <a:r>
              <a:rPr lang="zh-CN" altLang="en-US" sz="1180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</a:p>
          <a:p>
            <a:pPr lvl="1" fontAlgn="base"/>
            <a:r>
              <a:rPr lang="zh-CN" altLang="en-US" sz="2520" strike="noStrike" noProof="1" smtClean="0"/>
              <a:t>第二级</a:t>
            </a:r>
          </a:p>
          <a:p>
            <a:pPr lvl="2" fontAlgn="base"/>
            <a:r>
              <a:rPr lang="zh-CN" altLang="en-US" sz="2520" strike="noStrike" noProof="1" smtClean="0"/>
              <a:t>第三级</a:t>
            </a:r>
          </a:p>
          <a:p>
            <a:pPr lvl="3" fontAlgn="base"/>
            <a:r>
              <a:rPr lang="zh-CN" altLang="en-US" sz="2520" strike="noStrike" noProof="1" smtClean="0"/>
              <a:t>第四级</a:t>
            </a:r>
          </a:p>
          <a:p>
            <a:pPr lvl="4" fontAlgn="base"/>
            <a:r>
              <a:rPr lang="zh-CN" altLang="en-US" sz="252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005" y="274668"/>
            <a:ext cx="2743450" cy="5852170"/>
          </a:xfrm>
        </p:spPr>
        <p:txBody>
          <a:bodyPr vert="eaVert"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56" y="274668"/>
            <a:ext cx="8071308" cy="5852170"/>
          </a:xfrm>
        </p:spPr>
        <p:txBody>
          <a:bodyPr vert="eaVert"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</a:p>
          <a:p>
            <a:pPr lvl="1" fontAlgn="base"/>
            <a:r>
              <a:rPr lang="zh-CN" altLang="en-US" sz="2520" strike="noStrike" noProof="1" smtClean="0"/>
              <a:t>第二级</a:t>
            </a:r>
          </a:p>
          <a:p>
            <a:pPr lvl="2" fontAlgn="base"/>
            <a:r>
              <a:rPr lang="zh-CN" altLang="en-US" sz="2520" strike="noStrike" noProof="1" smtClean="0"/>
              <a:t>第三级</a:t>
            </a:r>
          </a:p>
          <a:p>
            <a:pPr lvl="3" fontAlgn="base"/>
            <a:r>
              <a:rPr lang="zh-CN" altLang="en-US" sz="2520" strike="noStrike" noProof="1" smtClean="0"/>
              <a:t>第四级</a:t>
            </a:r>
          </a:p>
          <a:p>
            <a:pPr lvl="4" fontAlgn="base"/>
            <a:r>
              <a:rPr lang="zh-CN" altLang="en-US" sz="252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139" y="1122486"/>
            <a:ext cx="9144833" cy="2387863"/>
          </a:xfrm>
        </p:spPr>
        <p:txBody>
          <a:bodyPr anchor="b"/>
          <a:lstStyle>
            <a:lvl1pPr algn="ctr">
              <a:defRPr sz="4505"/>
            </a:lvl1pPr>
          </a:lstStyle>
          <a:p>
            <a:pPr fontAlgn="base"/>
            <a:r>
              <a:rPr lang="zh-CN" altLang="en-US" sz="35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139" y="3602434"/>
            <a:ext cx="9144833" cy="1655945"/>
          </a:xfrm>
        </p:spPr>
        <p:txBody>
          <a:bodyPr/>
          <a:lstStyle>
            <a:lvl1pPr marL="0" indent="0" algn="ctr">
              <a:buNone/>
              <a:defRPr sz="1795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5"/>
            </a:lvl3pPr>
            <a:lvl4pPr marL="1029335" indent="0" algn="ctr">
              <a:buNone/>
              <a:defRPr sz="1200"/>
            </a:lvl4pPr>
            <a:lvl5pPr marL="1372235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835" indent="0" algn="ctr">
              <a:buNone/>
              <a:defRPr sz="1200"/>
            </a:lvl9pPr>
          </a:lstStyle>
          <a:p>
            <a:pPr fontAlgn="base"/>
            <a:r>
              <a:rPr lang="zh-CN" altLang="en-US" sz="1415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2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5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5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926" y="1709926"/>
            <a:ext cx="10516556" cy="2853051"/>
          </a:xfrm>
        </p:spPr>
        <p:txBody>
          <a:bodyPr anchor="b"/>
          <a:lstStyle>
            <a:lvl1pPr>
              <a:defRPr sz="4505"/>
            </a:lvl1pPr>
          </a:lstStyle>
          <a:p>
            <a:pPr fontAlgn="base"/>
            <a:r>
              <a:rPr lang="zh-CN" altLang="en-US" sz="35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926" y="4589968"/>
            <a:ext cx="10516556" cy="1500353"/>
          </a:xfrm>
        </p:spPr>
        <p:txBody>
          <a:bodyPr/>
          <a:lstStyle>
            <a:lvl1pPr marL="0" indent="0">
              <a:buNone/>
              <a:defRPr sz="1795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5">
                <a:solidFill>
                  <a:schemeClr val="tx1">
                    <a:tint val="75000"/>
                  </a:schemeClr>
                </a:solidFill>
              </a:defRPr>
            </a:lvl3pPr>
            <a:lvl4pPr marL="10293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22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8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141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56" y="1600376"/>
            <a:ext cx="5377162" cy="4526461"/>
          </a:xfrm>
        </p:spPr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2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5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5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6293" y="1600376"/>
            <a:ext cx="5377162" cy="4526461"/>
          </a:xfrm>
        </p:spPr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2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5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5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365165"/>
            <a:ext cx="10516556" cy="1325709"/>
          </a:xfrm>
        </p:spPr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882" y="1778634"/>
            <a:ext cx="4874017" cy="824003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795"/>
            </a:lvl2pPr>
            <a:lvl3pPr marL="685800" indent="0">
              <a:buNone/>
              <a:defRPr sz="1500"/>
            </a:lvl3pPr>
            <a:lvl4pPr marL="1029335" indent="0">
              <a:buNone/>
              <a:defRPr sz="1355"/>
            </a:lvl4pPr>
            <a:lvl5pPr marL="1372235" indent="0">
              <a:buNone/>
              <a:defRPr sz="1355"/>
            </a:lvl5pPr>
            <a:lvl6pPr marL="1714500" indent="0">
              <a:buNone/>
              <a:defRPr sz="1355"/>
            </a:lvl6pPr>
            <a:lvl7pPr marL="2057400" indent="0">
              <a:buNone/>
              <a:defRPr sz="1355"/>
            </a:lvl7pPr>
            <a:lvl8pPr marL="2400300" indent="0">
              <a:buNone/>
              <a:defRPr sz="1355"/>
            </a:lvl8pPr>
            <a:lvl9pPr marL="2743835" indent="0">
              <a:buNone/>
              <a:defRPr sz="1355"/>
            </a:lvl9pPr>
          </a:lstStyle>
          <a:p>
            <a:pPr lvl="0" fontAlgn="base"/>
            <a:r>
              <a:rPr lang="zh-CN" altLang="en-US" sz="165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882" y="2665673"/>
            <a:ext cx="4874017" cy="3524673"/>
          </a:xfrm>
        </p:spPr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2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5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5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7508" y="1778634"/>
            <a:ext cx="4898022" cy="824003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795"/>
            </a:lvl2pPr>
            <a:lvl3pPr marL="685800" indent="0">
              <a:buNone/>
              <a:defRPr sz="1500"/>
            </a:lvl3pPr>
            <a:lvl4pPr marL="1029335" indent="0">
              <a:buNone/>
              <a:defRPr sz="1355"/>
            </a:lvl4pPr>
            <a:lvl5pPr marL="1372235" indent="0">
              <a:buNone/>
              <a:defRPr sz="1355"/>
            </a:lvl5pPr>
            <a:lvl6pPr marL="1714500" indent="0">
              <a:buNone/>
              <a:defRPr sz="1355"/>
            </a:lvl6pPr>
            <a:lvl7pPr marL="2057400" indent="0">
              <a:buNone/>
              <a:defRPr sz="1355"/>
            </a:lvl7pPr>
            <a:lvl8pPr marL="2400300" indent="0">
              <a:buNone/>
              <a:defRPr sz="1355"/>
            </a:lvl8pPr>
            <a:lvl9pPr marL="2743835" indent="0">
              <a:buNone/>
              <a:defRPr sz="1355"/>
            </a:lvl9pPr>
          </a:lstStyle>
          <a:p>
            <a:pPr lvl="0" fontAlgn="base"/>
            <a:r>
              <a:rPr lang="zh-CN" altLang="en-US" sz="165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7508" y="2665673"/>
            <a:ext cx="4898022" cy="3524673"/>
          </a:xfrm>
        </p:spPr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2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5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5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457250"/>
            <a:ext cx="3932595" cy="1600376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z="189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659" y="987534"/>
            <a:ext cx="6172762" cy="487416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795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z="189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165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415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180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18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65" y="2057627"/>
            <a:ext cx="3932595" cy="381200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9335" indent="0">
              <a:buNone/>
              <a:defRPr sz="750"/>
            </a:lvl4pPr>
            <a:lvl5pPr marL="1372235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835" indent="0">
              <a:buNone/>
              <a:defRPr sz="750"/>
            </a:lvl9pPr>
          </a:lstStyle>
          <a:p>
            <a:pPr lvl="0" fontAlgn="base"/>
            <a:r>
              <a:rPr lang="zh-CN" altLang="en-US" sz="94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457250"/>
            <a:ext cx="4165728" cy="1600376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z="189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659" y="457252"/>
            <a:ext cx="6172762" cy="540444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795"/>
            </a:lvl3pPr>
            <a:lvl4pPr marL="1029335" indent="0">
              <a:buNone/>
              <a:defRPr sz="1500"/>
            </a:lvl4pPr>
            <a:lvl5pPr marL="1372235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65" y="2057627"/>
            <a:ext cx="4165728" cy="381200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5"/>
            </a:lvl2pPr>
            <a:lvl3pPr marL="685800" indent="0">
              <a:buNone/>
              <a:defRPr sz="1200"/>
            </a:lvl3pPr>
            <a:lvl4pPr marL="1029335" indent="0">
              <a:buNone/>
              <a:defRPr sz="1050"/>
            </a:lvl4pPr>
            <a:lvl5pPr marL="1372235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835" indent="0">
              <a:buNone/>
              <a:defRPr sz="1050"/>
            </a:lvl9pPr>
          </a:lstStyle>
          <a:p>
            <a:pPr lvl="0" fontAlgn="base"/>
            <a:r>
              <a:rPr lang="zh-CN" altLang="en-US" sz="1180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2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5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5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005" y="274668"/>
            <a:ext cx="2743450" cy="5852170"/>
          </a:xfrm>
        </p:spPr>
        <p:txBody>
          <a:bodyPr vert="eaVert"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56" y="274668"/>
            <a:ext cx="8071308" cy="5852170"/>
          </a:xfrm>
        </p:spPr>
        <p:txBody>
          <a:bodyPr vert="eaVert"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2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5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5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373" y="274223"/>
            <a:ext cx="10974096" cy="1143269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 fontAlgn="base"/>
            <a:r>
              <a:rPr lang="zh-CN" altLang="en-US" sz="346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609373" y="1600980"/>
            <a:ext cx="10974096" cy="45267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373" y="6246644"/>
            <a:ext cx="2846132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395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245" y="6246644"/>
            <a:ext cx="3862352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395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9130" y="6246644"/>
            <a:ext cx="2844340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395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635" lvl="7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835" lvl="8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79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2235" lvl="3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9435" lvl="4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635" lvl="5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835" lvl="6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1035" lvl="7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373" y="274223"/>
            <a:ext cx="10974096" cy="1143269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 fontAlgn="base"/>
            <a:r>
              <a:rPr lang="zh-CN" altLang="en-US" sz="346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609373" y="1600980"/>
            <a:ext cx="10974096" cy="45267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373" y="6246644"/>
            <a:ext cx="2846132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395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245" y="6246644"/>
            <a:ext cx="3862352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395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9130" y="6246644"/>
            <a:ext cx="2844340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395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635" lvl="7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835" lvl="8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79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2235" lvl="3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9435" lvl="4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635" lvl="5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835" lvl="6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1035" lvl="7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package" Target="../embeddings/Microsoft_Excel____1.xlsx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2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20.png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000">
              <a:srgbClr val="1C1C1C">
                <a:alpha val="100000"/>
              </a:srgbClr>
            </a:gs>
            <a:gs pos="0">
              <a:srgbClr val="383838"/>
            </a:gs>
            <a:gs pos="100000">
              <a:schemeClr val="accent4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1_画板 1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235" y="635"/>
            <a:ext cx="6673215" cy="6857365"/>
          </a:xfrm>
          <a:prstGeom prst="rect">
            <a:avLst/>
          </a:prstGeom>
          <a:blipFill rotWithShape="1">
            <a:blip r:embed="rId3">
              <a:alphaModFix amt="51000"/>
            </a:blip>
            <a:stretch>
              <a:fillRect/>
            </a:stretch>
          </a:blipFill>
        </p:spPr>
      </p:pic>
      <p:sp>
        <p:nvSpPr>
          <p:cNvPr id="4098" name="文本框 2"/>
          <p:cNvSpPr txBox="1"/>
          <p:nvPr/>
        </p:nvSpPr>
        <p:spPr>
          <a:xfrm>
            <a:off x="2122765" y="2492375"/>
            <a:ext cx="6853555" cy="14465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l"/>
            <a:r>
              <a:rPr lang="zh-CN" altLang="en-US" sz="4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</a:t>
            </a:r>
            <a:r>
              <a:rPr lang="zh-CN" altLang="en-US" sz="440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组数据包介绍</a:t>
            </a:r>
            <a:endParaRPr lang="en-US" altLang="zh-CN" sz="44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4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和曲线调整</a:t>
            </a:r>
            <a:endParaRPr lang="en-US" altLang="zh-CN" sz="4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 descr="未标题33_画板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960" y="188595"/>
            <a:ext cx="1499235" cy="1351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000">
              <a:srgbClr val="1C1C1C"/>
            </a:gs>
            <a:gs pos="0">
              <a:srgbClr val="383838"/>
            </a:gs>
            <a:gs pos="100000">
              <a:schemeClr val="accent4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211_画板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171" y="332656"/>
            <a:ext cx="6337738" cy="6525344"/>
          </a:xfrm>
          <a:prstGeom prst="rect">
            <a:avLst/>
          </a:prstGeom>
        </p:spPr>
      </p:pic>
      <p:sp>
        <p:nvSpPr>
          <p:cNvPr id="5123" name="文本框 3"/>
          <p:cNvSpPr txBox="1"/>
          <p:nvPr/>
        </p:nvSpPr>
        <p:spPr>
          <a:xfrm>
            <a:off x="552098" y="171450"/>
            <a:ext cx="1820862" cy="8915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lang="zh-CN" altLang="en-US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CONTENT</a:t>
            </a:r>
          </a:p>
        </p:txBody>
      </p:sp>
      <p:sp>
        <p:nvSpPr>
          <p:cNvPr id="3" name="椭圆 2"/>
          <p:cNvSpPr/>
          <p:nvPr/>
        </p:nvSpPr>
        <p:spPr>
          <a:xfrm>
            <a:off x="4618103" y="2471926"/>
            <a:ext cx="671830" cy="671830"/>
          </a:xfrm>
          <a:prstGeom prst="ellipse">
            <a:avLst/>
          </a:prstGeom>
          <a:gradFill>
            <a:gsLst>
              <a:gs pos="0">
                <a:srgbClr val="C00000"/>
              </a:gs>
              <a:gs pos="100000">
                <a:srgbClr val="7030A0"/>
              </a:gs>
            </a:gsLst>
            <a:lin ang="11700000" scaled="0"/>
          </a:gradFill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26" name="文本框 3"/>
          <p:cNvSpPr txBox="1"/>
          <p:nvPr/>
        </p:nvSpPr>
        <p:spPr>
          <a:xfrm>
            <a:off x="4747387" y="2503031"/>
            <a:ext cx="38163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306293" y="2533183"/>
            <a:ext cx="2877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noProof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30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微软雅黑" panose="020B0503020204020204" charset="-122"/>
                <a:sym typeface="+mn-ea"/>
              </a:rPr>
              <a:t>数据包采集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735960" y="336449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曲线调整</a:t>
            </a:r>
            <a:endParaRPr lang="en-US" altLang="zh-CN" sz="2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3148" y="0"/>
            <a:ext cx="1499235" cy="1351280"/>
          </a:xfrm>
          <a:prstGeom prst="rect">
            <a:avLst/>
          </a:prstGeom>
        </p:spPr>
      </p:pic>
      <p:sp>
        <p:nvSpPr>
          <p:cNvPr id="16" name="椭圆 15"/>
          <p:cNvSpPr/>
          <p:nvPr/>
        </p:nvSpPr>
        <p:spPr>
          <a:xfrm>
            <a:off x="5069320" y="3294490"/>
            <a:ext cx="671830" cy="671830"/>
          </a:xfrm>
          <a:prstGeom prst="ellipse">
            <a:avLst/>
          </a:prstGeom>
          <a:gradFill>
            <a:gsLst>
              <a:gs pos="0">
                <a:srgbClr val="C00000"/>
              </a:gs>
              <a:gs pos="100000">
                <a:srgbClr val="7030A0"/>
              </a:gs>
            </a:gsLst>
            <a:lin ang="11700000" scaled="0"/>
          </a:gradFill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文本框 3"/>
          <p:cNvSpPr txBox="1"/>
          <p:nvPr/>
        </p:nvSpPr>
        <p:spPr>
          <a:xfrm>
            <a:off x="5233475" y="3369420"/>
            <a:ext cx="38163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sp>
        <p:nvSpPr>
          <p:cNvPr id="24" name="椭圆 23"/>
          <p:cNvSpPr/>
          <p:nvPr/>
        </p:nvSpPr>
        <p:spPr>
          <a:xfrm>
            <a:off x="3986433" y="1667733"/>
            <a:ext cx="671830" cy="671830"/>
          </a:xfrm>
          <a:prstGeom prst="ellipse">
            <a:avLst/>
          </a:prstGeom>
          <a:gradFill>
            <a:gsLst>
              <a:gs pos="0">
                <a:srgbClr val="C00000"/>
              </a:gs>
              <a:gs pos="100000">
                <a:srgbClr val="7030A0"/>
              </a:gs>
            </a:gsLst>
            <a:lin ang="11700000" scaled="0"/>
          </a:gradFill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文本框 3"/>
          <p:cNvSpPr txBox="1"/>
          <p:nvPr/>
        </p:nvSpPr>
        <p:spPr>
          <a:xfrm>
            <a:off x="4131530" y="1712511"/>
            <a:ext cx="38163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34" name="文本框 8"/>
          <p:cNvSpPr txBox="1"/>
          <p:nvPr/>
        </p:nvSpPr>
        <p:spPr>
          <a:xfrm>
            <a:off x="4655840" y="1772816"/>
            <a:ext cx="2487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模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组数据包介绍</a:t>
            </a:r>
            <a:endParaRPr lang="zh-CN" altLang="en-US" sz="2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</a:t>
            </a:r>
            <a:r>
              <a:rPr lang="en-US" altLang="zh-CN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数据包介绍</a:t>
            </a:r>
            <a:endParaRPr lang="en-US" altLang="zh-CN" sz="2400" dirty="0">
              <a:solidFill>
                <a:schemeClr val="bg1"/>
              </a:solidFill>
              <a:latin typeface="宋体" panose="02010600030101010101" pitchFamily="2" charset="-122"/>
              <a:cs typeface="Arial Unicode MS" panose="020B0604020202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95400" y="1052736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数据包构成</a:t>
            </a:r>
            <a:endParaRPr lang="zh-CN" altLang="en-US" b="1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91344"/>
              </p:ext>
            </p:extLst>
          </p:nvPr>
        </p:nvGraphicFramePr>
        <p:xfrm>
          <a:off x="1631504" y="2132856"/>
          <a:ext cx="8856985" cy="3312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1397"/>
                <a:gridCol w="1771397"/>
                <a:gridCol w="1771397"/>
                <a:gridCol w="1771397"/>
                <a:gridCol w="1771397"/>
              </a:tblGrid>
              <a:tr h="443895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文件头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探测器参数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焦温数组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测温曲线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altLang="zh-CN" b="1" dirty="0" smtClean="0">
                          <a:solidFill>
                            <a:schemeClr val="tx1"/>
                          </a:solidFill>
                        </a:rPr>
                        <a:t>K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矩阵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868473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测温标识</a:t>
                      </a:r>
                      <a:endParaRPr lang="en-US" altLang="zh-CN" sz="16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测温范围</a:t>
                      </a:r>
                      <a:endParaRPr lang="en-US" altLang="zh-CN" sz="16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曲线信息</a:t>
                      </a:r>
                      <a:endParaRPr lang="en-US" altLang="zh-CN" sz="16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焦温信息</a:t>
                      </a:r>
                      <a:endParaRPr lang="en-US" altLang="zh-CN" sz="16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采集时间</a:t>
                      </a:r>
                      <a:endParaRPr lang="en-US" altLang="zh-CN" sz="16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采集批次信息</a:t>
                      </a:r>
                      <a:endParaRPr lang="en-US" altLang="zh-CN" sz="16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···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120</a:t>
                      </a: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模组</a:t>
                      </a:r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/256</a:t>
                      </a: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模组</a:t>
                      </a:r>
                      <a:endParaRPr lang="en-US" altLang="zh-CN" sz="16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放大</a:t>
                      </a:r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倍；</a:t>
                      </a:r>
                      <a:endParaRPr lang="en-US" altLang="zh-CN" sz="16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5-6</a:t>
                      </a: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个焦温；</a:t>
                      </a:r>
                      <a:endParaRPr lang="en-US" altLang="zh-CN" sz="16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人体</a:t>
                      </a:r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工业分别间隔</a:t>
                      </a:r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℃和</a:t>
                      </a:r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℃；</a:t>
                      </a:r>
                      <a:endParaRPr lang="en-US" altLang="zh-CN" sz="16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25000"/>
                        </a:lnSpc>
                      </a:pP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测温范围内，每个温度（精度</a:t>
                      </a:r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0.1</a:t>
                      </a: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℃）对应的</a:t>
                      </a:r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Y16</a:t>
                      </a: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值；</a:t>
                      </a:r>
                      <a:endParaRPr lang="en-US" altLang="zh-CN" sz="16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（焦温点数</a:t>
                      </a:r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距离数）条曲线；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（图像宽</a:t>
                      </a:r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图像高）</a:t>
                      </a:r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焦温点数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2773879"/>
              </p:ext>
            </p:extLst>
          </p:nvPr>
        </p:nvGraphicFramePr>
        <p:xfrm>
          <a:off x="2567608" y="1052736"/>
          <a:ext cx="9144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工作表" showAsIcon="1" r:id="rId4" imgW="914400" imgH="828720" progId="Excel.Sheet.12">
                  <p:embed/>
                </p:oleObj>
              </mc:Choice>
              <mc:Fallback>
                <p:oleObj name="工作表" showAsIcon="1" r:id="rId4" imgW="914400" imgH="82872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67608" y="1052736"/>
                        <a:ext cx="914400" cy="828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</a:t>
            </a:r>
            <a:r>
              <a:rPr lang="en-US" altLang="zh-CN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数据包介绍</a:t>
            </a:r>
            <a:endParaRPr lang="en-US" altLang="zh-CN" sz="2400" dirty="0">
              <a:solidFill>
                <a:schemeClr val="bg1"/>
              </a:solidFill>
              <a:latin typeface="宋体" panose="02010600030101010101" pitchFamily="2" charset="-122"/>
              <a:cs typeface="Arial Unicode MS" panose="020B0604020202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95400" y="1052736"/>
            <a:ext cx="14029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数据包读</a:t>
            </a:r>
            <a:r>
              <a:rPr lang="en-US" altLang="zh-CN" b="1" dirty="0" smtClean="0"/>
              <a:t>/</a:t>
            </a:r>
            <a:r>
              <a:rPr lang="zh-CN" altLang="en-US" b="1" dirty="0" smtClean="0"/>
              <a:t>写</a:t>
            </a:r>
            <a:endParaRPr lang="zh-CN" altLang="en-US" b="1" dirty="0"/>
          </a:p>
        </p:txBody>
      </p:sp>
      <p:pic>
        <p:nvPicPr>
          <p:cNvPr id="1026" name="Picture 2" descr="C:\Users\06827lff\Desktop\untitle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072" y="1700808"/>
            <a:ext cx="4865621" cy="3649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152" y="1412544"/>
            <a:ext cx="5293484" cy="4871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20611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</a:t>
            </a:r>
            <a:r>
              <a:rPr lang="en-US" altLang="zh-CN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数据包采集</a:t>
            </a:r>
            <a:endParaRPr lang="en-US" altLang="zh-CN" sz="2400" dirty="0">
              <a:solidFill>
                <a:schemeClr val="bg1"/>
              </a:solidFill>
              <a:latin typeface="宋体" panose="02010600030101010101" pitchFamily="2" charset="-122"/>
              <a:cs typeface="Arial Unicode MS" panose="020B0604020202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40024" y="1093386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采集料号</a:t>
            </a:r>
            <a:endParaRPr lang="en-US" altLang="zh-CN" b="1" dirty="0" smtClean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0" y="1747267"/>
            <a:ext cx="9372600" cy="160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文本框 3"/>
          <p:cNvSpPr txBox="1"/>
          <p:nvPr/>
        </p:nvSpPr>
        <p:spPr>
          <a:xfrm>
            <a:off x="1199456" y="3573016"/>
            <a:ext cx="8503083" cy="2367258"/>
          </a:xfrm>
          <a:prstGeom prst="rect">
            <a:avLst/>
          </a:prstGeom>
          <a:noFill/>
        </p:spPr>
        <p:txBody>
          <a:bodyPr wrap="square" lIns="77413" tIns="38707" rIns="77413" bIns="38707" rtlCol="0">
            <a:spAutoFit/>
          </a:bodyPr>
          <a:lstStyle/>
          <a:p>
            <a:pPr marL="285750" indent="-285750">
              <a:lnSpc>
                <a:spcPct val="125000"/>
              </a:lnSpc>
              <a:buFont typeface="Wingdings" pitchFamily="2" charset="2"/>
              <a:buChar char="l"/>
            </a:pPr>
            <a:r>
              <a:rPr lang="zh-CN" altLang="en-US" sz="1700" dirty="0"/>
              <a:t>黑体</a:t>
            </a:r>
            <a:r>
              <a:rPr lang="en-US" altLang="zh-CN" sz="1700" dirty="0" smtClean="0"/>
              <a:t>发射率</a:t>
            </a:r>
          </a:p>
          <a:p>
            <a:pPr>
              <a:lnSpc>
                <a:spcPct val="125000"/>
              </a:lnSpc>
            </a:pPr>
            <a:r>
              <a:rPr lang="en-US" altLang="zh-CN" sz="1700" dirty="0"/>
              <a:t>	</a:t>
            </a:r>
            <a:r>
              <a:rPr lang="zh-CN" altLang="en-US" sz="1700" dirty="0" smtClean="0"/>
              <a:t>人体：</a:t>
            </a:r>
            <a:r>
              <a:rPr lang="en-US" altLang="zh-CN" sz="1700" dirty="0" smtClean="0"/>
              <a:t>0.98/</a:t>
            </a:r>
            <a:r>
              <a:rPr lang="zh-CN" altLang="en-US" sz="1700" dirty="0" smtClean="0"/>
              <a:t>工业：</a:t>
            </a:r>
            <a:r>
              <a:rPr lang="en-US" altLang="zh-CN" sz="1700" dirty="0" smtClean="0"/>
              <a:t>1.0</a:t>
            </a: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l"/>
            </a:pPr>
            <a:r>
              <a:rPr lang="zh-CN" altLang="en-US" sz="1700" dirty="0" smtClean="0"/>
              <a:t>采集</a:t>
            </a:r>
            <a:r>
              <a:rPr lang="zh-CN" altLang="en-US" sz="1700" dirty="0"/>
              <a:t>距离</a:t>
            </a:r>
          </a:p>
          <a:p>
            <a:pPr>
              <a:lnSpc>
                <a:spcPct val="125000"/>
              </a:lnSpc>
            </a:pPr>
            <a:r>
              <a:rPr lang="en-US" altLang="zh-CN" sz="1700" dirty="0" smtClean="0"/>
              <a:t>	120</a:t>
            </a:r>
            <a:r>
              <a:rPr lang="zh-CN" altLang="en-US" sz="1700" dirty="0" smtClean="0"/>
              <a:t>模组：</a:t>
            </a:r>
            <a:r>
              <a:rPr lang="en-US" altLang="zh-CN" sz="1700" dirty="0" smtClean="0"/>
              <a:t>0.5m/1.2m</a:t>
            </a:r>
          </a:p>
          <a:p>
            <a:pPr>
              <a:lnSpc>
                <a:spcPct val="125000"/>
              </a:lnSpc>
            </a:pPr>
            <a:r>
              <a:rPr lang="en-US" altLang="zh-CN" sz="1700" dirty="0"/>
              <a:t>	</a:t>
            </a:r>
            <a:r>
              <a:rPr lang="en-US" altLang="zh-CN" sz="1700" dirty="0" smtClean="0"/>
              <a:t>256</a:t>
            </a:r>
            <a:r>
              <a:rPr lang="zh-CN" altLang="en-US" sz="1700" dirty="0" smtClean="0"/>
              <a:t>模组：</a:t>
            </a:r>
            <a:r>
              <a:rPr lang="en-US" altLang="zh-CN" sz="1700" dirty="0" smtClean="0"/>
              <a:t>0.5m/1.5m</a:t>
            </a:r>
            <a:r>
              <a:rPr lang="zh-CN" altLang="en-US" sz="1700" dirty="0" smtClean="0"/>
              <a:t>或</a:t>
            </a:r>
            <a:r>
              <a:rPr lang="en-US" altLang="zh-CN" sz="1700" dirty="0" smtClean="0"/>
              <a:t>1.5m/3.0m</a:t>
            </a: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l"/>
            </a:pPr>
            <a:r>
              <a:rPr lang="zh-CN" altLang="en-US" sz="1700" dirty="0" smtClean="0"/>
              <a:t>温度 ：</a:t>
            </a:r>
            <a:r>
              <a:rPr lang="zh-CN" altLang="en-US" sz="1700" dirty="0" smtClean="0">
                <a:sym typeface="+mn-ea"/>
              </a:rPr>
              <a:t>黑体</a:t>
            </a:r>
            <a:r>
              <a:rPr lang="zh-CN" altLang="en-US" sz="1700" dirty="0">
                <a:sym typeface="+mn-ea"/>
              </a:rPr>
              <a:t>设置</a:t>
            </a:r>
            <a:r>
              <a:rPr lang="zh-CN" altLang="en-US" sz="1700" dirty="0" smtClean="0">
                <a:sym typeface="+mn-ea"/>
              </a:rPr>
              <a:t>温度（采</a:t>
            </a:r>
            <a:r>
              <a:rPr lang="en-US" altLang="zh-CN" sz="1700" dirty="0" smtClean="0">
                <a:sym typeface="+mn-ea"/>
              </a:rPr>
              <a:t>K/</a:t>
            </a:r>
            <a:r>
              <a:rPr lang="zh-CN" altLang="en-US" sz="1700" dirty="0" smtClean="0">
                <a:sym typeface="+mn-ea"/>
              </a:rPr>
              <a:t>曲线）</a:t>
            </a:r>
            <a:endParaRPr lang="zh-CN" altLang="en-US" sz="1700" dirty="0"/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l"/>
            </a:pPr>
            <a:r>
              <a:rPr lang="zh-CN" altLang="en-US" sz="1700" dirty="0"/>
              <a:t>是否带锗玻璃采集</a:t>
            </a:r>
          </a:p>
        </p:txBody>
      </p:sp>
    </p:spTree>
    <p:extLst>
      <p:ext uri="{BB962C8B-B14F-4D97-AF65-F5344CB8AC3E}">
        <p14:creationId xmlns:p14="http://schemas.microsoft.com/office/powerpoint/2010/main" val="5687988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圆角矩形标注 67"/>
          <p:cNvSpPr/>
          <p:nvPr/>
        </p:nvSpPr>
        <p:spPr>
          <a:xfrm>
            <a:off x="6496620" y="1789068"/>
            <a:ext cx="5554035" cy="3324677"/>
          </a:xfrm>
          <a:prstGeom prst="wedgeRoundRectCallout">
            <a:avLst>
              <a:gd name="adj1" fmla="val -56627"/>
              <a:gd name="adj2" fmla="val -3026"/>
              <a:gd name="adj3" fmla="val 16667"/>
            </a:avLst>
          </a:prstGeom>
          <a:ln cap="rnd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</a:t>
            </a:r>
            <a:r>
              <a:rPr lang="en-US" altLang="zh-CN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数据包采集</a:t>
            </a:r>
            <a:endParaRPr lang="en-US" altLang="zh-CN" sz="2400" dirty="0">
              <a:solidFill>
                <a:schemeClr val="bg1"/>
              </a:solidFill>
              <a:latin typeface="宋体" panose="02010600030101010101" pitchFamily="2" charset="-122"/>
              <a:cs typeface="Arial Unicode MS" panose="020B0604020202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40024" y="1196751"/>
            <a:ext cx="22621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产线采集数据包流程</a:t>
            </a:r>
            <a:endParaRPr lang="en-US" altLang="zh-CN" b="1" dirty="0" smtClean="0"/>
          </a:p>
          <a:p>
            <a:endParaRPr lang="zh-CN" altLang="en-US" b="1" dirty="0"/>
          </a:p>
        </p:txBody>
      </p:sp>
      <p:sp>
        <p:nvSpPr>
          <p:cNvPr id="6" name="流程图: 可选过程 5"/>
          <p:cNvSpPr/>
          <p:nvPr/>
        </p:nvSpPr>
        <p:spPr>
          <a:xfrm>
            <a:off x="1191574" y="4437112"/>
            <a:ext cx="1224136" cy="517778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413" tIns="38707" rIns="77413" bIns="38707" rtlCol="0" anchor="ctr"/>
          <a:lstStyle/>
          <a:p>
            <a:pPr algn="ctr"/>
            <a:r>
              <a:rPr lang="zh-CN" altLang="en-US" b="1" dirty="0" smtClean="0">
                <a:solidFill>
                  <a:srgbClr val="FF0000"/>
                </a:solidFill>
              </a:rPr>
              <a:t>扫码确认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" name="流程图: 可选过程 6"/>
          <p:cNvSpPr/>
          <p:nvPr/>
        </p:nvSpPr>
        <p:spPr>
          <a:xfrm>
            <a:off x="4799856" y="4437112"/>
            <a:ext cx="1228478" cy="544984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413" tIns="38707" rIns="77413" bIns="38707" rtlCol="0" anchor="ctr"/>
          <a:lstStyle/>
          <a:p>
            <a:pPr algn="ctr"/>
            <a:r>
              <a:rPr lang="zh-CN" altLang="en-US" b="1" dirty="0" smtClean="0">
                <a:solidFill>
                  <a:srgbClr val="FF0000"/>
                </a:solidFill>
              </a:rPr>
              <a:t>上传数据和存档</a:t>
            </a:r>
            <a:endParaRPr lang="en-US" altLang="zh-CN" b="1" dirty="0" smtClean="0">
              <a:solidFill>
                <a:srgbClr val="FF0000"/>
              </a:solidFill>
            </a:endParaRPr>
          </a:p>
        </p:txBody>
      </p:sp>
      <p:sp>
        <p:nvSpPr>
          <p:cNvPr id="9" name="流程图: 可选过程 8"/>
          <p:cNvSpPr/>
          <p:nvPr/>
        </p:nvSpPr>
        <p:spPr>
          <a:xfrm>
            <a:off x="4799856" y="2224274"/>
            <a:ext cx="1301053" cy="517778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413" tIns="38707" rIns="77413" bIns="38707" rtlCol="0" anchor="ctr"/>
          <a:lstStyle/>
          <a:p>
            <a:pPr algn="ctr"/>
            <a:r>
              <a:rPr lang="zh-CN" altLang="en-US" b="1" dirty="0" smtClean="0">
                <a:solidFill>
                  <a:srgbClr val="FF0000"/>
                </a:solidFill>
              </a:rPr>
              <a:t>校准坐标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8" name="右箭头 17"/>
          <p:cNvSpPr/>
          <p:nvPr/>
        </p:nvSpPr>
        <p:spPr>
          <a:xfrm rot="5400000">
            <a:off x="5266582" y="2934154"/>
            <a:ext cx="447187" cy="228511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413" tIns="38707" rIns="77413" bIns="38707" rtlCol="0" anchor="ctr"/>
          <a:lstStyle/>
          <a:p>
            <a:pPr algn="ctr"/>
            <a:endParaRPr lang="zh-CN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979" y="5517232"/>
            <a:ext cx="5581650" cy="695325"/>
          </a:xfrm>
          <a:prstGeom prst="rect">
            <a:avLst/>
          </a:prstGeom>
          <a:ln w="9525" cmpd="tri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0" name="流程图: 可选过程 19"/>
          <p:cNvSpPr/>
          <p:nvPr/>
        </p:nvSpPr>
        <p:spPr>
          <a:xfrm>
            <a:off x="2999656" y="2224273"/>
            <a:ext cx="1224136" cy="531381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413" tIns="38707" rIns="77413" bIns="38707" rtlCol="0" anchor="ctr"/>
          <a:lstStyle/>
          <a:p>
            <a:pPr algn="ctr"/>
            <a:r>
              <a:rPr lang="zh-CN" altLang="en-US" b="1" dirty="0" smtClean="0">
                <a:solidFill>
                  <a:srgbClr val="FF0000"/>
                </a:solidFill>
              </a:rPr>
              <a:t>控温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1" name="流程图: 可选过程 20"/>
          <p:cNvSpPr/>
          <p:nvPr/>
        </p:nvSpPr>
        <p:spPr>
          <a:xfrm>
            <a:off x="1233795" y="2224274"/>
            <a:ext cx="1181915" cy="517778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413" tIns="38707" rIns="77413" bIns="38707" rtlCol="0" anchor="ctr"/>
          <a:lstStyle/>
          <a:p>
            <a:pPr algn="ctr"/>
            <a:r>
              <a:rPr lang="zh-CN" altLang="en-US" b="1" dirty="0" smtClean="0">
                <a:solidFill>
                  <a:srgbClr val="FF0000"/>
                </a:solidFill>
              </a:rPr>
              <a:t>上料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pSp>
        <p:nvGrpSpPr>
          <p:cNvPr id="74" name="组合 73"/>
          <p:cNvGrpSpPr/>
          <p:nvPr/>
        </p:nvGrpSpPr>
        <p:grpSpPr>
          <a:xfrm>
            <a:off x="6574063" y="1859662"/>
            <a:ext cx="5397218" cy="3108831"/>
            <a:chOff x="6574063" y="1700807"/>
            <a:chExt cx="5397218" cy="3108831"/>
          </a:xfrm>
        </p:grpSpPr>
        <p:pic>
          <p:nvPicPr>
            <p:cNvPr id="75" name="图片 74" descr="C:\Users\02951lkc\AppData\Roaming\Foxmail7\Temp-2384-20200526082720\P00526-154245(05-26-17-05-09).jp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394"/>
            <a:stretch>
              <a:fillRect/>
            </a:stretch>
          </p:blipFill>
          <p:spPr>
            <a:xfrm>
              <a:off x="6574063" y="1700807"/>
              <a:ext cx="5397218" cy="3108831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" name="椭圆 44"/>
            <p:cNvSpPr/>
            <p:nvPr/>
          </p:nvSpPr>
          <p:spPr>
            <a:xfrm>
              <a:off x="6988014" y="2660882"/>
              <a:ext cx="447099" cy="455967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miter lim="800000"/>
            </a:ln>
          </p:spPr>
          <p:txBody>
            <a:bodyPr vertOverflow="clip" horzOverflow="clip" wrap="square" lIns="27432" tIns="32004" rIns="27432" bIns="32004" rtlCol="0" anchor="ctr" upright="1">
              <a:noAutofit/>
            </a:bodyPr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774065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dirty="0" smtClean="0">
                  <a:solidFill>
                    <a:srgbClr val="FF0000"/>
                  </a:solidFill>
                  <a:latin typeface="+mj-ea"/>
                  <a:ea typeface="+mj-ea"/>
                  <a:cs typeface="Arial Unicode MS" panose="020B0604020202020204" pitchFamily="34" charset="-122"/>
                </a:rPr>
                <a:t> 20</a:t>
              </a:r>
              <a:endParaRPr lang="zh-CN" altLang="en-US" sz="1200" b="1" dirty="0">
                <a:solidFill>
                  <a:srgbClr val="FF0000"/>
                </a:solidFill>
                <a:latin typeface="+mj-ea"/>
                <a:ea typeface="+mj-ea"/>
                <a:cs typeface="Arial Unicode MS" panose="020B0604020202020204" pitchFamily="34" charset="-122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7905235" y="2633461"/>
              <a:ext cx="452298" cy="455967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miter lim="800000"/>
            </a:ln>
          </p:spPr>
          <p:txBody>
            <a:bodyPr vertOverflow="clip" horzOverflow="clip" wrap="square" lIns="27432" tIns="32004" rIns="27432" bIns="32004" rtlCol="0" anchor="ctr" upright="1">
              <a:noAutofit/>
            </a:bodyPr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774065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dirty="0" smtClean="0">
                  <a:solidFill>
                    <a:srgbClr val="FF0000"/>
                  </a:solidFill>
                  <a:latin typeface="+mj-ea"/>
                  <a:ea typeface="+mj-ea"/>
                  <a:cs typeface="Arial Unicode MS" panose="020B0604020202020204" pitchFamily="34" charset="-122"/>
                </a:rPr>
                <a:t> 50</a:t>
              </a:r>
              <a:endParaRPr lang="zh-CN" altLang="en-US" sz="1200" b="1" dirty="0">
                <a:solidFill>
                  <a:srgbClr val="FF0000"/>
                </a:solidFill>
                <a:latin typeface="+mj-ea"/>
                <a:ea typeface="+mj-ea"/>
                <a:cs typeface="Arial Unicode MS" panose="020B0604020202020204" pitchFamily="34" charset="-122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10123647" y="2254272"/>
              <a:ext cx="451555" cy="475553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miter lim="800000"/>
            </a:ln>
          </p:spPr>
          <p:txBody>
            <a:bodyPr vertOverflow="clip" horzOverflow="clip" wrap="square" lIns="27432" tIns="32004" rIns="27432" bIns="32004" rtlCol="0" anchor="ctr" upright="1">
              <a:noAutofit/>
            </a:bodyPr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774065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>
                  <a:solidFill>
                    <a:srgbClr val="FF0000"/>
                  </a:solidFill>
                  <a:latin typeface="+mj-ea"/>
                  <a:ea typeface="+mj-ea"/>
                  <a:cs typeface="Arial Unicode MS" panose="020B0604020202020204" pitchFamily="34" charset="-122"/>
                </a:rPr>
                <a:t>35</a:t>
              </a:r>
              <a:endParaRPr lang="zh-CN" altLang="en-US" sz="1200" b="1">
                <a:solidFill>
                  <a:srgbClr val="FF0000"/>
                </a:solidFill>
                <a:latin typeface="+mj-ea"/>
                <a:ea typeface="+mj-ea"/>
                <a:cs typeface="Arial Unicode MS" panose="020B0604020202020204" pitchFamily="34" charset="-122"/>
              </a:endParaRPr>
            </a:p>
          </p:txBody>
        </p:sp>
        <p:sp>
          <p:nvSpPr>
            <p:cNvPr id="48" name="椭圆 47"/>
            <p:cNvSpPr/>
            <p:nvPr/>
          </p:nvSpPr>
          <p:spPr>
            <a:xfrm>
              <a:off x="10591541" y="2234686"/>
              <a:ext cx="470122" cy="49513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miter lim="800000"/>
            </a:ln>
          </p:spPr>
          <p:txBody>
            <a:bodyPr vertOverflow="clip" horzOverflow="clip" wrap="square" lIns="27432" tIns="32004" rIns="27432" bIns="32004" rtlCol="0" anchor="ctr" upright="1">
              <a:noAutofit/>
            </a:bodyPr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774065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>
                  <a:solidFill>
                    <a:srgbClr val="FF0000"/>
                  </a:solidFill>
                  <a:latin typeface="+mj-ea"/>
                  <a:ea typeface="+mj-ea"/>
                  <a:cs typeface="Arial Unicode MS" panose="020B0604020202020204" pitchFamily="34" charset="-122"/>
                </a:rPr>
                <a:t>40</a:t>
              </a:r>
              <a:endParaRPr lang="zh-CN" altLang="en-US" sz="1200" b="1">
                <a:solidFill>
                  <a:srgbClr val="FF0000"/>
                </a:solidFill>
                <a:latin typeface="+mj-ea"/>
                <a:ea typeface="+mj-ea"/>
                <a:cs typeface="Arial Unicode MS" panose="020B0604020202020204" pitchFamily="34" charset="-122"/>
              </a:endParaRPr>
            </a:p>
          </p:txBody>
        </p:sp>
        <p:sp>
          <p:nvSpPr>
            <p:cNvPr id="49" name="椭圆 48"/>
            <p:cNvSpPr/>
            <p:nvPr/>
          </p:nvSpPr>
          <p:spPr>
            <a:xfrm>
              <a:off x="8641240" y="2269941"/>
              <a:ext cx="449327" cy="500623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miter lim="800000"/>
            </a:ln>
          </p:spPr>
          <p:txBody>
            <a:bodyPr vertOverflow="clip" horzOverflow="clip" wrap="square" lIns="27432" tIns="32004" rIns="27432" bIns="32004" rtlCol="0" anchor="ctr" upright="1">
              <a:noAutofit/>
            </a:bodyPr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774065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>
                  <a:solidFill>
                    <a:srgbClr val="FF0000"/>
                  </a:solidFill>
                  <a:latin typeface="+mj-ea"/>
                  <a:ea typeface="+mj-ea"/>
                  <a:cs typeface="Arial Unicode MS" panose="020B0604020202020204" pitchFamily="34" charset="-122"/>
                </a:rPr>
                <a:t>15</a:t>
              </a:r>
              <a:endParaRPr lang="zh-CN" altLang="en-US" sz="1200" b="1">
                <a:solidFill>
                  <a:srgbClr val="FF0000"/>
                </a:solidFill>
                <a:latin typeface="+mj-ea"/>
                <a:ea typeface="+mj-ea"/>
                <a:cs typeface="Arial Unicode MS" panose="020B0604020202020204" pitchFamily="34" charset="-122"/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9161122" y="2265241"/>
              <a:ext cx="481263" cy="478687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miter lim="800000"/>
            </a:ln>
          </p:spPr>
          <p:txBody>
            <a:bodyPr vertOverflow="clip" horzOverflow="clip" wrap="square" lIns="27432" tIns="32004" rIns="27432" bIns="32004" rtlCol="0" anchor="ctr" upright="1">
              <a:noAutofit/>
            </a:bodyPr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774065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>
                  <a:solidFill>
                    <a:srgbClr val="FF0000"/>
                  </a:solidFill>
                  <a:latin typeface="+mj-ea"/>
                  <a:ea typeface="+mj-ea"/>
                  <a:cs typeface="Arial Unicode MS" panose="020B0604020202020204" pitchFamily="34" charset="-122"/>
                </a:rPr>
                <a:t>25</a:t>
              </a:r>
              <a:endParaRPr lang="zh-CN" altLang="en-US" sz="1200" b="1">
                <a:solidFill>
                  <a:srgbClr val="FF0000"/>
                </a:solidFill>
                <a:latin typeface="+mj-ea"/>
                <a:ea typeface="+mj-ea"/>
                <a:cs typeface="Arial Unicode MS" panose="020B0604020202020204" pitchFamily="34" charset="-122"/>
              </a:endParaRPr>
            </a:p>
          </p:txBody>
        </p:sp>
        <p:sp>
          <p:nvSpPr>
            <p:cNvPr id="51" name="椭圆 50"/>
            <p:cNvSpPr/>
            <p:nvPr/>
          </p:nvSpPr>
          <p:spPr>
            <a:xfrm>
              <a:off x="9642385" y="2259756"/>
              <a:ext cx="442643" cy="47006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miter lim="800000"/>
            </a:ln>
          </p:spPr>
          <p:txBody>
            <a:bodyPr vertOverflow="clip" horzOverflow="clip" wrap="square" lIns="27432" tIns="32004" rIns="27432" bIns="32004" rtlCol="0" anchor="ctr" upright="1">
              <a:noAutofit/>
            </a:bodyPr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774065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>
                  <a:solidFill>
                    <a:srgbClr val="FF0000"/>
                  </a:solidFill>
                  <a:latin typeface="+mj-ea"/>
                  <a:ea typeface="+mj-ea"/>
                  <a:cs typeface="Arial Unicode MS" panose="020B0604020202020204" pitchFamily="34" charset="-122"/>
                </a:rPr>
                <a:t>30</a:t>
              </a:r>
              <a:endParaRPr lang="zh-CN" altLang="en-US" sz="1200" b="1">
                <a:solidFill>
                  <a:srgbClr val="FF0000"/>
                </a:solidFill>
                <a:latin typeface="+mj-ea"/>
                <a:ea typeface="+mj-ea"/>
                <a:cs typeface="Arial Unicode MS" panose="020B0604020202020204" pitchFamily="34" charset="-122"/>
              </a:endParaRPr>
            </a:p>
          </p:txBody>
        </p:sp>
        <p:sp>
          <p:nvSpPr>
            <p:cNvPr id="52" name="TextBox 263"/>
            <p:cNvSpPr txBox="1"/>
            <p:nvPr/>
          </p:nvSpPr>
          <p:spPr>
            <a:xfrm>
              <a:off x="7075882" y="4440752"/>
              <a:ext cx="1588516" cy="284392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vertOverflow="clip" wrap="square" rtlCol="0" anchor="t">
              <a:noAutofit/>
            </a:bodyPr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77406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00" b="1" dirty="0" smtClean="0">
                  <a:solidFill>
                    <a:srgbClr val="C00000"/>
                  </a:solidFill>
                  <a:latin typeface="+mj-ea"/>
                  <a:ea typeface="+mj-ea"/>
                  <a:cs typeface="Arial Unicode MS" panose="020B0604020202020204" pitchFamily="34" charset="-122"/>
                </a:rPr>
                <a:t>分别采集高低温本底做</a:t>
              </a:r>
              <a:r>
                <a:rPr lang="en-US" altLang="zh-CN" sz="1000" b="1" dirty="0" smtClean="0">
                  <a:solidFill>
                    <a:srgbClr val="C00000"/>
                  </a:solidFill>
                  <a:latin typeface="+mj-ea"/>
                  <a:ea typeface="+mj-ea"/>
                  <a:cs typeface="Arial Unicode MS" panose="020B0604020202020204" pitchFamily="34" charset="-122"/>
                </a:rPr>
                <a:t>K</a:t>
              </a:r>
              <a:endParaRPr lang="zh-CN" altLang="en-US" sz="1000" b="1" dirty="0">
                <a:solidFill>
                  <a:srgbClr val="C00000"/>
                </a:solidFill>
                <a:latin typeface="+mj-ea"/>
                <a:ea typeface="+mj-ea"/>
                <a:cs typeface="Arial Unicode MS" panose="020B0604020202020204" pitchFamily="34" charset="-122"/>
              </a:endParaRPr>
            </a:p>
          </p:txBody>
        </p:sp>
        <p:sp>
          <p:nvSpPr>
            <p:cNvPr id="53" name="TextBox 263"/>
            <p:cNvSpPr txBox="1"/>
            <p:nvPr/>
          </p:nvSpPr>
          <p:spPr>
            <a:xfrm>
              <a:off x="9061942" y="4249397"/>
              <a:ext cx="1896085" cy="262455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vertOverflow="clip" wrap="square" rtlCol="0" anchor="t">
              <a:noAutofit/>
            </a:bodyPr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77406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00" b="1" dirty="0" smtClean="0">
                  <a:solidFill>
                    <a:srgbClr val="C00000"/>
                  </a:solidFill>
                  <a:latin typeface="+mj-ea"/>
                  <a:ea typeface="+mj-ea"/>
                  <a:cs typeface="Arial Unicode MS" panose="020B0604020202020204" pitchFamily="34" charset="-122"/>
                </a:rPr>
                <a:t>依次采集</a:t>
              </a:r>
              <a:r>
                <a:rPr lang="en-US" altLang="zh-CN" sz="1000" b="1" dirty="0" smtClean="0">
                  <a:solidFill>
                    <a:srgbClr val="C00000"/>
                  </a:solidFill>
                  <a:latin typeface="+mj-ea"/>
                  <a:cs typeface="Arial Unicode MS" panose="020B0604020202020204" pitchFamily="34" charset="-122"/>
                </a:rPr>
                <a:t>5</a:t>
              </a:r>
              <a:r>
                <a:rPr lang="zh-CN" altLang="en-US" sz="1000" b="1" dirty="0">
                  <a:solidFill>
                    <a:srgbClr val="C00000"/>
                  </a:solidFill>
                  <a:latin typeface="+mj-ea"/>
                  <a:cs typeface="Arial Unicode MS" panose="020B0604020202020204" pitchFamily="34" charset="-122"/>
                </a:rPr>
                <a:t>个</a:t>
              </a:r>
              <a:r>
                <a:rPr lang="zh-CN" altLang="en-US" sz="1000" b="1" dirty="0" smtClean="0">
                  <a:solidFill>
                    <a:srgbClr val="C00000"/>
                  </a:solidFill>
                  <a:latin typeface="+mj-ea"/>
                  <a:cs typeface="Arial Unicode MS" panose="020B0604020202020204" pitchFamily="34" charset="-122"/>
                </a:rPr>
                <a:t>黑体，</a:t>
              </a:r>
              <a:r>
                <a:rPr lang="zh-CN" altLang="en-US" sz="1000" b="1" dirty="0" smtClean="0">
                  <a:solidFill>
                    <a:srgbClr val="C00000"/>
                  </a:solidFill>
                  <a:latin typeface="+mj-ea"/>
                  <a:ea typeface="+mj-ea"/>
                  <a:cs typeface="Arial Unicode MS" panose="020B0604020202020204" pitchFamily="34" charset="-122"/>
                </a:rPr>
                <a:t>生成</a:t>
              </a:r>
              <a:r>
                <a:rPr lang="zh-CN" altLang="en-US" sz="1000" b="1" dirty="0">
                  <a:solidFill>
                    <a:srgbClr val="C00000"/>
                  </a:solidFill>
                  <a:latin typeface="+mj-ea"/>
                  <a:ea typeface="+mj-ea"/>
                  <a:cs typeface="Arial Unicode MS" panose="020B0604020202020204" pitchFamily="34" charset="-122"/>
                </a:rPr>
                <a:t>曲线</a:t>
              </a:r>
            </a:p>
          </p:txBody>
        </p:sp>
        <p:sp>
          <p:nvSpPr>
            <p:cNvPr id="54" name="左右箭头 53"/>
            <p:cNvSpPr/>
            <p:nvPr/>
          </p:nvSpPr>
          <p:spPr>
            <a:xfrm rot="3785038">
              <a:off x="9755586" y="3528111"/>
              <a:ext cx="871978" cy="381000"/>
            </a:xfrm>
            <a:prstGeom prst="leftRightArrow">
              <a:avLst>
                <a:gd name="adj1" fmla="val 25630"/>
                <a:gd name="adj2" fmla="val 50000"/>
              </a:avLst>
            </a:prstGeom>
            <a:solidFill>
              <a:srgbClr val="C00000"/>
            </a:solidFill>
            <a:ln w="9525">
              <a:solidFill>
                <a:srgbClr val="FF0000"/>
              </a:solidFill>
              <a:miter lim="800000"/>
            </a:ln>
          </p:spPr>
          <p:txBody>
            <a:bodyPr vertOverflow="clip" horzOverflow="clip" wrap="square" lIns="27432" tIns="32004" rIns="27432" bIns="32004" rtlCol="0" anchor="t" upright="1">
              <a:noAutofit/>
            </a:bodyPr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774065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3000">
                <a:solidFill>
                  <a:srgbClr val="FFFF00"/>
                </a:solidFill>
                <a:latin typeface="+mj-ea"/>
                <a:ea typeface="+mj-ea"/>
                <a:cs typeface="Arial Unicode MS" panose="020B0604020202020204" pitchFamily="34" charset="-122"/>
              </a:endParaRPr>
            </a:p>
          </p:txBody>
        </p:sp>
        <p:sp>
          <p:nvSpPr>
            <p:cNvPr id="55" name="TextBox 263"/>
            <p:cNvSpPr txBox="1"/>
            <p:nvPr/>
          </p:nvSpPr>
          <p:spPr>
            <a:xfrm>
              <a:off x="9543579" y="3949336"/>
              <a:ext cx="891227" cy="359603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vertOverflow="clip" wrap="square" rtlCol="0" anchor="t">
              <a:noAutofit/>
            </a:bodyPr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77406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00" b="1" dirty="0" smtClean="0">
                  <a:solidFill>
                    <a:srgbClr val="FFFF00"/>
                  </a:solidFill>
                  <a:latin typeface="+mj-ea"/>
                  <a:ea typeface="+mj-ea"/>
                  <a:cs typeface="Arial Unicode MS" panose="020B0604020202020204" pitchFamily="34" charset="-122"/>
                </a:rPr>
                <a:t>距离</a:t>
              </a:r>
              <a:r>
                <a:rPr lang="en-US" altLang="zh-CN" sz="1000" b="1" dirty="0" smtClean="0">
                  <a:solidFill>
                    <a:srgbClr val="FFFF00"/>
                  </a:solidFill>
                  <a:latin typeface="+mj-ea"/>
                  <a:ea typeface="+mj-ea"/>
                  <a:cs typeface="Arial Unicode MS" panose="020B0604020202020204" pitchFamily="34" charset="-122"/>
                </a:rPr>
                <a:t>1</a:t>
              </a:r>
              <a:endParaRPr lang="zh-CN" altLang="en-US" sz="1000" b="1" dirty="0">
                <a:solidFill>
                  <a:srgbClr val="FFFF00"/>
                </a:solidFill>
                <a:latin typeface="+mj-ea"/>
                <a:ea typeface="+mj-ea"/>
                <a:cs typeface="Arial Unicode MS" panose="020B0604020202020204" pitchFamily="34" charset="-122"/>
              </a:endParaRPr>
            </a:p>
          </p:txBody>
        </p:sp>
        <p:sp>
          <p:nvSpPr>
            <p:cNvPr id="56" name="TextBox 263"/>
            <p:cNvSpPr txBox="1"/>
            <p:nvPr/>
          </p:nvSpPr>
          <p:spPr>
            <a:xfrm>
              <a:off x="9268784" y="3343731"/>
              <a:ext cx="669906" cy="358819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vertOverflow="clip" wrap="square" rtlCol="0" anchor="t">
              <a:noAutofit/>
            </a:bodyPr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77406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00" b="1" dirty="0" smtClean="0">
                  <a:solidFill>
                    <a:srgbClr val="FFFF00"/>
                  </a:solidFill>
                  <a:latin typeface="+mj-ea"/>
                  <a:ea typeface="+mj-ea"/>
                  <a:cs typeface="Arial Unicode MS" panose="020B0604020202020204" pitchFamily="34" charset="-122"/>
                </a:rPr>
                <a:t>距离</a:t>
              </a:r>
              <a:r>
                <a:rPr lang="en-US" altLang="zh-CN" sz="1000" b="1" dirty="0" smtClean="0">
                  <a:solidFill>
                    <a:srgbClr val="FFFF00"/>
                  </a:solidFill>
                  <a:latin typeface="+mj-ea"/>
                  <a:ea typeface="+mj-ea"/>
                  <a:cs typeface="Arial Unicode MS" panose="020B0604020202020204" pitchFamily="34" charset="-122"/>
                </a:rPr>
                <a:t>2</a:t>
              </a:r>
              <a:endParaRPr lang="zh-CN" altLang="en-US" sz="1000" b="1" dirty="0">
                <a:solidFill>
                  <a:srgbClr val="FFFF00"/>
                </a:solidFill>
                <a:latin typeface="+mj-ea"/>
                <a:ea typeface="+mj-ea"/>
                <a:cs typeface="Arial Unicode MS" panose="020B0604020202020204" pitchFamily="34" charset="-122"/>
              </a:endParaRPr>
            </a:p>
          </p:txBody>
        </p:sp>
      </p:grpSp>
      <p:sp>
        <p:nvSpPr>
          <p:cNvPr id="57" name="流程图: 可选过程 56"/>
          <p:cNvSpPr/>
          <p:nvPr/>
        </p:nvSpPr>
        <p:spPr>
          <a:xfrm>
            <a:off x="4799856" y="3356992"/>
            <a:ext cx="1258808" cy="517778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413" tIns="38707" rIns="77413" bIns="38707" rtlCol="0" anchor="ctr"/>
          <a:lstStyle/>
          <a:p>
            <a:pPr algn="ctr"/>
            <a:r>
              <a:rPr lang="zh-CN" altLang="en-US" b="1" dirty="0" smtClean="0">
                <a:solidFill>
                  <a:srgbClr val="FF0000"/>
                </a:solidFill>
              </a:rPr>
              <a:t>数据采集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9" name="右箭头 58"/>
          <p:cNvSpPr/>
          <p:nvPr/>
        </p:nvSpPr>
        <p:spPr>
          <a:xfrm rot="5400000">
            <a:off x="5266582" y="4042394"/>
            <a:ext cx="447187" cy="228511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413" tIns="38707" rIns="77413" bIns="38707" rtlCol="0" anchor="ctr"/>
          <a:lstStyle/>
          <a:p>
            <a:pPr algn="ctr"/>
            <a:endParaRPr lang="zh-CN" altLang="en-US"/>
          </a:p>
        </p:txBody>
      </p:sp>
      <p:sp>
        <p:nvSpPr>
          <p:cNvPr id="60" name="右箭头 59"/>
          <p:cNvSpPr/>
          <p:nvPr/>
        </p:nvSpPr>
        <p:spPr>
          <a:xfrm rot="5400000">
            <a:off x="1580048" y="5122514"/>
            <a:ext cx="447187" cy="228511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413" tIns="38707" rIns="77413" bIns="38707" rtlCol="0" anchor="ctr"/>
          <a:lstStyle/>
          <a:p>
            <a:pPr algn="ctr"/>
            <a:endParaRPr lang="zh-CN" altLang="en-US"/>
          </a:p>
        </p:txBody>
      </p:sp>
      <p:sp>
        <p:nvSpPr>
          <p:cNvPr id="61" name="右箭头 60"/>
          <p:cNvSpPr/>
          <p:nvPr/>
        </p:nvSpPr>
        <p:spPr>
          <a:xfrm>
            <a:off x="2478182" y="2366363"/>
            <a:ext cx="447187" cy="228511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413" tIns="38707" rIns="77413" bIns="38707" rtlCol="0" anchor="ctr"/>
          <a:lstStyle/>
          <a:p>
            <a:pPr algn="ctr"/>
            <a:endParaRPr lang="zh-CN" altLang="en-US"/>
          </a:p>
        </p:txBody>
      </p:sp>
      <p:sp>
        <p:nvSpPr>
          <p:cNvPr id="62" name="右箭头 61"/>
          <p:cNvSpPr/>
          <p:nvPr/>
        </p:nvSpPr>
        <p:spPr>
          <a:xfrm>
            <a:off x="4295800" y="2366363"/>
            <a:ext cx="447187" cy="228511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413" tIns="38707" rIns="77413" bIns="38707" rtlCol="0" anchor="ctr"/>
          <a:lstStyle/>
          <a:p>
            <a:pPr algn="ctr"/>
            <a:endParaRPr lang="zh-CN" altLang="en-US"/>
          </a:p>
        </p:txBody>
      </p:sp>
      <p:sp>
        <p:nvSpPr>
          <p:cNvPr id="63" name="右箭头 62"/>
          <p:cNvSpPr/>
          <p:nvPr/>
        </p:nvSpPr>
        <p:spPr>
          <a:xfrm rot="10800000">
            <a:off x="4295801" y="4581128"/>
            <a:ext cx="447187" cy="228511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413" tIns="38707" rIns="77413" bIns="38707" rtlCol="0" anchor="ctr"/>
          <a:lstStyle/>
          <a:p>
            <a:pPr algn="ctr"/>
            <a:endParaRPr lang="zh-CN" altLang="en-US"/>
          </a:p>
        </p:txBody>
      </p:sp>
      <p:sp>
        <p:nvSpPr>
          <p:cNvPr id="65" name="右箭头 64"/>
          <p:cNvSpPr/>
          <p:nvPr/>
        </p:nvSpPr>
        <p:spPr>
          <a:xfrm rot="10800000">
            <a:off x="2484736" y="4581128"/>
            <a:ext cx="447187" cy="228511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413" tIns="38707" rIns="77413" bIns="38707" rtlCol="0" anchor="ctr"/>
          <a:lstStyle/>
          <a:p>
            <a:pPr algn="ctr"/>
            <a:endParaRPr lang="zh-CN" altLang="en-US"/>
          </a:p>
        </p:txBody>
      </p:sp>
      <p:sp>
        <p:nvSpPr>
          <p:cNvPr id="67" name="流程图: 可选过程 66"/>
          <p:cNvSpPr/>
          <p:nvPr/>
        </p:nvSpPr>
        <p:spPr>
          <a:xfrm>
            <a:off x="2999656" y="4437112"/>
            <a:ext cx="1224136" cy="531381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413" tIns="38707" rIns="77413" bIns="38707" rtlCol="0" anchor="ctr"/>
          <a:lstStyle/>
          <a:p>
            <a:pPr algn="ctr"/>
            <a:r>
              <a:rPr lang="zh-CN" altLang="en-US" b="1" dirty="0" smtClean="0">
                <a:solidFill>
                  <a:srgbClr val="FF0000"/>
                </a:solidFill>
              </a:rPr>
              <a:t>数据处理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8849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</a:t>
            </a:r>
            <a:r>
              <a:rPr lang="en-US" altLang="zh-CN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数据包采集</a:t>
            </a:r>
            <a:endParaRPr lang="en-US" altLang="zh-CN" sz="2400" dirty="0">
              <a:solidFill>
                <a:schemeClr val="bg1"/>
              </a:solidFill>
              <a:latin typeface="宋体" panose="02010600030101010101" pitchFamily="2" charset="-122"/>
              <a:cs typeface="Arial Unicode MS" panose="020B0604020202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40024" y="1196751"/>
            <a:ext cx="45961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数据处理（曲线扩容）</a:t>
            </a:r>
            <a:r>
              <a:rPr lang="en-US" altLang="zh-CN" b="1" dirty="0" smtClean="0"/>
              <a:t>1</a:t>
            </a:r>
            <a:r>
              <a:rPr lang="zh-CN" altLang="en-US" b="1" dirty="0" smtClean="0"/>
              <a:t>：低温段曲线调整</a:t>
            </a:r>
            <a:endParaRPr lang="zh-CN" altLang="en-US" b="1" dirty="0"/>
          </a:p>
        </p:txBody>
      </p:sp>
      <p:grpSp>
        <p:nvGrpSpPr>
          <p:cNvPr id="17" name="组合 16"/>
          <p:cNvGrpSpPr/>
          <p:nvPr/>
        </p:nvGrpSpPr>
        <p:grpSpPr>
          <a:xfrm>
            <a:off x="4618444" y="1381416"/>
            <a:ext cx="7563623" cy="5004507"/>
            <a:chOff x="4618444" y="1381416"/>
            <a:chExt cx="7563623" cy="5004507"/>
          </a:xfrm>
        </p:grpSpPr>
        <p:pic>
          <p:nvPicPr>
            <p:cNvPr id="4101" name="Picture 5" descr="C:\Users\06827lff\Desktop\1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18444" y="3225528"/>
              <a:ext cx="4213860" cy="31603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2" name="Picture 6" descr="C:\Users\06827lff\Desktop\2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8207" y="1381416"/>
              <a:ext cx="4213860" cy="31603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圆角右箭头 1"/>
            <p:cNvSpPr/>
            <p:nvPr/>
          </p:nvSpPr>
          <p:spPr>
            <a:xfrm>
              <a:off x="7032104" y="2708920"/>
              <a:ext cx="1080120" cy="804640"/>
            </a:xfrm>
            <a:prstGeom prst="ben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767408" y="1939275"/>
            <a:ext cx="3854316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25000"/>
              </a:lnSpc>
            </a:pPr>
            <a:r>
              <a:rPr lang="zh-CN" altLang="zh-CN" sz="1700" dirty="0"/>
              <a:t>在工业测温中，</a:t>
            </a:r>
            <a:r>
              <a:rPr lang="zh-CN" altLang="zh-CN" sz="1700" dirty="0" smtClean="0"/>
              <a:t>一般需求</a:t>
            </a:r>
            <a:r>
              <a:rPr lang="zh-CN" altLang="zh-CN" sz="1700" dirty="0"/>
              <a:t>从</a:t>
            </a:r>
            <a:r>
              <a:rPr lang="en-US" altLang="zh-CN" sz="1700" dirty="0"/>
              <a:t>-20</a:t>
            </a:r>
            <a:r>
              <a:rPr lang="zh-CN" altLang="zh-CN" sz="1700" dirty="0"/>
              <a:t>℃开始，</a:t>
            </a:r>
            <a:r>
              <a:rPr lang="zh-CN" altLang="zh-CN" sz="1700" dirty="0" smtClean="0"/>
              <a:t>但低温</a:t>
            </a:r>
            <a:r>
              <a:rPr lang="zh-CN" altLang="zh-CN" sz="1700" dirty="0"/>
              <a:t>黑体在使用过程</a:t>
            </a:r>
            <a:r>
              <a:rPr lang="zh-CN" altLang="zh-CN" sz="1700" dirty="0" smtClean="0"/>
              <a:t>中靶面</a:t>
            </a:r>
            <a:r>
              <a:rPr lang="zh-CN" altLang="en-US" sz="1700" dirty="0" smtClean="0"/>
              <a:t>会</a:t>
            </a:r>
            <a:r>
              <a:rPr lang="zh-CN" altLang="zh-CN" sz="1700" dirty="0" smtClean="0"/>
              <a:t>凝结</a:t>
            </a:r>
            <a:r>
              <a:rPr lang="zh-CN" altLang="zh-CN" sz="1700" dirty="0"/>
              <a:t>水珠，无法支持长时间的采集</a:t>
            </a:r>
            <a:r>
              <a:rPr lang="zh-CN" altLang="zh-CN" sz="1700" dirty="0" smtClean="0"/>
              <a:t>工作</a:t>
            </a:r>
            <a:r>
              <a:rPr lang="zh-CN" altLang="en-US" sz="1700" dirty="0" smtClean="0"/>
              <a:t>，</a:t>
            </a:r>
            <a:r>
              <a:rPr lang="zh-CN" altLang="zh-CN" sz="1700" dirty="0" smtClean="0"/>
              <a:t>因此</a:t>
            </a:r>
            <a:r>
              <a:rPr lang="zh-CN" altLang="zh-CN" sz="1700" dirty="0"/>
              <a:t>采集方案中黑体最低温度为</a:t>
            </a:r>
            <a:r>
              <a:rPr lang="en-US" altLang="zh-CN" sz="1700" dirty="0"/>
              <a:t>20</a:t>
            </a:r>
            <a:r>
              <a:rPr lang="zh-CN" altLang="zh-CN" sz="1700" dirty="0" smtClean="0"/>
              <a:t>℃</a:t>
            </a:r>
            <a:r>
              <a:rPr lang="zh-CN" altLang="en-US" sz="1700" dirty="0" smtClean="0"/>
              <a:t>，这样拟合出来的曲线在对准低温目标测温时</a:t>
            </a:r>
            <a:r>
              <a:rPr lang="zh-CN" altLang="zh-CN" sz="1700" dirty="0" smtClean="0"/>
              <a:t>会</a:t>
            </a:r>
            <a:r>
              <a:rPr lang="zh-CN" altLang="zh-CN" sz="1700" dirty="0"/>
              <a:t>存在较大误差</a:t>
            </a:r>
            <a:r>
              <a:rPr lang="zh-CN" altLang="zh-CN" sz="1700" dirty="0" smtClean="0"/>
              <a:t>。</a:t>
            </a:r>
            <a:r>
              <a:rPr lang="zh-CN" altLang="en-US" sz="1700" dirty="0" smtClean="0"/>
              <a:t>为此，需要</a:t>
            </a:r>
            <a:r>
              <a:rPr lang="zh-CN" altLang="zh-CN" sz="1700" dirty="0" smtClean="0"/>
              <a:t>在</a:t>
            </a:r>
            <a:r>
              <a:rPr lang="zh-CN" altLang="en-US" sz="1700" dirty="0" smtClean="0"/>
              <a:t>产品</a:t>
            </a:r>
            <a:r>
              <a:rPr lang="zh-CN" altLang="zh-CN" sz="1700" dirty="0" smtClean="0"/>
              <a:t>装</a:t>
            </a:r>
            <a:r>
              <a:rPr lang="zh-CN" altLang="zh-CN" sz="1700" dirty="0"/>
              <a:t>成整机</a:t>
            </a:r>
            <a:r>
              <a:rPr lang="zh-CN" altLang="zh-CN" sz="1700" dirty="0" smtClean="0"/>
              <a:t>后</a:t>
            </a:r>
            <a:r>
              <a:rPr lang="zh-CN" altLang="en-US" sz="1700" dirty="0" smtClean="0"/>
              <a:t>完成：</a:t>
            </a:r>
            <a:endParaRPr lang="en-US" altLang="zh-CN" sz="1700" dirty="0" smtClean="0"/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zh-CN" altLang="en-US" sz="1700" dirty="0"/>
              <a:t>分</a:t>
            </a:r>
            <a:r>
              <a:rPr lang="zh-CN" altLang="en-US" sz="1700" dirty="0" smtClean="0"/>
              <a:t>别采集</a:t>
            </a:r>
            <a:r>
              <a:rPr lang="en-US" altLang="zh-CN" sz="1700" dirty="0" smtClean="0"/>
              <a:t>-</a:t>
            </a:r>
            <a:r>
              <a:rPr lang="en-US" altLang="zh-CN" sz="1700" dirty="0"/>
              <a:t>10</a:t>
            </a:r>
            <a:r>
              <a:rPr lang="zh-CN" altLang="zh-CN" sz="1700" dirty="0"/>
              <a:t>℃、</a:t>
            </a:r>
            <a:r>
              <a:rPr lang="en-US" altLang="zh-CN" sz="1700" dirty="0"/>
              <a:t>0</a:t>
            </a:r>
            <a:r>
              <a:rPr lang="zh-CN" altLang="zh-CN" sz="1700" dirty="0"/>
              <a:t>℃、</a:t>
            </a:r>
            <a:r>
              <a:rPr lang="en-US" altLang="zh-CN" sz="1700" dirty="0"/>
              <a:t>20</a:t>
            </a:r>
            <a:r>
              <a:rPr lang="zh-CN" altLang="zh-CN" sz="1700" dirty="0"/>
              <a:t>℃</a:t>
            </a:r>
            <a:r>
              <a:rPr lang="zh-CN" altLang="zh-CN" sz="1700" dirty="0" smtClean="0"/>
              <a:t>黑体</a:t>
            </a:r>
            <a:r>
              <a:rPr lang="zh-CN" altLang="en-US" sz="1700" dirty="0" smtClean="0"/>
              <a:t>的</a:t>
            </a:r>
            <a:r>
              <a:rPr lang="en-US" altLang="zh-CN" sz="1700" dirty="0" smtClean="0"/>
              <a:t>Y16</a:t>
            </a:r>
            <a:r>
              <a:rPr lang="zh-CN" altLang="en-US" sz="1700" dirty="0" smtClean="0"/>
              <a:t>值</a:t>
            </a:r>
            <a:r>
              <a:rPr lang="zh-CN" altLang="zh-CN" sz="1700" dirty="0" smtClean="0"/>
              <a:t>，</a:t>
            </a:r>
            <a:r>
              <a:rPr lang="zh-CN" altLang="zh-CN" sz="1700" dirty="0"/>
              <a:t>计算</a:t>
            </a:r>
            <a:r>
              <a:rPr lang="en-US" altLang="zh-CN" sz="1700" dirty="0"/>
              <a:t>-10</a:t>
            </a:r>
            <a:r>
              <a:rPr lang="zh-CN" altLang="zh-CN" sz="1700" dirty="0"/>
              <a:t>℃、</a:t>
            </a:r>
            <a:r>
              <a:rPr lang="en-US" altLang="zh-CN" sz="1700" dirty="0"/>
              <a:t>0</a:t>
            </a:r>
            <a:r>
              <a:rPr lang="zh-CN" altLang="zh-CN" sz="1700" dirty="0"/>
              <a:t>℃黑体与</a:t>
            </a:r>
            <a:r>
              <a:rPr lang="en-US" altLang="zh-CN" sz="1700" dirty="0"/>
              <a:t>20</a:t>
            </a:r>
            <a:r>
              <a:rPr lang="zh-CN" altLang="zh-CN" sz="1700" dirty="0"/>
              <a:t>℃黑体的</a:t>
            </a:r>
            <a:r>
              <a:rPr lang="en-US" altLang="zh-CN" sz="1700" dirty="0"/>
              <a:t>Y16</a:t>
            </a:r>
            <a:r>
              <a:rPr lang="zh-CN" altLang="zh-CN" sz="1700" dirty="0" smtClean="0"/>
              <a:t>差值</a:t>
            </a:r>
            <a:r>
              <a:rPr lang="zh-CN" altLang="en-US" sz="1700" dirty="0" smtClean="0"/>
              <a:t>；</a:t>
            </a:r>
            <a:endParaRPr lang="en-US" altLang="zh-CN" sz="1700" dirty="0" smtClean="0"/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zh-CN" altLang="zh-CN" sz="1700" dirty="0" smtClean="0"/>
              <a:t>采用</a:t>
            </a:r>
            <a:r>
              <a:rPr lang="zh-CN" altLang="zh-CN" sz="1700" dirty="0"/>
              <a:t>分段线性的方法重新调整曲线</a:t>
            </a:r>
            <a:r>
              <a:rPr lang="en-US" altLang="zh-CN" sz="1700" dirty="0"/>
              <a:t>20</a:t>
            </a:r>
            <a:r>
              <a:rPr lang="zh-CN" altLang="zh-CN" sz="1700" dirty="0"/>
              <a:t>℃以下</a:t>
            </a:r>
            <a:r>
              <a:rPr lang="zh-CN" altLang="zh-CN" sz="1700" dirty="0" smtClean="0"/>
              <a:t>部分</a:t>
            </a:r>
            <a:r>
              <a:rPr lang="zh-CN" altLang="en-US" sz="1700" dirty="0" smtClean="0"/>
              <a:t>；</a:t>
            </a:r>
            <a:endParaRPr lang="zh-CN" altLang="zh-CN" sz="1700" dirty="0"/>
          </a:p>
        </p:txBody>
      </p:sp>
    </p:spTree>
    <p:extLst>
      <p:ext uri="{BB962C8B-B14F-4D97-AF65-F5344CB8AC3E}">
        <p14:creationId xmlns:p14="http://schemas.microsoft.com/office/powerpoint/2010/main" val="17987968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</a:t>
            </a:r>
            <a:r>
              <a:rPr lang="en-US" altLang="zh-CN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数据包采集</a:t>
            </a:r>
            <a:endParaRPr lang="en-US" altLang="zh-CN" sz="2400" dirty="0">
              <a:solidFill>
                <a:schemeClr val="bg1"/>
              </a:solidFill>
              <a:latin typeface="宋体" panose="02010600030101010101" pitchFamily="2" charset="-122"/>
              <a:cs typeface="Arial Unicode MS" panose="020B0604020202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40024" y="1196751"/>
            <a:ext cx="45961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数据处理（曲线扩容）</a:t>
            </a:r>
            <a:r>
              <a:rPr lang="en-US" altLang="zh-CN" b="1" dirty="0" smtClean="0"/>
              <a:t>1</a:t>
            </a:r>
            <a:r>
              <a:rPr lang="zh-CN" altLang="en-US" b="1" dirty="0" smtClean="0"/>
              <a:t>：低温段曲线调整</a:t>
            </a:r>
            <a:endParaRPr lang="zh-CN" altLang="en-US" b="1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245515"/>
              </p:ext>
            </p:extLst>
          </p:nvPr>
        </p:nvGraphicFramePr>
        <p:xfrm>
          <a:off x="767483" y="2564904"/>
          <a:ext cx="3528392" cy="24517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2098"/>
                <a:gridCol w="882098"/>
                <a:gridCol w="882098"/>
                <a:gridCol w="882098"/>
              </a:tblGrid>
              <a:tr h="22257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>
                          <a:effectLst/>
                        </a:rPr>
                        <a:t>编号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zh-CN" altLang="en-US" sz="1400" u="none" strike="noStrike" dirty="0">
                          <a:effectLst/>
                        </a:rPr>
                        <a:t>黑体温度℃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2257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>
                          <a:effectLst/>
                        </a:rPr>
                        <a:t>-10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 dirty="0">
                          <a:effectLst/>
                        </a:rPr>
                        <a:t>0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>
                          <a:effectLst/>
                        </a:rPr>
                        <a:t>20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22257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u="none" strike="noStrike" dirty="0">
                          <a:effectLst/>
                        </a:rPr>
                        <a:t>11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>
                          <a:effectLst/>
                        </a:rPr>
                        <a:t>3686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 dirty="0">
                          <a:effectLst/>
                        </a:rPr>
                        <a:t>3846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 dirty="0">
                          <a:effectLst/>
                        </a:rPr>
                        <a:t>4243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22257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u="none" strike="noStrike">
                          <a:effectLst/>
                        </a:rPr>
                        <a:t>7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 dirty="0">
                          <a:effectLst/>
                        </a:rPr>
                        <a:t>3721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>
                          <a:effectLst/>
                        </a:rPr>
                        <a:t>3882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 dirty="0">
                          <a:effectLst/>
                        </a:rPr>
                        <a:t>4267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22257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u="none" strike="noStrike">
                          <a:effectLst/>
                        </a:rPr>
                        <a:t>2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 dirty="0">
                          <a:effectLst/>
                        </a:rPr>
                        <a:t>3712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 dirty="0">
                          <a:effectLst/>
                        </a:rPr>
                        <a:t>3878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 dirty="0">
                          <a:effectLst/>
                        </a:rPr>
                        <a:t>4278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22257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u="none" strike="noStrike">
                          <a:effectLst/>
                        </a:rPr>
                        <a:t>10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 dirty="0">
                          <a:effectLst/>
                        </a:rPr>
                        <a:t>3730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 dirty="0">
                          <a:effectLst/>
                        </a:rPr>
                        <a:t>3892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 dirty="0">
                          <a:effectLst/>
                        </a:rPr>
                        <a:t>4286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22257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u="none" strike="noStrike">
                          <a:effectLst/>
                        </a:rPr>
                        <a:t>12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>
                          <a:effectLst/>
                        </a:rPr>
                        <a:t>3665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>
                          <a:effectLst/>
                        </a:rPr>
                        <a:t>3837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 dirty="0">
                          <a:effectLst/>
                        </a:rPr>
                        <a:t>4242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22257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u="none" strike="noStrike">
                          <a:effectLst/>
                        </a:rPr>
                        <a:t>5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>
                          <a:effectLst/>
                        </a:rPr>
                        <a:t>3698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>
                          <a:effectLst/>
                        </a:rPr>
                        <a:t>3869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 dirty="0">
                          <a:effectLst/>
                        </a:rPr>
                        <a:t>4263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22257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u="none" strike="noStrike">
                          <a:effectLst/>
                        </a:rPr>
                        <a:t>3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>
                          <a:effectLst/>
                        </a:rPr>
                        <a:t>3650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>
                          <a:effectLst/>
                        </a:rPr>
                        <a:t>3827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 dirty="0">
                          <a:effectLst/>
                        </a:rPr>
                        <a:t>4223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22257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u="none" strike="noStrike">
                          <a:effectLst/>
                        </a:rPr>
                        <a:t>6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>
                          <a:effectLst/>
                        </a:rPr>
                        <a:t>3726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>
                          <a:effectLst/>
                        </a:rPr>
                        <a:t>3897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 dirty="0">
                          <a:effectLst/>
                        </a:rPr>
                        <a:t>4280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2225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average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>
                          <a:effectLst/>
                        </a:rPr>
                        <a:t>3698.5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>
                          <a:effectLst/>
                        </a:rPr>
                        <a:t>3866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400" u="none" strike="noStrike" dirty="0">
                          <a:effectLst/>
                        </a:rPr>
                        <a:t>4260.25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pSp>
        <p:nvGrpSpPr>
          <p:cNvPr id="23" name="组合 22"/>
          <p:cNvGrpSpPr/>
          <p:nvPr/>
        </p:nvGrpSpPr>
        <p:grpSpPr>
          <a:xfrm>
            <a:off x="2279578" y="5013176"/>
            <a:ext cx="1832794" cy="478215"/>
            <a:chOff x="2279578" y="5013176"/>
            <a:chExt cx="1832794" cy="478215"/>
          </a:xfrm>
        </p:grpSpPr>
        <p:sp>
          <p:nvSpPr>
            <p:cNvPr id="21" name="左中括号 20"/>
            <p:cNvSpPr/>
            <p:nvPr/>
          </p:nvSpPr>
          <p:spPr>
            <a:xfrm rot="16200000">
              <a:off x="3006906" y="4285849"/>
              <a:ext cx="378138" cy="1832794"/>
            </a:xfrm>
            <a:prstGeom prst="leftBracket">
              <a:avLst>
                <a:gd name="adj" fmla="val 5000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26" name="左中括号 25"/>
            <p:cNvSpPr/>
            <p:nvPr/>
          </p:nvSpPr>
          <p:spPr>
            <a:xfrm rot="16200000">
              <a:off x="3592018" y="4708850"/>
              <a:ext cx="216025" cy="824681"/>
            </a:xfrm>
            <a:prstGeom prst="leftBracket">
              <a:avLst>
                <a:gd name="adj" fmla="val 5000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431704" y="5013176"/>
              <a:ext cx="4828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dk1"/>
                  </a:solidFill>
                  <a:latin typeface="+mn-lt"/>
                  <a:ea typeface="+mn-ea"/>
                </a:rPr>
                <a:t>394</a:t>
              </a:r>
              <a:endParaRPr lang="zh-CN" altLang="en-US" sz="1400" dirty="0">
                <a:solidFill>
                  <a:schemeClr val="dk1"/>
                </a:solidFill>
                <a:latin typeface="+mn-lt"/>
                <a:ea typeface="+mn-ea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985992" y="5183614"/>
              <a:ext cx="4828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 smtClean="0">
                  <a:solidFill>
                    <a:schemeClr val="dk1"/>
                  </a:solidFill>
                  <a:latin typeface="+mn-lt"/>
                  <a:ea typeface="+mn-ea"/>
                </a:rPr>
                <a:t>562</a:t>
              </a:r>
              <a:endParaRPr lang="zh-CN" altLang="en-US" sz="1400" dirty="0">
                <a:solidFill>
                  <a:schemeClr val="dk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591944" y="2234853"/>
            <a:ext cx="5718826" cy="3086100"/>
            <a:chOff x="5591944" y="2234853"/>
            <a:chExt cx="5718826" cy="3086100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91944" y="2234853"/>
              <a:ext cx="5610225" cy="3086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/>
                <p:cNvSpPr txBox="1"/>
                <p:nvPr/>
              </p:nvSpPr>
              <p:spPr>
                <a:xfrm>
                  <a:off x="8976320" y="3831684"/>
                  <a:ext cx="2334450" cy="12945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5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US" altLang="zh-CN" i="1" smtClean="0"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16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/>
                              </a:rPr>
                              <m:t>2−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16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/>
                              </a:rPr>
                              <m:t>𝑇</m:t>
                            </m:r>
                            <m:r>
                              <a:rPr lang="en-US" altLang="zh-CN" b="0" i="1" smtClean="0">
                                <a:latin typeface="Cambria Math"/>
                              </a:rPr>
                              <m:t>2−</m:t>
                            </m:r>
                            <m:r>
                              <a:rPr lang="en-US" altLang="zh-CN" b="0" i="1" smtClean="0">
                                <a:latin typeface="Cambria Math"/>
                              </a:rPr>
                              <m:t>𝑇</m:t>
                            </m:r>
                            <m:r>
                              <a:rPr lang="en-US" altLang="zh-CN" b="0" i="1" smtClean="0">
                                <a:latin typeface="Cambria Math"/>
                              </a:rPr>
                              <m:t>1</m:t>
                            </m:r>
                          </m:den>
                        </m:f>
                      </m:oMath>
                    </m:oMathPara>
                  </a14:m>
                  <a:endParaRPr lang="en-US" altLang="zh-CN" dirty="0" smtClean="0"/>
                </a:p>
                <a:p>
                  <a:endParaRPr lang="en-US" altLang="zh-CN" dirty="0" smtClean="0">
                    <a:latin typeface="Cambria Math"/>
                  </a:endParaRPr>
                </a:p>
                <a:p>
                  <a:r>
                    <a:rPr lang="en-US" altLang="zh-CN" b="0" dirty="0" smtClean="0"/>
                    <a:t>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/>
                            </a:rPr>
                            <m:t>16</m:t>
                          </m:r>
                        </m:sub>
                      </m:sSub>
                      <m:r>
                        <a:rPr lang="en-US" altLang="zh-CN" b="0" i="0" dirty="0" smtClean="0">
                          <a:latin typeface="Cambria Math"/>
                        </a:rPr>
                        <m:t>1</m:t>
                      </m:r>
                      <m:r>
                        <a:rPr lang="en-US" altLang="zh-CN" b="0" i="1" dirty="0" smtClean="0">
                          <a:latin typeface="Cambria Math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/>
                        </a:rPr>
                        <m:t>𝑘</m:t>
                      </m:r>
                      <m:r>
                        <a:rPr lang="zh-CN" altLang="en-US" b="0" i="1" dirty="0" smtClean="0">
                          <a:latin typeface="Cambria Math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latin typeface="Cambria Math"/>
                        </a:rPr>
                        <m:t>T</m:t>
                      </m:r>
                      <m:r>
                        <a:rPr lang="en-US" altLang="zh-CN" i="1" dirty="0">
                          <a:latin typeface="Cambria Math"/>
                        </a:rPr>
                        <m:t>1+</m:t>
                      </m:r>
                      <m:r>
                        <a:rPr lang="en-US" altLang="zh-CN" b="0" i="1" dirty="0" smtClean="0">
                          <a:latin typeface="Cambria Math"/>
                        </a:rPr>
                        <m:t>𝑏</m:t>
                      </m:r>
                    </m:oMath>
                  </a14:m>
                  <a:r>
                    <a:rPr lang="zh-CN" altLang="en-US" dirty="0" smtClean="0"/>
                    <a:t> </a:t>
                  </a:r>
                  <a:endParaRPr lang="zh-CN" altLang="en-US" dirty="0"/>
                </a:p>
              </p:txBody>
            </p:sp>
          </mc:Choice>
          <mc:Fallback xmlns="">
            <p:sp>
              <p:nvSpPr>
                <p:cNvPr id="3" name="Text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76320" y="3831684"/>
                  <a:ext cx="2334450" cy="1294585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圆角矩形 1"/>
            <p:cNvSpPr/>
            <p:nvPr/>
          </p:nvSpPr>
          <p:spPr>
            <a:xfrm>
              <a:off x="5879976" y="2996952"/>
              <a:ext cx="4824536" cy="411019"/>
            </a:xfrm>
            <a:prstGeom prst="roundRect">
              <a:avLst/>
            </a:prstGeom>
            <a:solidFill>
              <a:srgbClr val="FF0000">
                <a:alpha val="0"/>
              </a:srgbClr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0" name="下箭头 19"/>
            <p:cNvSpPr/>
            <p:nvPr/>
          </p:nvSpPr>
          <p:spPr>
            <a:xfrm rot="9512044">
              <a:off x="9472985" y="3301075"/>
              <a:ext cx="367270" cy="580434"/>
            </a:xfrm>
            <a:prstGeom prst="downArrow">
              <a:avLst>
                <a:gd name="adj1" fmla="val 37167"/>
                <a:gd name="adj2" fmla="val 6567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5888360" y="3407971"/>
              <a:ext cx="2583904" cy="369932"/>
            </a:xfrm>
            <a:prstGeom prst="roundRect">
              <a:avLst/>
            </a:prstGeom>
            <a:solidFill>
              <a:srgbClr val="FF0000">
                <a:alpha val="0"/>
              </a:srgbClr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1" name="下箭头 10"/>
            <p:cNvSpPr/>
            <p:nvPr/>
          </p:nvSpPr>
          <p:spPr>
            <a:xfrm rot="7979038">
              <a:off x="8636955" y="3540324"/>
              <a:ext cx="390692" cy="1407674"/>
            </a:xfrm>
            <a:prstGeom prst="downArrow">
              <a:avLst>
                <a:gd name="adj1" fmla="val 37167"/>
                <a:gd name="adj2" fmla="val 6744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4544690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</a:t>
            </a:r>
            <a:r>
              <a:rPr lang="en-US" altLang="zh-CN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数据包采集</a:t>
            </a:r>
            <a:endParaRPr lang="en-US" altLang="zh-CN" sz="2400" dirty="0">
              <a:solidFill>
                <a:schemeClr val="bg1"/>
              </a:solidFill>
              <a:latin typeface="宋体" panose="02010600030101010101" pitchFamily="2" charset="-122"/>
              <a:cs typeface="Arial Unicode MS" panose="020B0604020202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40024" y="1196751"/>
            <a:ext cx="4264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数据处理（曲线扩容）</a:t>
            </a:r>
            <a:r>
              <a:rPr lang="en-US" altLang="zh-CN" b="1" dirty="0" smtClean="0"/>
              <a:t>2</a:t>
            </a:r>
            <a:r>
              <a:rPr lang="zh-CN" altLang="en-US" b="1" dirty="0" smtClean="0"/>
              <a:t>：扩充焦温范围</a:t>
            </a:r>
            <a:endParaRPr lang="zh-CN" altLang="en-US" b="1" dirty="0"/>
          </a:p>
        </p:txBody>
      </p:sp>
      <p:pic>
        <p:nvPicPr>
          <p:cNvPr id="5122" name="Picture 2" descr="C:\Users\06827lff\Desktop\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456" y="2951212"/>
            <a:ext cx="4213860" cy="3160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06827lff\Desktop\3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040" y="2951212"/>
            <a:ext cx="4213860" cy="3160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7221741" y="3192928"/>
            <a:ext cx="360707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 smtClean="0"/>
              <a:t>usFocusArray=[</a:t>
            </a:r>
            <a:r>
              <a:rPr lang="en-US" altLang="zh-CN" sz="1200" dirty="0"/>
              <a:t>0;408;1390;2333;3307;4253;6500]</a:t>
            </a:r>
            <a:endParaRPr lang="zh-CN" altLang="en-US" sz="1200" dirty="0"/>
          </a:p>
        </p:txBody>
      </p:sp>
      <p:sp>
        <p:nvSpPr>
          <p:cNvPr id="3" name="矩形 2"/>
          <p:cNvSpPr/>
          <p:nvPr/>
        </p:nvSpPr>
        <p:spPr>
          <a:xfrm>
            <a:off x="1991544" y="3192928"/>
            <a:ext cx="30957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 smtClean="0"/>
              <a:t>usFocusArray=[</a:t>
            </a:r>
            <a:r>
              <a:rPr lang="en-US" altLang="zh-CN" sz="1200" dirty="0"/>
              <a:t>408;1390;2333;3307;4253</a:t>
            </a:r>
            <a:r>
              <a:rPr lang="en-US" altLang="zh-CN" sz="1200" dirty="0" smtClean="0"/>
              <a:t>]</a:t>
            </a:r>
            <a:endParaRPr lang="zh-CN" altLang="en-US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802020" y="1988840"/>
            <a:ext cx="9867880" cy="74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25000"/>
              </a:lnSpc>
            </a:pPr>
            <a:r>
              <a:rPr lang="zh-CN" altLang="en-US" sz="1700" dirty="0" smtClean="0"/>
              <a:t>由于目前</a:t>
            </a:r>
            <a:r>
              <a:rPr lang="zh-CN" altLang="en-US" sz="1700" dirty="0"/>
              <a:t>的采集</a:t>
            </a:r>
            <a:r>
              <a:rPr lang="zh-CN" altLang="en-US" sz="1700" dirty="0" smtClean="0"/>
              <a:t>条件较难达到工业</a:t>
            </a:r>
            <a:r>
              <a:rPr lang="zh-CN" altLang="en-US" sz="1700" dirty="0"/>
              <a:t>测温的环境要求</a:t>
            </a:r>
            <a:r>
              <a:rPr lang="zh-CN" altLang="en-US" sz="1700" dirty="0" smtClean="0"/>
              <a:t>，为了不影响效率，同时保证在更苛的刻环境下，测温精度仍符合要求，需要</a:t>
            </a:r>
            <a:r>
              <a:rPr lang="zh-CN" altLang="en-US" sz="1700" dirty="0"/>
              <a:t>在已采集曲线的基础上增加</a:t>
            </a:r>
            <a:r>
              <a:rPr lang="en-US" altLang="zh-CN" sz="1700" dirty="0"/>
              <a:t>0℃</a:t>
            </a:r>
            <a:r>
              <a:rPr lang="zh-CN" altLang="en-US" sz="1700" dirty="0"/>
              <a:t>和</a:t>
            </a:r>
            <a:r>
              <a:rPr lang="en-US" altLang="zh-CN" sz="1700" dirty="0"/>
              <a:t>65℃</a:t>
            </a:r>
            <a:r>
              <a:rPr lang="zh-CN" altLang="en-US" sz="1700" dirty="0"/>
              <a:t>对应的曲线</a:t>
            </a:r>
            <a:r>
              <a:rPr lang="zh-CN" altLang="en-US" sz="1700" dirty="0" smtClean="0"/>
              <a:t>。</a:t>
            </a:r>
            <a:endParaRPr lang="zh-CN" altLang="en-US" sz="1700" dirty="0"/>
          </a:p>
        </p:txBody>
      </p:sp>
      <p:sp>
        <p:nvSpPr>
          <p:cNvPr id="6" name="右箭头 5"/>
          <p:cNvSpPr/>
          <p:nvPr/>
        </p:nvSpPr>
        <p:spPr>
          <a:xfrm>
            <a:off x="5231904" y="4149079"/>
            <a:ext cx="970716" cy="3823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8123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823" y="2888704"/>
            <a:ext cx="9163050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" name="矩形 33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</a:t>
            </a:r>
            <a:r>
              <a:rPr lang="en-US" altLang="zh-CN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数据包采集</a:t>
            </a:r>
            <a:endParaRPr lang="en-US" altLang="zh-CN" sz="2400" dirty="0">
              <a:solidFill>
                <a:schemeClr val="bg1"/>
              </a:solidFill>
              <a:latin typeface="宋体" panose="02010600030101010101" pitchFamily="2" charset="-122"/>
              <a:cs typeface="Arial Unicode MS" panose="020B0604020202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40024" y="1196751"/>
            <a:ext cx="4264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数据处理（曲线扩容）</a:t>
            </a:r>
            <a:r>
              <a:rPr lang="en-US" altLang="zh-CN" b="1" dirty="0" smtClean="0"/>
              <a:t>2</a:t>
            </a:r>
            <a:r>
              <a:rPr lang="zh-CN" altLang="en-US" b="1" dirty="0" smtClean="0"/>
              <a:t>：扩充焦温范围</a:t>
            </a:r>
            <a:endParaRPr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67408" y="1988840"/>
                <a:ext cx="9867880" cy="1059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zh-CN" altLang="en-US" sz="1700" dirty="0" smtClean="0"/>
                  <a:t>根据焦温和</a:t>
                </a:r>
                <a:r>
                  <a:rPr lang="en-US" altLang="zh-CN" sz="1700" dirty="0" smtClean="0"/>
                  <a:t>Y16</a:t>
                </a:r>
                <a:r>
                  <a:rPr lang="zh-CN" altLang="en-US" sz="1700" dirty="0" smtClean="0"/>
                  <a:t>差值比算出近似曲线：</a:t>
                </a:r>
                <a:endParaRPr lang="en-US" altLang="zh-CN" sz="1700" dirty="0" smtClean="0"/>
              </a:p>
              <a:p>
                <a:pPr algn="ctr">
                  <a:lnSpc>
                    <a:spcPct val="125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700" i="1">
                            <a:latin typeface="Cambria Math"/>
                          </a:rPr>
                        </m:ctrlPr>
                      </m:fPr>
                      <m:num>
                        <m:r>
                          <a:rPr lang="zh-CN" altLang="en-US" sz="1700" i="1">
                            <a:latin typeface="Cambria Math"/>
                          </a:rPr>
                          <m:t>焦温</m:t>
                        </m:r>
                        <m:r>
                          <a:rPr lang="en-US" altLang="zh-CN" sz="1700" i="1">
                            <a:latin typeface="Cambria Math"/>
                          </a:rPr>
                          <m:t>1−</m:t>
                        </m:r>
                        <m:r>
                          <a:rPr lang="zh-CN" altLang="en-US" sz="1700" i="1">
                            <a:latin typeface="Cambria Math"/>
                          </a:rPr>
                          <m:t>焦温</m:t>
                        </m:r>
                        <m:r>
                          <a:rPr lang="en-US" altLang="zh-CN" sz="1700" i="1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zh-CN" altLang="en-US" sz="1700" i="1">
                            <a:latin typeface="Cambria Math"/>
                          </a:rPr>
                          <m:t>焦温</m:t>
                        </m:r>
                        <m:r>
                          <a:rPr lang="en-US" altLang="zh-CN" sz="1700" i="1">
                            <a:latin typeface="Cambria Math"/>
                          </a:rPr>
                          <m:t>2−</m:t>
                        </m:r>
                        <m:r>
                          <a:rPr lang="zh-CN" altLang="en-US" sz="1700" i="1">
                            <a:latin typeface="Cambria Math"/>
                          </a:rPr>
                          <m:t>焦温</m:t>
                        </m:r>
                        <m:r>
                          <a:rPr lang="en-US" altLang="zh-CN" sz="1700" i="1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17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7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sz="17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zh-CN" altLang="en-US" sz="1700" i="1">
                            <a:latin typeface="Cambria Math"/>
                          </a:rPr>
                          <m:t>曲线</m:t>
                        </m:r>
                        <m:r>
                          <a:rPr lang="en-US" altLang="zh-CN" sz="1700" b="0" i="1" smtClean="0">
                            <a:latin typeface="Cambria Math"/>
                          </a:rPr>
                          <m:t>1−</m:t>
                        </m:r>
                        <m:r>
                          <a:rPr lang="zh-CN" altLang="en-US" sz="1700" i="1">
                            <a:latin typeface="Cambria Math"/>
                          </a:rPr>
                          <m:t>曲线</m:t>
                        </m:r>
                        <m:r>
                          <a:rPr lang="en-US" altLang="zh-CN" sz="1700" b="0" i="1" smtClean="0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zh-CN" altLang="en-US" sz="1700" i="1">
                            <a:latin typeface="Cambria Math"/>
                          </a:rPr>
                          <m:t>曲线</m:t>
                        </m:r>
                        <m:r>
                          <a:rPr lang="en-US" altLang="zh-CN" sz="1700" b="0" i="1" smtClean="0">
                            <a:latin typeface="Cambria Math"/>
                          </a:rPr>
                          <m:t>2−</m:t>
                        </m:r>
                        <m:r>
                          <a:rPr lang="zh-CN" altLang="en-US" sz="1700" i="1">
                            <a:latin typeface="Cambria Math"/>
                          </a:rPr>
                          <m:t>曲线</m:t>
                        </m:r>
                        <m:r>
                          <a:rPr lang="en-US" altLang="zh-CN" sz="1700" b="0" i="1" smtClean="0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endParaRPr lang="en-US" altLang="zh-CN" sz="1700" b="0" dirty="0" smtClean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08" y="1988840"/>
                <a:ext cx="9867880" cy="1059777"/>
              </a:xfrm>
              <a:prstGeom prst="rect">
                <a:avLst/>
              </a:prstGeom>
              <a:blipFill rotWithShape="1">
                <a:blip r:embed="rId4"/>
                <a:stretch>
                  <a:fillRect l="-4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97151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</a:t>
            </a:r>
            <a:r>
              <a:rPr lang="en-US" altLang="zh-CN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数据包采集</a:t>
            </a:r>
            <a:endParaRPr lang="en-US" altLang="zh-CN" sz="2400" dirty="0">
              <a:solidFill>
                <a:schemeClr val="bg1"/>
              </a:solidFill>
              <a:latin typeface="宋体" panose="02010600030101010101" pitchFamily="2" charset="-122"/>
              <a:cs typeface="Arial Unicode MS" panose="020B0604020202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40024" y="1196751"/>
            <a:ext cx="18117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手动采集数据包</a:t>
            </a:r>
            <a:endParaRPr lang="zh-CN" alt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767408" y="1988840"/>
            <a:ext cx="5832648" cy="2054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zh-CN" altLang="en-US" sz="1700" dirty="0" smtClean="0"/>
              <a:t>采集不同环温下标定黑体的</a:t>
            </a:r>
            <a:r>
              <a:rPr lang="en-US" altLang="zh-CN" sz="1700" dirty="0" smtClean="0"/>
              <a:t>Y16</a:t>
            </a:r>
            <a:r>
              <a:rPr lang="zh-CN" altLang="en-US" sz="1700" dirty="0" smtClean="0"/>
              <a:t>值，同时记录焦温；</a:t>
            </a:r>
            <a:endParaRPr lang="en-US" altLang="zh-CN" sz="1700" dirty="0" smtClean="0"/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zh-CN" altLang="en-US" sz="1700" dirty="0" smtClean="0"/>
              <a:t>根据黑体温度和</a:t>
            </a:r>
            <a:r>
              <a:rPr lang="en-US" altLang="zh-CN" sz="1700" dirty="0" smtClean="0"/>
              <a:t>Y16</a:t>
            </a:r>
            <a:r>
              <a:rPr lang="zh-CN" altLang="en-US" sz="1700" dirty="0" smtClean="0"/>
              <a:t>值拟合曲线；</a:t>
            </a:r>
            <a:endParaRPr lang="en-US" altLang="zh-CN" sz="1700" dirty="0" smtClean="0"/>
          </a:p>
          <a:p>
            <a:pPr marL="800100" lvl="1" indent="-342900">
              <a:lnSpc>
                <a:spcPct val="125000"/>
              </a:lnSpc>
              <a:buFont typeface="+mj-lt"/>
              <a:buAutoNum type="alphaLcParenR"/>
            </a:pPr>
            <a:r>
              <a:rPr lang="zh-CN" altLang="en-US" sz="1700" dirty="0" smtClean="0"/>
              <a:t>温度：</a:t>
            </a:r>
            <a:r>
              <a:rPr lang="en-US" altLang="zh-CN" sz="1700" dirty="0" smtClean="0"/>
              <a:t> (</a:t>
            </a:r>
            <a:r>
              <a:rPr lang="zh-CN" altLang="en-US" sz="1700" dirty="0" smtClean="0"/>
              <a:t>黑体温度</a:t>
            </a:r>
            <a:r>
              <a:rPr lang="en-US" altLang="zh-CN" sz="1700" dirty="0" smtClean="0"/>
              <a:t>-</a:t>
            </a:r>
            <a:r>
              <a:rPr lang="zh-CN" altLang="en-US" sz="1700" dirty="0" smtClean="0"/>
              <a:t>测温范围最小值</a:t>
            </a:r>
            <a:r>
              <a:rPr lang="en-US" altLang="zh-CN" sz="1700" dirty="0" smtClean="0"/>
              <a:t>)x10</a:t>
            </a:r>
          </a:p>
          <a:p>
            <a:pPr marL="800100" lvl="1" indent="-342900">
              <a:lnSpc>
                <a:spcPct val="125000"/>
              </a:lnSpc>
              <a:buFont typeface="+mj-lt"/>
              <a:buAutoNum type="alphaLcParenR"/>
            </a:pPr>
            <a:r>
              <a:rPr lang="en-US" altLang="zh-CN" sz="1700" dirty="0" smtClean="0"/>
              <a:t>Y16</a:t>
            </a:r>
            <a:r>
              <a:rPr lang="zh-CN" altLang="en-US" sz="1700" dirty="0" smtClean="0"/>
              <a:t>值：采集</a:t>
            </a:r>
            <a:r>
              <a:rPr lang="en-US" altLang="zh-CN" sz="1700" dirty="0" smtClean="0"/>
              <a:t>Y16</a:t>
            </a:r>
            <a:r>
              <a:rPr lang="zh-CN" altLang="en-US" sz="1700" dirty="0" smtClean="0"/>
              <a:t>值</a:t>
            </a:r>
            <a:r>
              <a:rPr lang="en-US" altLang="zh-CN" sz="1700" dirty="0" smtClean="0"/>
              <a:t>-</a:t>
            </a:r>
            <a:r>
              <a:rPr lang="zh-CN" altLang="en-US" sz="1700" dirty="0" smtClean="0"/>
              <a:t>同条件下采集的第</a:t>
            </a:r>
            <a:r>
              <a:rPr lang="en-US" altLang="zh-CN" sz="1700" dirty="0" smtClean="0"/>
              <a:t>1</a:t>
            </a:r>
            <a:r>
              <a:rPr lang="zh-CN" altLang="en-US" sz="1700" dirty="0" smtClean="0"/>
              <a:t>个</a:t>
            </a:r>
            <a:r>
              <a:rPr lang="en-US" altLang="zh-CN" sz="1700" dirty="0" smtClean="0"/>
              <a:t>Y16</a:t>
            </a:r>
            <a:r>
              <a:rPr lang="zh-CN" altLang="en-US" sz="1700" dirty="0" smtClean="0"/>
              <a:t>值，做归一化处理</a:t>
            </a:r>
            <a:endParaRPr lang="en-US" altLang="zh-CN" sz="1700" dirty="0" smtClean="0"/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zh-CN" altLang="en-US" sz="1700" dirty="0" smtClean="0"/>
              <a:t>更新数据包焦温和曲线部分；</a:t>
            </a:r>
            <a:endParaRPr lang="zh-CN" altLang="en-US" sz="1700" dirty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544797"/>
              </p:ext>
            </p:extLst>
          </p:nvPr>
        </p:nvGraphicFramePr>
        <p:xfrm>
          <a:off x="7320136" y="1772816"/>
          <a:ext cx="3733800" cy="3543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0708"/>
                <a:gridCol w="620708"/>
                <a:gridCol w="620708"/>
                <a:gridCol w="623892"/>
                <a:gridCol w="623892"/>
                <a:gridCol w="623892"/>
              </a:tblGrid>
              <a:tr h="171450">
                <a:tc gridSpan="3">
                  <a:txBody>
                    <a:bodyPr/>
                    <a:lstStyle/>
                    <a:p>
                      <a:pPr algn="l" fontAlgn="b"/>
                      <a:r>
                        <a:rPr lang="zh-CN" altLang="en-US" sz="1100" u="none" strike="noStrike">
                          <a:effectLst/>
                        </a:rPr>
                        <a:t>环温</a:t>
                      </a:r>
                      <a:r>
                        <a:rPr lang="en-US" altLang="zh-CN" sz="1100" u="none" strike="noStrike">
                          <a:effectLst/>
                        </a:rPr>
                        <a:t>23℃</a:t>
                      </a:r>
                      <a:r>
                        <a:rPr lang="zh-CN" altLang="en-US" sz="1100" u="none" strike="noStrike">
                          <a:effectLst/>
                        </a:rPr>
                        <a:t>，采集距离</a:t>
                      </a:r>
                      <a:r>
                        <a:rPr lang="en-US" altLang="zh-CN" sz="1100" u="none" strike="noStrike">
                          <a:effectLst/>
                        </a:rPr>
                        <a:t>0.3m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17145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编号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焦温℃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黑体温度℃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17145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40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150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</a:tr>
              <a:tr h="1714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39.22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-816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-155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2769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6608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39.31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-959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-381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2164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5451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41.3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-1076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-530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1973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5202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43.7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-1070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-494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1883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4928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41.25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-784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-265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2085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5090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39.11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-738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-205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2172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5249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40.18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-948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-389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2011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5114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40.76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-981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-450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1919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4981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38.26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-988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-450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1936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4939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40.23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-776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-243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2151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5261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39.76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-912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-389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2007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5122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38.83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-892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-328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2110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5197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41.31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-864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-327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2037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5100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40.72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-924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-369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2090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5265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39.91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-940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-401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2034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5162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39.7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-960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-406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2040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5260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38.63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-882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-345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2124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 dirty="0">
                          <a:effectLst/>
                        </a:rPr>
                        <a:t>5255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77883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</a:t>
            </a:r>
            <a:r>
              <a:rPr lang="en-US" altLang="zh-CN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曲线调整</a:t>
            </a:r>
            <a:endParaRPr lang="en-US" altLang="zh-CN" sz="2400" dirty="0">
              <a:solidFill>
                <a:schemeClr val="bg1"/>
              </a:solidFill>
              <a:latin typeface="宋体" panose="02010600030101010101" pitchFamily="2" charset="-122"/>
              <a:cs typeface="Arial Unicode MS" panose="020B0604020202020204" pitchFamily="34" charset="-122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936" y="1916832"/>
            <a:ext cx="6007402" cy="35501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911424" y="1916832"/>
            <a:ext cx="4320480" cy="238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Wingdings" pitchFamily="2" charset="2"/>
              <a:buChar char="l"/>
            </a:pPr>
            <a:r>
              <a:rPr lang="zh-CN" altLang="en-US" sz="1700" dirty="0" smtClean="0"/>
              <a:t>结果偏高时，将曲线抬高，使相同</a:t>
            </a:r>
            <a:r>
              <a:rPr lang="en-US" altLang="zh-CN" sz="1700" dirty="0" smtClean="0"/>
              <a:t>Y16</a:t>
            </a:r>
            <a:r>
              <a:rPr lang="zh-CN" altLang="en-US" sz="1700" dirty="0" smtClean="0"/>
              <a:t>值对应到更低的温度；</a:t>
            </a:r>
            <a:endParaRPr lang="en-US" altLang="zh-CN" sz="1700" dirty="0" smtClean="0"/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l"/>
            </a:pPr>
            <a:r>
              <a:rPr lang="zh-CN" altLang="en-US" sz="1700" dirty="0" smtClean="0"/>
              <a:t>根据响应率计算修正量；</a:t>
            </a:r>
            <a:endParaRPr lang="en-US" altLang="zh-CN" sz="1700" dirty="0" smtClean="0"/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l"/>
            </a:pPr>
            <a:r>
              <a:rPr lang="zh-CN" altLang="en-US" sz="1700" dirty="0" smtClean="0"/>
              <a:t>确定修改范围，需要时分段调整，保证两段之间衔接顺滑；</a:t>
            </a:r>
            <a:endParaRPr lang="en-US" altLang="zh-CN" sz="1700" dirty="0" smtClean="0"/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l"/>
            </a:pPr>
            <a:r>
              <a:rPr lang="zh-CN" altLang="en-US" sz="1700" dirty="0" smtClean="0"/>
              <a:t>调整对应焦温相关的曲线，不影响其他焦温</a:t>
            </a:r>
            <a:r>
              <a:rPr lang="en-US" altLang="zh-CN" sz="1700" dirty="0" smtClean="0"/>
              <a:t>/</a:t>
            </a:r>
            <a:r>
              <a:rPr lang="zh-CN" altLang="en-US" sz="1700" dirty="0" smtClean="0"/>
              <a:t>环温下的测温结果；</a:t>
            </a:r>
            <a:endParaRPr lang="zh-CN" altLang="en-US" sz="1700" dirty="0"/>
          </a:p>
        </p:txBody>
      </p:sp>
    </p:spTree>
    <p:extLst>
      <p:ext uri="{BB962C8B-B14F-4D97-AF65-F5344CB8AC3E}">
        <p14:creationId xmlns:p14="http://schemas.microsoft.com/office/powerpoint/2010/main" val="2413980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06827lff\Desktop\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8505" y="2120253"/>
            <a:ext cx="4213860" cy="3160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06827lff\Desktop\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096" y="2117202"/>
            <a:ext cx="4213860" cy="3160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矩形 33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</a:t>
            </a:r>
            <a:r>
              <a:rPr lang="en-US" altLang="zh-CN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zh-CN" altLang="en-US" sz="2400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曲线调整</a:t>
            </a:r>
            <a:endParaRPr lang="en-US" altLang="zh-CN" sz="2400" dirty="0">
              <a:solidFill>
                <a:schemeClr val="bg1"/>
              </a:solidFill>
              <a:latin typeface="宋体" panose="02010600030101010101" pitchFamily="2" charset="-122"/>
              <a:cs typeface="Arial Unicode MS" panose="020B0604020202020204" pitchFamily="34" charset="-122"/>
            </a:endParaRPr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769" y="2492896"/>
            <a:ext cx="4381500" cy="178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74691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000">
              <a:srgbClr val="1C1C1C"/>
            </a:gs>
            <a:gs pos="0">
              <a:srgbClr val="383838"/>
            </a:gs>
            <a:gs pos="100000">
              <a:schemeClr val="accent4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未标题-2_画板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6985"/>
            <a:ext cx="5225415" cy="6863080"/>
          </a:xfrm>
          <a:prstGeom prst="rect">
            <a:avLst/>
          </a:prstGeom>
        </p:spPr>
      </p:pic>
      <p:pic>
        <p:nvPicPr>
          <p:cNvPr id="14" name="图片 13" descr="未标题33_画板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615" y="3413760"/>
            <a:ext cx="10995025" cy="3343910"/>
          </a:xfrm>
          <a:prstGeom prst="rect">
            <a:avLst/>
          </a:prstGeom>
        </p:spPr>
      </p:pic>
      <p:sp>
        <p:nvSpPr>
          <p:cNvPr id="4099" name="文本框 3"/>
          <p:cNvSpPr txBox="1"/>
          <p:nvPr/>
        </p:nvSpPr>
        <p:spPr>
          <a:xfrm>
            <a:off x="5225480" y="3476943"/>
            <a:ext cx="1689100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l"/>
            <a:r>
              <a:rPr lang="en-US" altLang="zh-CN" sz="2000" dirty="0" smtClean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THANK YOU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098" name="文本框 2"/>
          <p:cNvSpPr txBox="1"/>
          <p:nvPr/>
        </p:nvSpPr>
        <p:spPr>
          <a:xfrm>
            <a:off x="4871437" y="2708910"/>
            <a:ext cx="6853555" cy="768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谢谢观看</a:t>
            </a:r>
            <a:endParaRPr lang="en-US" altLang="zh-CN" sz="4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8,&quot;width&quot;:8229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128,&quot;width&quot;:2361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803.092913385826,&quot;width&quot;:19200}"/>
</p:tagLst>
</file>

<file path=ppt/theme/theme1.xml><?xml version="1.0" encoding="utf-8"?>
<a:theme xmlns:a="http://schemas.openxmlformats.org/drawingml/2006/main" name="高德智感2022年2月制造部月报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urier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urier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高德智感2022年2月制造部月报</Template>
  <TotalTime>38122</TotalTime>
  <Words>857</Words>
  <Application>Microsoft Office PowerPoint</Application>
  <PresentationFormat>自定义</PresentationFormat>
  <Paragraphs>260</Paragraphs>
  <Slides>14</Slides>
  <Notes>13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高德智感2022年2月制造部月报</vt:lpstr>
      <vt:lpstr>1_默认设计模板</vt:lpstr>
      <vt:lpstr>Microsoft Excel 工作表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USER-</dc:creator>
  <cp:lastModifiedBy>罗俊杰</cp:lastModifiedBy>
  <cp:revision>226</cp:revision>
  <dcterms:created xsi:type="dcterms:W3CDTF">2022-03-15T09:14:00Z</dcterms:created>
  <dcterms:modified xsi:type="dcterms:W3CDTF">2023-09-22T09:33:28Z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594F5B37EC1D48E19A5CE5537C2C16B2</vt:lpwstr>
  </property>
</Properties>
</file>