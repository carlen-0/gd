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tx1"/>
            </a:gs>
            <a:gs pos="0">
              <a:schemeClr val="tx1">
                <a:lumMod val="25000"/>
                <a:lumOff val="75000"/>
              </a:schemeClr>
            </a:gs>
            <a:gs pos="100000">
              <a:schemeClr val="tx1">
                <a:lumMod val="85000"/>
              </a:schemeClr>
            </a:gs>
          </a:gsLst>
          <a:lin ang="5400000" scaled="1"/>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wmf"/><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5.emf"/><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emf"/><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8.emf"/><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xml"/><Relationship Id="rId7" Type="http://schemas.openxmlformats.org/officeDocument/2006/relationships/image" Target="../media/image16.png"/><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19.emf"/><Relationship Id="rId5" Type="http://schemas.openxmlformats.org/officeDocument/2006/relationships/image" Target="../media/image18.png"/><Relationship Id="rId4" Type="http://schemas.openxmlformats.org/officeDocument/2006/relationships/image" Target="../media/image16.png"/><Relationship Id="rId3" Type="http://schemas.openxmlformats.org/officeDocument/2006/relationships/image" Target="../media/image17.emf"/><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22.emf"/><Relationship Id="rId5" Type="http://schemas.openxmlformats.org/officeDocument/2006/relationships/image" Target="../media/image19.emf"/><Relationship Id="rId4" Type="http://schemas.openxmlformats.org/officeDocument/2006/relationships/image" Target="../media/image21.emf"/><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2339102" cy="523220"/>
          </a:xfrm>
          <a:prstGeom prst="rect">
            <a:avLst/>
          </a:prstGeom>
          <a:noFill/>
        </p:spPr>
        <p:txBody>
          <a:bodyPr wrap="none" rtlCol="0">
            <a:spAutoFit/>
          </a:bodyPr>
          <a:lstStyle/>
          <a:p>
            <a:r>
              <a:rPr lang="zh-CN" altLang="en-US" sz="2800" dirty="0">
                <a:solidFill>
                  <a:schemeClr val="bg1"/>
                </a:solidFill>
                <a:latin typeface="微软雅黑" panose="020B0503020204020204" charset="-122"/>
                <a:ea typeface="微软雅黑" panose="020B0503020204020204" charset="-122"/>
              </a:rPr>
              <a:t>数字图像组成</a:t>
            </a:r>
            <a:endParaRPr lang="zh-CN" altLang="en-US" sz="2800" dirty="0">
              <a:solidFill>
                <a:schemeClr val="bg1"/>
              </a:solidFill>
              <a:latin typeface="微软雅黑" panose="020B0503020204020204" charset="-122"/>
              <a:ea typeface="微软雅黑" panose="020B0503020204020204" charset="-122"/>
            </a:endParaRPr>
          </a:p>
        </p:txBody>
      </p:sp>
      <p:sp>
        <p:nvSpPr>
          <p:cNvPr id="5" name="Rectangle 3"/>
          <p:cNvSpPr txBox="1">
            <a:spLocks noChangeArrowheads="1"/>
          </p:cNvSpPr>
          <p:nvPr/>
        </p:nvSpPr>
        <p:spPr bwMode="auto">
          <a:xfrm>
            <a:off x="335360" y="1003497"/>
            <a:ext cx="10585176" cy="4525963"/>
          </a:xfrm>
          <a:prstGeom prst="rect">
            <a:avLst/>
          </a:pr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lvl="0" indent="-342900" algn="l" defTabSz="914400" eaLnBrk="1" fontAlgn="base" latinLnBrk="0" hangingPunct="1">
              <a:lnSpc>
                <a:spcPct val="100000"/>
              </a:lnSpc>
              <a:spcBef>
                <a:spcPts val="95"/>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ts val="95"/>
              </a:spcBef>
              <a:spcAft>
                <a:spcPct val="0"/>
              </a:spcAft>
              <a:buChar char="–"/>
              <a:defRPr sz="2800" b="0" i="0" u="none" kern="1200" baseline="0">
                <a:solidFill>
                  <a:schemeClr val="tx1"/>
                </a:solidFill>
                <a:latin typeface="+mn-lt"/>
                <a:ea typeface="+mn-ea"/>
                <a:cs typeface="+mn-cs"/>
              </a:defRPr>
            </a:lvl2pPr>
            <a:lvl3pPr marL="1143000" lvl="2" indent="-227965" algn="l" defTabSz="914400" eaLnBrk="1" fontAlgn="base" latinLnBrk="0" hangingPunct="1">
              <a:lnSpc>
                <a:spcPct val="100000"/>
              </a:lnSpc>
              <a:spcBef>
                <a:spcPts val="95"/>
              </a:spcBef>
              <a:spcAft>
                <a:spcPct val="0"/>
              </a:spcAft>
              <a:buChar char="•"/>
              <a:defRPr sz="2400" b="0" i="0" u="none" kern="1200" baseline="0">
                <a:solidFill>
                  <a:schemeClr val="tx1"/>
                </a:solidFill>
                <a:latin typeface="+mn-lt"/>
                <a:ea typeface="+mn-ea"/>
                <a:cs typeface="+mn-cs"/>
              </a:defRPr>
            </a:lvl3pPr>
            <a:lvl4pPr marL="1600200" lvl="3"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4pPr>
            <a:lvl5pPr marL="2057400" lvl="4"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5pPr>
            <a:lvl6pPr marL="2514600" lvl="5"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6pPr>
            <a:lvl7pPr marL="2971800" lvl="6"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7pPr>
            <a:lvl8pPr marL="3429635" lvl="7"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8pPr>
            <a:lvl9pPr marL="3886835" lvl="8"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9pPr>
          </a:lstStyle>
          <a:p>
            <a:pPr>
              <a:lnSpc>
                <a:spcPct val="90000"/>
              </a:lnSpc>
            </a:pPr>
            <a:r>
              <a:rPr lang="zh-CN" altLang="en-US" sz="2600" b="1" dirty="0">
                <a:solidFill>
                  <a:schemeClr val="bg1"/>
                </a:solidFill>
                <a:latin typeface="黑体" panose="02010609060101010101" pitchFamily="49" charset="-122"/>
                <a:ea typeface="黑体" panose="02010609060101010101" pitchFamily="49" charset="-122"/>
              </a:rPr>
              <a:t>数字图像是指由被称作像素的小块区域组成的二维矩阵。将</a:t>
            </a:r>
            <a:endParaRPr lang="zh-CN" altLang="en-US" sz="2600" b="1" dirty="0">
              <a:solidFill>
                <a:schemeClr val="bg1"/>
              </a:solidFill>
              <a:latin typeface="黑体" panose="02010609060101010101" pitchFamily="49" charset="-122"/>
              <a:ea typeface="黑体" panose="02010609060101010101" pitchFamily="49" charset="-122"/>
            </a:endParaRPr>
          </a:p>
          <a:p>
            <a:pPr>
              <a:lnSpc>
                <a:spcPct val="90000"/>
              </a:lnSpc>
              <a:buFont typeface="Wingdings" panose="05000000000000000000" pitchFamily="2" charset="2"/>
              <a:buNone/>
            </a:pPr>
            <a:r>
              <a:rPr lang="zh-CN" altLang="en-US" sz="2600" b="1" dirty="0">
                <a:solidFill>
                  <a:schemeClr val="bg1"/>
                </a:solidFill>
                <a:latin typeface="黑体" panose="02010609060101010101" pitchFamily="49" charset="-122"/>
                <a:ea typeface="黑体" panose="02010609060101010101" pitchFamily="49" charset="-122"/>
              </a:rPr>
              <a:t>   物理图像行列划分后，每个小块区域称为像素（</a:t>
            </a:r>
            <a:r>
              <a:rPr lang="en-US" altLang="zh-CN" sz="2600" b="1" dirty="0">
                <a:solidFill>
                  <a:schemeClr val="bg1"/>
                </a:solidFill>
                <a:latin typeface="黑体" panose="02010609060101010101" pitchFamily="49" charset="-122"/>
                <a:ea typeface="黑体" panose="02010609060101010101" pitchFamily="49" charset="-122"/>
              </a:rPr>
              <a:t>pixel</a:t>
            </a:r>
            <a:r>
              <a:rPr lang="zh-CN" altLang="en-US" sz="2600" b="1" dirty="0">
                <a:solidFill>
                  <a:schemeClr val="bg1"/>
                </a:solidFill>
                <a:latin typeface="黑体" panose="02010609060101010101" pitchFamily="49" charset="-122"/>
                <a:ea typeface="黑体" panose="02010609060101010101" pitchFamily="49" charset="-122"/>
              </a:rPr>
              <a:t>）。</a:t>
            </a:r>
            <a:endParaRPr lang="zh-CN" altLang="en-US" sz="2600" b="1" dirty="0">
              <a:solidFill>
                <a:schemeClr val="bg1"/>
              </a:solidFill>
              <a:latin typeface="黑体" panose="02010609060101010101" pitchFamily="49" charset="-122"/>
              <a:ea typeface="黑体" panose="02010609060101010101" pitchFamily="49" charset="-122"/>
            </a:endParaRPr>
          </a:p>
          <a:p>
            <a:pPr>
              <a:lnSpc>
                <a:spcPct val="90000"/>
              </a:lnSpc>
              <a:buFont typeface="Wingdings" panose="05000000000000000000" pitchFamily="2" charset="2"/>
              <a:buNone/>
            </a:pPr>
            <a:r>
              <a:rPr lang="zh-CN" altLang="en-US" sz="2800" b="1" dirty="0">
                <a:solidFill>
                  <a:schemeClr val="bg1"/>
                </a:solidFill>
                <a:latin typeface="黑体" panose="02010609060101010101" pitchFamily="49" charset="-122"/>
                <a:ea typeface="黑体" panose="02010609060101010101" pitchFamily="49" charset="-122"/>
              </a:rPr>
              <a:t>    </a:t>
            </a:r>
            <a:r>
              <a:rPr lang="en-US" altLang="zh-CN" sz="2800" b="1" dirty="0">
                <a:solidFill>
                  <a:srgbClr val="FF0000"/>
                </a:solidFill>
                <a:latin typeface="黑体" panose="02010609060101010101" pitchFamily="49" charset="-122"/>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每个像素包括两个属性：位置和灰度。</a:t>
            </a:r>
            <a:endParaRPr lang="zh-CN" altLang="en-US" sz="2800" b="1" dirty="0">
              <a:solidFill>
                <a:srgbClr val="FF0000"/>
              </a:solidFill>
              <a:latin typeface="黑体" panose="02010609060101010101" pitchFamily="49" charset="-122"/>
              <a:ea typeface="黑体" panose="02010609060101010101" pitchFamily="49" charset="-122"/>
            </a:endParaRPr>
          </a:p>
          <a:p>
            <a:pPr>
              <a:lnSpc>
                <a:spcPct val="90000"/>
              </a:lnSpc>
            </a:pPr>
            <a:r>
              <a:rPr lang="zh-CN" altLang="en-US" sz="2600" b="1" dirty="0">
                <a:solidFill>
                  <a:schemeClr val="bg1"/>
                </a:solidFill>
                <a:latin typeface="黑体" panose="02010609060101010101" pitchFamily="49" charset="-122"/>
                <a:ea typeface="黑体" panose="02010609060101010101" pitchFamily="49" charset="-122"/>
              </a:rPr>
              <a:t>常见的</a:t>
            </a:r>
            <a:r>
              <a:rPr lang="en-US" altLang="zh-CN" sz="2600" b="1" dirty="0">
                <a:solidFill>
                  <a:schemeClr val="bg1"/>
                </a:solidFill>
                <a:latin typeface="黑体" panose="02010609060101010101" pitchFamily="49" charset="-122"/>
                <a:ea typeface="黑体" panose="02010609060101010101" pitchFamily="49" charset="-122"/>
              </a:rPr>
              <a:t>8bit</a:t>
            </a:r>
            <a:r>
              <a:rPr lang="zh-CN" altLang="en-US" sz="2600" b="1" dirty="0">
                <a:solidFill>
                  <a:schemeClr val="bg1"/>
                </a:solidFill>
                <a:latin typeface="黑体" panose="02010609060101010101" pitchFamily="49" charset="-122"/>
                <a:ea typeface="黑体" panose="02010609060101010101" pitchFamily="49" charset="-122"/>
              </a:rPr>
              <a:t>灰度图像，每个像素的亮度用一个数值表示，其数值范围在</a:t>
            </a:r>
            <a:r>
              <a:rPr lang="en-US" altLang="zh-CN" sz="2600" b="1" dirty="0">
                <a:solidFill>
                  <a:schemeClr val="bg1"/>
                </a:solidFill>
                <a:latin typeface="黑体" panose="02010609060101010101" pitchFamily="49" charset="-122"/>
                <a:ea typeface="黑体" panose="02010609060101010101" pitchFamily="49" charset="-122"/>
              </a:rPr>
              <a:t>0</a:t>
            </a:r>
            <a:r>
              <a:rPr lang="zh-CN" altLang="en-US" sz="2600" b="1" dirty="0">
                <a:solidFill>
                  <a:schemeClr val="bg1"/>
                </a:solidFill>
                <a:latin typeface="黑体" panose="02010609060101010101" pitchFamily="49" charset="-122"/>
                <a:ea typeface="黑体" panose="02010609060101010101" pitchFamily="49" charset="-122"/>
              </a:rPr>
              <a:t>到</a:t>
            </a:r>
            <a:r>
              <a:rPr lang="en-US" altLang="zh-CN" sz="2600" b="1" dirty="0">
                <a:solidFill>
                  <a:schemeClr val="bg1"/>
                </a:solidFill>
                <a:latin typeface="黑体" panose="02010609060101010101" pitchFamily="49" charset="-122"/>
                <a:ea typeface="黑体" panose="02010609060101010101" pitchFamily="49" charset="-122"/>
              </a:rPr>
              <a:t>255</a:t>
            </a:r>
            <a:r>
              <a:rPr lang="zh-CN" altLang="en-US" sz="2600" b="1" dirty="0">
                <a:solidFill>
                  <a:schemeClr val="bg1"/>
                </a:solidFill>
                <a:latin typeface="黑体" panose="02010609060101010101" pitchFamily="49" charset="-122"/>
                <a:ea typeface="黑体" panose="02010609060101010101" pitchFamily="49" charset="-122"/>
              </a:rPr>
              <a:t>之间，即可用一个字节来表示，</a:t>
            </a:r>
            <a:r>
              <a:rPr lang="en-US" altLang="zh-CN" sz="2600" b="1" dirty="0">
                <a:solidFill>
                  <a:schemeClr val="bg1"/>
                </a:solidFill>
                <a:latin typeface="黑体" panose="02010609060101010101" pitchFamily="49" charset="-122"/>
                <a:ea typeface="黑体" panose="02010609060101010101" pitchFamily="49" charset="-122"/>
              </a:rPr>
              <a:t>0</a:t>
            </a:r>
            <a:r>
              <a:rPr lang="zh-CN" altLang="en-US" sz="2600" b="1" dirty="0">
                <a:solidFill>
                  <a:schemeClr val="bg1"/>
                </a:solidFill>
                <a:latin typeface="黑体" panose="02010609060101010101" pitchFamily="49" charset="-122"/>
                <a:ea typeface="黑体" panose="02010609060101010101" pitchFamily="49" charset="-122"/>
              </a:rPr>
              <a:t>表示黑、</a:t>
            </a:r>
            <a:r>
              <a:rPr lang="en-US" altLang="zh-CN" sz="2600" b="1" dirty="0">
                <a:solidFill>
                  <a:schemeClr val="bg1"/>
                </a:solidFill>
                <a:latin typeface="黑体" panose="02010609060101010101" pitchFamily="49" charset="-122"/>
                <a:ea typeface="黑体" panose="02010609060101010101" pitchFamily="49" charset="-122"/>
              </a:rPr>
              <a:t>255</a:t>
            </a:r>
            <a:r>
              <a:rPr lang="zh-CN" altLang="en-US" sz="2600" b="1" dirty="0">
                <a:solidFill>
                  <a:schemeClr val="bg1"/>
                </a:solidFill>
                <a:latin typeface="黑体" panose="02010609060101010101" pitchFamily="49" charset="-122"/>
                <a:ea typeface="黑体" panose="02010609060101010101" pitchFamily="49" charset="-122"/>
              </a:rPr>
              <a:t>表示白，而其它表示灰度级别。</a:t>
            </a:r>
            <a:endParaRPr lang="zh-CN" altLang="en-US" sz="2600" b="1" dirty="0">
              <a:solidFill>
                <a:schemeClr val="bg1"/>
              </a:solidFill>
              <a:latin typeface="黑体" panose="02010609060101010101" pitchFamily="49" charset="-122"/>
              <a:ea typeface="黑体" panose="02010609060101010101" pitchFamily="49" charset="-122"/>
            </a:endParaRPr>
          </a:p>
          <a:p>
            <a:pPr>
              <a:buFont typeface="Wingdings" panose="05000000000000000000" pitchFamily="2" charset="2"/>
              <a:buNone/>
            </a:pPr>
            <a:endParaRPr lang="en-US" altLang="zh-CN" sz="2600" b="1" dirty="0">
              <a:solidFill>
                <a:schemeClr val="bg1"/>
              </a:solidFill>
              <a:latin typeface="黑体" panose="02010609060101010101" pitchFamily="49" charset="-122"/>
              <a:ea typeface="黑体" panose="02010609060101010101" pitchFamily="49" charset="-122"/>
            </a:endParaRPr>
          </a:p>
          <a:p>
            <a:pPr>
              <a:buFont typeface="Wingdings" panose="05000000000000000000" pitchFamily="2" charset="2"/>
              <a:buNone/>
            </a:pPr>
            <a:endParaRPr lang="zh-CN" altLang="en-US" sz="2600" b="1" dirty="0">
              <a:solidFill>
                <a:schemeClr val="bg1"/>
              </a:solidFill>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2400" b="1" dirty="0">
                <a:solidFill>
                  <a:schemeClr val="bg1"/>
                </a:solidFill>
                <a:latin typeface="黑体" panose="02010609060101010101" pitchFamily="49" charset="-122"/>
                <a:ea typeface="黑体" panose="02010609060101010101" pitchFamily="49" charset="-122"/>
              </a:rPr>
              <a:t>     物理图像及对应</a:t>
            </a:r>
            <a:endParaRPr lang="zh-CN" altLang="en-US" sz="2400" b="1" dirty="0">
              <a:solidFill>
                <a:schemeClr val="bg1"/>
              </a:solidFill>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2400" b="1" dirty="0">
                <a:solidFill>
                  <a:schemeClr val="bg1"/>
                </a:solidFill>
                <a:latin typeface="黑体" panose="02010609060101010101" pitchFamily="49" charset="-122"/>
                <a:ea typeface="黑体" panose="02010609060101010101" pitchFamily="49" charset="-122"/>
              </a:rPr>
              <a:t>      的数字图像</a:t>
            </a:r>
            <a:endParaRPr lang="zh-CN" altLang="en-US" sz="2400" b="1" dirty="0">
              <a:solidFill>
                <a:schemeClr val="bg1"/>
              </a:solidFill>
              <a:latin typeface="黑体" panose="02010609060101010101" pitchFamily="49" charset="-122"/>
              <a:ea typeface="黑体" panose="02010609060101010101" pitchFamily="49" charset="-122"/>
            </a:endParaRPr>
          </a:p>
          <a:p>
            <a:pPr>
              <a:buFont typeface="Wingdings" panose="05000000000000000000" pitchFamily="2" charset="2"/>
              <a:buNone/>
            </a:pPr>
            <a:endParaRPr lang="zh-CN" altLang="en-US" sz="2400" b="1" dirty="0">
              <a:solidFill>
                <a:schemeClr val="bg1"/>
              </a:solidFill>
              <a:latin typeface="方正楷体_GBK" pitchFamily="1" charset="-122"/>
              <a:ea typeface="方正楷体_GBK" pitchFamily="1" charset="-122"/>
            </a:endParaRPr>
          </a:p>
          <a:p>
            <a:endParaRPr lang="en-US" altLang="zh-CN" b="1" dirty="0">
              <a:solidFill>
                <a:schemeClr val="bg1"/>
              </a:solidFill>
            </a:endParaRP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712" y="3452697"/>
            <a:ext cx="6096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 calcmode="lin" valueType="num">
                                      <p:cBhvr>
                                        <p:cTn id="7" dur="1000" fill="hold"/>
                                        <p:tgtEl>
                                          <p:spTgt spid="5">
                                            <p:txEl>
                                              <p:pRg st="6" end="6"/>
                                            </p:txEl>
                                          </p:spTgt>
                                        </p:tgtEl>
                                        <p:attrNameLst>
                                          <p:attrName>ppt_w</p:attrName>
                                        </p:attrNameLst>
                                      </p:cBhvr>
                                      <p:tavLst>
                                        <p:tav tm="0">
                                          <p:val>
                                            <p:strVal val="#ppt_w*0.70"/>
                                          </p:val>
                                        </p:tav>
                                        <p:tav tm="100000">
                                          <p:val>
                                            <p:strVal val="#ppt_w"/>
                                          </p:val>
                                        </p:tav>
                                      </p:tavLst>
                                    </p:anim>
                                    <p:anim calcmode="lin" valueType="num">
                                      <p:cBhvr>
                                        <p:cTn id="8" dur="1000" fill="hold"/>
                                        <p:tgtEl>
                                          <p:spTgt spid="5">
                                            <p:txEl>
                                              <p:pRg st="6" end="6"/>
                                            </p:txEl>
                                          </p:spTgt>
                                        </p:tgtEl>
                                        <p:attrNameLst>
                                          <p:attrName>ppt_h</p:attrName>
                                        </p:attrNameLst>
                                      </p:cBhvr>
                                      <p:tavLst>
                                        <p:tav tm="0">
                                          <p:val>
                                            <p:strVal val="#ppt_h"/>
                                          </p:val>
                                        </p:tav>
                                        <p:tav tm="100000">
                                          <p:val>
                                            <p:strVal val="#ppt_h"/>
                                          </p:val>
                                        </p:tav>
                                      </p:tavLst>
                                    </p:anim>
                                    <p:animEffect transition="in" filter="fade">
                                      <p:cBhvr>
                                        <p:cTn id="9" dur="1000"/>
                                        <p:tgtEl>
                                          <p:spTgt spid="5">
                                            <p:txEl>
                                              <p:pRg st="6" end="6"/>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5">
                                            <p:txEl>
                                              <p:pRg st="7" end="7"/>
                                            </p:txEl>
                                          </p:spTgt>
                                        </p:tgtEl>
                                        <p:attrNameLst>
                                          <p:attrName>style.visibility</p:attrName>
                                        </p:attrNameLst>
                                      </p:cBhvr>
                                      <p:to>
                                        <p:strVal val="visible"/>
                                      </p:to>
                                    </p:set>
                                    <p:anim calcmode="lin" valueType="num">
                                      <p:cBhvr>
                                        <p:cTn id="12" dur="1000" fill="hold"/>
                                        <p:tgtEl>
                                          <p:spTgt spid="5">
                                            <p:txEl>
                                              <p:pRg st="7" end="7"/>
                                            </p:txEl>
                                          </p:spTgt>
                                        </p:tgtEl>
                                        <p:attrNameLst>
                                          <p:attrName>ppt_w</p:attrName>
                                        </p:attrNameLst>
                                      </p:cBhvr>
                                      <p:tavLst>
                                        <p:tav tm="0">
                                          <p:val>
                                            <p:strVal val="#ppt_w*0.70"/>
                                          </p:val>
                                        </p:tav>
                                        <p:tav tm="100000">
                                          <p:val>
                                            <p:strVal val="#ppt_w"/>
                                          </p:val>
                                        </p:tav>
                                      </p:tavLst>
                                    </p:anim>
                                    <p:anim calcmode="lin" valueType="num">
                                      <p:cBhvr>
                                        <p:cTn id="13" dur="1000" fill="hold"/>
                                        <p:tgtEl>
                                          <p:spTgt spid="5">
                                            <p:txEl>
                                              <p:pRg st="7" end="7"/>
                                            </p:txEl>
                                          </p:spTgt>
                                        </p:tgtEl>
                                        <p:attrNameLst>
                                          <p:attrName>ppt_h</p:attrName>
                                        </p:attrNameLst>
                                      </p:cBhvr>
                                      <p:tavLst>
                                        <p:tav tm="0">
                                          <p:val>
                                            <p:strVal val="#ppt_h"/>
                                          </p:val>
                                        </p:tav>
                                        <p:tav tm="100000">
                                          <p:val>
                                            <p:strVal val="#ppt_h"/>
                                          </p:val>
                                        </p:tav>
                                      </p:tavLst>
                                    </p:anim>
                                    <p:animEffect transition="in" filter="fade">
                                      <p:cBhvr>
                                        <p:cTn id="14" dur="1000"/>
                                        <p:tgtEl>
                                          <p:spTgt spid="5">
                                            <p:txEl>
                                              <p:pRg st="7" end="7"/>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2339102"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常见红外数据</a:t>
            </a:r>
            <a:endParaRPr lang="zh-CN" altLang="en-US" sz="2800" dirty="0">
              <a:solidFill>
                <a:srgbClr val="FFFFFF"/>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4272" y="1124744"/>
            <a:ext cx="3181027" cy="2385770"/>
          </a:xfrm>
          <a:prstGeom prst="rect">
            <a:avLst/>
          </a:prstGeom>
        </p:spPr>
      </p:pic>
      <p:sp>
        <p:nvSpPr>
          <p:cNvPr id="13" name="文本框 12"/>
          <p:cNvSpPr txBox="1"/>
          <p:nvPr/>
        </p:nvSpPr>
        <p:spPr>
          <a:xfrm>
            <a:off x="9696128" y="3573016"/>
            <a:ext cx="1152400" cy="369332"/>
          </a:xfrm>
          <a:prstGeom prst="rect">
            <a:avLst/>
          </a:prstGeom>
          <a:noFill/>
        </p:spPr>
        <p:txBody>
          <a:bodyPr wrap="square" rtlCol="0">
            <a:spAutoFit/>
          </a:bodyPr>
          <a:lstStyle/>
          <a:p>
            <a:r>
              <a:rPr lang="en-US" altLang="zh-CN" dirty="0">
                <a:solidFill>
                  <a:srgbClr val="FFFFFF"/>
                </a:solidFill>
                <a:latin typeface="黑体" panose="02010609060101010101" pitchFamily="49" charset="-122"/>
                <a:ea typeface="黑体" panose="02010609060101010101" pitchFamily="49" charset="-122"/>
              </a:rPr>
              <a:t>X16</a:t>
            </a:r>
            <a:r>
              <a:rPr lang="zh-CN" altLang="en-US" dirty="0">
                <a:solidFill>
                  <a:srgbClr val="FFFFFF"/>
                </a:solidFill>
                <a:latin typeface="黑体" panose="02010609060101010101" pitchFamily="49" charset="-122"/>
                <a:ea typeface="黑体" panose="02010609060101010101" pitchFamily="49" charset="-122"/>
              </a:rPr>
              <a:t>图像</a:t>
            </a:r>
            <a:endParaRPr lang="zh-CN" altLang="en-US" dirty="0">
              <a:solidFill>
                <a:srgbClr val="FFFFFF"/>
              </a:solidFill>
              <a:latin typeface="黑体" panose="02010609060101010101" pitchFamily="49" charset="-122"/>
              <a:ea typeface="黑体" panose="02010609060101010101" pitchFamily="49" charset="-122"/>
            </a:endParaRPr>
          </a:p>
        </p:txBody>
      </p:sp>
      <p:pic>
        <p:nvPicPr>
          <p:cNvPr id="15" name="图片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36" y="1000104"/>
            <a:ext cx="7704856" cy="3375885"/>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p:cNvSpPr txBox="1"/>
          <p:nvPr/>
        </p:nvSpPr>
        <p:spPr>
          <a:xfrm>
            <a:off x="3413702" y="4375989"/>
            <a:ext cx="1116124" cy="369332"/>
          </a:xfrm>
          <a:prstGeom prst="rect">
            <a:avLst/>
          </a:prstGeom>
          <a:noFill/>
        </p:spPr>
        <p:txBody>
          <a:bodyPr wrap="square" rtlCol="0">
            <a:spAutoFit/>
          </a:bodyPr>
          <a:lstStyle/>
          <a:p>
            <a:r>
              <a:rPr lang="en-US" altLang="zh-CN" dirty="0">
                <a:solidFill>
                  <a:srgbClr val="FFFFFF"/>
                </a:solidFill>
                <a:latin typeface="黑体" panose="02010609060101010101" pitchFamily="49" charset="-122"/>
                <a:ea typeface="黑体" panose="02010609060101010101" pitchFamily="49" charset="-122"/>
              </a:rPr>
              <a:t>X16</a:t>
            </a:r>
            <a:r>
              <a:rPr lang="zh-CN" altLang="en-US" dirty="0">
                <a:solidFill>
                  <a:srgbClr val="FFFFFF"/>
                </a:solidFill>
                <a:latin typeface="黑体" panose="02010609060101010101" pitchFamily="49" charset="-122"/>
                <a:ea typeface="黑体" panose="02010609060101010101" pitchFamily="49" charset="-122"/>
              </a:rPr>
              <a:t>数据</a:t>
            </a:r>
            <a:endParaRPr lang="zh-CN" altLang="en-US" dirty="0">
              <a:solidFill>
                <a:srgbClr val="FFFFFF"/>
              </a:solidFill>
              <a:latin typeface="黑体" panose="02010609060101010101" pitchFamily="49" charset="-122"/>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2339102"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常见红外数据</a:t>
            </a:r>
            <a:endParaRPr lang="zh-CN" altLang="en-US" sz="2800" dirty="0">
              <a:solidFill>
                <a:srgbClr val="FFFFFF"/>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9020" y="998647"/>
            <a:ext cx="2438400" cy="1828800"/>
          </a:xfrm>
          <a:prstGeom prst="rect">
            <a:avLst/>
          </a:prstGeom>
        </p:spPr>
      </p:pic>
      <p:sp>
        <p:nvSpPr>
          <p:cNvPr id="16" name="文本框 15"/>
          <p:cNvSpPr txBox="1"/>
          <p:nvPr/>
        </p:nvSpPr>
        <p:spPr>
          <a:xfrm>
            <a:off x="9908180" y="2884871"/>
            <a:ext cx="1156372" cy="369332"/>
          </a:xfrm>
          <a:prstGeom prst="rect">
            <a:avLst/>
          </a:prstGeom>
          <a:noFill/>
        </p:spPr>
        <p:txBody>
          <a:bodyPr wrap="square" rtlCol="0">
            <a:spAutoFit/>
          </a:bodyPr>
          <a:lstStyle/>
          <a:p>
            <a:r>
              <a:rPr lang="en-US" altLang="zh-CN" dirty="0">
                <a:solidFill>
                  <a:srgbClr val="FFFFFF"/>
                </a:solidFill>
              </a:rPr>
              <a:t>Y16</a:t>
            </a:r>
            <a:r>
              <a:rPr lang="zh-CN" altLang="en-US" dirty="0">
                <a:solidFill>
                  <a:srgbClr val="FFFFFF"/>
                </a:solidFill>
              </a:rPr>
              <a:t>图像</a:t>
            </a:r>
            <a:endParaRPr lang="zh-CN" altLang="en-US" dirty="0">
              <a:solidFill>
                <a:srgbClr val="FFFFFF"/>
              </a:solidFill>
            </a:endParaRPr>
          </a:p>
        </p:txBody>
      </p:sp>
      <p:pic>
        <p:nvPicPr>
          <p:cNvPr id="15" name="图片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60" y="855876"/>
            <a:ext cx="8239125" cy="3609975"/>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p:cNvSpPr txBox="1"/>
          <p:nvPr/>
        </p:nvSpPr>
        <p:spPr>
          <a:xfrm>
            <a:off x="3886411" y="4574383"/>
            <a:ext cx="1137022" cy="369332"/>
          </a:xfrm>
          <a:prstGeom prst="rect">
            <a:avLst/>
          </a:prstGeom>
          <a:noFill/>
        </p:spPr>
        <p:txBody>
          <a:bodyPr wrap="square" rtlCol="0">
            <a:spAutoFit/>
          </a:bodyPr>
          <a:lstStyle/>
          <a:p>
            <a:r>
              <a:rPr lang="en-US" altLang="zh-CN" dirty="0">
                <a:solidFill>
                  <a:srgbClr val="FFFFFF"/>
                </a:solidFill>
              </a:rPr>
              <a:t>Y16</a:t>
            </a:r>
            <a:r>
              <a:rPr lang="zh-CN" altLang="en-US" dirty="0">
                <a:solidFill>
                  <a:srgbClr val="FFFFFF"/>
                </a:solidFill>
              </a:rPr>
              <a:t>数据</a:t>
            </a:r>
            <a:endParaRPr lang="zh-CN" altLang="en-US"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3057247"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红外图像处理流程</a:t>
            </a:r>
            <a:endParaRPr lang="zh-CN" altLang="en-US" sz="2800" dirty="0">
              <a:solidFill>
                <a:srgbClr val="FFFFFF"/>
              </a:solidFill>
              <a:latin typeface="微软雅黑" panose="020B0503020204020204" charset="-122"/>
              <a:ea typeface="微软雅黑" panose="020B0503020204020204" charset="-122"/>
            </a:endParaRPr>
          </a:p>
        </p:txBody>
      </p:sp>
      <p:graphicFrame>
        <p:nvGraphicFramePr>
          <p:cNvPr id="17" name="对象 16"/>
          <p:cNvGraphicFramePr/>
          <p:nvPr/>
        </p:nvGraphicFramePr>
        <p:xfrm>
          <a:off x="8832304" y="576580"/>
          <a:ext cx="1933575" cy="6391275"/>
        </p:xfrm>
        <a:graphic>
          <a:graphicData uri="http://schemas.openxmlformats.org/presentationml/2006/ole">
            <mc:AlternateContent xmlns:mc="http://schemas.openxmlformats.org/markup-compatibility/2006">
              <mc:Choice xmlns:v="urn:schemas-microsoft-com:vml" Requires="v">
                <p:oleObj spid="_x0000_s3" name="Visio" r:id="rId3" imgW="2402840" imgH="7476490" progId="Visio.Drawing.11">
                  <p:embed/>
                </p:oleObj>
              </mc:Choice>
              <mc:Fallback>
                <p:oleObj name="Visio" r:id="rId3" imgW="2402840" imgH="7476490" progId="Visio.Drawing.11">
                  <p:embed/>
                  <p:pic>
                    <p:nvPicPr>
                      <p:cNvPr id="0" name="图片 2"/>
                      <p:cNvPicPr>
                        <a:picLocks noChangeArrowheads="1"/>
                      </p:cNvPicPr>
                      <p:nvPr/>
                    </p:nvPicPr>
                    <p:blipFill>
                      <a:blip r:embed="rId4"/>
                      <a:srcRect/>
                      <a:stretch>
                        <a:fillRect/>
                      </a:stretch>
                    </p:blipFill>
                    <p:spPr bwMode="auto">
                      <a:xfrm>
                        <a:off x="8832304" y="576580"/>
                        <a:ext cx="1933575" cy="6391275"/>
                      </a:xfrm>
                      <a:prstGeom prst="rect">
                        <a:avLst/>
                      </a:prstGeom>
                      <a:noFill/>
                    </p:spPr>
                  </p:pic>
                </p:oleObj>
              </mc:Fallback>
            </mc:AlternateContent>
          </a:graphicData>
        </a:graphic>
      </p:graphicFrame>
      <p:sp>
        <p:nvSpPr>
          <p:cNvPr id="18" name="矩形 17"/>
          <p:cNvSpPr/>
          <p:nvPr/>
        </p:nvSpPr>
        <p:spPr>
          <a:xfrm>
            <a:off x="261249" y="872120"/>
            <a:ext cx="7992888" cy="1200329"/>
          </a:xfrm>
          <a:prstGeom prst="rect">
            <a:avLst/>
          </a:prstGeom>
        </p:spPr>
        <p:txBody>
          <a:bodyPr wrap="square">
            <a:spAutoFit/>
          </a:bodyPr>
          <a:lstStyle/>
          <a:p>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       红外成像完整算法流程</a:t>
            </a:r>
            <a:r>
              <a:rPr lang="zh-CN"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：两点校正、坏点检测与替换、时域滤波、去锅盖、</a:t>
            </a:r>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空域</a:t>
            </a:r>
            <a:r>
              <a:rPr lang="zh-CN"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滤波、调光</a:t>
            </a:r>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a:t>
            </a:r>
            <a:r>
              <a:rPr lang="en-US" altLang="zh-CN" sz="2400" kern="100" dirty="0">
                <a:solidFill>
                  <a:schemeClr val="bg1"/>
                </a:solidFill>
                <a:latin typeface="微软雅黑" panose="020B0503020204020204" charset="-122"/>
                <a:ea typeface="微软雅黑" panose="020B0503020204020204" charset="-122"/>
              </a:rPr>
              <a:t>IIE</a:t>
            </a:r>
            <a:r>
              <a:rPr lang="zh-CN"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增强</a:t>
            </a:r>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a:t>
            </a:r>
            <a:r>
              <a:rPr lang="en-US"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Gamma</a:t>
            </a:r>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校正和伪彩等</a:t>
            </a:r>
            <a:r>
              <a:rPr lang="zh-CN"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a:t>
            </a:r>
            <a:endParaRPr lang="zh-CN" altLang="en-US"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2339102" cy="523220"/>
          </a:xfrm>
          <a:prstGeom prst="rect">
            <a:avLst/>
          </a:prstGeom>
          <a:noFill/>
        </p:spPr>
        <p:txBody>
          <a:bodyPr wrap="none" rtlCol="0">
            <a:spAutoFit/>
          </a:bodyPr>
          <a:lstStyle/>
          <a:p>
            <a:r>
              <a:rPr lang="zh-CN" altLang="en-US" sz="2800" dirty="0">
                <a:solidFill>
                  <a:schemeClr val="bg1"/>
                </a:solidFill>
                <a:latin typeface="微软雅黑" panose="020B0503020204020204" charset="-122"/>
                <a:ea typeface="微软雅黑" panose="020B0503020204020204" charset="-122"/>
              </a:rPr>
              <a:t>非均匀性校正</a:t>
            </a:r>
            <a:endParaRPr lang="zh-CN" altLang="en-US" sz="2800" dirty="0">
              <a:solidFill>
                <a:srgbClr val="FFFFFF"/>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3400590"/>
            <a:ext cx="3384376" cy="2538282"/>
          </a:xfrm>
          <a:prstGeom prst="rect">
            <a:avLst/>
          </a:prstGeom>
        </p:spPr>
      </p:pic>
      <p:sp>
        <p:nvSpPr>
          <p:cNvPr id="13" name="文本框 12"/>
          <p:cNvSpPr txBox="1"/>
          <p:nvPr/>
        </p:nvSpPr>
        <p:spPr>
          <a:xfrm>
            <a:off x="5303912" y="5967705"/>
            <a:ext cx="720080" cy="369332"/>
          </a:xfrm>
          <a:prstGeom prst="rect">
            <a:avLst/>
          </a:prstGeom>
          <a:noFill/>
        </p:spPr>
        <p:txBody>
          <a:bodyPr wrap="square" rtlCol="0">
            <a:spAutoFit/>
          </a:bodyPr>
          <a:lstStyle/>
          <a:p>
            <a:r>
              <a:rPr lang="en-US" altLang="zh-CN" dirty="0">
                <a:solidFill>
                  <a:srgbClr val="FFFFFF"/>
                </a:solidFill>
              </a:rPr>
              <a:t>X16</a:t>
            </a:r>
            <a:endParaRPr lang="zh-CN" altLang="en-US" dirty="0">
              <a:solidFill>
                <a:srgbClr val="FFFFFF"/>
              </a:solidFill>
            </a:endParaRPr>
          </a:p>
        </p:txBody>
      </p:sp>
      <p:sp>
        <p:nvSpPr>
          <p:cNvPr id="15" name="文本框 14"/>
          <p:cNvSpPr txBox="1"/>
          <p:nvPr/>
        </p:nvSpPr>
        <p:spPr>
          <a:xfrm>
            <a:off x="314369" y="989759"/>
            <a:ext cx="11110223" cy="2308324"/>
          </a:xfrm>
          <a:prstGeom prst="rect">
            <a:avLst/>
          </a:prstGeom>
          <a:noFill/>
        </p:spPr>
        <p:txBody>
          <a:bodyPr wrap="square" rtlCol="0">
            <a:spAutoFit/>
          </a:bodyPr>
          <a:lstStyle/>
          <a:p>
            <a:r>
              <a:rPr lang="en-US" altLang="zh-CN" sz="2400" dirty="0">
                <a:solidFill>
                  <a:schemeClr val="bg1"/>
                </a:solidFill>
                <a:latin typeface="微软雅黑" panose="020B0503020204020204" charset="-122"/>
                <a:ea typeface="微软雅黑" panose="020B0503020204020204" charset="-122"/>
              </a:rPr>
              <a:t>       </a:t>
            </a:r>
            <a:r>
              <a:rPr lang="zh-CN" altLang="en-US" sz="2400" dirty="0">
                <a:solidFill>
                  <a:schemeClr val="bg1"/>
                </a:solidFill>
                <a:latin typeface="微软雅黑" panose="020B0503020204020204" charset="-122"/>
                <a:ea typeface="微软雅黑" panose="020B0503020204020204" charset="-122"/>
              </a:rPr>
              <a:t>非均匀性产生的主要原因：</a:t>
            </a:r>
            <a:r>
              <a:rPr lang="en-US" altLang="zh-CN" sz="2400" dirty="0">
                <a:solidFill>
                  <a:schemeClr val="bg1"/>
                </a:solidFill>
                <a:latin typeface="微软雅黑" panose="020B0503020204020204" charset="-122"/>
                <a:ea typeface="微软雅黑" panose="020B0503020204020204" charset="-122"/>
              </a:rPr>
              <a:t>1)</a:t>
            </a:r>
            <a:r>
              <a:rPr lang="zh-CN" altLang="en-US" sz="2400" dirty="0">
                <a:solidFill>
                  <a:schemeClr val="bg1"/>
                </a:solidFill>
                <a:latin typeface="微软雅黑" panose="020B0503020204020204" charset="-122"/>
                <a:ea typeface="微软雅黑" panose="020B0503020204020204" charset="-122"/>
              </a:rPr>
              <a:t> 材料和工艺的原因，红外探测器像元的响应率很难做到一致；</a:t>
            </a:r>
            <a:r>
              <a:rPr lang="en-US" altLang="zh-CN" sz="2400" dirty="0">
                <a:solidFill>
                  <a:schemeClr val="bg1"/>
                </a:solidFill>
                <a:latin typeface="微软雅黑" panose="020B0503020204020204" charset="-122"/>
                <a:ea typeface="微软雅黑" panose="020B0503020204020204" charset="-122"/>
              </a:rPr>
              <a:t>2)</a:t>
            </a:r>
            <a:r>
              <a:rPr lang="zh-CN" altLang="en-US" sz="2400" dirty="0">
                <a:solidFill>
                  <a:schemeClr val="bg1"/>
                </a:solidFill>
                <a:latin typeface="微软雅黑" panose="020B0503020204020204" charset="-122"/>
                <a:ea typeface="微软雅黑" panose="020B0503020204020204" charset="-122"/>
              </a:rPr>
              <a:t>光学镜头原因，镜片加工的每个瞬时视场角的透过率不一致；</a:t>
            </a:r>
            <a:r>
              <a:rPr lang="en-US" altLang="zh-CN" sz="2400" dirty="0">
                <a:solidFill>
                  <a:schemeClr val="bg1"/>
                </a:solidFill>
                <a:latin typeface="微软雅黑" panose="020B0503020204020204" charset="-122"/>
                <a:ea typeface="微软雅黑" panose="020B0503020204020204" charset="-122"/>
              </a:rPr>
              <a:t>3)</a:t>
            </a:r>
            <a:r>
              <a:rPr lang="zh-CN" altLang="en-US" sz="2400" dirty="0">
                <a:solidFill>
                  <a:schemeClr val="bg1"/>
                </a:solidFill>
                <a:latin typeface="微软雅黑" panose="020B0503020204020204" charset="-122"/>
                <a:ea typeface="微软雅黑" panose="020B0503020204020204" charset="-122"/>
              </a:rPr>
              <a:t>光学系统原因，如杂散光、冷反射等会进入光路从而在图像上叠加固定图形噪声。</a:t>
            </a:r>
            <a:endParaRPr lang="en-US" altLang="zh-CN" sz="2400" dirty="0">
              <a:solidFill>
                <a:schemeClr val="bg1"/>
              </a:solidFill>
              <a:latin typeface="微软雅黑" panose="020B0503020204020204" charset="-122"/>
              <a:ea typeface="微软雅黑" panose="020B0503020204020204" charset="-122"/>
            </a:endParaRPr>
          </a:p>
          <a:p>
            <a:r>
              <a:rPr lang="en-US" altLang="zh-CN" sz="2400" dirty="0">
                <a:solidFill>
                  <a:schemeClr val="bg1"/>
                </a:solidFill>
                <a:latin typeface="微软雅黑" panose="020B0503020204020204" charset="-122"/>
                <a:ea typeface="微软雅黑" panose="020B0503020204020204" charset="-122"/>
              </a:rPr>
              <a:t>       </a:t>
            </a:r>
            <a:r>
              <a:rPr lang="zh-CN" altLang="en-US" sz="2400" dirty="0">
                <a:solidFill>
                  <a:schemeClr val="bg1"/>
                </a:solidFill>
                <a:latin typeface="微软雅黑" panose="020B0503020204020204" charset="-122"/>
                <a:ea typeface="微软雅黑" panose="020B0503020204020204" charset="-122"/>
              </a:rPr>
              <a:t>非均匀性主要影响红外成像系统的探测灵敏度和空间分辨率，为了充分发挥红外探测器的性能，提升系统作用距离，必须对红外成像原始信号进行</a:t>
            </a:r>
            <a:r>
              <a:rPr lang="zh-CN" altLang="en-US" sz="2400" dirty="0">
                <a:solidFill>
                  <a:srgbClr val="FF0000"/>
                </a:solidFill>
                <a:latin typeface="微软雅黑" panose="020B0503020204020204" charset="-122"/>
                <a:ea typeface="微软雅黑" panose="020B0503020204020204" charset="-122"/>
              </a:rPr>
              <a:t>非均匀性校正</a:t>
            </a:r>
            <a:r>
              <a:rPr lang="zh-CN" altLang="en-US" sz="2400" dirty="0">
                <a:solidFill>
                  <a:schemeClr val="bg1"/>
                </a:solidFill>
                <a:latin typeface="微软雅黑" panose="020B0503020204020204" charset="-122"/>
                <a:ea typeface="微软雅黑" panose="020B0503020204020204" charset="-122"/>
              </a:rPr>
              <a:t>。</a:t>
            </a:r>
            <a:endParaRPr lang="zh-CN" altLang="en-US" sz="24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1620957"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两点校正</a:t>
            </a:r>
            <a:endParaRPr lang="zh-CN" altLang="en-US" sz="2800" dirty="0">
              <a:solidFill>
                <a:srgbClr val="FFFFFF"/>
              </a:solidFill>
              <a:latin typeface="微软雅黑" panose="020B0503020204020204" charset="-122"/>
              <a:ea typeface="微软雅黑" panose="020B0503020204020204" charset="-122"/>
            </a:endParaRPr>
          </a:p>
        </p:txBody>
      </p:sp>
      <p:sp>
        <p:nvSpPr>
          <p:cNvPr id="15" name="矩形 14"/>
          <p:cNvSpPr/>
          <p:nvPr/>
        </p:nvSpPr>
        <p:spPr>
          <a:xfrm>
            <a:off x="351881" y="915102"/>
            <a:ext cx="12029255" cy="461665"/>
          </a:xfrm>
          <a:prstGeom prst="rect">
            <a:avLst/>
          </a:prstGeom>
        </p:spPr>
        <p:txBody>
          <a:bodyPr wrap="none">
            <a:spAutoFit/>
          </a:bodyPr>
          <a:lstStyle/>
          <a:p>
            <a:r>
              <a:rPr lang="zh-CN" altLang="en-US" sz="2400" dirty="0">
                <a:solidFill>
                  <a:schemeClr val="bg1"/>
                </a:solidFill>
                <a:latin typeface="微软雅黑" panose="020B0503020204020204" charset="-122"/>
                <a:ea typeface="微软雅黑" panose="020B0503020204020204" charset="-122"/>
              </a:rPr>
              <a:t>     假设探测器的非均匀性在一定的响应范围内可以认为是近似线性变化的，模型如下。</a:t>
            </a:r>
            <a:endParaRPr lang="zh-CN" altLang="en-US" sz="2400" dirty="0">
              <a:solidFill>
                <a:schemeClr val="bg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4" name="矩形 23"/>
              <p:cNvSpPr/>
              <p:nvPr/>
            </p:nvSpPr>
            <p:spPr>
              <a:xfrm>
                <a:off x="4655840" y="1383405"/>
                <a:ext cx="2820516"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400" i="1" smtClean="0">
                          <a:solidFill>
                            <a:schemeClr val="bg1"/>
                          </a:solidFill>
                          <a:latin typeface="Cambria Math" panose="02040503050406030204" pitchFamily="18" charset="0"/>
                        </a:rPr>
                        <m:t>𝑌</m:t>
                      </m:r>
                      <m:r>
                        <a:rPr lang="zh-CN" altLang="en-US" sz="2400">
                          <a:solidFill>
                            <a:schemeClr val="bg1"/>
                          </a:solidFill>
                          <a:latin typeface="Cambria Math" panose="02040503050406030204" pitchFamily="18" charset="0"/>
                        </a:rPr>
                        <m:t>16</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𝐾</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𝑋</m:t>
                      </m:r>
                      <m:r>
                        <a:rPr lang="zh-CN" altLang="en-US" sz="2400">
                          <a:solidFill>
                            <a:schemeClr val="bg1"/>
                          </a:solidFill>
                          <a:latin typeface="Cambria Math" panose="02040503050406030204" pitchFamily="18" charset="0"/>
                        </a:rPr>
                        <m:t>16</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𝐵</m:t>
                      </m:r>
                    </m:oMath>
                  </m:oMathPara>
                </a14:m>
                <a:endParaRPr lang="zh-CN" altLang="en-US" sz="2400" dirty="0">
                  <a:solidFill>
                    <a:schemeClr val="bg1"/>
                  </a:solidFill>
                </a:endParaRPr>
              </a:p>
            </p:txBody>
          </p:sp>
        </mc:Choice>
        <mc:Fallback>
          <p:sp>
            <p:nvSpPr>
              <p:cNvPr id="24" name="矩形 23"/>
              <p:cNvSpPr>
                <a:spLocks noRot="1" noChangeAspect="1" noMove="1" noResize="1" noEditPoints="1" noAdjustHandles="1" noChangeArrowheads="1" noChangeShapeType="1" noTextEdit="1"/>
              </p:cNvSpPr>
              <p:nvPr/>
            </p:nvSpPr>
            <p:spPr>
              <a:xfrm>
                <a:off x="4655840" y="1383405"/>
                <a:ext cx="2820516" cy="461665"/>
              </a:xfrm>
              <a:prstGeom prst="rect">
                <a:avLst/>
              </a:prstGeom>
              <a:blipFill rotWithShape="1">
                <a:blip r:embed="rId3"/>
                <a:stretch>
                  <a:fillRect l="-1" t="-81" r="18" b="86"/>
                </a:stretch>
              </a:blipFill>
            </p:spPr>
            <p:txBody>
              <a:bodyPr/>
              <a:lstStyle/>
              <a:p>
                <a:r>
                  <a:rPr lang="zh-CN" altLang="en-US">
                    <a:noFill/>
                  </a:rPr>
                  <a:t> </a:t>
                </a:r>
              </a:p>
            </p:txBody>
          </p:sp>
        </mc:Fallback>
      </mc:AlternateContent>
      <p:sp>
        <p:nvSpPr>
          <p:cNvPr id="25" name="矩形 24"/>
          <p:cNvSpPr/>
          <p:nvPr/>
        </p:nvSpPr>
        <p:spPr>
          <a:xfrm>
            <a:off x="839416" y="1992609"/>
            <a:ext cx="10352514" cy="2308324"/>
          </a:xfrm>
          <a:prstGeom prst="rect">
            <a:avLst/>
          </a:prstGeom>
        </p:spPr>
        <p:txBody>
          <a:bodyPr wrap="none">
            <a:spAutoFit/>
          </a:bodyPr>
          <a:lstStyle/>
          <a:p>
            <a:r>
              <a:rPr lang="zh-CN" altLang="en-US" sz="2400" dirty="0">
                <a:solidFill>
                  <a:schemeClr val="bg1"/>
                </a:solidFill>
                <a:latin typeface="微软雅黑" panose="020B0503020204020204" charset="-122"/>
                <a:ea typeface="微软雅黑" panose="020B0503020204020204" charset="-122"/>
              </a:rPr>
              <a:t>通过采集</a:t>
            </a:r>
            <a:r>
              <a:rPr lang="zh-CN" altLang="zh-CN" sz="2400" dirty="0">
                <a:solidFill>
                  <a:schemeClr val="bg1"/>
                </a:solidFill>
                <a:latin typeface="微软雅黑" panose="020B0503020204020204" charset="-122"/>
                <a:ea typeface="微软雅黑" panose="020B0503020204020204" charset="-122"/>
              </a:rPr>
              <a:t>高本底</a:t>
            </a:r>
            <a:r>
              <a:rPr lang="en-US" altLang="zh-CN" sz="2400" dirty="0">
                <a:solidFill>
                  <a:schemeClr val="bg1"/>
                </a:solidFill>
                <a:latin typeface="微软雅黑" panose="020B0503020204020204" charset="-122"/>
                <a:ea typeface="微软雅黑" panose="020B0503020204020204" charset="-122"/>
              </a:rPr>
              <a:t>BH</a:t>
            </a:r>
            <a:r>
              <a:rPr lang="zh-CN" altLang="en-US" sz="2400" dirty="0">
                <a:solidFill>
                  <a:schemeClr val="bg1"/>
                </a:solidFill>
                <a:latin typeface="微软雅黑" panose="020B0503020204020204" charset="-122"/>
                <a:ea typeface="微软雅黑" panose="020B0503020204020204" charset="-122"/>
              </a:rPr>
              <a:t>和低温本地</a:t>
            </a:r>
            <a:r>
              <a:rPr lang="en-US" altLang="zh-CN" sz="2400" dirty="0">
                <a:solidFill>
                  <a:schemeClr val="bg1"/>
                </a:solidFill>
                <a:latin typeface="微软雅黑" panose="020B0503020204020204" charset="-122"/>
                <a:ea typeface="微软雅黑" panose="020B0503020204020204" charset="-122"/>
              </a:rPr>
              <a:t>BL</a:t>
            </a:r>
            <a:r>
              <a:rPr lang="zh-CN" altLang="zh-CN" sz="2400" dirty="0">
                <a:solidFill>
                  <a:schemeClr val="bg1"/>
                </a:solidFill>
                <a:latin typeface="微软雅黑" panose="020B0503020204020204" charset="-122"/>
                <a:ea typeface="微软雅黑" panose="020B0503020204020204" charset="-122"/>
              </a:rPr>
              <a:t>计算</a:t>
            </a:r>
            <a:r>
              <a:rPr lang="en-US" altLang="zh-CN" sz="2400" dirty="0">
                <a:solidFill>
                  <a:schemeClr val="bg1"/>
                </a:solidFill>
                <a:latin typeface="微软雅黑" panose="020B0503020204020204" charset="-122"/>
                <a:ea typeface="微软雅黑" panose="020B0503020204020204" charset="-122"/>
              </a:rPr>
              <a:t>K</a:t>
            </a:r>
            <a:r>
              <a:rPr lang="zh-CN" altLang="zh-CN" sz="2400" dirty="0">
                <a:solidFill>
                  <a:schemeClr val="bg1"/>
                </a:solidFill>
                <a:latin typeface="微软雅黑" panose="020B0503020204020204" charset="-122"/>
                <a:ea typeface="微软雅黑" panose="020B0503020204020204" charset="-122"/>
              </a:rPr>
              <a:t>值增益矩阵</a:t>
            </a:r>
            <a:r>
              <a:rPr lang="zh-CN" altLang="en-US" sz="2400" dirty="0">
                <a:solidFill>
                  <a:schemeClr val="bg1"/>
                </a:solidFill>
                <a:latin typeface="微软雅黑" panose="020B0503020204020204" charset="-122"/>
                <a:ea typeface="微软雅黑" panose="020B0503020204020204" charset="-122"/>
              </a:rPr>
              <a:t>，公式如下。</a:t>
            </a:r>
            <a:endParaRPr lang="en-US" altLang="zh-CN" sz="2400" dirty="0">
              <a:solidFill>
                <a:schemeClr val="bg1"/>
              </a:solidFill>
              <a:latin typeface="微软雅黑" panose="020B0503020204020204" charset="-122"/>
              <a:ea typeface="微软雅黑" panose="020B0503020204020204" charset="-122"/>
            </a:endParaRPr>
          </a:p>
          <a:p>
            <a:endParaRPr lang="en-US" altLang="zh-CN" sz="2400" dirty="0">
              <a:solidFill>
                <a:schemeClr val="bg1"/>
              </a:solidFill>
              <a:latin typeface="微软雅黑" panose="020B0503020204020204" charset="-122"/>
              <a:ea typeface="微软雅黑" panose="020B0503020204020204" charset="-122"/>
            </a:endParaRPr>
          </a:p>
          <a:p>
            <a:endParaRPr lang="en-US" altLang="zh-CN" sz="2400" dirty="0">
              <a:solidFill>
                <a:schemeClr val="bg1"/>
              </a:solidFill>
              <a:latin typeface="微软雅黑" panose="020B0503020204020204" charset="-122"/>
              <a:ea typeface="微软雅黑" panose="020B0503020204020204" charset="-122"/>
            </a:endParaRPr>
          </a:p>
          <a:p>
            <a:endParaRPr lang="en-US" altLang="zh-CN" sz="2400" dirty="0">
              <a:solidFill>
                <a:schemeClr val="bg1"/>
              </a:solidFill>
              <a:latin typeface="微软雅黑" panose="020B0503020204020204" charset="-122"/>
              <a:ea typeface="微软雅黑" panose="020B0503020204020204" charset="-122"/>
            </a:endParaRPr>
          </a:p>
          <a:p>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式中       和      分别是</a:t>
            </a:r>
            <a:r>
              <a:rPr lang="en-US" altLang="zh-CN" sz="2400" dirty="0">
                <a:solidFill>
                  <a:schemeClr val="bg1"/>
                </a:solidFill>
                <a:latin typeface="微软雅黑" panose="020B0503020204020204" charset="-122"/>
                <a:ea typeface="微软雅黑" panose="020B0503020204020204" charset="-122"/>
              </a:rPr>
              <a:t>BH</a:t>
            </a:r>
            <a:r>
              <a:rPr lang="zh-CN" altLang="en-US" sz="2400" dirty="0">
                <a:solidFill>
                  <a:schemeClr val="bg1"/>
                </a:solidFill>
                <a:latin typeface="微软雅黑" panose="020B0503020204020204" charset="-122"/>
                <a:ea typeface="微软雅黑" panose="020B0503020204020204" charset="-122"/>
              </a:rPr>
              <a:t>和</a:t>
            </a:r>
            <a:r>
              <a:rPr lang="en-US" altLang="zh-CN" sz="2400" dirty="0">
                <a:solidFill>
                  <a:schemeClr val="bg1"/>
                </a:solidFill>
                <a:latin typeface="微软雅黑" panose="020B0503020204020204" charset="-122"/>
                <a:ea typeface="微软雅黑" panose="020B0503020204020204" charset="-122"/>
              </a:rPr>
              <a:t>BL</a:t>
            </a:r>
            <a:r>
              <a:rPr lang="zh-CN" altLang="en-US" sz="2400" dirty="0">
                <a:solidFill>
                  <a:schemeClr val="bg1"/>
                </a:solidFill>
                <a:latin typeface="微软雅黑" panose="020B0503020204020204" charset="-122"/>
                <a:ea typeface="微软雅黑" panose="020B0503020204020204" charset="-122"/>
              </a:rPr>
              <a:t>的均值，求解二元一次方程组，可得</a:t>
            </a:r>
            <a:r>
              <a:rPr lang="en-US" altLang="zh-CN" sz="2400" dirty="0">
                <a:solidFill>
                  <a:schemeClr val="bg1"/>
                </a:solidFill>
                <a:latin typeface="微软雅黑" panose="020B0503020204020204" charset="-122"/>
                <a:ea typeface="微软雅黑" panose="020B0503020204020204" charset="-122"/>
              </a:rPr>
              <a:t>K</a:t>
            </a:r>
            <a:r>
              <a:rPr lang="zh-CN" altLang="en-US" sz="2400" dirty="0">
                <a:solidFill>
                  <a:schemeClr val="bg1"/>
                </a:solidFill>
                <a:latin typeface="微软雅黑" panose="020B0503020204020204" charset="-122"/>
                <a:ea typeface="微软雅黑" panose="020B0503020204020204" charset="-122"/>
              </a:rPr>
              <a:t>矩阵。</a:t>
            </a:r>
            <a:endParaRPr lang="zh-CN" altLang="en-US" sz="2400" dirty="0">
              <a:solidFill>
                <a:schemeClr val="bg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6" name="矩形 25"/>
              <p:cNvSpPr/>
              <p:nvPr/>
            </p:nvSpPr>
            <p:spPr>
              <a:xfrm>
                <a:off x="4098515" y="2454274"/>
                <a:ext cx="4535985" cy="105157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400" i="1" smtClean="0">
                              <a:solidFill>
                                <a:schemeClr val="bg1"/>
                              </a:solidFill>
                              <a:latin typeface="Cambria Math" panose="02040503050406030204" pitchFamily="18" charset="0"/>
                            </a:rPr>
                          </m:ctrlPr>
                        </m:dPr>
                        <m:e>
                          <m:m>
                            <m:mPr>
                              <m:mcs>
                                <m:mc>
                                  <m:mcPr>
                                    <m:count m:val="1"/>
                                    <m:mcJc m:val="center"/>
                                  </m:mcPr>
                                </m:mc>
                              </m:mcs>
                              <m:ctrlPr>
                                <a:rPr lang="zh-CN" altLang="en-US" sz="2400" i="1">
                                  <a:solidFill>
                                    <a:schemeClr val="bg1"/>
                                  </a:solidFill>
                                  <a:latin typeface="Cambria Math" panose="02040503050406030204" pitchFamily="18" charset="0"/>
                                </a:rPr>
                              </m:ctrlPr>
                            </m:mPr>
                            <m:mr>
                              <m:e>
                                <m:d>
                                  <m:dPr>
                                    <m:begChr m:val=""/>
                                    <m:ctrlPr>
                                      <a:rPr lang="zh-CN" altLang="en-US" sz="2400" i="1">
                                        <a:solidFill>
                                          <a:schemeClr val="bg1"/>
                                        </a:solidFill>
                                        <a:latin typeface="Cambria Math" panose="02040503050406030204" pitchFamily="18" charset="0"/>
                                      </a:rPr>
                                    </m:ctrlPr>
                                  </m:dPr>
                                  <m:e>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𝐵𝐻</m:t>
                                        </m:r>
                                      </m:e>
                                    </m:acc>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𝐾</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𝐵𝐻</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𝐵</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e>
                                </m:d>
                              </m:e>
                            </m:mr>
                            <m:mr>
                              <m:e>
                                <m:d>
                                  <m:dPr>
                                    <m:begChr m:val=""/>
                                    <m:ctrlPr>
                                      <a:rPr lang="zh-CN" altLang="en-US" sz="2400" i="1">
                                        <a:solidFill>
                                          <a:schemeClr val="bg1"/>
                                        </a:solidFill>
                                        <a:latin typeface="Cambria Math" panose="02040503050406030204" pitchFamily="18" charset="0"/>
                                      </a:rPr>
                                    </m:ctrlPr>
                                  </m:dPr>
                                  <m:e>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𝐵𝐿</m:t>
                                        </m:r>
                                      </m:e>
                                    </m:acc>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𝐾</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𝐵𝐿</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𝐵</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e>
                                </m:d>
                              </m:e>
                            </m:mr>
                          </m:m>
                        </m:e>
                      </m:d>
                    </m:oMath>
                  </m:oMathPara>
                </a14:m>
                <a:endParaRPr lang="zh-CN" altLang="en-US" sz="2400" dirty="0">
                  <a:solidFill>
                    <a:schemeClr val="bg1"/>
                  </a:solidFill>
                  <a:latin typeface="微软雅黑" panose="020B0503020204020204" charset="-122"/>
                  <a:ea typeface="微软雅黑" panose="020B0503020204020204" charset="-122"/>
                </a:endParaRPr>
              </a:p>
            </p:txBody>
          </p:sp>
        </mc:Choice>
        <mc:Fallback>
          <p:sp>
            <p:nvSpPr>
              <p:cNvPr id="26" name="矩形 25"/>
              <p:cNvSpPr>
                <a:spLocks noRot="1" noChangeAspect="1" noMove="1" noResize="1" noEditPoints="1" noAdjustHandles="1" noChangeArrowheads="1" noChangeShapeType="1" noTextEdit="1"/>
              </p:cNvSpPr>
              <p:nvPr/>
            </p:nvSpPr>
            <p:spPr>
              <a:xfrm>
                <a:off x="4098515" y="2454274"/>
                <a:ext cx="4535985" cy="1051570"/>
              </a:xfrm>
              <a:prstGeom prst="rect">
                <a:avLst/>
              </a:prstGeom>
              <a:blipFill rotWithShape="1">
                <a:blip r:embed="rId4"/>
                <a:stretch>
                  <a:fillRect l="-5" t="-60" r="9"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矩形 27"/>
              <p:cNvSpPr/>
              <p:nvPr/>
            </p:nvSpPr>
            <p:spPr>
              <a:xfrm>
                <a:off x="1550987" y="3836925"/>
                <a:ext cx="705065"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acc>
                        <m:accPr>
                          <m:chr m:val="̅"/>
                          <m:ctrlPr>
                            <a:rPr lang="zh-CN" altLang="en-US" sz="2400" i="1" smtClean="0">
                              <a:solidFill>
                                <a:schemeClr val="bg1"/>
                              </a:solidFill>
                              <a:latin typeface="Cambria Math" panose="02040503050406030204" pitchFamily="18" charset="0"/>
                            </a:rPr>
                          </m:ctrlPr>
                        </m:accPr>
                        <m:e>
                          <m:r>
                            <a:rPr lang="zh-CN" altLang="en-US" sz="2400" i="1" smtClean="0">
                              <a:solidFill>
                                <a:schemeClr val="bg1"/>
                              </a:solidFill>
                              <a:latin typeface="Cambria Math" panose="02040503050406030204" pitchFamily="18" charset="0"/>
                            </a:rPr>
                            <m:t>𝐵𝐻</m:t>
                          </m:r>
                        </m:e>
                      </m:acc>
                    </m:oMath>
                  </m:oMathPara>
                </a14:m>
                <a:endParaRPr lang="zh-CN" altLang="en-US" sz="2400" dirty="0">
                  <a:solidFill>
                    <a:schemeClr val="bg1"/>
                  </a:solidFill>
                </a:endParaRPr>
              </a:p>
            </p:txBody>
          </p:sp>
        </mc:Choice>
        <mc:Fallback>
          <p:sp>
            <p:nvSpPr>
              <p:cNvPr id="28" name="矩形 27"/>
              <p:cNvSpPr>
                <a:spLocks noRot="1" noChangeAspect="1" noMove="1" noResize="1" noEditPoints="1" noAdjustHandles="1" noChangeArrowheads="1" noChangeShapeType="1" noTextEdit="1"/>
              </p:cNvSpPr>
              <p:nvPr/>
            </p:nvSpPr>
            <p:spPr>
              <a:xfrm>
                <a:off x="1550987" y="3836925"/>
                <a:ext cx="705065" cy="461665"/>
              </a:xfrm>
              <a:prstGeom prst="rect">
                <a:avLst/>
              </a:prstGeom>
              <a:blipFill rotWithShape="1">
                <a:blip r:embed="rId5"/>
                <a:stretch>
                  <a:fillRect l="-45" t="-55" r="75"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矩形 28"/>
              <p:cNvSpPr/>
              <p:nvPr/>
            </p:nvSpPr>
            <p:spPr>
              <a:xfrm>
                <a:off x="2423592" y="3825790"/>
                <a:ext cx="641394"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acc>
                        <m:accPr>
                          <m:chr m:val="̅"/>
                          <m:ctrlPr>
                            <a:rPr lang="zh-CN" altLang="en-US" sz="2400" i="1" smtClean="0">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𝐵𝐿</m:t>
                          </m:r>
                        </m:e>
                      </m:acc>
                    </m:oMath>
                  </m:oMathPara>
                </a14:m>
                <a:endParaRPr lang="zh-CN" altLang="en-US" sz="2400" dirty="0">
                  <a:solidFill>
                    <a:schemeClr val="bg1"/>
                  </a:solidFill>
                </a:endParaRPr>
              </a:p>
            </p:txBody>
          </p:sp>
        </mc:Choice>
        <mc:Fallback>
          <p:sp>
            <p:nvSpPr>
              <p:cNvPr id="29" name="矩形 28"/>
              <p:cNvSpPr>
                <a:spLocks noRot="1" noChangeAspect="1" noMove="1" noResize="1" noEditPoints="1" noAdjustHandles="1" noChangeArrowheads="1" noChangeShapeType="1" noTextEdit="1"/>
              </p:cNvSpPr>
              <p:nvPr/>
            </p:nvSpPr>
            <p:spPr>
              <a:xfrm>
                <a:off x="2423592" y="3825790"/>
                <a:ext cx="641394" cy="461665"/>
              </a:xfrm>
              <a:prstGeom prst="rect">
                <a:avLst/>
              </a:prstGeom>
              <a:blipFill rotWithShape="1">
                <a:blip r:embed="rId6"/>
                <a:stretch>
                  <a:fillRect l="-67" t="-119" r="74" b="1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矩形 32"/>
              <p:cNvSpPr/>
              <p:nvPr/>
            </p:nvSpPr>
            <p:spPr>
              <a:xfrm>
                <a:off x="4081747" y="4313404"/>
                <a:ext cx="4103501" cy="898387"/>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400" b="0" i="1" smtClean="0">
                          <a:solidFill>
                            <a:schemeClr val="bg1"/>
                          </a:solidFill>
                          <a:latin typeface="Cambria Math" panose="02040503050406030204" pitchFamily="18" charset="0"/>
                        </a:rPr>
                        <m:t>𝐾</m:t>
                      </m:r>
                      <m:d>
                        <m:dPr>
                          <m:ctrlPr>
                            <a:rPr lang="en-US" altLang="zh-CN" sz="2400" b="0" i="1" smtClean="0">
                              <a:solidFill>
                                <a:schemeClr val="bg1"/>
                              </a:solidFill>
                              <a:latin typeface="Cambria Math" panose="02040503050406030204" pitchFamily="18" charset="0"/>
                            </a:rPr>
                          </m:ctrlPr>
                        </m:dPr>
                        <m:e>
                          <m:r>
                            <a:rPr lang="en-US" altLang="zh-CN" sz="2400" b="0" i="1" smtClean="0">
                              <a:solidFill>
                                <a:schemeClr val="bg1"/>
                              </a:solidFill>
                              <a:latin typeface="Cambria Math" panose="02040503050406030204" pitchFamily="18" charset="0"/>
                            </a:rPr>
                            <m:t>𝑖</m:t>
                          </m:r>
                          <m:r>
                            <a:rPr lang="en-US" altLang="zh-CN" sz="2400" b="0" i="1" smtClean="0">
                              <a:solidFill>
                                <a:schemeClr val="bg1"/>
                              </a:solidFill>
                              <a:latin typeface="Cambria Math" panose="02040503050406030204" pitchFamily="18" charset="0"/>
                            </a:rPr>
                            <m:t>,</m:t>
                          </m:r>
                          <m:r>
                            <a:rPr lang="en-US" altLang="zh-CN" sz="2400" b="0" i="1" smtClean="0">
                              <a:solidFill>
                                <a:schemeClr val="bg1"/>
                              </a:solidFill>
                              <a:latin typeface="Cambria Math" panose="02040503050406030204" pitchFamily="18" charset="0"/>
                            </a:rPr>
                            <m:t>𝑗</m:t>
                          </m:r>
                        </m:e>
                      </m:d>
                      <m:r>
                        <a:rPr lang="en-US" altLang="zh-CN" sz="2400" b="0" i="1" smtClean="0">
                          <a:solidFill>
                            <a:schemeClr val="bg1"/>
                          </a:solidFill>
                          <a:latin typeface="Cambria Math" panose="02040503050406030204" pitchFamily="18" charset="0"/>
                        </a:rPr>
                        <m:t>=</m:t>
                      </m:r>
                      <m:f>
                        <m:fPr>
                          <m:ctrlPr>
                            <a:rPr lang="zh-CN" altLang="en-US" sz="2400" i="1" smtClean="0">
                              <a:solidFill>
                                <a:schemeClr val="bg1"/>
                              </a:solidFill>
                              <a:latin typeface="Cambria Math" panose="02040503050406030204" pitchFamily="18" charset="0"/>
                            </a:rPr>
                          </m:ctrlPr>
                        </m:fPr>
                        <m:num>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𝐵𝐻</m:t>
                              </m:r>
                            </m:e>
                          </m:acc>
                          <m:r>
                            <a:rPr lang="zh-CN" altLang="en-US" sz="2400">
                              <a:solidFill>
                                <a:schemeClr val="bg1"/>
                              </a:solidFill>
                              <a:latin typeface="Cambria Math" panose="02040503050406030204" pitchFamily="18" charset="0"/>
                            </a:rPr>
                            <m:t>−</m:t>
                          </m:r>
                          <m:acc>
                            <m:accPr>
                              <m:chr m:val="̅"/>
                              <m:ctrlPr>
                                <a:rPr lang="zh-CN" altLang="en-US" sz="2400" i="1">
                                  <a:solidFill>
                                    <a:schemeClr val="bg1"/>
                                  </a:solidFill>
                                  <a:latin typeface="Cambria Math" panose="02040503050406030204" pitchFamily="18" charset="0"/>
                                </a:rPr>
                              </m:ctrlPr>
                            </m:accPr>
                            <m:e>
                              <m:r>
                                <a:rPr lang="zh-CN" altLang="en-US" sz="2400" i="1">
                                  <a:solidFill>
                                    <a:schemeClr val="bg1"/>
                                  </a:solidFill>
                                  <a:latin typeface="Cambria Math" panose="02040503050406030204" pitchFamily="18" charset="0"/>
                                </a:rPr>
                                <m:t>𝐵𝐿</m:t>
                              </m:r>
                            </m:e>
                          </m:acc>
                        </m:num>
                        <m:den>
                          <m:d>
                            <m:dPr>
                              <m:begChr m:val=""/>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𝐵𝐻</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𝐵𝐿</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𝑖</m:t>
                              </m:r>
                              <m:r>
                                <a:rPr lang="zh-CN" altLang="en-US" sz="240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𝑗</m:t>
                              </m:r>
                            </m:e>
                          </m:d>
                        </m:den>
                      </m:f>
                    </m:oMath>
                  </m:oMathPara>
                </a14:m>
                <a:endParaRPr lang="zh-CN" altLang="en-US" sz="2400" dirty="0">
                  <a:solidFill>
                    <a:schemeClr val="bg1"/>
                  </a:solidFill>
                  <a:latin typeface="微软雅黑" panose="020B0503020204020204" charset="-122"/>
                  <a:ea typeface="微软雅黑" panose="020B0503020204020204" charset="-122"/>
                </a:endParaRPr>
              </a:p>
            </p:txBody>
          </p:sp>
        </mc:Choice>
        <mc:Fallback>
          <p:sp>
            <p:nvSpPr>
              <p:cNvPr id="33" name="矩形 32"/>
              <p:cNvSpPr>
                <a:spLocks noRot="1" noChangeAspect="1" noMove="1" noResize="1" noEditPoints="1" noAdjustHandles="1" noChangeArrowheads="1" noChangeShapeType="1" noTextEdit="1"/>
              </p:cNvSpPr>
              <p:nvPr/>
            </p:nvSpPr>
            <p:spPr>
              <a:xfrm>
                <a:off x="4081747" y="4313404"/>
                <a:ext cx="4103501" cy="898387"/>
              </a:xfrm>
              <a:prstGeom prst="rect">
                <a:avLst/>
              </a:prstGeom>
              <a:blipFill rotWithShape="1">
                <a:blip r:embed="rId7"/>
                <a:stretch>
                  <a:fillRect l="-15" t="-54" r="2" b="39"/>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1620957"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两点校正</a:t>
            </a:r>
            <a:endParaRPr lang="zh-CN" altLang="en-US" sz="2800" dirty="0">
              <a:solidFill>
                <a:srgbClr val="FFFFFF"/>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975" y="1379653"/>
            <a:ext cx="2438400" cy="1828800"/>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6975" y="3938004"/>
            <a:ext cx="2438400" cy="1828800"/>
          </a:xfrm>
          <a:prstGeom prst="rect">
            <a:avLst/>
          </a:prstGeom>
        </p:spPr>
      </p:pic>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9996" y="1375275"/>
            <a:ext cx="2438400" cy="1828800"/>
          </a:xfrm>
          <a:prstGeom prst="rect">
            <a:avLst/>
          </a:prstGeom>
        </p:spPr>
      </p:pic>
      <p:sp>
        <p:nvSpPr>
          <p:cNvPr id="9" name="文本框 8"/>
          <p:cNvSpPr txBox="1"/>
          <p:nvPr/>
        </p:nvSpPr>
        <p:spPr>
          <a:xfrm>
            <a:off x="2279576" y="5773023"/>
            <a:ext cx="720080" cy="369332"/>
          </a:xfrm>
          <a:prstGeom prst="rect">
            <a:avLst/>
          </a:prstGeom>
          <a:noFill/>
        </p:spPr>
        <p:txBody>
          <a:bodyPr wrap="square" rtlCol="0">
            <a:spAutoFit/>
          </a:bodyPr>
          <a:lstStyle/>
          <a:p>
            <a:r>
              <a:rPr lang="en-US" altLang="zh-CN" dirty="0">
                <a:solidFill>
                  <a:srgbClr val="FFFFFF"/>
                </a:solidFill>
              </a:rPr>
              <a:t>K</a:t>
            </a:r>
            <a:endParaRPr lang="zh-CN" altLang="en-US" dirty="0">
              <a:solidFill>
                <a:srgbClr val="FFFFFF"/>
              </a:solidFill>
            </a:endParaRPr>
          </a:p>
        </p:txBody>
      </p:sp>
      <p:sp>
        <p:nvSpPr>
          <p:cNvPr id="12" name="文本框 11"/>
          <p:cNvSpPr txBox="1"/>
          <p:nvPr/>
        </p:nvSpPr>
        <p:spPr>
          <a:xfrm>
            <a:off x="5749440" y="3251302"/>
            <a:ext cx="720080" cy="369332"/>
          </a:xfrm>
          <a:prstGeom prst="rect">
            <a:avLst/>
          </a:prstGeom>
          <a:noFill/>
        </p:spPr>
        <p:txBody>
          <a:bodyPr wrap="square" rtlCol="0">
            <a:spAutoFit/>
          </a:bodyPr>
          <a:lstStyle/>
          <a:p>
            <a:r>
              <a:rPr lang="en-US" altLang="zh-CN" dirty="0">
                <a:solidFill>
                  <a:srgbClr val="FFFFFF"/>
                </a:solidFill>
              </a:rPr>
              <a:t>B</a:t>
            </a:r>
            <a:endParaRPr lang="zh-CN" altLang="en-US" dirty="0">
              <a:solidFill>
                <a:srgbClr val="FFFFFF"/>
              </a:solidFill>
            </a:endParaRPr>
          </a:p>
        </p:txBody>
      </p:sp>
      <p:sp>
        <p:nvSpPr>
          <p:cNvPr id="13" name="文本框 12"/>
          <p:cNvSpPr txBox="1"/>
          <p:nvPr/>
        </p:nvSpPr>
        <p:spPr>
          <a:xfrm>
            <a:off x="2127491" y="3261499"/>
            <a:ext cx="720080" cy="369332"/>
          </a:xfrm>
          <a:prstGeom prst="rect">
            <a:avLst/>
          </a:prstGeom>
          <a:noFill/>
        </p:spPr>
        <p:txBody>
          <a:bodyPr wrap="square" rtlCol="0">
            <a:spAutoFit/>
          </a:bodyPr>
          <a:lstStyle/>
          <a:p>
            <a:r>
              <a:rPr lang="en-US" altLang="zh-CN" dirty="0">
                <a:solidFill>
                  <a:srgbClr val="FFFFFF"/>
                </a:solidFill>
              </a:rPr>
              <a:t>X16</a:t>
            </a:r>
            <a:endParaRPr lang="zh-CN" altLang="en-US" dirty="0">
              <a:solidFill>
                <a:srgbClr val="FFFFFF"/>
              </a:solidFill>
            </a:endParaRPr>
          </a:p>
        </p:txBody>
      </p:sp>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56240" y="1375275"/>
            <a:ext cx="2438400" cy="1828800"/>
          </a:xfrm>
          <a:prstGeom prst="rect">
            <a:avLst/>
          </a:prstGeom>
        </p:spPr>
      </p:pic>
      <p:sp>
        <p:nvSpPr>
          <p:cNvPr id="16" name="文本框 15"/>
          <p:cNvSpPr txBox="1"/>
          <p:nvPr/>
        </p:nvSpPr>
        <p:spPr>
          <a:xfrm>
            <a:off x="9120336" y="3245619"/>
            <a:ext cx="864096" cy="369332"/>
          </a:xfrm>
          <a:prstGeom prst="rect">
            <a:avLst/>
          </a:prstGeom>
          <a:noFill/>
        </p:spPr>
        <p:txBody>
          <a:bodyPr wrap="square" rtlCol="0">
            <a:spAutoFit/>
          </a:bodyPr>
          <a:lstStyle/>
          <a:p>
            <a:r>
              <a:rPr lang="en-US" altLang="zh-CN" dirty="0">
                <a:solidFill>
                  <a:srgbClr val="FFFFFF"/>
                </a:solidFill>
              </a:rPr>
              <a:t>Y16</a:t>
            </a:r>
            <a:endParaRPr lang="zh-CN" altLang="en-US" dirty="0">
              <a:solidFill>
                <a:srgbClr val="FFFFFF"/>
              </a:solidFill>
            </a:endParaRPr>
          </a:p>
        </p:txBody>
      </p:sp>
      <p:sp>
        <p:nvSpPr>
          <p:cNvPr id="6" name="文本框 5"/>
          <p:cNvSpPr txBox="1"/>
          <p:nvPr/>
        </p:nvSpPr>
        <p:spPr>
          <a:xfrm>
            <a:off x="3980584" y="2263490"/>
            <a:ext cx="328994" cy="461665"/>
          </a:xfrm>
          <a:prstGeom prst="rect">
            <a:avLst/>
          </a:prstGeom>
          <a:noFill/>
        </p:spPr>
        <p:txBody>
          <a:bodyPr wrap="square" rtlCol="0">
            <a:spAutoFit/>
          </a:bodyPr>
          <a:lstStyle/>
          <a:p>
            <a:r>
              <a:rPr lang="en-US" altLang="zh-CN" sz="2400" dirty="0">
                <a:solidFill>
                  <a:schemeClr val="bg1"/>
                </a:solidFill>
                <a:latin typeface="微软雅黑" panose="020B0503020204020204" charset="-122"/>
                <a:ea typeface="微软雅黑" panose="020B0503020204020204" charset="-122"/>
              </a:rPr>
              <a:t>-</a:t>
            </a:r>
            <a:endParaRPr lang="zh-CN" altLang="en-US" sz="2400" dirty="0">
              <a:solidFill>
                <a:schemeClr val="bg1"/>
              </a:solidFill>
              <a:latin typeface="微软雅黑" panose="020B0503020204020204" charset="-122"/>
              <a:ea typeface="微软雅黑" panose="020B0503020204020204" charset="-122"/>
            </a:endParaRPr>
          </a:p>
        </p:txBody>
      </p:sp>
      <p:sp>
        <p:nvSpPr>
          <p:cNvPr id="17" name="文本框 16"/>
          <p:cNvSpPr txBox="1"/>
          <p:nvPr/>
        </p:nvSpPr>
        <p:spPr>
          <a:xfrm>
            <a:off x="7475156" y="2263489"/>
            <a:ext cx="328994" cy="461665"/>
          </a:xfrm>
          <a:prstGeom prst="rect">
            <a:avLst/>
          </a:prstGeom>
          <a:noFill/>
        </p:spPr>
        <p:txBody>
          <a:bodyPr wrap="square" rtlCol="0">
            <a:spAutoFit/>
          </a:bodyPr>
          <a:lstStyle/>
          <a:p>
            <a:r>
              <a:rPr lang="en-US" altLang="zh-CN" sz="2400" dirty="0">
                <a:solidFill>
                  <a:schemeClr val="bg1"/>
                </a:solidFill>
                <a:latin typeface="微软雅黑" panose="020B0503020204020204" charset="-122"/>
                <a:ea typeface="微软雅黑" panose="020B0503020204020204" charset="-122"/>
              </a:rPr>
              <a:t>=</a:t>
            </a:r>
            <a:endParaRPr lang="zh-CN" altLang="en-US" sz="2400" dirty="0">
              <a:solidFill>
                <a:schemeClr val="bg1"/>
              </a:solidFill>
              <a:latin typeface="微软雅黑" panose="020B0503020204020204" charset="-122"/>
              <a:ea typeface="微软雅黑" panose="020B0503020204020204" charset="-122"/>
            </a:endParaRPr>
          </a:p>
        </p:txBody>
      </p:sp>
      <p:sp>
        <p:nvSpPr>
          <p:cNvPr id="10" name="文本框 9"/>
          <p:cNvSpPr txBox="1"/>
          <p:nvPr/>
        </p:nvSpPr>
        <p:spPr>
          <a:xfrm>
            <a:off x="599889" y="1504845"/>
            <a:ext cx="492443" cy="1569660"/>
          </a:xfrm>
          <a:prstGeom prst="rect">
            <a:avLst/>
          </a:prstGeom>
          <a:noFill/>
        </p:spPr>
        <p:txBody>
          <a:bodyPr wrap="none" rtlCol="0">
            <a:spAutoFit/>
          </a:bodyPr>
          <a:lstStyle/>
          <a:p>
            <a:r>
              <a:rPr lang="zh-CN" altLang="en-US" sz="2400" dirty="0">
                <a:solidFill>
                  <a:schemeClr val="bg1"/>
                </a:solidFill>
                <a:latin typeface="微软雅黑" panose="020B0503020204020204" charset="-122"/>
                <a:ea typeface="微软雅黑" panose="020B0503020204020204" charset="-122"/>
              </a:rPr>
              <a:t>单</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点</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校</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正</a:t>
            </a:r>
            <a:endParaRPr lang="zh-CN" altLang="en-US" sz="2400" dirty="0">
              <a:solidFill>
                <a:schemeClr val="bg1"/>
              </a:solidFill>
              <a:latin typeface="微软雅黑" panose="020B0503020204020204" charset="-122"/>
              <a:ea typeface="微软雅黑" panose="020B0503020204020204" charset="-122"/>
            </a:endParaRPr>
          </a:p>
        </p:txBody>
      </p:sp>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9996" y="3938006"/>
            <a:ext cx="2438400" cy="1828800"/>
          </a:xfrm>
          <a:prstGeom prst="rect">
            <a:avLst/>
          </a:prstGeom>
        </p:spPr>
      </p:pic>
      <p:sp>
        <p:nvSpPr>
          <p:cNvPr id="19" name="文本框 18"/>
          <p:cNvSpPr txBox="1"/>
          <p:nvPr/>
        </p:nvSpPr>
        <p:spPr>
          <a:xfrm>
            <a:off x="3980584" y="4621573"/>
            <a:ext cx="328994" cy="461665"/>
          </a:xfrm>
          <a:prstGeom prst="rect">
            <a:avLst/>
          </a:prstGeom>
          <a:noFill/>
        </p:spPr>
        <p:txBody>
          <a:bodyPr wrap="square" rtlCol="0">
            <a:spAutoFit/>
          </a:bodyPr>
          <a:lstStyle/>
          <a:p>
            <a:r>
              <a:rPr lang="en-US" altLang="zh-CN" sz="2400" dirty="0">
                <a:solidFill>
                  <a:schemeClr val="bg1"/>
                </a:solidFill>
                <a:latin typeface="微软雅黑" panose="020B0503020204020204" charset="-122"/>
                <a:ea typeface="微软雅黑" panose="020B0503020204020204" charset="-122"/>
              </a:rPr>
              <a:t>*</a:t>
            </a:r>
            <a:endParaRPr lang="zh-CN" altLang="en-US" sz="2400" dirty="0">
              <a:solidFill>
                <a:schemeClr val="bg1"/>
              </a:solidFill>
              <a:latin typeface="微软雅黑" panose="020B0503020204020204" charset="-122"/>
              <a:ea typeface="微软雅黑" panose="020B0503020204020204" charset="-122"/>
            </a:endParaRPr>
          </a:p>
        </p:txBody>
      </p:sp>
      <p:sp>
        <p:nvSpPr>
          <p:cNvPr id="20" name="文本框 19"/>
          <p:cNvSpPr txBox="1"/>
          <p:nvPr/>
        </p:nvSpPr>
        <p:spPr>
          <a:xfrm>
            <a:off x="7475156" y="4621572"/>
            <a:ext cx="328994" cy="461665"/>
          </a:xfrm>
          <a:prstGeom prst="rect">
            <a:avLst/>
          </a:prstGeom>
          <a:noFill/>
        </p:spPr>
        <p:txBody>
          <a:bodyPr wrap="square" rtlCol="0">
            <a:spAutoFit/>
          </a:bodyPr>
          <a:lstStyle/>
          <a:p>
            <a:r>
              <a:rPr lang="en-US" altLang="zh-CN" sz="2400" dirty="0">
                <a:solidFill>
                  <a:schemeClr val="bg1"/>
                </a:solidFill>
                <a:latin typeface="微软雅黑" panose="020B0503020204020204" charset="-122"/>
                <a:ea typeface="微软雅黑" panose="020B0503020204020204" charset="-122"/>
              </a:rPr>
              <a:t>=</a:t>
            </a:r>
            <a:endParaRPr lang="zh-CN" altLang="en-US" sz="2400" dirty="0">
              <a:solidFill>
                <a:schemeClr val="bg1"/>
              </a:solidFill>
              <a:latin typeface="微软雅黑" panose="020B0503020204020204" charset="-122"/>
              <a:ea typeface="微软雅黑" panose="020B0503020204020204" charset="-122"/>
            </a:endParaRPr>
          </a:p>
        </p:txBody>
      </p:sp>
      <p:pic>
        <p:nvPicPr>
          <p:cNvPr id="11" name="图片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56240" y="3938004"/>
            <a:ext cx="2438400" cy="1828800"/>
          </a:xfrm>
          <a:prstGeom prst="rect">
            <a:avLst/>
          </a:prstGeom>
        </p:spPr>
      </p:pic>
      <p:sp>
        <p:nvSpPr>
          <p:cNvPr id="21" name="文本框 20"/>
          <p:cNvSpPr txBox="1"/>
          <p:nvPr/>
        </p:nvSpPr>
        <p:spPr>
          <a:xfrm>
            <a:off x="5385792" y="5773023"/>
            <a:ext cx="1083728" cy="369332"/>
          </a:xfrm>
          <a:prstGeom prst="rect">
            <a:avLst/>
          </a:prstGeom>
          <a:noFill/>
        </p:spPr>
        <p:txBody>
          <a:bodyPr wrap="square" rtlCol="0">
            <a:spAutoFit/>
          </a:bodyPr>
          <a:lstStyle/>
          <a:p>
            <a:r>
              <a:rPr lang="en-US" altLang="zh-CN" dirty="0">
                <a:solidFill>
                  <a:srgbClr val="FFFFFF"/>
                </a:solidFill>
              </a:rPr>
              <a:t>(X16-B)</a:t>
            </a:r>
            <a:endParaRPr lang="zh-CN" altLang="en-US" dirty="0">
              <a:solidFill>
                <a:srgbClr val="FFFFFF"/>
              </a:solidFill>
            </a:endParaRPr>
          </a:p>
        </p:txBody>
      </p:sp>
      <p:sp>
        <p:nvSpPr>
          <p:cNvPr id="22" name="文本框 21"/>
          <p:cNvSpPr txBox="1"/>
          <p:nvPr/>
        </p:nvSpPr>
        <p:spPr>
          <a:xfrm>
            <a:off x="9264352" y="5766804"/>
            <a:ext cx="864096" cy="369332"/>
          </a:xfrm>
          <a:prstGeom prst="rect">
            <a:avLst/>
          </a:prstGeom>
          <a:noFill/>
        </p:spPr>
        <p:txBody>
          <a:bodyPr wrap="square" rtlCol="0">
            <a:spAutoFit/>
          </a:bodyPr>
          <a:lstStyle/>
          <a:p>
            <a:r>
              <a:rPr lang="en-US" altLang="zh-CN" dirty="0">
                <a:solidFill>
                  <a:srgbClr val="FFFFFF"/>
                </a:solidFill>
              </a:rPr>
              <a:t>Y16</a:t>
            </a:r>
            <a:endParaRPr lang="zh-CN" altLang="en-US" dirty="0">
              <a:solidFill>
                <a:srgbClr val="FFFFFF"/>
              </a:solidFill>
            </a:endParaRPr>
          </a:p>
        </p:txBody>
      </p:sp>
      <p:sp>
        <p:nvSpPr>
          <p:cNvPr id="23" name="文本框 22"/>
          <p:cNvSpPr txBox="1"/>
          <p:nvPr/>
        </p:nvSpPr>
        <p:spPr>
          <a:xfrm>
            <a:off x="599889" y="4067574"/>
            <a:ext cx="492443" cy="1569660"/>
          </a:xfrm>
          <a:prstGeom prst="rect">
            <a:avLst/>
          </a:prstGeom>
          <a:noFill/>
        </p:spPr>
        <p:txBody>
          <a:bodyPr wrap="none" rtlCol="0">
            <a:spAutoFit/>
          </a:bodyPr>
          <a:lstStyle/>
          <a:p>
            <a:r>
              <a:rPr lang="zh-CN" altLang="en-US" sz="2400" dirty="0">
                <a:solidFill>
                  <a:schemeClr val="bg1"/>
                </a:solidFill>
                <a:latin typeface="微软雅黑" panose="020B0503020204020204" charset="-122"/>
                <a:ea typeface="微软雅黑" panose="020B0503020204020204" charset="-122"/>
              </a:rPr>
              <a:t>两</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点</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校</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正</a:t>
            </a:r>
            <a:endParaRPr lang="zh-CN" altLang="en-US" sz="24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2698175"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坏点检测与替换</a:t>
            </a:r>
            <a:endParaRPr lang="zh-CN" altLang="en-US" sz="2800" dirty="0">
              <a:solidFill>
                <a:srgbClr val="FFFFFF"/>
              </a:solidFill>
              <a:latin typeface="微软雅黑" panose="020B0503020204020204" charset="-122"/>
              <a:ea typeface="微软雅黑" panose="020B0503020204020204" charset="-122"/>
            </a:endParaRPr>
          </a:p>
        </p:txBody>
      </p:sp>
      <p:sp>
        <p:nvSpPr>
          <p:cNvPr id="3" name="矩形 2"/>
          <p:cNvSpPr/>
          <p:nvPr/>
        </p:nvSpPr>
        <p:spPr>
          <a:xfrm>
            <a:off x="347446" y="855876"/>
            <a:ext cx="10369152" cy="3231654"/>
          </a:xfrm>
          <a:prstGeom prst="rect">
            <a:avLst/>
          </a:prstGeom>
        </p:spPr>
        <p:txBody>
          <a:bodyPr wrap="square">
            <a:spAutoFit/>
          </a:bodyPr>
          <a:lstStyle/>
          <a:p>
            <a:pPr indent="304800" algn="just">
              <a:lnSpc>
                <a:spcPct val="150000"/>
              </a:lnSpc>
              <a:spcAft>
                <a:spcPts val="0"/>
              </a:spcAft>
            </a:pPr>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坏点分类：</a:t>
            </a:r>
            <a:endParaRPr lang="en-US"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endParaRPr>
          </a:p>
          <a:p>
            <a:pPr marL="342900" indent="-342900">
              <a:buFont typeface="Wingdings" panose="05000000000000000000" pitchFamily="2" charset="2"/>
              <a:buChar char="Ø"/>
            </a:pPr>
            <a:r>
              <a:rPr lang="zh-CN" altLang="en-US" sz="2400" dirty="0">
                <a:solidFill>
                  <a:schemeClr val="bg1"/>
                </a:solidFill>
                <a:latin typeface="微软雅黑" panose="020B0503020204020204" charset="-122"/>
                <a:ea typeface="微软雅黑" panose="020B0503020204020204" charset="-122"/>
              </a:rPr>
              <a:t>亮点：一般来说像素点的亮度值是正比于入射光的，而亮点的亮度值明显大于入射光乘以相应比例，并且随着曝光时间的增加，该点的亮度会显著增加；</a:t>
            </a:r>
            <a:endParaRPr lang="zh-CN" altLang="en-US" sz="2400" dirty="0">
              <a:solidFill>
                <a:schemeClr val="bg1"/>
              </a:solidFill>
              <a:latin typeface="微软雅黑" panose="020B0503020204020204" charset="-122"/>
              <a:ea typeface="微软雅黑" panose="020B0503020204020204" charset="-122"/>
            </a:endParaRPr>
          </a:p>
          <a:p>
            <a:pPr marL="342900" indent="-342900">
              <a:buFont typeface="Wingdings" panose="05000000000000000000" pitchFamily="2" charset="2"/>
              <a:buChar char="Ø"/>
            </a:pPr>
            <a:r>
              <a:rPr lang="zh-CN" altLang="en-US" sz="2400" dirty="0">
                <a:solidFill>
                  <a:schemeClr val="bg1"/>
                </a:solidFill>
                <a:latin typeface="微软雅黑" panose="020B0503020204020204" charset="-122"/>
                <a:ea typeface="微软雅黑" panose="020B0503020204020204" charset="-122"/>
              </a:rPr>
              <a:t>暗点：无论在什么入射光下，该点的值接近于</a:t>
            </a:r>
            <a:r>
              <a:rPr lang="en-US" altLang="zh-CN" sz="2400" dirty="0">
                <a:solidFill>
                  <a:schemeClr val="bg1"/>
                </a:solidFill>
                <a:latin typeface="微软雅黑" panose="020B0503020204020204" charset="-122"/>
                <a:ea typeface="微软雅黑" panose="020B0503020204020204" charset="-122"/>
              </a:rPr>
              <a:t>0</a:t>
            </a:r>
            <a:endParaRPr lang="en-US"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endParaRPr>
          </a:p>
          <a:p>
            <a:pPr marL="342900" indent="-342900">
              <a:buFont typeface="Wingdings" panose="05000000000000000000" pitchFamily="2" charset="2"/>
              <a:buChar char="Ø"/>
            </a:pPr>
            <a:r>
              <a:rPr lang="zh-CN" altLang="en-US" sz="2400" dirty="0">
                <a:solidFill>
                  <a:schemeClr val="bg1"/>
                </a:solidFill>
                <a:latin typeface="微软雅黑" panose="020B0503020204020204" charset="-122"/>
                <a:ea typeface="微软雅黑" panose="020B0503020204020204" charset="-122"/>
              </a:rPr>
              <a:t>动态坏点：在一定像素范围内，该点表现正常，而超过这一范围，该点表现的比周围像素要亮。与</a:t>
            </a:r>
            <a:r>
              <a:rPr lang="en-US" altLang="zh-CN" sz="2400" dirty="0">
                <a:solidFill>
                  <a:schemeClr val="bg1"/>
                </a:solidFill>
                <a:latin typeface="微软雅黑" panose="020B0503020204020204" charset="-122"/>
                <a:ea typeface="微软雅黑" panose="020B0503020204020204" charset="-122"/>
              </a:rPr>
              <a:t>sensor </a:t>
            </a:r>
            <a:r>
              <a:rPr lang="zh-CN" altLang="en-US" sz="2400" dirty="0">
                <a:solidFill>
                  <a:schemeClr val="bg1"/>
                </a:solidFill>
                <a:latin typeface="微软雅黑" panose="020B0503020204020204" charset="-122"/>
                <a:ea typeface="微软雅黑" panose="020B0503020204020204" charset="-122"/>
              </a:rPr>
              <a:t>温度、增益有关，</a:t>
            </a:r>
            <a:r>
              <a:rPr lang="en-US" altLang="zh-CN" sz="2400" dirty="0">
                <a:solidFill>
                  <a:schemeClr val="bg1"/>
                </a:solidFill>
                <a:latin typeface="微软雅黑" panose="020B0503020204020204" charset="-122"/>
                <a:ea typeface="微软雅黑" panose="020B0503020204020204" charset="-122"/>
              </a:rPr>
              <a:t>sensor </a:t>
            </a:r>
            <a:r>
              <a:rPr lang="zh-CN" altLang="en-US" sz="2400" dirty="0">
                <a:solidFill>
                  <a:schemeClr val="bg1"/>
                </a:solidFill>
                <a:latin typeface="微软雅黑" panose="020B0503020204020204" charset="-122"/>
                <a:ea typeface="微软雅黑" panose="020B0503020204020204" charset="-122"/>
              </a:rPr>
              <a:t>温度升高或者</a:t>
            </a:r>
            <a:r>
              <a:rPr lang="en-US" altLang="zh-CN" sz="2400" dirty="0">
                <a:solidFill>
                  <a:schemeClr val="bg1"/>
                </a:solidFill>
                <a:latin typeface="微软雅黑" panose="020B0503020204020204" charset="-122"/>
                <a:ea typeface="微软雅黑" panose="020B0503020204020204" charset="-122"/>
              </a:rPr>
              <a:t>gain </a:t>
            </a:r>
            <a:r>
              <a:rPr lang="zh-CN" altLang="en-US" sz="2400" dirty="0">
                <a:solidFill>
                  <a:schemeClr val="bg1"/>
                </a:solidFill>
                <a:latin typeface="微软雅黑" panose="020B0503020204020204" charset="-122"/>
                <a:ea typeface="微软雅黑" panose="020B0503020204020204" charset="-122"/>
              </a:rPr>
              <a:t>值增大时，动态坏点会变的更加明显。</a:t>
            </a:r>
            <a:endParaRPr lang="en-US" altLang="zh-CN" sz="24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1620957"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坏点检测</a:t>
            </a:r>
            <a:endParaRPr lang="zh-CN" altLang="en-US" sz="2800" dirty="0">
              <a:solidFill>
                <a:srgbClr val="FFFFFF"/>
              </a:solidFill>
              <a:latin typeface="微软雅黑" panose="020B0503020204020204" charset="-122"/>
              <a:ea typeface="微软雅黑" panose="020B0503020204020204" charset="-122"/>
            </a:endParaRPr>
          </a:p>
        </p:txBody>
      </p:sp>
      <p:sp>
        <p:nvSpPr>
          <p:cNvPr id="3" name="Rectangle 2"/>
          <p:cNvSpPr>
            <a:spLocks noChangeArrowheads="1"/>
          </p:cNvSpPr>
          <p:nvPr/>
        </p:nvSpPr>
        <p:spPr bwMode="auto">
          <a:xfrm>
            <a:off x="350201" y="100010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6"/>
          <p:cNvSpPr>
            <a:spLocks noChangeArrowheads="1"/>
          </p:cNvSpPr>
          <p:nvPr/>
        </p:nvSpPr>
        <p:spPr bwMode="auto">
          <a:xfrm>
            <a:off x="7176120" y="1166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p:cNvPicPr>
            <a:picLocks noChangeAspect="1"/>
          </p:cNvPicPr>
          <p:nvPr/>
        </p:nvPicPr>
        <p:blipFill>
          <a:blip r:embed="rId3"/>
          <a:stretch>
            <a:fillRect/>
          </a:stretch>
        </p:blipFill>
        <p:spPr>
          <a:xfrm>
            <a:off x="7464152" y="260648"/>
            <a:ext cx="3577500" cy="6342667"/>
          </a:xfrm>
          <a:prstGeom prst="rect">
            <a:avLst/>
          </a:prstGeom>
        </p:spPr>
      </p:pic>
      <p:grpSp>
        <p:nvGrpSpPr>
          <p:cNvPr id="11" name="组合 10"/>
          <p:cNvGrpSpPr/>
          <p:nvPr/>
        </p:nvGrpSpPr>
        <p:grpSpPr>
          <a:xfrm>
            <a:off x="789986" y="1319110"/>
            <a:ext cx="2774507" cy="2047869"/>
            <a:chOff x="1163726" y="1990664"/>
            <a:chExt cx="2168630" cy="1366506"/>
          </a:xfrm>
        </p:grpSpPr>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3726" y="1990664"/>
              <a:ext cx="1828717" cy="1366506"/>
            </a:xfrm>
            <a:prstGeom prst="rect">
              <a:avLst/>
            </a:prstGeom>
          </p:spPr>
        </p:pic>
        <p:cxnSp>
          <p:nvCxnSpPr>
            <p:cNvPr id="15" name="直接箭头连接符 14"/>
            <p:cNvCxnSpPr/>
            <p:nvPr/>
          </p:nvCxnSpPr>
          <p:spPr>
            <a:xfrm flipV="1">
              <a:off x="1867879" y="2682161"/>
              <a:ext cx="1464477" cy="21522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7612" y="3678941"/>
            <a:ext cx="3109884" cy="2323857"/>
          </a:xfrm>
          <a:prstGeom prst="rect">
            <a:avLst/>
          </a:prstGeom>
        </p:spPr>
      </p:pic>
      <p:pic>
        <p:nvPicPr>
          <p:cNvPr id="18" name="图片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9736" y="1711864"/>
            <a:ext cx="3096344" cy="12614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335360" y="332656"/>
            <a:ext cx="1620957"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坏点替换</a:t>
            </a:r>
            <a:endParaRPr lang="zh-CN" altLang="en-US" sz="2800" dirty="0">
              <a:solidFill>
                <a:srgbClr val="FFFFFF"/>
              </a:solidFill>
              <a:latin typeface="微软雅黑" panose="020B0503020204020204" charset="-122"/>
              <a:ea typeface="微软雅黑" panose="020B0503020204020204" charset="-122"/>
            </a:endParaRPr>
          </a:p>
        </p:txBody>
      </p:sp>
      <p:sp>
        <p:nvSpPr>
          <p:cNvPr id="15" name="矩形 14"/>
          <p:cNvSpPr/>
          <p:nvPr/>
        </p:nvSpPr>
        <p:spPr>
          <a:xfrm>
            <a:off x="695400" y="1000104"/>
            <a:ext cx="7571303" cy="461665"/>
          </a:xfrm>
          <a:prstGeom prst="rect">
            <a:avLst/>
          </a:prstGeom>
        </p:spPr>
        <p:txBody>
          <a:bodyPr wrap="none">
            <a:spAutoFit/>
          </a:bodyPr>
          <a:lstStyle/>
          <a:p>
            <a:r>
              <a:rPr lang="zh-CN"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邻域替换，采用坏点八邻域</a:t>
            </a:r>
            <a:r>
              <a:rPr lang="zh-CN" altLang="en-US" sz="2400" kern="100" dirty="0">
                <a:solidFill>
                  <a:schemeClr val="bg1"/>
                </a:solidFill>
                <a:latin typeface="微软雅黑" panose="020B0503020204020204" charset="-122"/>
                <a:ea typeface="微软雅黑" panose="020B0503020204020204" charset="-122"/>
                <a:cs typeface="Times New Roman" panose="02020603050405020304" pitchFamily="18" charset="0"/>
              </a:rPr>
              <a:t>内</a:t>
            </a:r>
            <a:r>
              <a:rPr lang="zh-CN" altLang="zh-CN" sz="2400" kern="100" dirty="0">
                <a:solidFill>
                  <a:schemeClr val="bg1"/>
                </a:solidFill>
                <a:latin typeface="微软雅黑" panose="020B0503020204020204" charset="-122"/>
                <a:ea typeface="微软雅黑" panose="020B0503020204020204" charset="-122"/>
                <a:cs typeface="Times New Roman" panose="02020603050405020304" pitchFamily="18" charset="0"/>
              </a:rPr>
              <a:t>的好像元对坏点进行替代</a:t>
            </a:r>
            <a:endParaRPr lang="zh-CN" altLang="en-US" sz="2400" dirty="0">
              <a:solidFill>
                <a:schemeClr val="bg1"/>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graphicFrame>
            <p:nvGraphicFramePr>
              <p:cNvPr id="24" name="表格 23"/>
              <p:cNvGraphicFramePr>
                <a:graphicFrameLocks noGrp="1"/>
              </p:cNvGraphicFramePr>
              <p:nvPr/>
            </p:nvGraphicFramePr>
            <p:xfrm>
              <a:off x="1069539" y="1798481"/>
              <a:ext cx="1773555" cy="1634490"/>
            </p:xfrm>
            <a:graphic>
              <a:graphicData uri="http://schemas.openxmlformats.org/drawingml/2006/table">
                <a:tbl>
                  <a:tblPr firstRow="1" firstCol="1" bandRow="1">
                    <a:tableStyleId>{5C22544A-7EE6-4342-B048-85BDC9FD1C3A}</a:tableStyleId>
                  </a:tblPr>
                  <a:tblGrid>
                    <a:gridCol w="582295"/>
                    <a:gridCol w="595630"/>
                    <a:gridCol w="595630"/>
                  </a:tblGrid>
                  <a:tr h="502285">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sub>
                                </m:sSub>
                              </m:oMath>
                            </m:oMathPara>
                          </a14:m>
                          <a:endParaRPr lang="zh-CN" sz="105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sub>
                                </m:sSub>
                              </m:oMath>
                            </m:oMathPara>
                          </a14:m>
                          <a:endParaRPr lang="zh-CN" sz="105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sub>
                                </m:sSub>
                              </m:oMath>
                            </m:oMathPara>
                          </a14:m>
                          <a:endParaRPr lang="zh-CN" sz="105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r>
                  <a:tr h="563245">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sub>
                                </m:sSub>
                              </m:oMath>
                            </m:oMathPara>
                          </a14:m>
                          <a:endParaRPr lang="zh-CN" sz="105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rgbClr val="FF0000"/>
                                        </a:solidFill>
                                        <a:effectLst/>
                                        <a:latin typeface="Cambria Math" panose="02040503050406030204" pitchFamily="18" charset="0"/>
                                      </a:rPr>
                                    </m:ctrlPr>
                                  </m:sSubPr>
                                  <m:e>
                                    <m:r>
                                      <a:rPr lang="en-US" sz="1200" kern="100">
                                        <a:solidFill>
                                          <a:srgbClr val="FF0000"/>
                                        </a:solidFill>
                                        <a:effectLst/>
                                        <a:latin typeface="Cambria Math" panose="02040503050406030204" pitchFamily="18" charset="0"/>
                                      </a:rPr>
                                      <m:t>𝐼</m:t>
                                    </m:r>
                                  </m:e>
                                  <m:sub>
                                    <m:r>
                                      <a:rPr lang="en-US" sz="1200" kern="100">
                                        <a:solidFill>
                                          <a:srgbClr val="FF0000"/>
                                        </a:solidFill>
                                        <a:effectLst/>
                                        <a:latin typeface="Cambria Math" panose="02040503050406030204" pitchFamily="18" charset="0"/>
                                      </a:rPr>
                                      <m:t>𝑖</m:t>
                                    </m:r>
                                    <m:r>
                                      <a:rPr lang="en-US" sz="1200" kern="100">
                                        <a:solidFill>
                                          <a:srgbClr val="FF0000"/>
                                        </a:solidFill>
                                        <a:effectLst/>
                                        <a:latin typeface="Cambria Math" panose="02040503050406030204" pitchFamily="18" charset="0"/>
                                      </a:rPr>
                                      <m:t>,</m:t>
                                    </m:r>
                                    <m:r>
                                      <a:rPr lang="en-US" sz="1200" kern="100">
                                        <a:solidFill>
                                          <a:srgbClr val="FF0000"/>
                                        </a:solidFill>
                                        <a:effectLst/>
                                        <a:latin typeface="Cambria Math" panose="02040503050406030204" pitchFamily="18" charset="0"/>
                                      </a:rPr>
                                      <m:t>𝑗</m:t>
                                    </m:r>
                                  </m:sub>
                                </m:sSub>
                              </m:oMath>
                            </m:oMathPara>
                          </a14:m>
                          <a:endParaRPr lang="zh-CN" sz="105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sub>
                                </m:sSub>
                              </m:oMath>
                            </m:oMathPara>
                          </a14:m>
                          <a:endParaRPr lang="zh-CN" sz="105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r>
                  <a:tr h="568960">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sub>
                                </m:sSub>
                              </m:oMath>
                            </m:oMathPara>
                          </a14:m>
                          <a:endParaRPr lang="zh-CN" sz="105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sub>
                                </m:sSub>
                              </m:oMath>
                            </m:oMathPara>
                          </a14:m>
                          <a:endParaRPr lang="zh-CN" sz="105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c>
                      <a:txBody>
                        <a:bodyPr/>
                        <a:lstStyle/>
                        <a:p>
                          <a:pPr algn="ctr">
                            <a:lnSpc>
                              <a:spcPct val="150000"/>
                            </a:lnSpc>
                            <a:spcBef>
                              <a:spcPts val="780"/>
                            </a:spcBef>
                            <a:spcAft>
                              <a:spcPts val="780"/>
                            </a:spcAft>
                          </a:pPr>
                          <a14:m>
                            <m:oMathPara xmlns:m="http://schemas.openxmlformats.org/officeDocument/2006/math">
                              <m:oMathParaPr>
                                <m:jc m:val="centerGroup"/>
                              </m:oMathParaPr>
                              <m:oMath xmlns:m="http://schemas.openxmlformats.org/officeDocument/2006/math">
                                <m:sSub>
                                  <m:sSubPr>
                                    <m:ctrlPr>
                                      <a:rPr lang="zh-CN" sz="1200" i="1" kern="100" smtClean="0">
                                        <a:solidFill>
                                          <a:schemeClr val="bg1"/>
                                        </a:solidFill>
                                        <a:effectLst/>
                                        <a:latin typeface="Cambria Math" panose="02040503050406030204" pitchFamily="18" charset="0"/>
                                      </a:rPr>
                                    </m:ctrlPr>
                                  </m:sSubPr>
                                  <m:e>
                                    <m:r>
                                      <a:rPr lang="en-US" sz="1200" kern="100">
                                        <a:solidFill>
                                          <a:schemeClr val="bg1"/>
                                        </a:solidFill>
                                        <a:effectLst/>
                                        <a:latin typeface="Cambria Math" panose="02040503050406030204" pitchFamily="18" charset="0"/>
                                      </a:rPr>
                                      <m:t>𝐼</m:t>
                                    </m:r>
                                  </m:e>
                                  <m:sub>
                                    <m:r>
                                      <a:rPr lang="en-US" sz="1200" kern="100">
                                        <a:solidFill>
                                          <a:schemeClr val="bg1"/>
                                        </a:solidFill>
                                        <a:effectLst/>
                                        <a:latin typeface="Cambria Math" panose="02040503050406030204" pitchFamily="18" charset="0"/>
                                      </a:rPr>
                                      <m:t>𝑖</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𝑗</m:t>
                                    </m:r>
                                    <m:r>
                                      <a:rPr lang="en-US" sz="1200" kern="100">
                                        <a:solidFill>
                                          <a:schemeClr val="bg1"/>
                                        </a:solidFill>
                                        <a:effectLst/>
                                        <a:latin typeface="Cambria Math" panose="02040503050406030204" pitchFamily="18" charset="0"/>
                                      </a:rPr>
                                      <m:t>+</m:t>
                                    </m:r>
                                    <m:r>
                                      <a:rPr lang="en-US" sz="1200" kern="100">
                                        <a:solidFill>
                                          <a:schemeClr val="bg1"/>
                                        </a:solidFill>
                                        <a:effectLst/>
                                        <a:latin typeface="Cambria Math" panose="02040503050406030204" pitchFamily="18" charset="0"/>
                                      </a:rPr>
                                      <m:t>1</m:t>
                                    </m:r>
                                  </m:sub>
                                </m:sSub>
                              </m:oMath>
                            </m:oMathPara>
                          </a14:m>
                          <a:endParaRPr lang="zh-CN" sz="105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chemeClr val="tx1"/>
                        </a:solidFill>
                      </a:tcPr>
                    </a:tc>
                  </a:tr>
                </a:tbl>
              </a:graphicData>
            </a:graphic>
          </p:graphicFrame>
        </mc:Choice>
        <mc:Fallback xmlns="">
          <p:graphicFrame>
            <p:nvGraphicFramePr>
              <p:cNvPr id="24" name="表格 23"/>
              <p:cNvGraphicFramePr>
                <a:graphicFrameLocks noGrp="1"/>
              </p:cNvGraphicFramePr>
              <p:nvPr/>
            </p:nvGraphicFramePr>
            <p:xfrm>
              <a:off x="1069539" y="1798481"/>
              <a:ext cx="1773555" cy="1634490"/>
            </p:xfrm>
            <a:graphic>
              <a:graphicData uri="http://schemas.openxmlformats.org/drawingml/2006/table">
                <a:tbl>
                  <a:tblPr firstRow="1" firstCol="1" bandRow="1">
                    <a:tableStyleId>{5C22544A-7EE6-4342-B048-85BDC9FD1C3A}</a:tableStyleId>
                  </a:tblPr>
                  <a:tblGrid>
                    <a:gridCol w="582295"/>
                    <a:gridCol w="595630"/>
                    <a:gridCol w="595630"/>
                  </a:tblGrid>
                  <a:tr h="502285">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r>
                  <a:tr h="563245">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r>
                  <a:tr h="568960">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c>
                      <a:txBody>
                        <a:bodyPr/>
                        <a:lstStyle/>
                        <a:p>
                          <a:endParaRPr lang="zh-CN"/>
                        </a:p>
                      </a:txBody>
                      <a:tcPr marL="68580" marR="68580" marT="0" marB="0">
                        <a:blipFill>
                          <a:blip r:embed="rId3"/>
                        </a:blipFill>
                      </a:tcPr>
                    </a:tc>
                  </a:tr>
                </a:tbl>
              </a:graphicData>
            </a:graphic>
          </p:graphicFrame>
        </mc:Fallback>
      </mc:AlternateContent>
      <p:pic>
        <p:nvPicPr>
          <p:cNvPr id="26" name="图片 25"/>
          <p:cNvPicPr>
            <a:picLocks noChangeAspect="1"/>
          </p:cNvPicPr>
          <p:nvPr/>
        </p:nvPicPr>
        <p:blipFill>
          <a:blip r:embed="rId4"/>
          <a:stretch>
            <a:fillRect/>
          </a:stretch>
        </p:blipFill>
        <p:spPr>
          <a:xfrm>
            <a:off x="3626418" y="1798481"/>
            <a:ext cx="2233898" cy="3193544"/>
          </a:xfrm>
          <a:prstGeom prst="rect">
            <a:avLst/>
          </a:prstGeom>
        </p:spPr>
      </p:pic>
      <p:sp>
        <p:nvSpPr>
          <p:cNvPr id="27" name="矩形 26"/>
          <p:cNvSpPr/>
          <p:nvPr/>
        </p:nvSpPr>
        <p:spPr>
          <a:xfrm>
            <a:off x="5860316" y="3632723"/>
            <a:ext cx="4391025" cy="368300"/>
          </a:xfrm>
          <a:prstGeom prst="rect">
            <a:avLst/>
          </a:prstGeom>
        </p:spPr>
        <p:txBody>
          <a:bodyPr wrap="none">
            <a:spAutoFit/>
          </a:bodyPr>
          <a:lstStyle/>
          <a:p>
            <a:r>
              <a:rPr lang="en-US" altLang="zh-CN" dirty="0">
                <a:solidFill>
                  <a:srgbClr val="FFFFFF"/>
                </a:solidFill>
                <a:latin typeface="宋体" panose="02010600030101010101" pitchFamily="2" charset="-122"/>
              </a:rPr>
              <a:t>-348</a:t>
            </a:r>
            <a:r>
              <a:rPr lang="zh-CN" altLang="en-US" dirty="0"/>
              <a:t> </a:t>
            </a:r>
            <a:r>
              <a:rPr lang="en-US" altLang="zh-CN" dirty="0">
                <a:solidFill>
                  <a:srgbClr val="FFFFFF"/>
                </a:solidFill>
                <a:latin typeface="宋体" panose="02010600030101010101" pitchFamily="2" charset="-122"/>
              </a:rPr>
              <a:t>-346</a:t>
            </a:r>
            <a:r>
              <a:rPr lang="zh-CN" altLang="en-US" dirty="0"/>
              <a:t> </a:t>
            </a:r>
            <a:r>
              <a:rPr lang="en-US" altLang="zh-CN" dirty="0">
                <a:solidFill>
                  <a:srgbClr val="FFFFFF"/>
                </a:solidFill>
                <a:latin typeface="宋体" panose="02010600030101010101" pitchFamily="2" charset="-122"/>
              </a:rPr>
              <a:t>-341</a:t>
            </a:r>
            <a:r>
              <a:rPr lang="zh-CN" altLang="en-US" dirty="0"/>
              <a:t> </a:t>
            </a:r>
            <a:r>
              <a:rPr lang="en-US" altLang="zh-CN" dirty="0">
                <a:solidFill>
                  <a:srgbClr val="FFFFFF"/>
                </a:solidFill>
                <a:latin typeface="宋体" panose="02010600030101010101" pitchFamily="2" charset="-122"/>
              </a:rPr>
              <a:t>-338</a:t>
            </a:r>
            <a:r>
              <a:rPr lang="zh-CN" altLang="en-US" dirty="0"/>
              <a:t> </a:t>
            </a:r>
            <a:r>
              <a:rPr lang="en-US" altLang="zh-CN" dirty="0">
                <a:solidFill>
                  <a:srgbClr val="FFFFFF"/>
                </a:solidFill>
                <a:latin typeface="宋体" panose="02010600030101010101" pitchFamily="2" charset="-122"/>
              </a:rPr>
              <a:t>-336</a:t>
            </a:r>
            <a:r>
              <a:rPr lang="zh-CN" altLang="en-US" dirty="0"/>
              <a:t> </a:t>
            </a:r>
            <a:r>
              <a:rPr lang="en-US" altLang="zh-CN" dirty="0">
                <a:solidFill>
                  <a:srgbClr val="FFFFFF"/>
                </a:solidFill>
                <a:latin typeface="宋体" panose="02010600030101010101" pitchFamily="2" charset="-122"/>
              </a:rPr>
              <a:t>-336</a:t>
            </a:r>
            <a:r>
              <a:rPr lang="zh-CN" altLang="en-US" dirty="0"/>
              <a:t> </a:t>
            </a:r>
            <a:r>
              <a:rPr lang="en-US" altLang="zh-CN" dirty="0">
                <a:solidFill>
                  <a:srgbClr val="FFFFFF"/>
                </a:solidFill>
                <a:latin typeface="宋体" panose="02010600030101010101" pitchFamily="2" charset="-122"/>
              </a:rPr>
              <a:t>-335</a:t>
            </a:r>
            <a:r>
              <a:rPr lang="zh-CN" altLang="en-US" dirty="0"/>
              <a:t> </a:t>
            </a:r>
            <a:r>
              <a:rPr lang="en-US" altLang="zh-CN" dirty="0">
                <a:solidFill>
                  <a:srgbClr val="FFFFFF"/>
                </a:solidFill>
                <a:latin typeface="宋体" panose="02010600030101010101" pitchFamily="2" charset="-122"/>
              </a:rPr>
              <a:t>-320</a:t>
            </a:r>
            <a:r>
              <a:rPr lang="zh-CN" altLang="en-US" dirty="0"/>
              <a:t> </a:t>
            </a:r>
            <a:endParaRPr lang="zh-CN" altLang="en-US" dirty="0"/>
          </a:p>
        </p:txBody>
      </p:sp>
      <p:pic>
        <p:nvPicPr>
          <p:cNvPr id="28" name="图片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3587" y="1916509"/>
            <a:ext cx="3096344" cy="1261474"/>
          </a:xfrm>
          <a:prstGeom prst="rect">
            <a:avLst/>
          </a:prstGeom>
          <a:noFill/>
          <a:extLst>
            <a:ext uri="{909E8E84-426E-40DD-AFC4-6F175D3DCCD1}">
              <a14:hiddenFill xmlns:a14="http://schemas.microsoft.com/office/drawing/2010/main">
                <a:solidFill>
                  <a:srgbClr val="FFFFFF"/>
                </a:solidFill>
              </a14:hiddenFill>
            </a:ext>
          </a:extLst>
        </p:spPr>
      </p:pic>
      <p:pic>
        <p:nvPicPr>
          <p:cNvPr id="29" name="图片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6040" y="4581128"/>
            <a:ext cx="3096344" cy="12614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1184</Words>
  <Application>WPS 演示</Application>
  <PresentationFormat>宽屏</PresentationFormat>
  <Paragraphs>122</Paragraphs>
  <Slides>10</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10</vt:i4>
      </vt:variant>
    </vt:vector>
  </HeadingPairs>
  <TitlesOfParts>
    <vt:vector size="23" baseType="lpstr">
      <vt:lpstr>Arial</vt:lpstr>
      <vt:lpstr>宋体</vt:lpstr>
      <vt:lpstr>Wingdings</vt:lpstr>
      <vt:lpstr>Wingdings</vt:lpstr>
      <vt:lpstr>微软雅黑</vt:lpstr>
      <vt:lpstr>Arial Unicode MS</vt:lpstr>
      <vt:lpstr>Calibri</vt:lpstr>
      <vt:lpstr>黑体</vt:lpstr>
      <vt:lpstr>方正楷体_GBK</vt:lpstr>
      <vt:lpstr>Times New Roman</vt:lpstr>
      <vt:lpstr>Cambria Math</vt:lpstr>
      <vt:lpstr>WPS</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Carlen</cp:lastModifiedBy>
  <cp:revision>155</cp:revision>
  <dcterms:created xsi:type="dcterms:W3CDTF">2019-06-19T02:08:00Z</dcterms:created>
  <dcterms:modified xsi:type="dcterms:W3CDTF">2025-04-25T03:33:33Z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447C5C4D167F4B23A85F9CEFD3C281CD_11</vt:lpwstr>
  </property>
</Properties>
</file>