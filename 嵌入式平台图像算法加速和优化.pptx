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media/image18.webp" ContentType="image/webp"/>
  <Override PartName="/ppt/media/image22.webp" ContentType="image/webp"/>
  <Override PartName="/ppt/media/image25.webp" ContentType="image/webp"/>
  <Override PartName="/ppt/media/image27.webp" ContentType="image/webp"/>
  <Override PartName="/ppt/media/image30.webp" ContentType="image/webp"/>
  <Override PartName="/ppt/media/image3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7" r:id="rId3"/>
    <p:sldId id="291" r:id="rId5"/>
    <p:sldId id="296" r:id="rId6"/>
    <p:sldId id="314" r:id="rId7"/>
    <p:sldId id="297" r:id="rId8"/>
    <p:sldId id="298" r:id="rId9"/>
    <p:sldId id="299" r:id="rId10"/>
    <p:sldId id="293" r:id="rId11"/>
    <p:sldId id="304" r:id="rId12"/>
    <p:sldId id="307" r:id="rId13"/>
    <p:sldId id="309" r:id="rId14"/>
    <p:sldId id="310" r:id="rId15"/>
    <p:sldId id="311" r:id="rId16"/>
    <p:sldId id="312" r:id="rId17"/>
    <p:sldId id="313" r:id="rId18"/>
    <p:sldId id="315" r:id="rId19"/>
    <p:sldId id="316" r:id="rId20"/>
    <p:sldId id="317" r:id="rId21"/>
    <p:sldId id="318" r:id="rId22"/>
    <p:sldId id="319" r:id="rId23"/>
    <p:sldId id="320" r:id="rId24"/>
    <p:sldId id="321" r:id="rId25"/>
    <p:sldId id="266" r:id="rId26"/>
  </p:sldIdLst>
  <p:sldSz cx="14399895" cy="8099425"/>
  <p:notesSz cx="6858000" cy="9144000"/>
  <p:custDataLst>
    <p:tags r:id="rId30"/>
  </p:custDataLst>
  <p:defaultTextStyle>
    <a:defPPr>
      <a:defRPr lang="zh-CN"/>
    </a:defPPr>
    <a:lvl1pPr marL="0" algn="l" defTabSz="1203325" rtl="0" eaLnBrk="1" latinLnBrk="0" hangingPunct="1">
      <a:defRPr sz="2340" kern="1200">
        <a:solidFill>
          <a:schemeClr val="tx1"/>
        </a:solidFill>
        <a:latin typeface="+mn-lt"/>
        <a:ea typeface="+mn-ea"/>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773C775-EED3-473C-B003-39EA34D04D65}">
          <p14:sldIdLst>
            <p14:sldId id="267"/>
            <p14:sldId id="291"/>
            <p14:sldId id="296"/>
            <p14:sldId id="314"/>
            <p14:sldId id="297"/>
            <p14:sldId id="298"/>
            <p14:sldId id="299"/>
            <p14:sldId id="293"/>
            <p14:sldId id="304"/>
            <p14:sldId id="307"/>
            <p14:sldId id="309"/>
            <p14:sldId id="310"/>
            <p14:sldId id="311"/>
            <p14:sldId id="312"/>
            <p14:sldId id="313"/>
            <p14:sldId id="315"/>
            <p14:sldId id="316"/>
            <p14:sldId id="317"/>
            <p14:sldId id="318"/>
            <p14:sldId id="319"/>
            <p14:sldId id="320"/>
            <p14:sldId id="321"/>
          </p14:sldIdLst>
        </p14:section>
        <p14:section name="无标题节" id="{56B0CB8A-8E39-4395-8ED6-893120CE2737}">
          <p14:sldIdLst>
            <p14:sldId id="266"/>
          </p14:sldIdLst>
        </p14:section>
      </p14:sectionLst>
    </p:ext>
    <p:ext uri="{EFAFB233-063F-42B5-8137-9DF3F51BA10A}">
      <p15:sldGuideLst xmlns:p15="http://schemas.microsoft.com/office/powerpoint/2012/main">
        <p15:guide id="1" orient="horz" pos="2561" userDrawn="1">
          <p15:clr>
            <a:srgbClr val="A4A3A4"/>
          </p15:clr>
        </p15:guide>
        <p15:guide id="2" orient="horz" pos="3367" userDrawn="1">
          <p15:clr>
            <a:srgbClr val="A4A3A4"/>
          </p15:clr>
        </p15:guide>
        <p15:guide id="3" pos="4536" userDrawn="1">
          <p15:clr>
            <a:srgbClr val="A4A3A4"/>
          </p15:clr>
        </p15:guide>
        <p15:guide id="4" pos="45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6E6E6"/>
    <a:srgbClr val="CA0915"/>
    <a:srgbClr val="C4D82D"/>
    <a:srgbClr val="0098D8"/>
    <a:srgbClr val="00004F"/>
    <a:srgbClr val="A01323"/>
    <a:srgbClr val="595757"/>
    <a:srgbClr val="007DC2"/>
    <a:srgbClr val="007D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037" autoAdjust="0"/>
  </p:normalViewPr>
  <p:slideViewPr>
    <p:cSldViewPr>
      <p:cViewPr>
        <p:scale>
          <a:sx n="66" d="100"/>
          <a:sy n="66" d="100"/>
        </p:scale>
        <p:origin x="-1200" y="-630"/>
      </p:cViewPr>
      <p:guideLst>
        <p:guide orient="horz" pos="2561"/>
        <p:guide orient="horz" pos="3367"/>
        <p:guide pos="4536"/>
        <p:guide pos="4535"/>
      </p:guideLst>
    </p:cSldViewPr>
  </p:slideViewPr>
  <p:notesTextViewPr>
    <p:cViewPr>
      <p:scale>
        <a:sx n="100" d="100"/>
        <a:sy n="100" d="100"/>
      </p:scale>
      <p:origin x="0" y="0"/>
    </p:cViewPr>
  </p:notesTextViewPr>
  <p:notesViewPr>
    <p:cSldViewPr>
      <p:cViewPr varScale="1">
        <p:scale>
          <a:sx n="99" d="100"/>
          <a:sy n="99" d="100"/>
        </p:scale>
        <p:origin x="2718"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5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G:\GD_Project\&#39044;&#30740;&#39033;&#30446;&#65288;ZP29A&#65289;\&#27979;&#35797;&#35780;&#23457;&#65288;&#27979;&#35797;&#32452;&#65289;\20221209&#27979;&#35797;&#27719;&#24635;\&#20184;&#33322;&#25968;&#25454;&#25972;&#29702;.xlsx" TargetMode="External"/></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G:\GD_Project\&#39044;&#30740;&#39033;&#30446;&#65288;ZP29A&#65289;\&#27979;&#35797;&#35780;&#23457;&#65288;&#27979;&#35797;&#32452;&#65289;\20221209&#27979;&#35797;&#27719;&#24635;\&#20184;&#33322;&#25968;&#25454;&#25972;&#2970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lang="en-US" altLang="zh-CN"/>
              <a:t>RV1109 ARMV7 120*90</a:t>
            </a:r>
            <a:endParaRPr lang="en-US" altLang="zh-CN"/>
          </a:p>
        </c:rich>
      </c:tx>
      <c:layout/>
      <c:overlay val="0"/>
      <c:spPr>
        <a:noFill/>
        <a:ln>
          <a:noFill/>
        </a:ln>
        <a:effectLst/>
      </c:spPr>
    </c:title>
    <c:autoTitleDeleted val="0"/>
    <c:plotArea>
      <c:layout/>
      <c:lineChart>
        <c:grouping val="standard"/>
        <c:varyColors val="0"/>
        <c:ser>
          <c:idx val="0"/>
          <c:order val="0"/>
          <c:tx>
            <c:strRef>
              <c:f>[付航数据整理.xlsx]Sheet1!$D$11:$D$12</c:f>
              <c:strCache>
                <c:ptCount val="1"/>
                <c:pt idx="0">
                  <c:v>C</c:v>
                </c:pt>
              </c:strCache>
            </c:strRef>
          </c:tx>
          <c:spPr>
            <a:ln w="28575" cap="rnd">
              <a:solidFill>
                <a:schemeClr val="accent2"/>
              </a:solidFill>
              <a:round/>
            </a:ln>
            <a:effectLst/>
          </c:spPr>
          <c:marker>
            <c:symbol val="none"/>
          </c:marker>
          <c:dLbls>
            <c:delete val="1"/>
          </c:dLbls>
          <c:cat>
            <c:strRef>
              <c:f>[付航数据整理.xlsx]Sheet1!$C$13:$C$18</c:f>
              <c:strCache>
                <c:ptCount val="6"/>
                <c:pt idx="0">
                  <c:v>去竖纹(11)</c:v>
                </c:pt>
                <c:pt idx="1">
                  <c:v>去横纹(12)</c:v>
                </c:pt>
                <c:pt idx="2">
                  <c:v>空域滤波</c:v>
                </c:pt>
                <c:pt idx="3">
                  <c:v>图像增强</c:v>
                </c:pt>
                <c:pt idx="4">
                  <c:v>调光</c:v>
                </c:pt>
                <c:pt idx="5">
                  <c:v>缩放（1.5倍放大）</c:v>
                </c:pt>
              </c:strCache>
            </c:strRef>
          </c:cat>
          <c:val>
            <c:numRef>
              <c:f>[付航数据整理.xlsx]Sheet1!$D$13:$D$18</c:f>
              <c:numCache>
                <c:formatCode>General</c:formatCode>
                <c:ptCount val="6"/>
                <c:pt idx="0">
                  <c:v>13.48</c:v>
                </c:pt>
                <c:pt idx="1">
                  <c:v>23.217</c:v>
                </c:pt>
                <c:pt idx="2">
                  <c:v>10.361</c:v>
                </c:pt>
                <c:pt idx="3">
                  <c:v>2.962</c:v>
                </c:pt>
                <c:pt idx="4">
                  <c:v>1.004</c:v>
                </c:pt>
                <c:pt idx="5">
                  <c:v>3.579</c:v>
                </c:pt>
              </c:numCache>
            </c:numRef>
          </c:val>
          <c:smooth val="0"/>
        </c:ser>
        <c:ser>
          <c:idx val="1"/>
          <c:order val="1"/>
          <c:tx>
            <c:strRef>
              <c:f>[付航数据整理.xlsx]Sheet1!$E$11:$E$12</c:f>
              <c:strCache>
                <c:ptCount val="1"/>
                <c:pt idx="0">
                  <c:v>NEON</c:v>
                </c:pt>
              </c:strCache>
            </c:strRef>
          </c:tx>
          <c:spPr>
            <a:ln w="28575" cap="rnd">
              <a:solidFill>
                <a:schemeClr val="accent4"/>
              </a:solidFill>
              <a:round/>
            </a:ln>
            <a:effectLst/>
          </c:spPr>
          <c:marker>
            <c:symbol val="none"/>
          </c:marker>
          <c:dLbls>
            <c:delete val="1"/>
          </c:dLbls>
          <c:cat>
            <c:strRef>
              <c:f>[付航数据整理.xlsx]Sheet1!$C$13:$C$18</c:f>
              <c:strCache>
                <c:ptCount val="6"/>
                <c:pt idx="0">
                  <c:v>去竖纹(11)</c:v>
                </c:pt>
                <c:pt idx="1">
                  <c:v>去横纹(12)</c:v>
                </c:pt>
                <c:pt idx="2">
                  <c:v>空域滤波</c:v>
                </c:pt>
                <c:pt idx="3">
                  <c:v>图像增强</c:v>
                </c:pt>
                <c:pt idx="4">
                  <c:v>调光</c:v>
                </c:pt>
                <c:pt idx="5">
                  <c:v>缩放（1.5倍放大）</c:v>
                </c:pt>
              </c:strCache>
            </c:strRef>
          </c:cat>
          <c:val>
            <c:numRef>
              <c:f>[付航数据整理.xlsx]Sheet1!$E$13:$E$18</c:f>
              <c:numCache>
                <c:formatCode>General</c:formatCode>
                <c:ptCount val="6"/>
                <c:pt idx="0">
                  <c:v>5.277</c:v>
                </c:pt>
                <c:pt idx="1">
                  <c:v>16.302</c:v>
                </c:pt>
                <c:pt idx="2">
                  <c:v>3.474</c:v>
                </c:pt>
                <c:pt idx="3">
                  <c:v>2.7</c:v>
                </c:pt>
                <c:pt idx="4">
                  <c:v>0.737</c:v>
                </c:pt>
                <c:pt idx="5">
                  <c:v>1.968</c:v>
                </c:pt>
              </c:numCache>
            </c:numRef>
          </c:val>
          <c:smooth val="0"/>
        </c:ser>
        <c:dLbls>
          <c:showLegendKey val="0"/>
          <c:showVal val="0"/>
          <c:showCatName val="0"/>
          <c:showSerName val="0"/>
          <c:showPercent val="0"/>
          <c:showBubbleSize val="0"/>
        </c:dLbls>
        <c:marker val="0"/>
        <c:smooth val="0"/>
        <c:axId val="848085940"/>
        <c:axId val="571209335"/>
      </c:lineChart>
      <c:catAx>
        <c:axId val="84808594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71209335"/>
        <c:crosses val="autoZero"/>
        <c:auto val="1"/>
        <c:lblAlgn val="ctr"/>
        <c:lblOffset val="100"/>
        <c:noMultiLvlLbl val="0"/>
      </c:catAx>
      <c:valAx>
        <c:axId val="5712093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48085940"/>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0" i="0" u="none" strike="noStrike" kern="1200" spc="0" baseline="0">
                <a:solidFill>
                  <a:schemeClr val="tx1">
                    <a:lumMod val="65000"/>
                    <a:lumOff val="35000"/>
                  </a:schemeClr>
                </a:solidFill>
                <a:latin typeface="+mn-lt"/>
                <a:ea typeface="+mn-ea"/>
                <a:cs typeface="+mn-cs"/>
              </a:defRPr>
            </a:pPr>
            <a:r>
              <a:rPr lang="en-US" altLang="zh-CN"/>
              <a:t>AR9341 ARMV8 320*256</a:t>
            </a:r>
            <a:endParaRPr lang="en-US" altLang="zh-CN"/>
          </a:p>
        </c:rich>
      </c:tx>
      <c:layout>
        <c:manualLayout>
          <c:xMode val="edge"/>
          <c:yMode val="edge"/>
          <c:x val="0.290850587576945"/>
          <c:y val="0.037292817679558"/>
        </c:manualLayout>
      </c:layout>
      <c:overlay val="0"/>
      <c:spPr>
        <a:noFill/>
        <a:ln>
          <a:noFill/>
        </a:ln>
        <a:effectLst/>
      </c:spPr>
    </c:title>
    <c:autoTitleDeleted val="0"/>
    <c:plotArea>
      <c:layout/>
      <c:lineChart>
        <c:grouping val="standard"/>
        <c:varyColors val="0"/>
        <c:ser>
          <c:idx val="0"/>
          <c:order val="0"/>
          <c:tx>
            <c:strRef>
              <c:f>[付航数据整理.xlsx]Sheet1!$D$30:$D$31</c:f>
              <c:strCache>
                <c:ptCount val="1"/>
                <c:pt idx="0">
                  <c:v>C</c:v>
                </c:pt>
              </c:strCache>
            </c:strRef>
          </c:tx>
          <c:spPr>
            <a:ln w="28575" cap="rnd">
              <a:solidFill>
                <a:schemeClr val="accent2"/>
              </a:solidFill>
              <a:round/>
            </a:ln>
            <a:effectLst/>
          </c:spPr>
          <c:marker>
            <c:symbol val="none"/>
          </c:marker>
          <c:dLbls>
            <c:delete val="1"/>
          </c:dLbls>
          <c:cat>
            <c:strRef>
              <c:f>[付航数据整理.xlsx]Sheet1!$C$32:$C$37</c:f>
              <c:strCache>
                <c:ptCount val="6"/>
                <c:pt idx="0">
                  <c:v>去竖纹(11)</c:v>
                </c:pt>
                <c:pt idx="1">
                  <c:v>去横纹(12)</c:v>
                </c:pt>
                <c:pt idx="2">
                  <c:v>空域滤波</c:v>
                </c:pt>
                <c:pt idx="3">
                  <c:v>图像增强</c:v>
                </c:pt>
                <c:pt idx="4">
                  <c:v>调光</c:v>
                </c:pt>
                <c:pt idx="5">
                  <c:v>缩放（1.5倍放大）</c:v>
                </c:pt>
              </c:strCache>
            </c:strRef>
          </c:cat>
          <c:val>
            <c:numRef>
              <c:f>[付航数据整理.xlsx]Sheet1!$D$32:$D$37</c:f>
              <c:numCache>
                <c:formatCode>General</c:formatCode>
                <c:ptCount val="6"/>
                <c:pt idx="0">
                  <c:v>14.748</c:v>
                </c:pt>
                <c:pt idx="1">
                  <c:v>15.778</c:v>
                </c:pt>
                <c:pt idx="2">
                  <c:v>8.708</c:v>
                </c:pt>
                <c:pt idx="3">
                  <c:v>4.658</c:v>
                </c:pt>
                <c:pt idx="4">
                  <c:v>2.032</c:v>
                </c:pt>
                <c:pt idx="5">
                  <c:v>3.601</c:v>
                </c:pt>
              </c:numCache>
            </c:numRef>
          </c:val>
          <c:smooth val="0"/>
        </c:ser>
        <c:ser>
          <c:idx val="1"/>
          <c:order val="1"/>
          <c:tx>
            <c:strRef>
              <c:f>[付航数据整理.xlsx]Sheet1!$E$30:$E$31</c:f>
              <c:strCache>
                <c:ptCount val="1"/>
                <c:pt idx="0">
                  <c:v>NEON</c:v>
                </c:pt>
              </c:strCache>
            </c:strRef>
          </c:tx>
          <c:spPr>
            <a:ln w="28575" cap="rnd">
              <a:solidFill>
                <a:schemeClr val="accent4"/>
              </a:solidFill>
              <a:round/>
            </a:ln>
            <a:effectLst/>
          </c:spPr>
          <c:marker>
            <c:symbol val="none"/>
          </c:marker>
          <c:dLbls>
            <c:delete val="1"/>
          </c:dLbls>
          <c:cat>
            <c:strRef>
              <c:f>[付航数据整理.xlsx]Sheet1!$C$32:$C$37</c:f>
              <c:strCache>
                <c:ptCount val="6"/>
                <c:pt idx="0">
                  <c:v>去竖纹(11)</c:v>
                </c:pt>
                <c:pt idx="1">
                  <c:v>去横纹(12)</c:v>
                </c:pt>
                <c:pt idx="2">
                  <c:v>空域滤波</c:v>
                </c:pt>
                <c:pt idx="3">
                  <c:v>图像增强</c:v>
                </c:pt>
                <c:pt idx="4">
                  <c:v>调光</c:v>
                </c:pt>
                <c:pt idx="5">
                  <c:v>缩放（1.5倍放大）</c:v>
                </c:pt>
              </c:strCache>
            </c:strRef>
          </c:cat>
          <c:val>
            <c:numRef>
              <c:f>[付航数据整理.xlsx]Sheet1!$E$32:$E$37</c:f>
              <c:numCache>
                <c:formatCode>General</c:formatCode>
                <c:ptCount val="6"/>
                <c:pt idx="0">
                  <c:v>5.571</c:v>
                </c:pt>
                <c:pt idx="1">
                  <c:v>12.147</c:v>
                </c:pt>
                <c:pt idx="2">
                  <c:v>3.034</c:v>
                </c:pt>
                <c:pt idx="3">
                  <c:v>2.938</c:v>
                </c:pt>
                <c:pt idx="4">
                  <c:v>0.723</c:v>
                </c:pt>
                <c:pt idx="5">
                  <c:v>2.389</c:v>
                </c:pt>
              </c:numCache>
            </c:numRef>
          </c:val>
          <c:smooth val="0"/>
        </c:ser>
        <c:dLbls>
          <c:showLegendKey val="0"/>
          <c:showVal val="0"/>
          <c:showCatName val="0"/>
          <c:showSerName val="0"/>
          <c:showPercent val="0"/>
          <c:showBubbleSize val="0"/>
        </c:dLbls>
        <c:marker val="0"/>
        <c:smooth val="0"/>
        <c:axId val="872102180"/>
        <c:axId val="544924925"/>
      </c:lineChart>
      <c:catAx>
        <c:axId val="87210218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44924925"/>
        <c:crosses val="autoZero"/>
        <c:auto val="1"/>
        <c:lblAlgn val="ctr"/>
        <c:lblOffset val="100"/>
        <c:noMultiLvlLbl val="0"/>
      </c:catAx>
      <c:valAx>
        <c:axId val="54492492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72102180"/>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528431-B39A-4CC4-9B2F-3F84F3EE1F2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4D69D-3C03-441F-8E5D-5A29298ED1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044D69D-3C03-441F-8E5D-5A29298ED13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9" name="矩形 8"/>
          <p:cNvSpPr/>
          <p:nvPr userDrawn="1"/>
        </p:nvSpPr>
        <p:spPr>
          <a:xfrm>
            <a:off x="-1" y="0"/>
            <a:ext cx="14400213" cy="80994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p:nvPr>
        </p:nvSpPr>
        <p:spPr>
          <a:xfrm>
            <a:off x="863993" y="1529432"/>
            <a:ext cx="6840169" cy="1736127"/>
          </a:xfrm>
          <a:prstGeom prst="rect">
            <a:avLst/>
          </a:prstGeom>
        </p:spPr>
        <p:txBody>
          <a:bodyPr/>
          <a:lstStyle>
            <a:lvl1pPr algn="l">
              <a:defRPr>
                <a:solidFill>
                  <a:schemeClr val="tx2"/>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863993" y="3603034"/>
            <a:ext cx="6713097" cy="2069853"/>
          </a:xfrm>
          <a:prstGeom prst="rect">
            <a:avLst/>
          </a:prstGeom>
        </p:spPr>
        <p:txBody>
          <a:bodyPr/>
          <a:lstStyle>
            <a:lvl1pPr marL="0" indent="0" algn="l">
              <a:buNone/>
              <a:defRPr sz="3200">
                <a:solidFill>
                  <a:schemeClr val="tx1">
                    <a:lumMod val="50000"/>
                    <a:lumOff val="50000"/>
                  </a:schemeClr>
                </a:solidFill>
              </a:defRPr>
            </a:lvl1pPr>
            <a:lvl2pPr marL="601345" indent="0" algn="ctr">
              <a:buNone/>
              <a:defRPr>
                <a:solidFill>
                  <a:schemeClr val="tx1">
                    <a:tint val="75000"/>
                  </a:schemeClr>
                </a:solidFill>
              </a:defRPr>
            </a:lvl2pPr>
            <a:lvl3pPr marL="1203325" indent="0" algn="ctr">
              <a:buNone/>
              <a:defRPr>
                <a:solidFill>
                  <a:schemeClr val="tx1">
                    <a:tint val="75000"/>
                  </a:schemeClr>
                </a:solidFill>
              </a:defRPr>
            </a:lvl3pPr>
            <a:lvl4pPr marL="1804670" indent="0" algn="ctr">
              <a:buNone/>
              <a:defRPr>
                <a:solidFill>
                  <a:schemeClr val="tx1">
                    <a:tint val="75000"/>
                  </a:schemeClr>
                </a:solidFill>
              </a:defRPr>
            </a:lvl4pPr>
            <a:lvl5pPr marL="2406650" indent="0" algn="ctr">
              <a:buNone/>
              <a:defRPr>
                <a:solidFill>
                  <a:schemeClr val="tx1">
                    <a:tint val="75000"/>
                  </a:schemeClr>
                </a:solidFill>
              </a:defRPr>
            </a:lvl5pPr>
            <a:lvl6pPr marL="3007995" indent="0" algn="ctr">
              <a:buNone/>
              <a:defRPr>
                <a:solidFill>
                  <a:schemeClr val="tx1">
                    <a:tint val="75000"/>
                  </a:schemeClr>
                </a:solidFill>
              </a:defRPr>
            </a:lvl6pPr>
            <a:lvl7pPr marL="3609975" indent="0" algn="ctr">
              <a:buNone/>
              <a:defRPr>
                <a:solidFill>
                  <a:schemeClr val="tx1">
                    <a:tint val="75000"/>
                  </a:schemeClr>
                </a:solidFill>
              </a:defRPr>
            </a:lvl7pPr>
            <a:lvl8pPr marL="4211320" indent="0" algn="ctr">
              <a:buNone/>
              <a:defRPr>
                <a:solidFill>
                  <a:schemeClr val="tx1">
                    <a:tint val="75000"/>
                  </a:schemeClr>
                </a:solidFill>
              </a:defRPr>
            </a:lvl8pPr>
            <a:lvl9pPr marL="4813300" indent="0" algn="ctr">
              <a:buNone/>
              <a:defRPr>
                <a:solidFill>
                  <a:schemeClr val="tx1">
                    <a:tint val="75000"/>
                  </a:schemeClr>
                </a:solidFill>
              </a:defRPr>
            </a:lvl9pPr>
          </a:lstStyle>
          <a:p>
            <a:r>
              <a:rPr lang="zh-CN" altLang="en-US" dirty="0"/>
              <a:t>单击此处编辑母版副标题样式</a:t>
            </a:r>
            <a:endParaRPr lang="zh-CN" altLang="en-US" dirty="0"/>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dirty="0"/>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pic>
        <p:nvPicPr>
          <p:cNvPr id="8" name="图片 7" descr="未标题-1.png"/>
          <p:cNvPicPr>
            <a:picLocks noChangeAspect="1"/>
          </p:cNvPicPr>
          <p:nvPr userDrawn="1"/>
        </p:nvPicPr>
        <p:blipFill>
          <a:blip r:embed="rId2" cstate="print"/>
          <a:srcRect r="1055" b="2344"/>
          <a:stretch>
            <a:fillRect/>
          </a:stretch>
        </p:blipFill>
        <p:spPr>
          <a:xfrm>
            <a:off x="4607819" y="3032430"/>
            <a:ext cx="9792394" cy="506699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03362" y="1"/>
            <a:ext cx="12241360" cy="665336"/>
          </a:xfrm>
          <a:prstGeom prst="rect">
            <a:avLst/>
          </a:prstGeom>
        </p:spPr>
        <p:txBody>
          <a:bodyPr anchor="ctr"/>
          <a:lstStyle>
            <a:lvl1pPr algn="l">
              <a:defRPr sz="2800">
                <a:solidFill>
                  <a:schemeClr val="accent6"/>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862013" y="953368"/>
            <a:ext cx="12818190" cy="6281744"/>
          </a:xfrm>
          <a:prstGeom prst="rect">
            <a:avLst/>
          </a:prstGeom>
        </p:spPr>
        <p:txBody>
          <a:bodyPr/>
          <a:lstStyle>
            <a:lvl1pPr>
              <a:buNone/>
              <a:defRPr sz="4400" b="0">
                <a:solidFill>
                  <a:schemeClr val="tx2"/>
                </a:solidFill>
                <a:latin typeface="+mj-ea"/>
                <a:ea typeface="+mj-ea"/>
              </a:defRPr>
            </a:lvl1pPr>
            <a:lvl2pPr>
              <a:defRPr>
                <a:latin typeface="+mj-ea"/>
                <a:ea typeface="+mj-ea"/>
              </a:defRPr>
            </a:lvl2pPr>
            <a:lvl3pPr>
              <a:defRPr>
                <a:latin typeface="+mj-ea"/>
                <a:ea typeface="+mj-ea"/>
              </a:defRPr>
            </a:lvl3pPr>
            <a:lvl4pPr>
              <a:defRPr>
                <a:latin typeface="+mj-ea"/>
                <a:ea typeface="+mj-ea"/>
              </a:defRPr>
            </a:lvl4pPr>
            <a:lvl5pPr>
              <a:defRPr>
                <a:latin typeface="+mj-ea"/>
                <a:ea typeface="+mj-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pic>
        <p:nvPicPr>
          <p:cNvPr id="9" name="图片 8" descr="高德智感logo中英文常规.png"/>
          <p:cNvPicPr>
            <a:picLocks noChangeAspect="1"/>
          </p:cNvPicPr>
          <p:nvPr userDrawn="1"/>
        </p:nvPicPr>
        <p:blipFill>
          <a:blip r:embed="rId2" cstate="print"/>
          <a:stretch>
            <a:fillRect/>
          </a:stretch>
        </p:blipFill>
        <p:spPr>
          <a:xfrm>
            <a:off x="12816730" y="7452826"/>
            <a:ext cx="1224136" cy="452796"/>
          </a:xfrm>
          <a:prstGeom prst="rect">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userDrawn="1"/>
        </p:nvSpPr>
        <p:spPr>
          <a:xfrm>
            <a:off x="-1" y="0"/>
            <a:ext cx="14400213" cy="809942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137519" y="5204631"/>
            <a:ext cx="12240181" cy="1608636"/>
          </a:xfrm>
          <a:prstGeom prst="rect">
            <a:avLst/>
          </a:prstGeom>
        </p:spPr>
        <p:txBody>
          <a:bodyPr anchor="t"/>
          <a:lstStyle>
            <a:lvl1pPr algn="l">
              <a:defRPr sz="5245"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1137519" y="3432884"/>
            <a:ext cx="12240181" cy="1771749"/>
          </a:xfrm>
          <a:prstGeom prst="rect">
            <a:avLst/>
          </a:prstGeom>
        </p:spPr>
        <p:txBody>
          <a:bodyPr anchor="b"/>
          <a:lstStyle>
            <a:lvl1pPr marL="0" indent="0">
              <a:buNone/>
              <a:defRPr sz="2620">
                <a:solidFill>
                  <a:schemeClr val="tx1">
                    <a:tint val="75000"/>
                  </a:schemeClr>
                </a:solidFill>
              </a:defRPr>
            </a:lvl1pPr>
            <a:lvl2pPr marL="601345" indent="0">
              <a:buNone/>
              <a:defRPr sz="2340">
                <a:solidFill>
                  <a:schemeClr val="tx1">
                    <a:tint val="75000"/>
                  </a:schemeClr>
                </a:solidFill>
              </a:defRPr>
            </a:lvl2pPr>
            <a:lvl3pPr marL="1203325" indent="0">
              <a:buNone/>
              <a:defRPr sz="2125">
                <a:solidFill>
                  <a:schemeClr val="tx1">
                    <a:tint val="75000"/>
                  </a:schemeClr>
                </a:solidFill>
              </a:defRPr>
            </a:lvl3pPr>
            <a:lvl4pPr marL="1804670" indent="0">
              <a:buNone/>
              <a:defRPr sz="1840">
                <a:solidFill>
                  <a:schemeClr val="tx1">
                    <a:tint val="75000"/>
                  </a:schemeClr>
                </a:solidFill>
              </a:defRPr>
            </a:lvl4pPr>
            <a:lvl5pPr marL="2406650" indent="0">
              <a:buNone/>
              <a:defRPr sz="1840">
                <a:solidFill>
                  <a:schemeClr val="tx1">
                    <a:tint val="75000"/>
                  </a:schemeClr>
                </a:solidFill>
              </a:defRPr>
            </a:lvl5pPr>
            <a:lvl6pPr marL="3007995" indent="0">
              <a:buNone/>
              <a:defRPr sz="1840">
                <a:solidFill>
                  <a:schemeClr val="tx1">
                    <a:tint val="75000"/>
                  </a:schemeClr>
                </a:solidFill>
              </a:defRPr>
            </a:lvl6pPr>
            <a:lvl7pPr marL="3609975" indent="0">
              <a:buNone/>
              <a:defRPr sz="1840">
                <a:solidFill>
                  <a:schemeClr val="tx1">
                    <a:tint val="75000"/>
                  </a:schemeClr>
                </a:solidFill>
              </a:defRPr>
            </a:lvl7pPr>
            <a:lvl8pPr marL="4211320" indent="0">
              <a:buNone/>
              <a:defRPr sz="1840">
                <a:solidFill>
                  <a:schemeClr val="tx1">
                    <a:tint val="75000"/>
                  </a:schemeClr>
                </a:solidFill>
              </a:defRPr>
            </a:lvl8pPr>
            <a:lvl9pPr marL="4813300" indent="0">
              <a:buNone/>
              <a:defRPr sz="184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20011" y="1889866"/>
            <a:ext cx="6360094" cy="5345246"/>
          </a:xfrm>
          <a:prstGeom prst="rect">
            <a:avLst/>
          </a:prstGeom>
        </p:spPr>
        <p:txBody>
          <a:bodyPr/>
          <a:lstStyle>
            <a:lvl1pPr>
              <a:defRPr sz="3685"/>
            </a:lvl1pPr>
            <a:lvl2pPr>
              <a:defRPr sz="3190"/>
            </a:lvl2pPr>
            <a:lvl3pPr>
              <a:defRPr sz="2620"/>
            </a:lvl3pPr>
            <a:lvl4pPr>
              <a:defRPr sz="2340"/>
            </a:lvl4pPr>
            <a:lvl5pPr>
              <a:defRPr sz="2340"/>
            </a:lvl5pPr>
            <a:lvl6pPr>
              <a:defRPr sz="2340"/>
            </a:lvl6pPr>
            <a:lvl7pPr>
              <a:defRPr sz="2340"/>
            </a:lvl7pPr>
            <a:lvl8pPr>
              <a:defRPr sz="2340"/>
            </a:lvl8pPr>
            <a:lvl9pPr>
              <a:defRPr sz="234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7320108" y="1889866"/>
            <a:ext cx="6360094" cy="5345246"/>
          </a:xfrm>
          <a:prstGeom prst="rect">
            <a:avLst/>
          </a:prstGeom>
        </p:spPr>
        <p:txBody>
          <a:bodyPr/>
          <a:lstStyle>
            <a:lvl1pPr>
              <a:defRPr sz="3685"/>
            </a:lvl1pPr>
            <a:lvl2pPr>
              <a:defRPr sz="3190"/>
            </a:lvl2pPr>
            <a:lvl3pPr>
              <a:defRPr sz="2620"/>
            </a:lvl3pPr>
            <a:lvl4pPr>
              <a:defRPr sz="2340"/>
            </a:lvl4pPr>
            <a:lvl5pPr>
              <a:defRPr sz="2340"/>
            </a:lvl5pPr>
            <a:lvl6pPr>
              <a:defRPr sz="2340"/>
            </a:lvl6pPr>
            <a:lvl7pPr>
              <a:defRPr sz="2340"/>
            </a:lvl7pPr>
            <a:lvl8pPr>
              <a:defRPr sz="2340"/>
            </a:lvl8pPr>
            <a:lvl9pPr>
              <a:defRPr sz="234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6" name="页脚占位符 5"/>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0011" y="1812997"/>
            <a:ext cx="6362595" cy="755571"/>
          </a:xfrm>
          <a:prstGeom prst="rect">
            <a:avLst/>
          </a:prstGeom>
        </p:spPr>
        <p:txBody>
          <a:bodyPr anchor="b"/>
          <a:lstStyle>
            <a:lvl1pPr marL="0" indent="0">
              <a:buNone/>
              <a:defRPr sz="3190" b="1"/>
            </a:lvl1pPr>
            <a:lvl2pPr marL="601345" indent="0">
              <a:buNone/>
              <a:defRPr sz="2620" b="1"/>
            </a:lvl2pPr>
            <a:lvl3pPr marL="1203325" indent="0">
              <a:buNone/>
              <a:defRPr sz="2340" b="1"/>
            </a:lvl3pPr>
            <a:lvl4pPr marL="1804670" indent="0">
              <a:buNone/>
              <a:defRPr sz="2125" b="1"/>
            </a:lvl4pPr>
            <a:lvl5pPr marL="2406650" indent="0">
              <a:buNone/>
              <a:defRPr sz="2125" b="1"/>
            </a:lvl5pPr>
            <a:lvl6pPr marL="3007995" indent="0">
              <a:buNone/>
              <a:defRPr sz="2125" b="1"/>
            </a:lvl6pPr>
            <a:lvl7pPr marL="3609975" indent="0">
              <a:buNone/>
              <a:defRPr sz="2125" b="1"/>
            </a:lvl7pPr>
            <a:lvl8pPr marL="4211320" indent="0">
              <a:buNone/>
              <a:defRPr sz="2125" b="1"/>
            </a:lvl8pPr>
            <a:lvl9pPr marL="4813300" indent="0">
              <a:buNone/>
              <a:defRPr sz="212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720011" y="2568569"/>
            <a:ext cx="6362595" cy="4666544"/>
          </a:xfrm>
          <a:prstGeom prst="rect">
            <a:avLst/>
          </a:prstGeom>
        </p:spPr>
        <p:txBody>
          <a:bodyPr/>
          <a:lstStyle>
            <a:lvl1pPr>
              <a:defRPr sz="3190"/>
            </a:lvl1pPr>
            <a:lvl2pPr>
              <a:defRPr sz="2620"/>
            </a:lvl2pPr>
            <a:lvl3pPr>
              <a:defRPr sz="2340"/>
            </a:lvl3pPr>
            <a:lvl4pPr>
              <a:defRPr sz="2125"/>
            </a:lvl4pPr>
            <a:lvl5pPr>
              <a:defRPr sz="2125"/>
            </a:lvl5pPr>
            <a:lvl6pPr>
              <a:defRPr sz="2125"/>
            </a:lvl6pPr>
            <a:lvl7pPr>
              <a:defRPr sz="2125"/>
            </a:lvl7pPr>
            <a:lvl8pPr>
              <a:defRPr sz="2125"/>
            </a:lvl8pPr>
            <a:lvl9pPr>
              <a:defRPr sz="212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7315110" y="1812997"/>
            <a:ext cx="6365094" cy="755571"/>
          </a:xfrm>
          <a:prstGeom prst="rect">
            <a:avLst/>
          </a:prstGeom>
        </p:spPr>
        <p:txBody>
          <a:bodyPr anchor="b"/>
          <a:lstStyle>
            <a:lvl1pPr marL="0" indent="0">
              <a:buNone/>
              <a:defRPr sz="3190" b="1"/>
            </a:lvl1pPr>
            <a:lvl2pPr marL="601345" indent="0">
              <a:buNone/>
              <a:defRPr sz="2620" b="1"/>
            </a:lvl2pPr>
            <a:lvl3pPr marL="1203325" indent="0">
              <a:buNone/>
              <a:defRPr sz="2340" b="1"/>
            </a:lvl3pPr>
            <a:lvl4pPr marL="1804670" indent="0">
              <a:buNone/>
              <a:defRPr sz="2125" b="1"/>
            </a:lvl4pPr>
            <a:lvl5pPr marL="2406650" indent="0">
              <a:buNone/>
              <a:defRPr sz="2125" b="1"/>
            </a:lvl5pPr>
            <a:lvl6pPr marL="3007995" indent="0">
              <a:buNone/>
              <a:defRPr sz="2125" b="1"/>
            </a:lvl6pPr>
            <a:lvl7pPr marL="3609975" indent="0">
              <a:buNone/>
              <a:defRPr sz="2125" b="1"/>
            </a:lvl7pPr>
            <a:lvl8pPr marL="4211320" indent="0">
              <a:buNone/>
              <a:defRPr sz="2125" b="1"/>
            </a:lvl8pPr>
            <a:lvl9pPr marL="4813300" indent="0">
              <a:buNone/>
              <a:defRPr sz="212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7315110" y="2568569"/>
            <a:ext cx="6365094" cy="4666544"/>
          </a:xfrm>
          <a:prstGeom prst="rect">
            <a:avLst/>
          </a:prstGeom>
        </p:spPr>
        <p:txBody>
          <a:bodyPr/>
          <a:lstStyle>
            <a:lvl1pPr>
              <a:defRPr sz="3190"/>
            </a:lvl1pPr>
            <a:lvl2pPr>
              <a:defRPr sz="2620"/>
            </a:lvl2pPr>
            <a:lvl3pPr>
              <a:defRPr sz="2340"/>
            </a:lvl3pPr>
            <a:lvl4pPr>
              <a:defRPr sz="2125"/>
            </a:lvl4pPr>
            <a:lvl5pPr>
              <a:defRPr sz="2125"/>
            </a:lvl5pPr>
            <a:lvl6pPr>
              <a:defRPr sz="2125"/>
            </a:lvl6pPr>
            <a:lvl7pPr>
              <a:defRPr sz="2125"/>
            </a:lvl7pPr>
            <a:lvl8pPr>
              <a:defRPr sz="2125"/>
            </a:lvl8pPr>
            <a:lvl9pPr>
              <a:defRPr sz="212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8" name="页脚占位符 7"/>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4" name="页脚占位符 3"/>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3" name="页脚占位符 2"/>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0013" y="322478"/>
            <a:ext cx="4737571" cy="1372403"/>
          </a:xfrm>
          <a:prstGeom prst="rect">
            <a:avLst/>
          </a:prstGeom>
        </p:spPr>
        <p:txBody>
          <a:bodyPr anchor="b"/>
          <a:lstStyle>
            <a:lvl1pPr algn="l">
              <a:defRPr sz="2620" b="1"/>
            </a:lvl1pPr>
          </a:lstStyle>
          <a:p>
            <a:r>
              <a:rPr lang="zh-CN" altLang="en-US"/>
              <a:t>单击此处编辑母版标题样式</a:t>
            </a:r>
            <a:endParaRPr lang="zh-CN" altLang="en-US"/>
          </a:p>
        </p:txBody>
      </p:sp>
      <p:sp>
        <p:nvSpPr>
          <p:cNvPr id="3" name="内容占位符 2"/>
          <p:cNvSpPr>
            <a:spLocks noGrp="1"/>
          </p:cNvSpPr>
          <p:nvPr>
            <p:ph idx="1"/>
          </p:nvPr>
        </p:nvSpPr>
        <p:spPr>
          <a:xfrm>
            <a:off x="5630084" y="322477"/>
            <a:ext cx="8050119" cy="6912635"/>
          </a:xfrm>
          <a:prstGeom prst="rect">
            <a:avLst/>
          </a:prstGeom>
        </p:spPr>
        <p:txBody>
          <a:bodyPr/>
          <a:lstStyle>
            <a:lvl1pPr>
              <a:defRPr sz="4180"/>
            </a:lvl1pPr>
            <a:lvl2pPr>
              <a:defRPr sz="3685"/>
            </a:lvl2pPr>
            <a:lvl3pPr>
              <a:defRPr sz="3190"/>
            </a:lvl3pPr>
            <a:lvl4pPr>
              <a:defRPr sz="2620"/>
            </a:lvl4pPr>
            <a:lvl5pPr>
              <a:defRPr sz="2620"/>
            </a:lvl5pPr>
            <a:lvl6pPr>
              <a:defRPr sz="2620"/>
            </a:lvl6pPr>
            <a:lvl7pPr>
              <a:defRPr sz="2620"/>
            </a:lvl7pPr>
            <a:lvl8pPr>
              <a:defRPr sz="2620"/>
            </a:lvl8pPr>
            <a:lvl9pPr>
              <a:defRPr sz="262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720013" y="1694881"/>
            <a:ext cx="4737571" cy="5540233"/>
          </a:xfrm>
          <a:prstGeom prst="rect">
            <a:avLst/>
          </a:prstGeom>
        </p:spPr>
        <p:txBody>
          <a:bodyPr/>
          <a:lstStyle>
            <a:lvl1pPr marL="0" indent="0">
              <a:buNone/>
              <a:defRPr sz="1840"/>
            </a:lvl1pPr>
            <a:lvl2pPr marL="601345" indent="0">
              <a:buNone/>
              <a:defRPr sz="1560"/>
            </a:lvl2pPr>
            <a:lvl3pPr marL="1203325" indent="0">
              <a:buNone/>
              <a:defRPr sz="1345"/>
            </a:lvl3pPr>
            <a:lvl4pPr marL="1804670" indent="0">
              <a:buNone/>
              <a:defRPr sz="1205"/>
            </a:lvl4pPr>
            <a:lvl5pPr marL="2406650" indent="0">
              <a:buNone/>
              <a:defRPr sz="1205"/>
            </a:lvl5pPr>
            <a:lvl6pPr marL="3007995" indent="0">
              <a:buNone/>
              <a:defRPr sz="1205"/>
            </a:lvl6pPr>
            <a:lvl7pPr marL="3609975" indent="0">
              <a:buNone/>
              <a:defRPr sz="1205"/>
            </a:lvl7pPr>
            <a:lvl8pPr marL="4211320" indent="0">
              <a:buNone/>
              <a:defRPr sz="1205"/>
            </a:lvl8pPr>
            <a:lvl9pPr marL="4813300" indent="0">
              <a:buNone/>
              <a:defRPr sz="120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6" name="页脚占位符 5"/>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
        <p:nvSpPr>
          <p:cNvPr id="8" name="页脚占位符 4"/>
          <p:cNvSpPr txBox="1"/>
          <p:nvPr userDrawn="1"/>
        </p:nvSpPr>
        <p:spPr>
          <a:xfrm>
            <a:off x="12600706" y="161280"/>
            <a:ext cx="4560067" cy="43121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822543" y="5669598"/>
            <a:ext cx="8640128" cy="669328"/>
          </a:xfrm>
          <a:prstGeom prst="rect">
            <a:avLst/>
          </a:prstGeom>
        </p:spPr>
        <p:txBody>
          <a:bodyPr anchor="b"/>
          <a:lstStyle>
            <a:lvl1pPr algn="l">
              <a:defRPr sz="262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822543" y="723699"/>
            <a:ext cx="8640128" cy="4859655"/>
          </a:xfrm>
          <a:prstGeom prst="rect">
            <a:avLst/>
          </a:prstGeom>
        </p:spPr>
        <p:txBody>
          <a:bodyPr/>
          <a:lstStyle>
            <a:lvl1pPr marL="0" indent="0">
              <a:buNone/>
              <a:defRPr sz="4180"/>
            </a:lvl1pPr>
            <a:lvl2pPr marL="601345" indent="0">
              <a:buNone/>
              <a:defRPr sz="3685"/>
            </a:lvl2pPr>
            <a:lvl3pPr marL="1203325" indent="0">
              <a:buNone/>
              <a:defRPr sz="3190"/>
            </a:lvl3pPr>
            <a:lvl4pPr marL="1804670" indent="0">
              <a:buNone/>
              <a:defRPr sz="2620"/>
            </a:lvl4pPr>
            <a:lvl5pPr marL="2406650" indent="0">
              <a:buNone/>
              <a:defRPr sz="2620"/>
            </a:lvl5pPr>
            <a:lvl6pPr marL="3007995" indent="0">
              <a:buNone/>
              <a:defRPr sz="2620"/>
            </a:lvl6pPr>
            <a:lvl7pPr marL="3609975" indent="0">
              <a:buNone/>
              <a:defRPr sz="2620"/>
            </a:lvl7pPr>
            <a:lvl8pPr marL="4211320" indent="0">
              <a:buNone/>
              <a:defRPr sz="2620"/>
            </a:lvl8pPr>
            <a:lvl9pPr marL="4813300" indent="0">
              <a:buNone/>
              <a:defRPr sz="2620"/>
            </a:lvl9pPr>
          </a:lstStyle>
          <a:p>
            <a:endParaRPr lang="zh-CN" altLang="en-US"/>
          </a:p>
        </p:txBody>
      </p:sp>
      <p:sp>
        <p:nvSpPr>
          <p:cNvPr id="4" name="文本占位符 3"/>
          <p:cNvSpPr>
            <a:spLocks noGrp="1"/>
          </p:cNvSpPr>
          <p:nvPr>
            <p:ph type="body" sz="half" idx="2"/>
          </p:nvPr>
        </p:nvSpPr>
        <p:spPr>
          <a:xfrm>
            <a:off x="2822543" y="6338926"/>
            <a:ext cx="8640128" cy="950557"/>
          </a:xfrm>
          <a:prstGeom prst="rect">
            <a:avLst/>
          </a:prstGeom>
        </p:spPr>
        <p:txBody>
          <a:bodyPr/>
          <a:lstStyle>
            <a:lvl1pPr marL="0" indent="0">
              <a:buNone/>
              <a:defRPr sz="1840"/>
            </a:lvl1pPr>
            <a:lvl2pPr marL="601345" indent="0">
              <a:buNone/>
              <a:defRPr sz="1560"/>
            </a:lvl2pPr>
            <a:lvl3pPr marL="1203325" indent="0">
              <a:buNone/>
              <a:defRPr sz="1345"/>
            </a:lvl3pPr>
            <a:lvl4pPr marL="1804670" indent="0">
              <a:buNone/>
              <a:defRPr sz="1205"/>
            </a:lvl4pPr>
            <a:lvl5pPr marL="2406650" indent="0">
              <a:buNone/>
              <a:defRPr sz="1205"/>
            </a:lvl5pPr>
            <a:lvl6pPr marL="3007995" indent="0">
              <a:buNone/>
              <a:defRPr sz="1205"/>
            </a:lvl6pPr>
            <a:lvl7pPr marL="3609975" indent="0">
              <a:buNone/>
              <a:defRPr sz="1205"/>
            </a:lvl7pPr>
            <a:lvl8pPr marL="4211320" indent="0">
              <a:buNone/>
              <a:defRPr sz="1205"/>
            </a:lvl8pPr>
            <a:lvl9pPr marL="4813300" indent="0">
              <a:buNone/>
              <a:defRPr sz="1205"/>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6" name="页脚占位符 5"/>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
        <p:nvSpPr>
          <p:cNvPr id="8" name="页脚占位符 4"/>
          <p:cNvSpPr txBox="1"/>
          <p:nvPr userDrawn="1"/>
        </p:nvSpPr>
        <p:spPr>
          <a:xfrm>
            <a:off x="12600706" y="161280"/>
            <a:ext cx="4560067" cy="43121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720011" y="324353"/>
            <a:ext cx="12960192" cy="1349904"/>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20011" y="1889866"/>
            <a:ext cx="12960192" cy="5345246"/>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
        <p:nvSpPr>
          <p:cNvPr id="7" name="页脚占位符 4"/>
          <p:cNvSpPr txBox="1"/>
          <p:nvPr userDrawn="1"/>
        </p:nvSpPr>
        <p:spPr>
          <a:xfrm>
            <a:off x="12600706" y="161280"/>
            <a:ext cx="4560067" cy="43121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440154" y="324354"/>
            <a:ext cx="3240048" cy="6910760"/>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20011" y="324354"/>
            <a:ext cx="9480140" cy="6910760"/>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720011" y="7506968"/>
            <a:ext cx="3360050" cy="431219"/>
          </a:xfrm>
          <a:prstGeom prst="rect">
            <a:avLst/>
          </a:prstGeom>
        </p:spPr>
        <p:txBody>
          <a:bodyPr/>
          <a:lstStyle/>
          <a:p>
            <a:fld id="{A9A5481D-1841-4C7B-A614-17B81A6372DA}" type="datetimeFigureOut">
              <a:rPr lang="zh-CN" altLang="en-US" smtClean="0"/>
            </a:fld>
            <a:endParaRPr lang="zh-CN" altLang="en-US"/>
          </a:p>
        </p:txBody>
      </p:sp>
      <p:sp>
        <p:nvSpPr>
          <p:cNvPr id="5" name="页脚占位符 4"/>
          <p:cNvSpPr>
            <a:spLocks noGrp="1"/>
          </p:cNvSpPr>
          <p:nvPr>
            <p:ph type="ftr" sz="quarter" idx="11"/>
          </p:nvPr>
        </p:nvSpPr>
        <p:spPr>
          <a:xfrm>
            <a:off x="4920073" y="7506968"/>
            <a:ext cx="4560067" cy="431219"/>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10320152" y="7506968"/>
            <a:ext cx="3360050" cy="431219"/>
          </a:xfrm>
          <a:prstGeom prst="rect">
            <a:avLst/>
          </a:prstGeom>
        </p:spPr>
        <p:txBody>
          <a:bodyPr/>
          <a:lstStyle/>
          <a:p>
            <a:fld id="{40DE7F6F-8D3E-43DB-B6E3-DEA4039993CB}" type="slidenum">
              <a:rPr lang="zh-CN" altLang="en-US" smtClean="0"/>
            </a:fld>
            <a:endParaRPr lang="zh-CN" altLang="en-US"/>
          </a:p>
        </p:txBody>
      </p:sp>
      <p:sp>
        <p:nvSpPr>
          <p:cNvPr id="8" name="页脚占位符 4"/>
          <p:cNvSpPr txBox="1"/>
          <p:nvPr userDrawn="1"/>
        </p:nvSpPr>
        <p:spPr>
          <a:xfrm>
            <a:off x="12600706" y="161280"/>
            <a:ext cx="4560067" cy="43121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a:t>www.guideir.cn</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矩形 3"/>
          <p:cNvSpPr/>
          <p:nvPr/>
        </p:nvSpPr>
        <p:spPr>
          <a:xfrm>
            <a:off x="793" y="0"/>
            <a:ext cx="14400213" cy="66533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页脚占位符 4"/>
          <p:cNvSpPr txBox="1"/>
          <p:nvPr/>
        </p:nvSpPr>
        <p:spPr>
          <a:xfrm>
            <a:off x="12681791" y="233287"/>
            <a:ext cx="1647107" cy="432049"/>
          </a:xfrm>
          <a:prstGeom prst="rect">
            <a:avLst/>
          </a:prstGeom>
        </p:spPr>
        <p:txBody>
          <a:bodyPr/>
          <a:lstStyle>
            <a:defPPr>
              <a:defRPr lang="zh-CN"/>
            </a:defPPr>
            <a:lvl1pPr marL="0" algn="l" defTabSz="1203325" rtl="0" eaLnBrk="1" latinLnBrk="0" hangingPunct="1">
              <a:defRPr sz="1200" kern="1200">
                <a:solidFill>
                  <a:schemeClr val="bg1"/>
                </a:solidFill>
                <a:latin typeface="微软雅黑" panose="020B0503020204020204" pitchFamily="34" charset="-122"/>
                <a:ea typeface="微软雅黑" panose="020B0503020204020204" pitchFamily="34" charset="-122"/>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a:lstStyle>
          <a:p>
            <a:r>
              <a:rPr lang="en-US" altLang="zh-CN" dirty="0" smtClean="0"/>
              <a:t>www.guideir.com</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1203325" rtl="0" eaLnBrk="1" latinLnBrk="0" hangingPunct="1">
        <a:spcBef>
          <a:spcPct val="0"/>
        </a:spcBef>
        <a:buNone/>
        <a:defRPr sz="5810" kern="1200">
          <a:solidFill>
            <a:schemeClr val="tx1"/>
          </a:solidFill>
          <a:latin typeface="+mj-lt"/>
          <a:ea typeface="+mj-ea"/>
          <a:cs typeface="+mj-cs"/>
        </a:defRPr>
      </a:lvl1pPr>
    </p:titleStyle>
    <p:bodyStyle>
      <a:lvl1pPr marL="451485" indent="-451485" algn="l" defTabSz="1203325" rtl="0" eaLnBrk="1" latinLnBrk="0" hangingPunct="1">
        <a:spcBef>
          <a:spcPct val="20000"/>
        </a:spcBef>
        <a:buFont typeface="Arial" panose="020B0604020202020204" pitchFamily="34" charset="0"/>
        <a:buChar char="•"/>
        <a:defRPr sz="4180" kern="1200">
          <a:solidFill>
            <a:schemeClr val="tx1"/>
          </a:solidFill>
          <a:latin typeface="+mn-lt"/>
          <a:ea typeface="+mn-ea"/>
          <a:cs typeface="+mn-cs"/>
        </a:defRPr>
      </a:lvl1pPr>
      <a:lvl2pPr marL="977900" indent="-375920" algn="l" defTabSz="1203325" rtl="0" eaLnBrk="1" latinLnBrk="0" hangingPunct="1">
        <a:spcBef>
          <a:spcPct val="20000"/>
        </a:spcBef>
        <a:buFont typeface="Arial" panose="020B0604020202020204" pitchFamily="34" charset="0"/>
        <a:buChar char="–"/>
        <a:defRPr sz="3685" kern="1200">
          <a:solidFill>
            <a:schemeClr val="tx1"/>
          </a:solidFill>
          <a:latin typeface="+mn-lt"/>
          <a:ea typeface="+mn-ea"/>
          <a:cs typeface="+mn-cs"/>
        </a:defRPr>
      </a:lvl2pPr>
      <a:lvl3pPr marL="1504315" indent="-300990" algn="l" defTabSz="1203325" rtl="0" eaLnBrk="1" latinLnBrk="0" hangingPunct="1">
        <a:spcBef>
          <a:spcPct val="20000"/>
        </a:spcBef>
        <a:buFont typeface="Arial" panose="020B0604020202020204" pitchFamily="34" charset="0"/>
        <a:buChar char="•"/>
        <a:defRPr sz="3190" kern="1200">
          <a:solidFill>
            <a:schemeClr val="tx1"/>
          </a:solidFill>
          <a:latin typeface="+mn-lt"/>
          <a:ea typeface="+mn-ea"/>
          <a:cs typeface="+mn-cs"/>
        </a:defRPr>
      </a:lvl3pPr>
      <a:lvl4pPr marL="210566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4pPr>
      <a:lvl5pPr marL="270764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5pPr>
      <a:lvl6pPr marL="3308985"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6pPr>
      <a:lvl7pPr marL="3910965"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7pPr>
      <a:lvl8pPr marL="451231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8pPr>
      <a:lvl9pPr marL="5114290" indent="-300990" algn="l" defTabSz="1203325"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9pPr>
    </p:bodyStyle>
    <p:otherStyle>
      <a:defPPr>
        <a:defRPr lang="zh-CN"/>
      </a:defPPr>
      <a:lvl1pPr marL="0" algn="l" defTabSz="1203325" rtl="0" eaLnBrk="1" latinLnBrk="0" hangingPunct="1">
        <a:defRPr sz="2340" kern="1200">
          <a:solidFill>
            <a:schemeClr val="tx1"/>
          </a:solidFill>
          <a:latin typeface="+mn-lt"/>
          <a:ea typeface="+mn-ea"/>
          <a:cs typeface="+mn-cs"/>
        </a:defRPr>
      </a:lvl1pPr>
      <a:lvl2pPr marL="601345" algn="l" defTabSz="1203325" rtl="0" eaLnBrk="1" latinLnBrk="0" hangingPunct="1">
        <a:defRPr sz="2340" kern="1200">
          <a:solidFill>
            <a:schemeClr val="tx1"/>
          </a:solidFill>
          <a:latin typeface="+mn-lt"/>
          <a:ea typeface="+mn-ea"/>
          <a:cs typeface="+mn-cs"/>
        </a:defRPr>
      </a:lvl2pPr>
      <a:lvl3pPr marL="1203325" algn="l" defTabSz="1203325" rtl="0" eaLnBrk="1" latinLnBrk="0" hangingPunct="1">
        <a:defRPr sz="2340" kern="1200">
          <a:solidFill>
            <a:schemeClr val="tx1"/>
          </a:solidFill>
          <a:latin typeface="+mn-lt"/>
          <a:ea typeface="+mn-ea"/>
          <a:cs typeface="+mn-cs"/>
        </a:defRPr>
      </a:lvl3pPr>
      <a:lvl4pPr marL="1804670" algn="l" defTabSz="1203325" rtl="0" eaLnBrk="1" latinLnBrk="0" hangingPunct="1">
        <a:defRPr sz="2340" kern="1200">
          <a:solidFill>
            <a:schemeClr val="tx1"/>
          </a:solidFill>
          <a:latin typeface="+mn-lt"/>
          <a:ea typeface="+mn-ea"/>
          <a:cs typeface="+mn-cs"/>
        </a:defRPr>
      </a:lvl4pPr>
      <a:lvl5pPr marL="2406650" algn="l" defTabSz="1203325" rtl="0" eaLnBrk="1" latinLnBrk="0" hangingPunct="1">
        <a:defRPr sz="2340" kern="1200">
          <a:solidFill>
            <a:schemeClr val="tx1"/>
          </a:solidFill>
          <a:latin typeface="+mn-lt"/>
          <a:ea typeface="+mn-ea"/>
          <a:cs typeface="+mn-cs"/>
        </a:defRPr>
      </a:lvl5pPr>
      <a:lvl6pPr marL="3007995" algn="l" defTabSz="1203325" rtl="0" eaLnBrk="1" latinLnBrk="0" hangingPunct="1">
        <a:defRPr sz="2340" kern="1200">
          <a:solidFill>
            <a:schemeClr val="tx1"/>
          </a:solidFill>
          <a:latin typeface="+mn-lt"/>
          <a:ea typeface="+mn-ea"/>
          <a:cs typeface="+mn-cs"/>
        </a:defRPr>
      </a:lvl6pPr>
      <a:lvl7pPr marL="3609975" algn="l" defTabSz="1203325" rtl="0" eaLnBrk="1" latinLnBrk="0" hangingPunct="1">
        <a:defRPr sz="2340" kern="1200">
          <a:solidFill>
            <a:schemeClr val="tx1"/>
          </a:solidFill>
          <a:latin typeface="+mn-lt"/>
          <a:ea typeface="+mn-ea"/>
          <a:cs typeface="+mn-cs"/>
        </a:defRPr>
      </a:lvl7pPr>
      <a:lvl8pPr marL="4211320" algn="l" defTabSz="1203325" rtl="0" eaLnBrk="1" latinLnBrk="0" hangingPunct="1">
        <a:defRPr sz="2340" kern="1200">
          <a:solidFill>
            <a:schemeClr val="tx1"/>
          </a:solidFill>
          <a:latin typeface="+mn-lt"/>
          <a:ea typeface="+mn-ea"/>
          <a:cs typeface="+mn-cs"/>
        </a:defRPr>
      </a:lvl8pPr>
      <a:lvl9pPr marL="4813300" algn="l" defTabSz="1203325" rtl="0" eaLnBrk="1" latinLnBrk="0" hangingPunct="1">
        <a:defRPr sz="23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5.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xml"/><Relationship Id="rId4" Type="http://schemas.openxmlformats.org/officeDocument/2006/relationships/image" Target="../media/image17.jpeg"/><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8.webp"/><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tags" Target="../tags/tag16.xml"/><Relationship Id="rId2" Type="http://schemas.openxmlformats.org/officeDocument/2006/relationships/image" Target="../media/image19.png"/><Relationship Id="rId1" Type="http://schemas.openxmlformats.org/officeDocument/2006/relationships/tags" Target="../tags/tag15.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png"/><Relationship Id="rId2" Type="http://schemas.openxmlformats.org/officeDocument/2006/relationships/tags" Target="../tags/tag18.xml"/><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4.xml"/><Relationship Id="rId6" Type="http://schemas.openxmlformats.org/officeDocument/2006/relationships/image" Target="../media/image22.webp"/><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tags" Target="../tags/tag28.xml"/><Relationship Id="rId4" Type="http://schemas.openxmlformats.org/officeDocument/2006/relationships/image" Target="../media/image23.jpeg"/><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17.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image" Target="../media/image28.jpeg"/><Relationship Id="rId7" Type="http://schemas.openxmlformats.org/officeDocument/2006/relationships/tags" Target="../tags/tag32.xml"/><Relationship Id="rId6" Type="http://schemas.openxmlformats.org/officeDocument/2006/relationships/image" Target="../media/image27.webp"/><Relationship Id="rId5" Type="http://schemas.openxmlformats.org/officeDocument/2006/relationships/tags" Target="../tags/tag31.xml"/><Relationship Id="rId4" Type="http://schemas.openxmlformats.org/officeDocument/2006/relationships/image" Target="../media/image26.jpeg"/><Relationship Id="rId3" Type="http://schemas.openxmlformats.org/officeDocument/2006/relationships/tags" Target="../tags/tag30.xml"/><Relationship Id="rId2" Type="http://schemas.openxmlformats.org/officeDocument/2006/relationships/image" Target="../media/image25.webp"/><Relationship Id="rId11" Type="http://schemas.openxmlformats.org/officeDocument/2006/relationships/slideLayout" Target="../slideLayouts/slideLayout2.xml"/><Relationship Id="rId10" Type="http://schemas.openxmlformats.org/officeDocument/2006/relationships/tags" Target="../tags/tag34.xml"/><Relationship Id="rId1" Type="http://schemas.openxmlformats.org/officeDocument/2006/relationships/tags" Target="../tags/tag29.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1.webp"/><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image" Target="../media/image30.webp"/><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image" Target="../media/image29.png"/><Relationship Id="rId1" Type="http://schemas.openxmlformats.org/officeDocument/2006/relationships/tags" Target="../tags/tag35.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image" Target="../media/image32.png"/><Relationship Id="rId1" Type="http://schemas.openxmlformats.org/officeDocument/2006/relationships/tags" Target="../tags/tag40.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chart" Target="../charts/chart2.xml"/><Relationship Id="rId1" Type="http://schemas.openxmlformats.org/officeDocument/2006/relationships/chart" Target="../charts/chart1.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49.xml"/><Relationship Id="rId3" Type="http://schemas.openxmlformats.org/officeDocument/2006/relationships/image" Target="../media/image33.jpeg"/><Relationship Id="rId2" Type="http://schemas.openxmlformats.org/officeDocument/2006/relationships/tags" Target="../tags/tag48.xml"/><Relationship Id="rId1" Type="http://schemas.openxmlformats.org/officeDocument/2006/relationships/tags" Target="../tags/tag4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custDataLst>
              <p:tags r:id="rId1"/>
            </p:custDataLst>
          </p:nvPr>
        </p:nvPicPr>
        <p:blipFill>
          <a:blip r:embed="rId2" cstate="print">
            <a:extLst>
              <a:ext uri="{28A0092B-C50C-407E-A947-70E740481C1C}">
                <a14:useLocalDpi xmlns:a14="http://schemas.microsoft.com/office/drawing/2010/main" val="0"/>
              </a:ext>
            </a:extLst>
          </a:blip>
          <a:stretch>
            <a:fillRect/>
          </a:stretch>
        </p:blipFill>
        <p:spPr>
          <a:xfrm>
            <a:off x="617" y="0"/>
            <a:ext cx="14398978" cy="8099425"/>
          </a:xfrm>
          <a:prstGeom prst="rect">
            <a:avLst/>
          </a:prstGeom>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8686" y="6497984"/>
            <a:ext cx="2387004" cy="792088"/>
          </a:xfrm>
          <a:prstGeom prst="rect">
            <a:avLst/>
          </a:prstGeom>
        </p:spPr>
      </p:pic>
      <p:sp>
        <p:nvSpPr>
          <p:cNvPr id="13" name="Text Box 15"/>
          <p:cNvSpPr txBox="1">
            <a:spLocks noChangeArrowheads="1"/>
          </p:cNvSpPr>
          <p:nvPr/>
        </p:nvSpPr>
        <p:spPr bwMode="auto">
          <a:xfrm>
            <a:off x="3730469" y="2724532"/>
            <a:ext cx="6939280" cy="675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3800" dirty="0">
                <a:solidFill>
                  <a:schemeClr val="bg1"/>
                </a:solidFill>
                <a:latin typeface="+mj-lt"/>
                <a:ea typeface="微软雅黑 Light" panose="020B0502040204020203" pitchFamily="34" charset="-122"/>
              </a:rPr>
              <a:t>嵌入式平台图像算法加速和优化</a:t>
            </a:r>
            <a:endParaRPr lang="zh-CN" altLang="en-US" sz="3800" dirty="0">
              <a:solidFill>
                <a:schemeClr val="bg1"/>
              </a:solidFill>
              <a:latin typeface="+mj-lt"/>
              <a:ea typeface="微软雅黑 Light" panose="020B0502040204020203" pitchFamily="34" charset="-122"/>
            </a:endParaRPr>
          </a:p>
        </p:txBody>
      </p:sp>
      <p:sp>
        <p:nvSpPr>
          <p:cNvPr id="2" name="文本框 1"/>
          <p:cNvSpPr txBox="1"/>
          <p:nvPr/>
        </p:nvSpPr>
        <p:spPr>
          <a:xfrm>
            <a:off x="10656570" y="5633720"/>
            <a:ext cx="1503680" cy="810260"/>
          </a:xfrm>
          <a:prstGeom prst="rect">
            <a:avLst/>
          </a:prstGeom>
          <a:noFill/>
        </p:spPr>
        <p:txBody>
          <a:bodyPr wrap="none" rtlCol="0">
            <a:spAutoFit/>
          </a:bodyPr>
          <a:p>
            <a:r>
              <a:rPr lang="zh-CN" altLang="en-US">
                <a:solidFill>
                  <a:schemeClr val="bg1"/>
                </a:solidFill>
              </a:rPr>
              <a:t>付航</a:t>
            </a:r>
            <a:endParaRPr lang="zh-CN" altLang="en-US">
              <a:solidFill>
                <a:schemeClr val="bg1"/>
              </a:solidFill>
            </a:endParaRPr>
          </a:p>
          <a:p>
            <a:r>
              <a:rPr lang="en-US" altLang="zh-CN">
                <a:solidFill>
                  <a:schemeClr val="bg1"/>
                </a:solidFill>
              </a:rPr>
              <a:t>20230403</a:t>
            </a:r>
            <a:endParaRPr lang="en-US" altLang="zh-CN">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7" presetClass="entr" presetSubtype="0" fill="hold" grpId="0" nodeType="withEffect">
                                  <p:stCondLst>
                                    <p:cond delay="0"/>
                                  </p:stCondLst>
                                  <p:iterate type="lt">
                                    <p:tmPct val="50000"/>
                                  </p:iterate>
                                  <p:childTnLst>
                                    <p:set>
                                      <p:cBhvr>
                                        <p:cTn id="6" dur="1" fill="hold">
                                          <p:stCondLst>
                                            <p:cond delay="0"/>
                                          </p:stCondLst>
                                        </p:cTn>
                                        <p:tgtEl>
                                          <p:spTgt spid="13"/>
                                        </p:tgtEl>
                                        <p:attrNameLst>
                                          <p:attrName>style.visibility</p:attrName>
                                        </p:attrNameLst>
                                      </p:cBhvr>
                                      <p:to>
                                        <p:strVal val="visible"/>
                                      </p:to>
                                    </p:set>
                                    <p:anim calcmode="discrete" valueType="clr">
                                      <p:cBhvr override="childStyle">
                                        <p:cTn id="7" dur="80"/>
                                        <p:tgtEl>
                                          <p:spTgt spid="13"/>
                                        </p:tgtEl>
                                        <p:attrNameLst>
                                          <p:attrName>style.color</p:attrName>
                                        </p:attrNameLst>
                                      </p:cBhvr>
                                      <p:tavLst>
                                        <p:tav tm="50000">
                                          <p:val>
                                            <p:clrVal>
                                              <a:schemeClr val="hlink"/>
                                            </p:clrVal>
                                          </p:val>
                                        </p:tav>
                                        <p:tav tm="0">
                                          <p:val>
                                            <p:clrVal>
                                              <a:schemeClr val="bg1"/>
                                            </p:clrVal>
                                          </p:val>
                                        </p:tav>
                                      </p:tavLst>
                                    </p:anim>
                                    <p:anim calcmode="discrete" valueType="clr">
                                      <p:cBhvr>
                                        <p:cTn id="8" dur="80"/>
                                        <p:tgtEl>
                                          <p:spTgt spid="13"/>
                                        </p:tgtEl>
                                        <p:attrNameLst>
                                          <p:attrName>fillcolor</p:attrName>
                                        </p:attrNameLst>
                                      </p:cBhvr>
                                      <p:tavLst>
                                        <p:tav tm="0">
                                          <p:val>
                                            <p:clrVal>
                                              <a:schemeClr val="accent2"/>
                                            </p:clrVal>
                                          </p:val>
                                        </p:tav>
                                        <p:tav tm="50000">
                                          <p:val>
                                            <p:clrVal>
                                              <a:schemeClr val="hlink"/>
                                            </p:clrVal>
                                          </p:val>
                                        </p:tav>
                                      </p:tavLst>
                                    </p:anim>
                                    <p:set>
                                      <p:cBhvr>
                                        <p:cTn id="9" dur="80"/>
                                        <p:tgtEl>
                                          <p:spTgt spid="13"/>
                                        </p:tgtEl>
                                        <p:attrNameLst>
                                          <p:attrName>fill.type</p:attrName>
                                        </p:attrNameLst>
                                      </p:cBhvr>
                                      <p:to>
                                        <p:strVal val="solid"/>
                                      </p:to>
                                    </p:set>
                                  </p:childTnLst>
                                </p:cTn>
                              </p:par>
                            </p:childTnLst>
                          </p:cTn>
                        </p:par>
                        <p:par>
                          <p:cTn id="10" fill="hold">
                            <p:stCondLst>
                              <p:cond delay="0"/>
                            </p:stCondLst>
                            <p:childTnLst>
                              <p:par>
                                <p:cTn id="11" presetID="10"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副标题 33"/>
          <p:cNvSpPr>
            <a:spLocks noGrp="1"/>
          </p:cNvSpPr>
          <p:nvPr>
            <p:ph type="subTitle" idx="1"/>
          </p:nvPr>
        </p:nvSpPr>
        <p:spPr>
          <a:xfrm>
            <a:off x="1151434" y="1874842"/>
            <a:ext cx="8784975" cy="4407118"/>
          </a:xfrm>
        </p:spPr>
        <p:txBody>
          <a:bodyPr/>
          <a:lstStyle/>
          <a:p>
            <a:pPr indent="360680">
              <a:lnSpc>
                <a:spcPct val="150000"/>
              </a:lnSpc>
              <a:buClr>
                <a:schemeClr val="tx2"/>
              </a:buClr>
              <a:buSzPct val="100000"/>
            </a:pPr>
            <a:r>
              <a:rPr lang="en-US" altLang="zh-CN" sz="2800" b="1" dirty="0" smtClean="0">
                <a:solidFill>
                  <a:schemeClr val="tx2"/>
                </a:solidFill>
                <a:latin typeface="+mn-ea"/>
              </a:rPr>
              <a:t>1</a:t>
            </a:r>
            <a:r>
              <a:rPr lang="zh-CN" altLang="en-US" sz="2800" b="1" dirty="0" smtClean="0">
                <a:solidFill>
                  <a:schemeClr val="tx2"/>
                </a:solidFill>
                <a:latin typeface="+mn-ea"/>
              </a:rPr>
              <a:t>.</a:t>
            </a:r>
            <a:r>
              <a:rPr lang="zh-CN" altLang="en-US" sz="2800" b="1" dirty="0" smtClean="0">
                <a:solidFill>
                  <a:schemeClr val="tx2"/>
                </a:solidFill>
                <a:latin typeface="+mn-ea"/>
                <a:sym typeface="+mn-ea"/>
              </a:rPr>
              <a:t>算法优化流程</a:t>
            </a:r>
            <a:endParaRPr lang="en-US" altLang="zh-CN" sz="2800" b="1" dirty="0" smtClean="0">
              <a:solidFill>
                <a:schemeClr val="tx2"/>
              </a:solidFill>
              <a:latin typeface="+mn-ea"/>
            </a:endParaRPr>
          </a:p>
          <a:p>
            <a:pPr indent="360680">
              <a:lnSpc>
                <a:spcPct val="150000"/>
              </a:lnSpc>
              <a:buClr>
                <a:schemeClr val="tx2"/>
              </a:buClr>
              <a:buSzPct val="100000"/>
            </a:pPr>
            <a:r>
              <a:rPr lang="en-US" altLang="zh-CN" sz="2800" b="1" dirty="0" smtClean="0">
                <a:solidFill>
                  <a:schemeClr val="tx2"/>
                </a:solidFill>
                <a:latin typeface="+mn-ea"/>
              </a:rPr>
              <a:t>2.</a:t>
            </a:r>
            <a:r>
              <a:rPr lang="zh-CN" altLang="en-US" sz="2800" b="1" dirty="0" smtClean="0">
                <a:solidFill>
                  <a:schemeClr val="tx2"/>
                </a:solidFill>
                <a:latin typeface="+mn-ea"/>
              </a:rPr>
              <a:t>算法性能摸底</a:t>
            </a:r>
            <a:endParaRPr lang="zh-CN" altLang="en-US" sz="2800" b="1" dirty="0" smtClean="0">
              <a:solidFill>
                <a:schemeClr val="tx2"/>
              </a:solidFill>
              <a:latin typeface="+mn-ea"/>
            </a:endParaRPr>
          </a:p>
          <a:p>
            <a:pPr indent="360680">
              <a:lnSpc>
                <a:spcPct val="150000"/>
              </a:lnSpc>
              <a:buClr>
                <a:schemeClr val="tx2"/>
              </a:buClr>
              <a:buSzPct val="100000"/>
            </a:pPr>
            <a:r>
              <a:rPr lang="en-US" altLang="zh-CN" sz="2800" b="1" dirty="0" smtClean="0">
                <a:solidFill>
                  <a:schemeClr val="tx2"/>
                </a:solidFill>
                <a:latin typeface="+mn-ea"/>
              </a:rPr>
              <a:t>3.</a:t>
            </a:r>
            <a:r>
              <a:rPr lang="zh-CN" altLang="en-US" sz="2800" b="1" dirty="0" smtClean="0">
                <a:solidFill>
                  <a:schemeClr val="tx2"/>
                </a:solidFill>
                <a:latin typeface="+mn-ea"/>
              </a:rPr>
              <a:t>代码级优化</a:t>
            </a:r>
            <a:endParaRPr lang="zh-CN" altLang="en-US" sz="2800" b="1" dirty="0" smtClean="0">
              <a:solidFill>
                <a:schemeClr val="tx2"/>
              </a:solidFill>
              <a:latin typeface="+mn-ea"/>
            </a:endParaRPr>
          </a:p>
          <a:p>
            <a:pPr indent="360680">
              <a:lnSpc>
                <a:spcPct val="150000"/>
              </a:lnSpc>
              <a:buClr>
                <a:schemeClr val="tx2"/>
              </a:buClr>
              <a:buSzPct val="100000"/>
            </a:pPr>
            <a:r>
              <a:rPr lang="en-US" altLang="zh-CN" sz="2800" b="1" dirty="0" smtClean="0">
                <a:solidFill>
                  <a:schemeClr val="tx2"/>
                </a:solidFill>
                <a:latin typeface="+mn-ea"/>
              </a:rPr>
              <a:t>4.</a:t>
            </a:r>
            <a:r>
              <a:rPr lang="en-US" altLang="zh-CN" sz="2800" b="1" dirty="0">
                <a:solidFill>
                  <a:schemeClr val="tx2"/>
                </a:solidFill>
                <a:latin typeface="+mn-ea"/>
              </a:rPr>
              <a:t>NEON</a:t>
            </a:r>
            <a:r>
              <a:rPr lang="zh-CN" altLang="en-US" sz="2800" b="1" dirty="0">
                <a:solidFill>
                  <a:schemeClr val="tx2"/>
                </a:solidFill>
                <a:latin typeface="+mn-ea"/>
              </a:rPr>
              <a:t>优化</a:t>
            </a:r>
            <a:endParaRPr lang="zh-CN" altLang="en-US" sz="2800" b="1" dirty="0">
              <a:solidFill>
                <a:schemeClr val="tx2"/>
              </a:solidFill>
              <a:latin typeface="+mn-ea"/>
            </a:endParaRPr>
          </a:p>
        </p:txBody>
      </p:sp>
      <p:sp>
        <p:nvSpPr>
          <p:cNvPr id="6" name="椭圆 5"/>
          <p:cNvSpPr>
            <a:spLocks noChangeArrowheads="1"/>
          </p:cNvSpPr>
          <p:nvPr/>
        </p:nvSpPr>
        <p:spPr bwMode="auto">
          <a:xfrm>
            <a:off x="1223442" y="2177242"/>
            <a:ext cx="216024" cy="216286"/>
          </a:xfrm>
          <a:prstGeom prst="ellipse">
            <a:avLst/>
          </a:prstGeom>
          <a:solidFill>
            <a:schemeClr val="tx2"/>
          </a:solidFill>
          <a:ln w="9525">
            <a:noFill/>
            <a:round/>
          </a:ln>
        </p:spPr>
        <p:txBody>
          <a:bodyPr anchor="ctr"/>
          <a:lstStyle/>
          <a:p>
            <a:pPr algn="ctr" eaLnBrk="1" hangingPunct="1">
              <a:buFont typeface="Arial" panose="020B0604020202020204" pitchFamily="34" charset="0"/>
              <a:buNone/>
            </a:pPr>
            <a:endParaRPr lang="zh-CN" altLang="en-US">
              <a:solidFill>
                <a:srgbClr val="FFFFFF"/>
              </a:solidFill>
            </a:endParaRPr>
          </a:p>
        </p:txBody>
      </p:sp>
      <p:sp>
        <p:nvSpPr>
          <p:cNvPr id="7" name="椭圆 6"/>
          <p:cNvSpPr>
            <a:spLocks noChangeArrowheads="1"/>
          </p:cNvSpPr>
          <p:nvPr/>
        </p:nvSpPr>
        <p:spPr bwMode="auto">
          <a:xfrm>
            <a:off x="1223442" y="2897322"/>
            <a:ext cx="216024" cy="216286"/>
          </a:xfrm>
          <a:prstGeom prst="ellipse">
            <a:avLst/>
          </a:prstGeom>
          <a:solidFill>
            <a:schemeClr val="tx2"/>
          </a:solidFill>
          <a:ln w="9525">
            <a:noFill/>
            <a:round/>
          </a:ln>
        </p:spPr>
        <p:txBody>
          <a:bodyPr anchor="ctr"/>
          <a:lstStyle/>
          <a:p>
            <a:pPr algn="ctr"/>
            <a:endParaRPr lang="zh-CN" altLang="en-US">
              <a:solidFill>
                <a:srgbClr val="FFFFFF"/>
              </a:solidFill>
            </a:endParaRPr>
          </a:p>
        </p:txBody>
      </p:sp>
      <p:sp>
        <p:nvSpPr>
          <p:cNvPr id="8" name="椭圆 7"/>
          <p:cNvSpPr>
            <a:spLocks noChangeArrowheads="1"/>
          </p:cNvSpPr>
          <p:nvPr/>
        </p:nvSpPr>
        <p:spPr bwMode="auto">
          <a:xfrm>
            <a:off x="1223442" y="3617402"/>
            <a:ext cx="216024" cy="216286"/>
          </a:xfrm>
          <a:prstGeom prst="ellipse">
            <a:avLst/>
          </a:prstGeom>
          <a:solidFill>
            <a:schemeClr val="tx2"/>
          </a:solidFill>
          <a:ln w="9525">
            <a:noFill/>
            <a:round/>
          </a:ln>
        </p:spPr>
        <p:txBody>
          <a:bodyPr anchor="ctr"/>
          <a:lstStyle/>
          <a:p>
            <a:pPr algn="ctr">
              <a:buFont typeface="Arial" panose="020B0604020202020204" pitchFamily="34" charset="0"/>
              <a:buNone/>
            </a:pPr>
            <a:endParaRPr lang="zh-CN" altLang="en-US">
              <a:solidFill>
                <a:srgbClr val="FFFFFF"/>
              </a:solidFill>
            </a:endParaRPr>
          </a:p>
        </p:txBody>
      </p:sp>
      <p:sp>
        <p:nvSpPr>
          <p:cNvPr id="10" name="文本框 20"/>
          <p:cNvSpPr txBox="1">
            <a:spLocks noChangeArrowheads="1"/>
          </p:cNvSpPr>
          <p:nvPr/>
        </p:nvSpPr>
        <p:spPr bwMode="auto">
          <a:xfrm>
            <a:off x="935410" y="449312"/>
            <a:ext cx="4121150" cy="1200150"/>
          </a:xfrm>
          <a:prstGeom prst="rect">
            <a:avLst/>
          </a:prstGeom>
          <a:noFill/>
          <a:ln w="9525">
            <a:noFill/>
            <a:miter lim="800000"/>
          </a:ln>
        </p:spPr>
        <p:txBody>
          <a:bodyPr>
            <a:spAutoFit/>
          </a:bodyPr>
          <a:lstStyle/>
          <a:p>
            <a:pPr eaLnBrk="1" hangingPunct="1">
              <a:buFont typeface="Arial" panose="020B0604020202020204" pitchFamily="34" charset="0"/>
              <a:buNone/>
            </a:pPr>
            <a:r>
              <a:rPr lang="zh-CN" altLang="en-US" sz="7200" dirty="0" smtClean="0">
                <a:solidFill>
                  <a:schemeClr val="tx2"/>
                </a:solidFill>
                <a:latin typeface="Impact" panose="020B0806030902050204" pitchFamily="34" charset="0"/>
                <a:ea typeface="张海山锐谐体" pitchFamily="2" charset="-122"/>
              </a:rPr>
              <a:t>目           录</a:t>
            </a:r>
            <a:endParaRPr lang="zh-CN" altLang="en-US" sz="7200" dirty="0">
              <a:solidFill>
                <a:schemeClr val="tx2"/>
              </a:solidFill>
              <a:latin typeface="Impact" panose="020B0806030902050204" pitchFamily="34" charset="0"/>
              <a:ea typeface="张海山锐谐体" pitchFamily="2" charset="-122"/>
            </a:endParaRPr>
          </a:p>
        </p:txBody>
      </p:sp>
      <p:sp>
        <p:nvSpPr>
          <p:cNvPr id="9" name="椭圆 8"/>
          <p:cNvSpPr>
            <a:spLocks noChangeArrowheads="1"/>
          </p:cNvSpPr>
          <p:nvPr/>
        </p:nvSpPr>
        <p:spPr bwMode="auto">
          <a:xfrm>
            <a:off x="1223442" y="4337482"/>
            <a:ext cx="216024" cy="216286"/>
          </a:xfrm>
          <a:prstGeom prst="ellipse">
            <a:avLst/>
          </a:prstGeom>
          <a:solidFill>
            <a:schemeClr val="tx2"/>
          </a:solidFill>
          <a:ln w="9525">
            <a:noFill/>
            <a:round/>
          </a:ln>
        </p:spPr>
        <p:txBody>
          <a:bodyPr anchor="ctr"/>
          <a:lstStyle/>
          <a:p>
            <a:pPr algn="ctr">
              <a:buFont typeface="Arial" panose="020B0604020202020204" pitchFamily="34" charset="0"/>
              <a:buNone/>
            </a:pPr>
            <a:endParaRPr lang="zh-CN" altLang="en-US">
              <a:solidFill>
                <a:srgbClr val="FFFFFF"/>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94" y="-54744"/>
            <a:ext cx="5112568" cy="829945"/>
          </a:xfrm>
          <a:prstGeom prst="rect">
            <a:avLst/>
          </a:prstGeom>
          <a:noFill/>
        </p:spPr>
        <p:txBody>
          <a:bodyPr wrap="square" rtlCol="0">
            <a:spAutoFit/>
          </a:bodyPr>
          <a:lstStyle/>
          <a:p>
            <a:pPr indent="360680">
              <a:lnSpc>
                <a:spcPct val="150000"/>
              </a:lnSpc>
              <a:buClr>
                <a:schemeClr val="tx2"/>
              </a:buClr>
              <a:buSzPct val="100000"/>
            </a:pPr>
            <a:r>
              <a:rPr lang="zh-CN" altLang="en-US" sz="3200" b="1" dirty="0">
                <a:solidFill>
                  <a:schemeClr val="bg1"/>
                </a:solidFill>
                <a:latin typeface="+mn-ea"/>
                <a:sym typeface="+mn-ea"/>
              </a:rPr>
              <a:t>1.</a:t>
            </a:r>
            <a:r>
              <a:rPr lang="zh-CN" altLang="en-US" sz="3200" b="1" dirty="0">
                <a:solidFill>
                  <a:schemeClr val="bg1"/>
                </a:solidFill>
                <a:latin typeface="+mn-ea"/>
                <a:sym typeface="+mn-ea"/>
              </a:rPr>
              <a:t>算法优化流程</a:t>
            </a:r>
            <a:endParaRPr lang="zh-CN" altLang="en-US" sz="3200" b="1" dirty="0">
              <a:solidFill>
                <a:schemeClr val="bg1"/>
              </a:solidFill>
              <a:latin typeface="+mn-ea"/>
              <a:sym typeface="+mn-ea"/>
            </a:endParaRPr>
          </a:p>
        </p:txBody>
      </p:sp>
      <p:sp>
        <p:nvSpPr>
          <p:cNvPr id="100" name="文本框 99"/>
          <p:cNvSpPr txBox="1"/>
          <p:nvPr/>
        </p:nvSpPr>
        <p:spPr>
          <a:xfrm>
            <a:off x="647065" y="881380"/>
            <a:ext cx="7337425" cy="337185"/>
          </a:xfrm>
          <a:prstGeom prst="rect">
            <a:avLst/>
          </a:prstGeom>
          <a:noFill/>
          <a:ln w="9525">
            <a:noFill/>
          </a:ln>
        </p:spPr>
        <p:txBody>
          <a:bodyPr wrap="square">
            <a:spAutoFit/>
          </a:bodyPr>
          <a:p>
            <a:pPr indent="0"/>
            <a:r>
              <a:rPr sz="1600" b="1">
                <a:latin typeface="Times New Roman" panose="02020603050405020304" pitchFamily="18" charset="0"/>
                <a:ea typeface="宋体" panose="02010600030101010101" pitchFamily="2" charset="-122"/>
              </a:rPr>
              <a:t>算法优化参考流程如下图所示:</a:t>
            </a:r>
            <a:endParaRPr sz="1600" b="1">
              <a:latin typeface="Times New Roman" panose="02020603050405020304" pitchFamily="18" charset="0"/>
              <a:ea typeface="宋体" panose="02010600030101010101" pitchFamily="2" charset="-122"/>
            </a:endParaRPr>
          </a:p>
        </p:txBody>
      </p:sp>
      <p:graphicFrame>
        <p:nvGraphicFramePr>
          <p:cNvPr id="-2147482623" name="对象 -2147482624"/>
          <p:cNvGraphicFramePr/>
          <p:nvPr>
            <p:custDataLst>
              <p:tags r:id="rId1"/>
            </p:custDataLst>
          </p:nvPr>
        </p:nvGraphicFramePr>
        <p:xfrm>
          <a:off x="492760" y="1541145"/>
          <a:ext cx="7221855" cy="5673725"/>
        </p:xfrm>
        <a:graphic>
          <a:graphicData uri="http://schemas.openxmlformats.org/presentationml/2006/ole">
            <mc:AlternateContent xmlns:mc="http://schemas.openxmlformats.org/markup-compatibility/2006">
              <mc:Choice xmlns:v="urn:schemas-microsoft-com:vml" Requires="v">
                <p:oleObj spid="_x0000_s3076" name="" r:id="rId2" imgW="8794115" imgH="6006465" progId="Visio.Drawing.15">
                  <p:embed/>
                </p:oleObj>
              </mc:Choice>
              <mc:Fallback>
                <p:oleObj name="" r:id="rId2" imgW="8794115" imgH="6006465" progId="Visio.Drawing.15">
                  <p:embed/>
                  <p:pic>
                    <p:nvPicPr>
                      <p:cNvPr id="0" name="图片 3075"/>
                      <p:cNvPicPr/>
                      <p:nvPr/>
                    </p:nvPicPr>
                    <p:blipFill>
                      <a:blip r:embed="rId3"/>
                      <a:stretch>
                        <a:fillRect/>
                      </a:stretch>
                    </p:blipFill>
                    <p:spPr>
                      <a:xfrm>
                        <a:off x="492760" y="1541145"/>
                        <a:ext cx="7221855" cy="5673725"/>
                      </a:xfrm>
                      <a:prstGeom prst="rect">
                        <a:avLst/>
                      </a:prstGeom>
                      <a:noFill/>
                      <a:ln w="38100">
                        <a:noFill/>
                        <a:miter/>
                      </a:ln>
                    </p:spPr>
                  </p:pic>
                </p:oleObj>
              </mc:Fallback>
            </mc:AlternateContent>
          </a:graphicData>
        </a:graphic>
      </p:graphicFrame>
      <p:sp>
        <p:nvSpPr>
          <p:cNvPr id="5" name="文本框 4"/>
          <p:cNvSpPr txBox="1"/>
          <p:nvPr/>
        </p:nvSpPr>
        <p:spPr>
          <a:xfrm>
            <a:off x="7983220" y="1169670"/>
            <a:ext cx="5552440" cy="2306955"/>
          </a:xfrm>
          <a:prstGeom prst="rect">
            <a:avLst/>
          </a:prstGeom>
          <a:noFill/>
          <a:ln w="9525">
            <a:noFill/>
          </a:ln>
        </p:spPr>
        <p:txBody>
          <a:bodyPr wrap="square">
            <a:spAutoFit/>
          </a:bodyPr>
          <a:p>
            <a:pPr indent="254000"/>
            <a:r>
              <a:rPr lang="zh-CN" sz="1800" b="1">
                <a:latin typeface="Times New Roman" panose="02020603050405020304" pitchFamily="18" charset="0"/>
                <a:ea typeface="宋体" panose="02010600030101010101" pitchFamily="2" charset="-122"/>
              </a:rPr>
              <a:t>1．算法优化基本原则</a:t>
            </a:r>
            <a:r>
              <a:rPr lang="en-US" sz="1800" b="0">
                <a:latin typeface="Times New Roman" panose="02020603050405020304" pitchFamily="18" charset="0"/>
                <a:ea typeface="宋体" panose="02010600030101010101" pitchFamily="2" charset="-122"/>
              </a:rPr>
              <a:t>A </a:t>
            </a:r>
            <a:r>
              <a:rPr lang="zh-CN" sz="1800" b="0">
                <a:latin typeface="Times New Roman" panose="02020603050405020304" pitchFamily="18" charset="0"/>
                <a:ea typeface="宋体" panose="02010600030101010101" pitchFamily="2" charset="-122"/>
              </a:rPr>
              <a:t>等效原则：优化前后程序实现的功能一致；</a:t>
            </a:r>
            <a:endParaRPr lang="zh-CN" sz="1800" b="0">
              <a:latin typeface="Times New Roman" panose="02020603050405020304" pitchFamily="18" charset="0"/>
              <a:ea typeface="宋体" panose="02010600030101010101" pitchFamily="2" charset="-122"/>
            </a:endParaRPr>
          </a:p>
          <a:p>
            <a:pPr indent="254000"/>
            <a:r>
              <a:rPr lang="en-US" sz="1800" b="0">
                <a:latin typeface="Times New Roman" panose="02020603050405020304" pitchFamily="18" charset="0"/>
                <a:ea typeface="宋体" panose="02010600030101010101" pitchFamily="2" charset="-122"/>
              </a:rPr>
              <a:t>B </a:t>
            </a:r>
            <a:r>
              <a:rPr lang="zh-CN" sz="1800" b="0">
                <a:latin typeface="Times New Roman" panose="02020603050405020304" pitchFamily="18" charset="0"/>
                <a:ea typeface="宋体" panose="02010600030101010101" pitchFamily="2" charset="-122"/>
              </a:rPr>
              <a:t>有效原则：优化后要比优化前运行速度快或占用存储空间小，或二者兼有；</a:t>
            </a:r>
            <a:endParaRPr lang="zh-CN" sz="1800" b="0">
              <a:latin typeface="Times New Roman" panose="02020603050405020304" pitchFamily="18" charset="0"/>
              <a:ea typeface="宋体" panose="02010600030101010101" pitchFamily="2" charset="-122"/>
            </a:endParaRPr>
          </a:p>
          <a:p>
            <a:pPr indent="254000"/>
            <a:r>
              <a:rPr lang="en-US" sz="1800" b="0">
                <a:latin typeface="Times New Roman" panose="02020603050405020304" pitchFamily="18" charset="0"/>
                <a:ea typeface="宋体" panose="02010600030101010101" pitchFamily="2" charset="-122"/>
              </a:rPr>
              <a:t>C </a:t>
            </a:r>
            <a:r>
              <a:rPr lang="zh-CN" sz="1800" b="0">
                <a:latin typeface="Times New Roman" panose="02020603050405020304" pitchFamily="18" charset="0"/>
                <a:ea typeface="宋体" panose="02010600030101010101" pitchFamily="2" charset="-122"/>
              </a:rPr>
              <a:t>经济原则：优化程序要付出较小的代价，取得较好的结果。</a:t>
            </a:r>
            <a:endParaRPr lang="zh-CN" altLang="en-US" sz="1800" b="0">
              <a:latin typeface="Times New Roman" panose="02020603050405020304" pitchFamily="18" charset="0"/>
              <a:ea typeface="宋体" panose="02010600030101010101" pitchFamily="2" charset="-122"/>
            </a:endParaRPr>
          </a:p>
        </p:txBody>
      </p:sp>
      <p:sp>
        <p:nvSpPr>
          <p:cNvPr id="6" name="文本框 5"/>
          <p:cNvSpPr txBox="1"/>
          <p:nvPr/>
        </p:nvSpPr>
        <p:spPr>
          <a:xfrm>
            <a:off x="7992427" y="3905568"/>
            <a:ext cx="5080000" cy="2584450"/>
          </a:xfrm>
          <a:prstGeom prst="rect">
            <a:avLst/>
          </a:prstGeom>
          <a:noFill/>
          <a:ln w="9525">
            <a:noFill/>
          </a:ln>
        </p:spPr>
        <p:txBody>
          <a:bodyPr>
            <a:spAutoFit/>
          </a:bodyPr>
          <a:p>
            <a:pPr indent="254000" algn="l">
              <a:buClrTx/>
              <a:buSzTx/>
              <a:buNone/>
            </a:pPr>
            <a:r>
              <a:rPr lang="zh-CN" sz="1800" b="1">
                <a:latin typeface="Times New Roman" panose="02020603050405020304" pitchFamily="18" charset="0"/>
                <a:ea typeface="宋体" panose="02010600030101010101" pitchFamily="2" charset="-122"/>
              </a:rPr>
              <a:t>2.算法性能评估指标</a:t>
            </a:r>
            <a:r>
              <a:rPr lang="zh-CN" sz="1800" b="0">
                <a:latin typeface="Times New Roman" panose="02020603050405020304" pitchFamily="18" charset="0"/>
                <a:ea typeface="宋体" panose="02010600030101010101" pitchFamily="2" charset="-122"/>
              </a:rPr>
              <a:t></a:t>
            </a:r>
            <a:r>
              <a:rPr lang="en-US" sz="1800" b="0">
                <a:latin typeface="Times New Roman" panose="02020603050405020304" pitchFamily="18" charset="0"/>
                <a:ea typeface="宋体" panose="02010600030101010101" pitchFamily="2" charset="-122"/>
              </a:rPr>
              <a:t>      综合性能测试评估基本指标：时间，内存，CPU占用率，功耗</a:t>
            </a:r>
            <a:endParaRPr lang="en-US" sz="1800" b="0">
              <a:latin typeface="Times New Roman" panose="02020603050405020304" pitchFamily="18" charset="0"/>
              <a:ea typeface="宋体" panose="02010600030101010101" pitchFamily="2" charset="-122"/>
            </a:endParaRPr>
          </a:p>
          <a:p>
            <a:pPr indent="254000" algn="l">
              <a:buClrTx/>
              <a:buSzTx/>
              <a:buNone/>
            </a:pPr>
            <a:r>
              <a:rPr lang="en-US" sz="1800" b="0">
                <a:latin typeface="Times New Roman" panose="02020603050405020304" pitchFamily="18" charset="0"/>
                <a:ea typeface="宋体" panose="02010600030101010101" pitchFamily="2" charset="-122"/>
              </a:rPr>
              <a:t>函数优化大致方向：A消除冗余计算B消除，优化选择，跳转分支C</a:t>
            </a:r>
            <a:r>
              <a:rPr lang="en-US" sz="1800" b="0">
                <a:latin typeface="Times New Roman" panose="02020603050405020304" pitchFamily="18" charset="0"/>
                <a:ea typeface="宋体" panose="02010600030101010101" pitchFamily="2" charset="-122"/>
              </a:rPr>
              <a:t>低效率函数优化D内存访问效率优化</a:t>
            </a:r>
            <a:endParaRPr lang="en-US" sz="1800" b="0">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94" y="-54744"/>
            <a:ext cx="5112568" cy="829945"/>
          </a:xfrm>
          <a:prstGeom prst="rect">
            <a:avLst/>
          </a:prstGeom>
          <a:noFill/>
        </p:spPr>
        <p:txBody>
          <a:bodyPr wrap="square" rtlCol="0">
            <a:spAutoFit/>
          </a:bodyPr>
          <a:lstStyle/>
          <a:p>
            <a:pPr lvl="0" indent="360680" algn="l">
              <a:lnSpc>
                <a:spcPct val="150000"/>
              </a:lnSpc>
              <a:buClr>
                <a:schemeClr val="tx2"/>
              </a:buClr>
              <a:buSzTx/>
              <a:buFontTx/>
            </a:pPr>
            <a:r>
              <a:rPr lang="en-US" altLang="zh-CN" sz="3200" b="1" dirty="0">
                <a:solidFill>
                  <a:schemeClr val="bg1"/>
                </a:solidFill>
                <a:latin typeface="+mn-ea"/>
                <a:sym typeface="+mn-ea"/>
              </a:rPr>
              <a:t>2</a:t>
            </a:r>
            <a:r>
              <a:rPr lang="en-US" altLang="zh-CN" sz="3200" b="1" dirty="0">
                <a:solidFill>
                  <a:schemeClr val="bg1"/>
                </a:solidFill>
                <a:latin typeface="+mn-ea"/>
                <a:sym typeface="+mn-ea"/>
              </a:rPr>
              <a:t>.</a:t>
            </a:r>
            <a:r>
              <a:rPr lang="zh-CN" altLang="en-US" sz="3200" b="1" dirty="0">
                <a:solidFill>
                  <a:schemeClr val="bg1"/>
                </a:solidFill>
                <a:latin typeface="+mn-ea"/>
                <a:sym typeface="+mn-ea"/>
              </a:rPr>
              <a:t>算法性能摸底</a:t>
            </a:r>
            <a:endParaRPr lang="zh-CN" altLang="en-US" sz="3200" b="1" dirty="0">
              <a:solidFill>
                <a:schemeClr val="bg1"/>
              </a:solidFill>
              <a:latin typeface="+mn-ea"/>
              <a:sym typeface="+mn-ea"/>
            </a:endParaRPr>
          </a:p>
        </p:txBody>
      </p:sp>
      <p:sp>
        <p:nvSpPr>
          <p:cNvPr id="3" name="TextBox 2"/>
          <p:cNvSpPr txBox="1"/>
          <p:nvPr/>
        </p:nvSpPr>
        <p:spPr>
          <a:xfrm>
            <a:off x="647378" y="1097384"/>
            <a:ext cx="13033448" cy="452111"/>
          </a:xfrm>
          <a:prstGeom prst="rect">
            <a:avLst/>
          </a:prstGeom>
          <a:noFill/>
        </p:spPr>
        <p:txBody>
          <a:bodyPr wrap="square" rtlCol="0">
            <a:spAutoFit/>
          </a:bodyPr>
          <a:lstStyle/>
          <a:p>
            <a:endParaRPr lang="zh-CN" altLang="en-US" dirty="0"/>
          </a:p>
        </p:txBody>
      </p:sp>
      <p:sp>
        <p:nvSpPr>
          <p:cNvPr id="100" name="文本框 99"/>
          <p:cNvSpPr txBox="1"/>
          <p:nvPr/>
        </p:nvSpPr>
        <p:spPr>
          <a:xfrm>
            <a:off x="791210" y="1097915"/>
            <a:ext cx="12475210" cy="1322070"/>
          </a:xfrm>
          <a:prstGeom prst="rect">
            <a:avLst/>
          </a:prstGeom>
          <a:noFill/>
          <a:ln w="9525">
            <a:noFill/>
          </a:ln>
        </p:spPr>
        <p:txBody>
          <a:bodyPr wrap="square">
            <a:spAutoFit/>
          </a:bodyPr>
          <a:p>
            <a:pPr indent="0"/>
            <a:r>
              <a:rPr lang="zh-CN" sz="1600" b="1">
                <a:latin typeface="Times New Roman" panose="02020603050405020304" pitchFamily="18" charset="0"/>
                <a:ea typeface="宋体" panose="02010600030101010101" pitchFamily="2" charset="-122"/>
              </a:rPr>
              <a:t>1，算法优化遵循抓大放小的原则。首先把算法的整个流程执行一遍，然后根据每个函数的实际运行时间来判断是否需要优化。重点对运行时间长的函数进行优化，对于耗时较短的函数不予处理。2，算法性能摸底设计两组实验。第一组编译器开启三级优化选项，第二组编译器同时打开三级优化和</a:t>
            </a:r>
            <a:r>
              <a:rPr lang="en-US" sz="1600" b="1">
                <a:latin typeface="Times New Roman" panose="02020603050405020304" pitchFamily="18" charset="0"/>
                <a:ea typeface="宋体" panose="02010600030101010101" pitchFamily="2" charset="-122"/>
              </a:rPr>
              <a:t>NEON</a:t>
            </a:r>
            <a:r>
              <a:rPr lang="zh-CN" sz="1600" b="1">
                <a:latin typeface="Times New Roman" panose="02020603050405020304" pitchFamily="18" charset="0"/>
                <a:ea typeface="宋体" panose="02010600030101010101" pitchFamily="2" charset="-122"/>
              </a:rPr>
              <a:t>加速选项。通过对两组实验中函数的执行时间来判断那些函数需要被重点优化。</a:t>
            </a:r>
            <a:endParaRPr lang="zh-CN" altLang="en-US" sz="1600" b="1">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1"/>
          <a:stretch>
            <a:fillRect/>
          </a:stretch>
        </p:blipFill>
        <p:spPr>
          <a:xfrm>
            <a:off x="791210" y="2609850"/>
            <a:ext cx="5695950" cy="3438525"/>
          </a:xfrm>
          <a:prstGeom prst="rect">
            <a:avLst/>
          </a:prstGeom>
        </p:spPr>
      </p:pic>
      <p:pic>
        <p:nvPicPr>
          <p:cNvPr id="7" name="图片 6"/>
          <p:cNvPicPr>
            <a:picLocks noChangeAspect="1"/>
          </p:cNvPicPr>
          <p:nvPr/>
        </p:nvPicPr>
        <p:blipFill>
          <a:blip r:embed="rId2"/>
          <a:stretch>
            <a:fillRect/>
          </a:stretch>
        </p:blipFill>
        <p:spPr>
          <a:xfrm>
            <a:off x="7272020" y="2647950"/>
            <a:ext cx="5791200" cy="34004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47378" y="1097384"/>
            <a:ext cx="13033448" cy="452111"/>
          </a:xfrm>
          <a:prstGeom prst="rect">
            <a:avLst/>
          </a:prstGeom>
          <a:noFill/>
        </p:spPr>
        <p:txBody>
          <a:bodyPr wrap="square" rtlCol="0">
            <a:spAutoFit/>
          </a:bodyPr>
          <a:lstStyle/>
          <a:p>
            <a:endParaRPr lang="zh-CN" altLang="en-US" dirty="0"/>
          </a:p>
        </p:txBody>
      </p:sp>
      <p:pic>
        <p:nvPicPr>
          <p:cNvPr id="7" name="图片 6"/>
          <p:cNvPicPr>
            <a:picLocks noChangeAspect="1"/>
          </p:cNvPicPr>
          <p:nvPr/>
        </p:nvPicPr>
        <p:blipFill>
          <a:blip r:embed="rId1"/>
          <a:stretch>
            <a:fillRect/>
          </a:stretch>
        </p:blipFill>
        <p:spPr>
          <a:xfrm>
            <a:off x="863600" y="1601470"/>
            <a:ext cx="5295900" cy="4276725"/>
          </a:xfrm>
          <a:prstGeom prst="rect">
            <a:avLst/>
          </a:prstGeom>
        </p:spPr>
      </p:pic>
      <p:sp>
        <p:nvSpPr>
          <p:cNvPr id="100" name="文本框 99"/>
          <p:cNvSpPr txBox="1"/>
          <p:nvPr/>
        </p:nvSpPr>
        <p:spPr>
          <a:xfrm>
            <a:off x="6984365" y="2157095"/>
            <a:ext cx="6504305" cy="3784600"/>
          </a:xfrm>
          <a:prstGeom prst="rect">
            <a:avLst/>
          </a:prstGeom>
          <a:noFill/>
          <a:ln w="9525">
            <a:noFill/>
          </a:ln>
        </p:spPr>
        <p:txBody>
          <a:bodyPr wrap="square">
            <a:spAutoFit/>
          </a:bodyPr>
          <a:p>
            <a:pPr indent="0"/>
            <a:r>
              <a:rPr lang="zh-CN" sz="2000" b="1">
                <a:latin typeface="Times New Roman" panose="02020603050405020304" pitchFamily="18" charset="0"/>
                <a:ea typeface="宋体" panose="02010600030101010101" pitchFamily="2" charset="-122"/>
              </a:rPr>
              <a:t>结果分析：</a:t>
            </a:r>
            <a:endParaRPr lang="zh-CN" sz="2000" b="1">
              <a:latin typeface="Times New Roman" panose="02020603050405020304" pitchFamily="18" charset="0"/>
              <a:ea typeface="宋体" panose="02010600030101010101" pitchFamily="2" charset="-122"/>
            </a:endParaRPr>
          </a:p>
          <a:p>
            <a:pPr indent="0"/>
            <a:r>
              <a:rPr lang="zh-CN" sz="2000" b="1">
                <a:latin typeface="Times New Roman" panose="02020603050405020304" pitchFamily="18" charset="0"/>
                <a:ea typeface="宋体" panose="02010600030101010101" pitchFamily="2" charset="-122"/>
              </a:rPr>
              <a:t>1，通过测试数据来看可以发现整个算法流程中时间消耗最长的函数是去竖纹，去横纹，空域滤波。2，开启</a:t>
            </a:r>
            <a:r>
              <a:rPr lang="en-US" sz="2000" b="1">
                <a:latin typeface="Times New Roman" panose="02020603050405020304" pitchFamily="18" charset="0"/>
                <a:ea typeface="宋体" panose="02010600030101010101" pitchFamily="2" charset="-122"/>
              </a:rPr>
              <a:t>NEON</a:t>
            </a:r>
            <a:r>
              <a:rPr lang="zh-CN" sz="2000" b="1">
                <a:latin typeface="Times New Roman" panose="02020603050405020304" pitchFamily="18" charset="0"/>
                <a:ea typeface="宋体" panose="02010600030101010101" pitchFamily="2" charset="-122"/>
              </a:rPr>
              <a:t>后并没有看到算法性能得到了实质性的提升，说明原始图像处理算法的实现代码耦合性强，复杂度较高，编译器对于代码中的复杂逻辑语句的识别率较低，需要进行代码分析，手动优化，以提升编译优化效率。</a:t>
            </a:r>
            <a:r>
              <a:rPr lang="en-US" sz="2000" b="1">
                <a:latin typeface="Times New Roman" panose="02020603050405020304" pitchFamily="18" charset="0"/>
                <a:ea typeface="宋体" panose="02010600030101010101" pitchFamily="2" charset="-122"/>
              </a:rPr>
              <a:t>3</a:t>
            </a:r>
            <a:r>
              <a:rPr lang="zh-CN" sz="2000" b="1">
                <a:latin typeface="Times New Roman" panose="02020603050405020304" pitchFamily="18" charset="0"/>
                <a:ea typeface="宋体" panose="02010600030101010101" pitchFamily="2" charset="-122"/>
              </a:rPr>
              <a:t>，从目前单帧运算时间来看，现有算法在不同分辨率的测试数据下单帧时长均高于</a:t>
            </a:r>
            <a:r>
              <a:rPr lang="en-US" sz="2000" b="1">
                <a:latin typeface="Times New Roman" panose="02020603050405020304" pitchFamily="18" charset="0"/>
                <a:ea typeface="宋体" panose="02010600030101010101" pitchFamily="2" charset="-122"/>
              </a:rPr>
              <a:t>50ms</a:t>
            </a:r>
            <a:r>
              <a:rPr lang="zh-CN" sz="2000" b="1">
                <a:latin typeface="Times New Roman" panose="02020603050405020304" pitchFamily="18" charset="0"/>
                <a:ea typeface="宋体" panose="02010600030101010101" pitchFamily="2" charset="-122"/>
              </a:rPr>
              <a:t>，不能达到实时处理水平。</a:t>
            </a:r>
            <a:endParaRPr lang="zh-CN" altLang="en-US" sz="2000" b="1">
              <a:latin typeface="Times New Roman" panose="02020603050405020304" pitchFamily="18" charset="0"/>
              <a:ea typeface="宋体" panose="02010600030101010101" pitchFamily="2" charset="-122"/>
            </a:endParaRPr>
          </a:p>
        </p:txBody>
      </p:sp>
      <p:sp>
        <p:nvSpPr>
          <p:cNvPr id="4" name="TextBox 3"/>
          <p:cNvSpPr txBox="1"/>
          <p:nvPr>
            <p:custDataLst>
              <p:tags r:id="rId2"/>
            </p:custDataLst>
          </p:nvPr>
        </p:nvSpPr>
        <p:spPr>
          <a:xfrm>
            <a:off x="-694" y="-54744"/>
            <a:ext cx="5112568" cy="829945"/>
          </a:xfrm>
          <a:prstGeom prst="rect">
            <a:avLst/>
          </a:prstGeom>
          <a:noFill/>
        </p:spPr>
        <p:txBody>
          <a:bodyPr wrap="square" rtlCol="0">
            <a:spAutoFit/>
          </a:bodyPr>
          <a:p>
            <a:pPr lvl="0" indent="360680" algn="l">
              <a:lnSpc>
                <a:spcPct val="150000"/>
              </a:lnSpc>
              <a:buClr>
                <a:schemeClr val="tx2"/>
              </a:buClr>
              <a:buSzTx/>
              <a:buFontTx/>
            </a:pPr>
            <a:r>
              <a:rPr lang="en-US" altLang="zh-CN" sz="3200" b="1" dirty="0">
                <a:solidFill>
                  <a:schemeClr val="bg1"/>
                </a:solidFill>
                <a:latin typeface="+mn-ea"/>
                <a:sym typeface="+mn-ea"/>
              </a:rPr>
              <a:t>2</a:t>
            </a:r>
            <a:r>
              <a:rPr lang="en-US" altLang="zh-CN" sz="3200" b="1" dirty="0">
                <a:solidFill>
                  <a:schemeClr val="bg1"/>
                </a:solidFill>
                <a:latin typeface="+mn-ea"/>
                <a:sym typeface="+mn-ea"/>
              </a:rPr>
              <a:t>.</a:t>
            </a:r>
            <a:r>
              <a:rPr lang="zh-CN" altLang="en-US" sz="3200" b="1" dirty="0">
                <a:solidFill>
                  <a:schemeClr val="bg1"/>
                </a:solidFill>
                <a:latin typeface="+mn-ea"/>
                <a:sym typeface="+mn-ea"/>
              </a:rPr>
              <a:t>算法性能摸底</a:t>
            </a:r>
            <a:endParaRPr lang="zh-CN" altLang="en-US" sz="3200" b="1" dirty="0">
              <a:solidFill>
                <a:schemeClr val="bg1"/>
              </a:solidFill>
              <a:latin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54610"/>
            <a:ext cx="5112385" cy="570230"/>
          </a:xfrm>
          <a:prstGeom prst="rect">
            <a:avLst/>
          </a:prstGeom>
          <a:noFill/>
        </p:spPr>
        <p:txBody>
          <a:bodyPr wrap="square" rtlCol="0">
            <a:noAutofit/>
          </a:bodyPr>
          <a:lstStyle/>
          <a:p>
            <a:pPr indent="360680">
              <a:lnSpc>
                <a:spcPct val="150000"/>
              </a:lnSpc>
              <a:buClr>
                <a:schemeClr val="tx2"/>
              </a:buClr>
              <a:buSzPct val="100000"/>
            </a:pPr>
            <a:r>
              <a:rPr lang="en-US" altLang="zh-CN" sz="3200" b="1" dirty="0">
                <a:solidFill>
                  <a:schemeClr val="bg1"/>
                </a:solidFill>
                <a:latin typeface="+mn-ea"/>
              </a:rPr>
              <a:t>3.</a:t>
            </a:r>
            <a:r>
              <a:rPr lang="zh-CN" altLang="en-US" sz="3200" b="1" dirty="0">
                <a:solidFill>
                  <a:schemeClr val="bg1"/>
                </a:solidFill>
                <a:latin typeface="+mn-ea"/>
              </a:rPr>
              <a:t>代码级优化</a:t>
            </a:r>
            <a:endParaRPr lang="en-US" altLang="zh-CN" sz="3200" b="1" dirty="0">
              <a:solidFill>
                <a:schemeClr val="bg1"/>
              </a:solidFill>
              <a:latin typeface="+mn-ea"/>
            </a:endParaRPr>
          </a:p>
        </p:txBody>
      </p:sp>
      <p:sp>
        <p:nvSpPr>
          <p:cNvPr id="3" name="TextBox 2"/>
          <p:cNvSpPr txBox="1"/>
          <p:nvPr/>
        </p:nvSpPr>
        <p:spPr>
          <a:xfrm>
            <a:off x="575623" y="804014"/>
            <a:ext cx="13033448" cy="697230"/>
          </a:xfrm>
          <a:prstGeom prst="rect">
            <a:avLst/>
          </a:prstGeom>
          <a:noFill/>
        </p:spPr>
        <p:txBody>
          <a:bodyPr wrap="square" rtlCol="0">
            <a:spAutoFit/>
          </a:bodyPr>
          <a:lstStyle/>
          <a:p>
            <a:r>
              <a:rPr lang="en-US" altLang="zh-CN" dirty="0"/>
              <a:t>      </a:t>
            </a:r>
            <a:r>
              <a:rPr lang="en-US" altLang="zh-CN" dirty="0">
                <a:solidFill>
                  <a:schemeClr val="tx2"/>
                </a:solidFill>
              </a:rPr>
              <a:t> </a:t>
            </a:r>
            <a:r>
              <a:rPr lang="zh-CN" altLang="en-US" sz="1600" dirty="0">
                <a:solidFill>
                  <a:schemeClr val="tx2"/>
                </a:solidFill>
              </a:rPr>
              <a:t>以上测试可以看出重点对去竖纹，去横纹，空域滤波函数进行代码级优化将会更加明显提升算法的整体流程执行效率。通过对函数代码分析后得知，三个函数都共用了一个固定点灰度滤波函数。去竖纹，去横纹算法流程基本相通，不同的是数据遍历的维度和方向不同。</a:t>
            </a:r>
            <a:endParaRPr lang="zh-CN" altLang="en-US" sz="1600" dirty="0">
              <a:solidFill>
                <a:schemeClr val="tx2"/>
              </a:solidFill>
            </a:endParaRPr>
          </a:p>
        </p:txBody>
      </p:sp>
      <p:pic>
        <p:nvPicPr>
          <p:cNvPr id="7" name="图片 6"/>
          <p:cNvPicPr>
            <a:picLocks noChangeAspect="1"/>
          </p:cNvPicPr>
          <p:nvPr/>
        </p:nvPicPr>
        <p:blipFill>
          <a:blip r:embed="rId1"/>
          <a:stretch>
            <a:fillRect/>
          </a:stretch>
        </p:blipFill>
        <p:spPr>
          <a:xfrm>
            <a:off x="287655" y="1529715"/>
            <a:ext cx="6614795" cy="6451600"/>
          </a:xfrm>
          <a:prstGeom prst="rect">
            <a:avLst/>
          </a:prstGeom>
        </p:spPr>
      </p:pic>
      <p:pic>
        <p:nvPicPr>
          <p:cNvPr id="9" name="图片 8"/>
          <p:cNvPicPr>
            <a:picLocks noChangeAspect="1"/>
          </p:cNvPicPr>
          <p:nvPr/>
        </p:nvPicPr>
        <p:blipFill>
          <a:blip r:embed="rId2"/>
          <a:stretch>
            <a:fillRect/>
          </a:stretch>
        </p:blipFill>
        <p:spPr>
          <a:xfrm>
            <a:off x="6984365" y="1575435"/>
            <a:ext cx="7352030" cy="64312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94" y="-54744"/>
            <a:ext cx="5112568" cy="743986"/>
          </a:xfrm>
          <a:prstGeom prst="rect">
            <a:avLst/>
          </a:prstGeom>
          <a:noFill/>
        </p:spPr>
        <p:txBody>
          <a:bodyPr wrap="square" rtlCol="0">
            <a:spAutoFit/>
          </a:bodyPr>
          <a:lstStyle/>
          <a:p>
            <a:pPr indent="360680">
              <a:lnSpc>
                <a:spcPct val="150000"/>
              </a:lnSpc>
              <a:buClr>
                <a:schemeClr val="tx2"/>
              </a:buClr>
              <a:buSzPct val="100000"/>
            </a:pPr>
            <a:r>
              <a:rPr lang="zh-CN" altLang="en-US" sz="3200" b="1" dirty="0">
                <a:solidFill>
                  <a:schemeClr val="bg1"/>
                </a:solidFill>
                <a:latin typeface="+mn-ea"/>
              </a:rPr>
              <a:t>平台资源简介</a:t>
            </a:r>
            <a:endParaRPr lang="en-US" altLang="zh-CN" sz="3200" b="1" dirty="0">
              <a:solidFill>
                <a:schemeClr val="bg1"/>
              </a:solidFill>
              <a:latin typeface="+mn-ea"/>
            </a:endParaRPr>
          </a:p>
        </p:txBody>
      </p:sp>
      <p:sp>
        <p:nvSpPr>
          <p:cNvPr id="3" name="TextBox 2"/>
          <p:cNvSpPr txBox="1"/>
          <p:nvPr/>
        </p:nvSpPr>
        <p:spPr>
          <a:xfrm>
            <a:off x="575623" y="812269"/>
            <a:ext cx="13033448" cy="450850"/>
          </a:xfrm>
          <a:prstGeom prst="rect">
            <a:avLst/>
          </a:prstGeom>
          <a:noFill/>
        </p:spPr>
        <p:txBody>
          <a:bodyPr wrap="square" rtlCol="0">
            <a:spAutoFit/>
          </a:bodyPr>
          <a:lstStyle/>
          <a:p>
            <a:r>
              <a:rPr lang="zh-CN" altLang="en-US" dirty="0">
                <a:solidFill>
                  <a:schemeClr val="tx2"/>
                </a:solidFill>
              </a:rPr>
              <a:t>固定点灰度滤波函数优化</a:t>
            </a:r>
            <a:endParaRPr lang="zh-CN" altLang="en-US" dirty="0">
              <a:solidFill>
                <a:schemeClr val="tx2"/>
              </a:solidFill>
            </a:endParaRPr>
          </a:p>
        </p:txBody>
      </p:sp>
      <p:pic>
        <p:nvPicPr>
          <p:cNvPr id="2" name="图片 1"/>
          <p:cNvPicPr>
            <a:picLocks noChangeAspect="1"/>
          </p:cNvPicPr>
          <p:nvPr/>
        </p:nvPicPr>
        <p:blipFill>
          <a:blip r:embed="rId1"/>
          <a:stretch>
            <a:fillRect/>
          </a:stretch>
        </p:blipFill>
        <p:spPr>
          <a:xfrm>
            <a:off x="1199515" y="1385570"/>
            <a:ext cx="12001500" cy="62579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08618" y="1673448"/>
            <a:ext cx="2448272" cy="452111"/>
          </a:xfrm>
          <a:prstGeom prst="rect">
            <a:avLst/>
          </a:prstGeom>
          <a:noFill/>
        </p:spPr>
        <p:txBody>
          <a:bodyPr wrap="square" rtlCol="0">
            <a:spAutoFit/>
          </a:bodyPr>
          <a:lstStyle/>
          <a:p>
            <a:endParaRPr lang="zh-CN" altLang="en-US" dirty="0"/>
          </a:p>
        </p:txBody>
      </p:sp>
      <p:sp>
        <p:nvSpPr>
          <p:cNvPr id="100" name="文本框 99"/>
          <p:cNvSpPr txBox="1"/>
          <p:nvPr/>
        </p:nvSpPr>
        <p:spPr>
          <a:xfrm>
            <a:off x="359410" y="881380"/>
            <a:ext cx="13362305" cy="1076325"/>
          </a:xfrm>
          <a:prstGeom prst="rect">
            <a:avLst/>
          </a:prstGeom>
          <a:noFill/>
          <a:ln w="9525">
            <a:noFill/>
          </a:ln>
        </p:spPr>
        <p:txBody>
          <a:bodyPr wrap="square">
            <a:spAutoFit/>
          </a:bodyPr>
          <a:p>
            <a:pPr indent="0"/>
            <a:r>
              <a:rPr lang="zh-CN" sz="1600" b="1">
                <a:latin typeface="Times New Roman" panose="02020603050405020304" pitchFamily="18" charset="0"/>
                <a:ea typeface="宋体" panose="02010600030101010101" pitchFamily="2" charset="-122"/>
              </a:rPr>
              <a:t>1，固定点灰度滤波函数优化代码分析发现该函数的主循环中同时出现了两次条件判断、求取绝对值、多次算术运算等语句，这对编译器来讲是极其不友好的。为了简化循环逻辑，减少条件判断，需要对该主循环结构进行拆分。代码中应用到了滑窗运算，采用了</a:t>
            </a:r>
            <a:r>
              <a:rPr lang="en-US" sz="1600" b="1">
                <a:latin typeface="Times New Roman" panose="02020603050405020304" pitchFamily="18" charset="0"/>
                <a:ea typeface="宋体" panose="02010600030101010101" pitchFamily="2" charset="-122"/>
              </a:rPr>
              <a:t>4</a:t>
            </a:r>
            <a:r>
              <a:rPr lang="zh-CN" sz="1600" b="1">
                <a:latin typeface="Times New Roman" panose="02020603050405020304" pitchFamily="18" charset="0"/>
                <a:ea typeface="宋体" panose="02010600030101010101" pitchFamily="2" charset="-122"/>
              </a:rPr>
              <a:t>层</a:t>
            </a:r>
            <a:r>
              <a:rPr lang="en-US" sz="1600" b="1">
                <a:latin typeface="Times New Roman" panose="02020603050405020304" pitchFamily="18" charset="0"/>
                <a:ea typeface="宋体" panose="02010600030101010101" pitchFamily="2" charset="-122"/>
              </a:rPr>
              <a:t>for</a:t>
            </a:r>
            <a:r>
              <a:rPr lang="zh-CN" sz="1600" b="1">
                <a:latin typeface="Times New Roman" panose="02020603050405020304" pitchFamily="18" charset="0"/>
                <a:ea typeface="宋体" panose="02010600030101010101" pitchFamily="2" charset="-122"/>
              </a:rPr>
              <a:t>循环，循环体较深，且未指明循环次数，所以需要对内部循环指明循环次数。下面以</a:t>
            </a:r>
            <a:r>
              <a:rPr lang="en-US" sz="1600" b="1">
                <a:latin typeface="Times New Roman" panose="02020603050405020304" pitchFamily="18" charset="0"/>
                <a:ea typeface="宋体" panose="02010600030101010101" pitchFamily="2" charset="-122"/>
              </a:rPr>
              <a:t>1024*768</a:t>
            </a:r>
            <a:r>
              <a:rPr lang="zh-CN" sz="1600" b="1">
                <a:latin typeface="Times New Roman" panose="02020603050405020304" pitchFamily="18" charset="0"/>
                <a:ea typeface="宋体" panose="02010600030101010101" pitchFamily="2" charset="-122"/>
              </a:rPr>
              <a:t>大小的分辨率图像作为测试数据，对固定点灰度滤波函数从个角度进行代码级优化，并测试实验：</a:t>
            </a:r>
            <a:endParaRPr lang="zh-CN" altLang="en-US" sz="1600" b="1">
              <a:latin typeface="Times New Roman" panose="02020603050405020304" pitchFamily="18" charset="0"/>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2735580" y="1961515"/>
            <a:ext cx="6606540" cy="4404360"/>
          </a:xfrm>
          <a:prstGeom prst="rect">
            <a:avLst/>
          </a:prstGeom>
        </p:spPr>
      </p:pic>
      <p:sp>
        <p:nvSpPr>
          <p:cNvPr id="7" name="文本框 6"/>
          <p:cNvSpPr txBox="1"/>
          <p:nvPr/>
        </p:nvSpPr>
        <p:spPr>
          <a:xfrm>
            <a:off x="1799590" y="6858000"/>
            <a:ext cx="9805035" cy="337185"/>
          </a:xfrm>
          <a:prstGeom prst="rect">
            <a:avLst/>
          </a:prstGeom>
          <a:noFill/>
          <a:ln w="9525">
            <a:noFill/>
          </a:ln>
        </p:spPr>
        <p:txBody>
          <a:bodyPr wrap="square">
            <a:spAutoFit/>
          </a:bodyPr>
          <a:p>
            <a:pPr indent="266700"/>
            <a:r>
              <a:rPr lang="zh-CN" sz="1600" b="1">
                <a:latin typeface="Times New Roman" panose="02020603050405020304" pitchFamily="18" charset="0"/>
                <a:ea typeface="宋体" panose="02010600030101010101" pitchFamily="2" charset="-122"/>
              </a:rPr>
              <a:t>从上述测试结果来看，经过两次代码级优化，执行时间减半，证明该方法是有效的。</a:t>
            </a:r>
            <a:endParaRPr lang="zh-CN" sz="1600" b="1">
              <a:latin typeface="Times New Roman" panose="02020603050405020304" pitchFamily="18" charset="0"/>
              <a:ea typeface="宋体" panose="02010600030101010101" pitchFamily="2" charset="-122"/>
            </a:endParaRPr>
          </a:p>
        </p:txBody>
      </p:sp>
      <p:sp>
        <p:nvSpPr>
          <p:cNvPr id="2" name="TextBox 3"/>
          <p:cNvSpPr txBox="1"/>
          <p:nvPr>
            <p:custDataLst>
              <p:tags r:id="rId2"/>
            </p:custDataLst>
          </p:nvPr>
        </p:nvSpPr>
        <p:spPr>
          <a:xfrm>
            <a:off x="0" y="-54610"/>
            <a:ext cx="5112385" cy="570230"/>
          </a:xfrm>
          <a:prstGeom prst="rect">
            <a:avLst/>
          </a:prstGeom>
          <a:noFill/>
        </p:spPr>
        <p:txBody>
          <a:bodyPr wrap="square" rtlCol="0">
            <a:noAutofit/>
          </a:bodyPr>
          <a:p>
            <a:pPr indent="360680">
              <a:lnSpc>
                <a:spcPct val="150000"/>
              </a:lnSpc>
              <a:buClr>
                <a:schemeClr val="tx2"/>
              </a:buClr>
              <a:buSzPct val="100000"/>
            </a:pPr>
            <a:r>
              <a:rPr lang="en-US" altLang="zh-CN" sz="3200" b="1" dirty="0">
                <a:solidFill>
                  <a:schemeClr val="bg1"/>
                </a:solidFill>
                <a:latin typeface="+mn-ea"/>
              </a:rPr>
              <a:t>3.</a:t>
            </a:r>
            <a:r>
              <a:rPr lang="zh-CN" altLang="en-US" sz="3200" b="1" dirty="0">
                <a:solidFill>
                  <a:schemeClr val="bg1"/>
                </a:solidFill>
                <a:latin typeface="+mn-ea"/>
              </a:rPr>
              <a:t>代码级优化</a:t>
            </a:r>
            <a:endParaRPr lang="en-US" altLang="zh-CN" sz="3200" b="1" dirty="0">
              <a:solidFill>
                <a:schemeClr val="bg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808618" y="1673448"/>
            <a:ext cx="2448272" cy="452111"/>
          </a:xfrm>
          <a:prstGeom prst="rect">
            <a:avLst/>
          </a:prstGeom>
          <a:noFill/>
        </p:spPr>
        <p:txBody>
          <a:bodyPr wrap="square" rtlCol="0">
            <a:spAutoFit/>
          </a:bodyPr>
          <a:lstStyle/>
          <a:p>
            <a:endParaRPr lang="zh-CN" altLang="en-US" dirty="0"/>
          </a:p>
        </p:txBody>
      </p:sp>
      <p:sp>
        <p:nvSpPr>
          <p:cNvPr id="100" name="文本框 99"/>
          <p:cNvSpPr txBox="1"/>
          <p:nvPr/>
        </p:nvSpPr>
        <p:spPr>
          <a:xfrm>
            <a:off x="1007745" y="1025525"/>
            <a:ext cx="8312150" cy="337185"/>
          </a:xfrm>
          <a:prstGeom prst="rect">
            <a:avLst/>
          </a:prstGeom>
          <a:noFill/>
          <a:ln w="9525">
            <a:noFill/>
          </a:ln>
        </p:spPr>
        <p:txBody>
          <a:bodyPr wrap="square">
            <a:spAutoFit/>
          </a:bodyPr>
          <a:p>
            <a:pPr indent="266700"/>
            <a:r>
              <a:rPr lang="zh-CN" sz="1600" b="1">
                <a:latin typeface="Times New Roman" panose="02020603050405020304" pitchFamily="18" charset="0"/>
                <a:ea typeface="宋体" panose="02010600030101010101" pitchFamily="2" charset="-122"/>
              </a:rPr>
              <a:t>将去竖纹，去横纹，空域滤波函数单独分析得到如下数据：</a:t>
            </a:r>
            <a:endParaRPr lang="zh-CN" altLang="en-US" sz="1600" b="1">
              <a:latin typeface="Times New Roman" panose="02020603050405020304" pitchFamily="18" charset="0"/>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863600" y="1385570"/>
            <a:ext cx="6137275" cy="3340100"/>
          </a:xfrm>
          <a:prstGeom prst="rect">
            <a:avLst/>
          </a:prstGeom>
        </p:spPr>
      </p:pic>
      <p:pic>
        <p:nvPicPr>
          <p:cNvPr id="6" name="图片 5"/>
          <p:cNvPicPr>
            <a:picLocks noChangeAspect="1"/>
          </p:cNvPicPr>
          <p:nvPr/>
        </p:nvPicPr>
        <p:blipFill>
          <a:blip r:embed="rId2"/>
          <a:stretch>
            <a:fillRect/>
          </a:stretch>
        </p:blipFill>
        <p:spPr>
          <a:xfrm>
            <a:off x="6984365" y="1385570"/>
            <a:ext cx="5748020" cy="3342640"/>
          </a:xfrm>
          <a:prstGeom prst="rect">
            <a:avLst/>
          </a:prstGeom>
        </p:spPr>
      </p:pic>
      <p:pic>
        <p:nvPicPr>
          <p:cNvPr id="7" name="图片 6"/>
          <p:cNvPicPr>
            <a:picLocks noChangeAspect="1"/>
          </p:cNvPicPr>
          <p:nvPr/>
        </p:nvPicPr>
        <p:blipFill>
          <a:blip r:embed="rId3"/>
          <a:stretch>
            <a:fillRect/>
          </a:stretch>
        </p:blipFill>
        <p:spPr>
          <a:xfrm>
            <a:off x="4104005" y="4697730"/>
            <a:ext cx="5358765" cy="3030220"/>
          </a:xfrm>
          <a:prstGeom prst="rect">
            <a:avLst/>
          </a:prstGeom>
        </p:spPr>
      </p:pic>
      <p:sp>
        <p:nvSpPr>
          <p:cNvPr id="2" name="TextBox 3"/>
          <p:cNvSpPr txBox="1"/>
          <p:nvPr>
            <p:custDataLst>
              <p:tags r:id="rId4"/>
            </p:custDataLst>
          </p:nvPr>
        </p:nvSpPr>
        <p:spPr>
          <a:xfrm>
            <a:off x="0" y="-54610"/>
            <a:ext cx="5112385" cy="570230"/>
          </a:xfrm>
          <a:prstGeom prst="rect">
            <a:avLst/>
          </a:prstGeom>
          <a:noFill/>
        </p:spPr>
        <p:txBody>
          <a:bodyPr wrap="square" rtlCol="0">
            <a:noAutofit/>
          </a:bodyPr>
          <a:lstStyle/>
          <a:p>
            <a:pPr indent="360680">
              <a:lnSpc>
                <a:spcPct val="150000"/>
              </a:lnSpc>
              <a:buClr>
                <a:schemeClr val="tx2"/>
              </a:buClr>
              <a:buSzPct val="100000"/>
            </a:pPr>
            <a:r>
              <a:rPr lang="en-US" altLang="zh-CN" sz="3200" b="1" dirty="0">
                <a:solidFill>
                  <a:schemeClr val="bg1"/>
                </a:solidFill>
                <a:latin typeface="+mn-ea"/>
              </a:rPr>
              <a:t>3.</a:t>
            </a:r>
            <a:r>
              <a:rPr lang="zh-CN" altLang="en-US" sz="3200" b="1" dirty="0">
                <a:solidFill>
                  <a:schemeClr val="bg1"/>
                </a:solidFill>
                <a:latin typeface="+mn-ea"/>
              </a:rPr>
              <a:t>代码级优化</a:t>
            </a:r>
            <a:endParaRPr lang="en-US" altLang="zh-CN" sz="3200" b="1" dirty="0">
              <a:solidFill>
                <a:schemeClr val="bg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943735" y="1241425"/>
            <a:ext cx="8724900" cy="4457700"/>
          </a:xfrm>
          <a:prstGeom prst="rect">
            <a:avLst/>
          </a:prstGeom>
        </p:spPr>
      </p:pic>
      <p:sp>
        <p:nvSpPr>
          <p:cNvPr id="100" name="文本框 99"/>
          <p:cNvSpPr txBox="1"/>
          <p:nvPr/>
        </p:nvSpPr>
        <p:spPr>
          <a:xfrm>
            <a:off x="1367155" y="6210300"/>
            <a:ext cx="10170795" cy="583565"/>
          </a:xfrm>
          <a:prstGeom prst="rect">
            <a:avLst/>
          </a:prstGeom>
          <a:noFill/>
          <a:ln w="9525">
            <a:noFill/>
          </a:ln>
        </p:spPr>
        <p:txBody>
          <a:bodyPr wrap="square">
            <a:spAutoFit/>
          </a:bodyPr>
          <a:p>
            <a:pPr indent="266700"/>
            <a:r>
              <a:rPr lang="zh-CN" sz="1600" b="1">
                <a:latin typeface="Times New Roman" panose="02020603050405020304" pitchFamily="18" charset="0"/>
                <a:ea typeface="宋体" panose="02010600030101010101" pitchFamily="2" charset="-122"/>
              </a:rPr>
              <a:t>通过上述优化措施，算法整体性能均提升一倍以上。在</a:t>
            </a:r>
            <a:r>
              <a:rPr lang="en-US" sz="1600" b="1">
                <a:latin typeface="Times New Roman" panose="02020603050405020304" pitchFamily="18" charset="0"/>
                <a:ea typeface="宋体" panose="02010600030101010101" pitchFamily="2" charset="-122"/>
              </a:rPr>
              <a:t>256*192</a:t>
            </a:r>
            <a:r>
              <a:rPr lang="zh-CN" sz="1600" b="1">
                <a:latin typeface="Times New Roman" panose="02020603050405020304" pitchFamily="18" charset="0"/>
                <a:ea typeface="宋体" panose="02010600030101010101" pitchFamily="2" charset="-122"/>
              </a:rPr>
              <a:t>分辨率下单帧运算时间降至</a:t>
            </a:r>
            <a:r>
              <a:rPr lang="en-US" sz="1600" b="1">
                <a:latin typeface="Times New Roman" panose="02020603050405020304" pitchFamily="18" charset="0"/>
                <a:ea typeface="宋体" panose="02010600030101010101" pitchFamily="2" charset="-122"/>
              </a:rPr>
              <a:t>45ms</a:t>
            </a:r>
            <a:r>
              <a:rPr lang="zh-CN" sz="1600" b="1">
                <a:latin typeface="Times New Roman" panose="02020603050405020304" pitchFamily="18" charset="0"/>
                <a:ea typeface="宋体" panose="02010600030101010101" pitchFamily="2" charset="-122"/>
              </a:rPr>
              <a:t>左右，可以达到实时处理状态，说明以上优化方式有效。</a:t>
            </a:r>
            <a:endParaRPr lang="zh-CN" altLang="en-US" sz="1600" b="1">
              <a:latin typeface="Times New Roman" panose="02020603050405020304" pitchFamily="18" charset="0"/>
              <a:ea typeface="宋体" panose="02010600030101010101" pitchFamily="2" charset="-122"/>
            </a:endParaRPr>
          </a:p>
        </p:txBody>
      </p:sp>
      <p:sp>
        <p:nvSpPr>
          <p:cNvPr id="5" name="TextBox 3"/>
          <p:cNvSpPr txBox="1"/>
          <p:nvPr>
            <p:custDataLst>
              <p:tags r:id="rId2"/>
            </p:custDataLst>
          </p:nvPr>
        </p:nvSpPr>
        <p:spPr>
          <a:xfrm>
            <a:off x="0" y="-54610"/>
            <a:ext cx="5112385" cy="570230"/>
          </a:xfrm>
          <a:prstGeom prst="rect">
            <a:avLst/>
          </a:prstGeom>
          <a:noFill/>
        </p:spPr>
        <p:txBody>
          <a:bodyPr wrap="square" rtlCol="0">
            <a:noAutofit/>
          </a:bodyPr>
          <a:lstStyle/>
          <a:p>
            <a:pPr indent="360680">
              <a:lnSpc>
                <a:spcPct val="150000"/>
              </a:lnSpc>
              <a:buClr>
                <a:schemeClr val="tx2"/>
              </a:buClr>
              <a:buSzPct val="100000"/>
            </a:pPr>
            <a:r>
              <a:rPr lang="en-US" altLang="zh-CN" sz="3200" b="1" dirty="0">
                <a:solidFill>
                  <a:schemeClr val="bg1"/>
                </a:solidFill>
                <a:latin typeface="+mn-ea"/>
              </a:rPr>
              <a:t>3.</a:t>
            </a:r>
            <a:r>
              <a:rPr lang="zh-CN" altLang="en-US" sz="3200" b="1" dirty="0">
                <a:solidFill>
                  <a:schemeClr val="bg1"/>
                </a:solidFill>
                <a:latin typeface="+mn-ea"/>
              </a:rPr>
              <a:t>代码级优化</a:t>
            </a:r>
            <a:endParaRPr lang="en-US" altLang="zh-CN" sz="3200" b="1" dirty="0">
              <a:solidFill>
                <a:schemeClr val="bg1"/>
              </a:solidFill>
              <a:latin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4.NEON</a:t>
            </a:r>
            <a:r>
              <a:rPr lang="zh-CN" altLang="en-US"/>
              <a:t>优化</a:t>
            </a:r>
            <a:endParaRPr lang="zh-CN" altLang="en-US"/>
          </a:p>
        </p:txBody>
      </p:sp>
      <p:sp>
        <p:nvSpPr>
          <p:cNvPr id="5" name="TextBox 3"/>
          <p:cNvSpPr txBox="1"/>
          <p:nvPr>
            <p:custDataLst>
              <p:tags r:id="rId1"/>
            </p:custDataLst>
          </p:nvPr>
        </p:nvSpPr>
        <p:spPr>
          <a:xfrm>
            <a:off x="431106" y="718051"/>
            <a:ext cx="5112568" cy="829945"/>
          </a:xfrm>
          <a:prstGeom prst="rect">
            <a:avLst/>
          </a:prstGeom>
          <a:noFill/>
        </p:spPr>
        <p:txBody>
          <a:bodyPr wrap="square" rtlCol="0">
            <a:spAutoFit/>
            <a:scene3d>
              <a:camera prst="orthographicFront"/>
              <a:lightRig rig="threePt" dir="t"/>
            </a:scene3d>
          </a:bodyPr>
          <a:p>
            <a:pPr indent="360680">
              <a:lnSpc>
                <a:spcPct val="150000"/>
              </a:lnSpc>
              <a:buClr>
                <a:schemeClr val="tx2"/>
              </a:buClr>
              <a:buSzPct val="100000"/>
            </a:pPr>
            <a:r>
              <a:rPr lang="en-US" altLang="zh-CN" sz="3200" b="1" dirty="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rPr>
              <a:t>1.NEON</a:t>
            </a:r>
            <a:r>
              <a:rPr lang="zh-CN" altLang="en-US" sz="3200" b="1" dirty="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rPr>
              <a:t>概述</a:t>
            </a:r>
            <a:endParaRPr lang="zh-CN" altLang="en-US" sz="3200" b="1" dirty="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endParaRPr>
          </a:p>
        </p:txBody>
      </p:sp>
      <p:sp>
        <p:nvSpPr>
          <p:cNvPr id="6" name="文本框 5"/>
          <p:cNvSpPr txBox="1"/>
          <p:nvPr>
            <p:custDataLst>
              <p:tags r:id="rId2"/>
            </p:custDataLst>
          </p:nvPr>
        </p:nvSpPr>
        <p:spPr>
          <a:xfrm>
            <a:off x="935355" y="1601470"/>
            <a:ext cx="11708130" cy="1170305"/>
          </a:xfrm>
          <a:prstGeom prst="rect">
            <a:avLst/>
          </a:prstGeom>
          <a:noFill/>
        </p:spPr>
        <p:txBody>
          <a:bodyPr wrap="square" rtlCol="0">
            <a:spAutoFit/>
          </a:bodyPr>
          <a:p>
            <a:pPr indent="457200"/>
            <a:r>
              <a:rPr lang="zh-CN" altLang="en-US"/>
              <a:t>ARM NEON 可以提升计算机视觉等计算密集型程序的性能，编译器可以将 C/C++ 代码自动转换为 NEON 指令。但是想要有更好的性能还是需要手工编写 NEON 代码，熟练掌握 NEON 指令是第一步。</a:t>
            </a:r>
            <a:endParaRPr lang="zh-CN" altLang="en-US"/>
          </a:p>
        </p:txBody>
      </p:sp>
      <p:pic>
        <p:nvPicPr>
          <p:cNvPr id="7" name="图片 6"/>
          <p:cNvPicPr/>
          <p:nvPr>
            <p:custDataLst>
              <p:tags r:id="rId3"/>
            </p:custDataLst>
          </p:nvPr>
        </p:nvPicPr>
        <p:blipFill>
          <a:blip r:embed="rId4"/>
          <a:stretch>
            <a:fillRect/>
          </a:stretch>
        </p:blipFill>
        <p:spPr>
          <a:xfrm>
            <a:off x="3240087" y="2897188"/>
            <a:ext cx="6667500" cy="2133600"/>
          </a:xfrm>
          <a:prstGeom prst="rect">
            <a:avLst/>
          </a:prstGeom>
          <a:noFill/>
          <a:ln w="9525">
            <a:noFill/>
          </a:ln>
        </p:spPr>
      </p:pic>
      <p:sp>
        <p:nvSpPr>
          <p:cNvPr id="8" name="文本框 7"/>
          <p:cNvSpPr txBox="1"/>
          <p:nvPr>
            <p:custDataLst>
              <p:tags r:id="rId5"/>
            </p:custDataLst>
          </p:nvPr>
        </p:nvSpPr>
        <p:spPr>
          <a:xfrm>
            <a:off x="503555" y="5201285"/>
            <a:ext cx="12925425" cy="2401570"/>
          </a:xfrm>
          <a:prstGeom prst="rect">
            <a:avLst/>
          </a:prstGeom>
          <a:noFill/>
        </p:spPr>
        <p:txBody>
          <a:bodyPr wrap="square" rtlCol="0" anchor="t">
            <a:spAutoFit/>
          </a:bodyPr>
          <a:p>
            <a:pPr indent="457200"/>
            <a:r>
              <a:rPr lang="zh-CN" altLang="en-US"/>
              <a:t>Armv8-A 的执行状态可以分为 AArch64 和 AArch32 两种状态。</a:t>
            </a:r>
            <a:endParaRPr lang="zh-CN" altLang="en-US"/>
          </a:p>
          <a:p>
            <a:r>
              <a:rPr lang="zh-CN" altLang="en-US" sz="1600">
                <a:latin typeface="Calibri" panose="020F0502020204030204" charset="0"/>
                <a:cs typeface="Calibri" panose="020F0502020204030204" charset="0"/>
              </a:rPr>
              <a:t>•</a:t>
            </a:r>
            <a:r>
              <a:rPr lang="zh-CN" altLang="en-US" sz="1600"/>
              <a:t>AArch64 是 64 位执行状态，支持 A64 指令集。</a:t>
            </a:r>
            <a:endParaRPr lang="zh-CN" altLang="en-US" sz="1600"/>
          </a:p>
          <a:p>
            <a:r>
              <a:rPr lang="zh-CN" altLang="en-US" sz="1600">
                <a:latin typeface="Calibri" panose="020F0502020204030204" charset="0"/>
                <a:cs typeface="Calibri" panose="020F0502020204030204" charset="0"/>
                <a:sym typeface="+mn-ea"/>
              </a:rPr>
              <a:t>•</a:t>
            </a:r>
            <a:r>
              <a:rPr lang="zh-CN" altLang="en-US" sz="1600"/>
              <a:t>AArch32 是 32 位执行状态，支持 T32 和 A32 指令集，同时 AArch32 与 AArch64 中一些的功能保持一致，而且 AArch32 兼容 Armv7-A。</a:t>
            </a:r>
            <a:endParaRPr lang="zh-CN" altLang="en-US" sz="1600"/>
          </a:p>
          <a:p>
            <a:endParaRPr lang="zh-CN" altLang="en-US" sz="1600"/>
          </a:p>
          <a:p>
            <a:pPr indent="457200"/>
            <a:r>
              <a:rPr lang="zh-CN" altLang="en-US"/>
              <a:t>ARMV8 支持浮点类型的除法向量操作，这是ARMV7所没有的。另外AArch64还支持double类型的操作。</a:t>
            </a:r>
            <a:endParaRPr lang="zh-CN" altLang="en-US"/>
          </a:p>
          <a:p>
            <a:pPr indent="457200" algn="l">
              <a:buClrTx/>
              <a:buSzTx/>
              <a:buNone/>
            </a:pPr>
            <a:r>
              <a:rPr lang="zh-CN" altLang="en-US" sz="1600"/>
              <a:t>Armv9-A 是 arm 当前最新的指令架构，Armv9-A 除了向前兼容 Armv8-A，在性能计算上有了很大的提升，主要表现在安全、AI 以及改进矢量扩展（SVE2）和 DSP 能力。</a:t>
            </a:r>
            <a:endParaRPr lang="zh-CN" altLang="en-US"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1"/>
          <p:cNvSpPr>
            <a:spLocks noGrp="1"/>
          </p:cNvSpPr>
          <p:nvPr>
            <p:custDataLst>
              <p:tags r:id="rId1"/>
            </p:custDataLst>
          </p:nvPr>
        </p:nvSpPr>
        <p:spPr>
          <a:xfrm>
            <a:off x="215072" y="89536"/>
            <a:ext cx="12241360" cy="665336"/>
          </a:xfrm>
          <a:prstGeom prst="rect">
            <a:avLst/>
          </a:prstGeom>
        </p:spPr>
        <p:txBody>
          <a:bodyPr anchor="ctr"/>
          <a:lstStyle>
            <a:lvl1pPr algn="l" defTabSz="1203325" rtl="0" eaLnBrk="1" latinLnBrk="0" hangingPunct="1">
              <a:spcBef>
                <a:spcPct val="0"/>
              </a:spcBef>
              <a:buNone/>
              <a:defRPr sz="2800" kern="1200">
                <a:solidFill>
                  <a:schemeClr val="accent6"/>
                </a:solidFill>
                <a:latin typeface="+mj-lt"/>
                <a:ea typeface="+mj-ea"/>
                <a:cs typeface="+mj-cs"/>
              </a:defRPr>
            </a:lvl1pPr>
          </a:lstStyle>
          <a:p>
            <a:r>
              <a:rPr lang="en-US" altLang="zh-CN"/>
              <a:t>4.NEON</a:t>
            </a:r>
            <a:r>
              <a:rPr lang="zh-CN" altLang="en-US"/>
              <a:t>优化</a:t>
            </a:r>
            <a:endParaRPr lang="zh-CN" altLang="en-US"/>
          </a:p>
        </p:txBody>
      </p:sp>
      <p:sp>
        <p:nvSpPr>
          <p:cNvPr id="5" name="文本框 4"/>
          <p:cNvSpPr txBox="1"/>
          <p:nvPr>
            <p:custDataLst>
              <p:tags r:id="rId2"/>
            </p:custDataLst>
          </p:nvPr>
        </p:nvSpPr>
        <p:spPr>
          <a:xfrm>
            <a:off x="1079500" y="5633720"/>
            <a:ext cx="8515350" cy="450850"/>
          </a:xfrm>
          <a:prstGeom prst="rect">
            <a:avLst/>
          </a:prstGeom>
          <a:noFill/>
        </p:spPr>
        <p:txBody>
          <a:bodyPr wrap="square" rtlCol="0" anchor="t">
            <a:spAutoFit/>
          </a:bodyPr>
          <a:p>
            <a:r>
              <a:rPr lang="zh-CN" altLang="en-US"/>
              <a:t>AArch64 有 32 个 128bit 的向量寄存器</a:t>
            </a:r>
            <a:endParaRPr lang="zh-CN" altLang="en-US"/>
          </a:p>
        </p:txBody>
      </p:sp>
      <p:sp>
        <p:nvSpPr>
          <p:cNvPr id="6" name="文本框 5"/>
          <p:cNvSpPr txBox="1"/>
          <p:nvPr>
            <p:custDataLst>
              <p:tags r:id="rId3"/>
            </p:custDataLst>
          </p:nvPr>
        </p:nvSpPr>
        <p:spPr>
          <a:xfrm>
            <a:off x="1080135" y="6713855"/>
            <a:ext cx="6567170" cy="450850"/>
          </a:xfrm>
          <a:prstGeom prst="rect">
            <a:avLst/>
          </a:prstGeom>
          <a:noFill/>
        </p:spPr>
        <p:txBody>
          <a:bodyPr wrap="square" rtlCol="0" anchor="t">
            <a:spAutoFit/>
          </a:bodyPr>
          <a:p>
            <a:r>
              <a:rPr lang="zh-CN" altLang="en-US"/>
              <a:t>AArch32/Armv7 有 16 个 128bit 的向量寄存器</a:t>
            </a:r>
            <a:endParaRPr lang="zh-CN" altLang="en-US" sz="1600"/>
          </a:p>
        </p:txBody>
      </p:sp>
      <p:pic>
        <p:nvPicPr>
          <p:cNvPr id="102" name="图片 101"/>
          <p:cNvPicPr/>
          <p:nvPr>
            <p:custDataLst>
              <p:tags r:id="rId4"/>
            </p:custDataLst>
          </p:nvPr>
        </p:nvPicPr>
        <p:blipFill>
          <a:blip r:embed="rId5"/>
          <a:stretch>
            <a:fillRect/>
          </a:stretch>
        </p:blipFill>
        <p:spPr>
          <a:xfrm>
            <a:off x="3384232" y="1239204"/>
            <a:ext cx="6858000" cy="3790949"/>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4" name="图片 103"/>
          <p:cNvPicPr/>
          <p:nvPr>
            <p:custDataLst>
              <p:tags r:id="rId1"/>
            </p:custDataLst>
          </p:nvPr>
        </p:nvPicPr>
        <p:blipFill>
          <a:blip r:embed="rId2"/>
          <a:stretch>
            <a:fillRect/>
          </a:stretch>
        </p:blipFill>
        <p:spPr>
          <a:xfrm>
            <a:off x="2158682" y="4405948"/>
            <a:ext cx="9182100" cy="3257550"/>
          </a:xfrm>
          <a:prstGeom prst="rect">
            <a:avLst/>
          </a:prstGeom>
          <a:noFill/>
          <a:ln w="9525">
            <a:noFill/>
          </a:ln>
        </p:spPr>
      </p:pic>
      <p:pic>
        <p:nvPicPr>
          <p:cNvPr id="105" name="图片 104"/>
          <p:cNvPicPr/>
          <p:nvPr>
            <p:custDataLst>
              <p:tags r:id="rId3"/>
            </p:custDataLst>
          </p:nvPr>
        </p:nvPicPr>
        <p:blipFill>
          <a:blip r:embed="rId4"/>
          <a:stretch>
            <a:fillRect/>
          </a:stretch>
        </p:blipFill>
        <p:spPr>
          <a:xfrm>
            <a:off x="2159952" y="748983"/>
            <a:ext cx="9201150" cy="3619500"/>
          </a:xfrm>
          <a:prstGeom prst="rect">
            <a:avLst/>
          </a:prstGeom>
          <a:noFill/>
          <a:ln w="9525">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custDataLst>
              <p:tags r:id="rId1"/>
            </p:custDataLst>
          </p:nvPr>
        </p:nvSpPr>
        <p:spPr>
          <a:xfrm>
            <a:off x="647065" y="1097280"/>
            <a:ext cx="3257550" cy="450850"/>
          </a:xfrm>
          <a:prstGeom prst="rect">
            <a:avLst/>
          </a:prstGeom>
          <a:noFill/>
        </p:spPr>
        <p:txBody>
          <a:bodyPr wrap="square" rtlCol="0">
            <a:spAutoFit/>
          </a:bodyPr>
          <a:p>
            <a:r>
              <a:rPr lang="zh-CN" altLang="en-US" dirty="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intrinsics</a:t>
            </a:r>
            <a:r>
              <a:rPr lang="zh-CN" altLang="en-US" dirty="0"/>
              <a:t>指令分类</a:t>
            </a:r>
            <a:endParaRPr lang="zh-CN" altLang="en-US" dirty="0"/>
          </a:p>
        </p:txBody>
      </p:sp>
      <p:pic>
        <p:nvPicPr>
          <p:cNvPr id="6" name="图片 5"/>
          <p:cNvPicPr>
            <a:picLocks noChangeAspect="1"/>
          </p:cNvPicPr>
          <p:nvPr>
            <p:custDataLst>
              <p:tags r:id="rId2"/>
            </p:custDataLst>
          </p:nvPr>
        </p:nvPicPr>
        <p:blipFill>
          <a:blip r:embed="rId3"/>
          <a:stretch>
            <a:fillRect/>
          </a:stretch>
        </p:blipFill>
        <p:spPr>
          <a:xfrm>
            <a:off x="2735580" y="1889760"/>
            <a:ext cx="7620000" cy="54292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Box 3"/>
          <p:cNvSpPr txBox="1"/>
          <p:nvPr>
            <p:custDataLst>
              <p:tags r:id="rId1"/>
            </p:custDataLst>
          </p:nvPr>
        </p:nvSpPr>
        <p:spPr>
          <a:xfrm>
            <a:off x="503496" y="737101"/>
            <a:ext cx="5112568" cy="829945"/>
          </a:xfrm>
          <a:prstGeom prst="rect">
            <a:avLst/>
          </a:prstGeom>
          <a:noFill/>
        </p:spPr>
        <p:txBody>
          <a:bodyPr wrap="square" rtlCol="0">
            <a:spAutoFit/>
            <a:scene3d>
              <a:camera prst="orthographicFront"/>
              <a:lightRig rig="threePt" dir="t"/>
            </a:scene3d>
          </a:bodyPr>
          <a:p>
            <a:pPr indent="360680">
              <a:lnSpc>
                <a:spcPct val="150000"/>
              </a:lnSpc>
              <a:buClr>
                <a:schemeClr val="tx2"/>
              </a:buClr>
              <a:buSzPct val="100000"/>
            </a:pPr>
            <a:r>
              <a:rPr lang="en-US" altLang="zh-CN" sz="3200" b="1" dirty="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rPr>
              <a:t>2.NEON</a:t>
            </a:r>
            <a:r>
              <a:rPr lang="zh-CN" altLang="en-US" sz="3200" b="1" dirty="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rPr>
              <a:t>编程</a:t>
            </a:r>
            <a:endParaRPr lang="zh-CN" altLang="en-US" sz="3200" b="1" dirty="0">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ea"/>
            </a:endParaRPr>
          </a:p>
        </p:txBody>
      </p:sp>
      <p:sp>
        <p:nvSpPr>
          <p:cNvPr id="5" name="文本框 4"/>
          <p:cNvSpPr txBox="1"/>
          <p:nvPr>
            <p:custDataLst>
              <p:tags r:id="rId2"/>
            </p:custDataLst>
          </p:nvPr>
        </p:nvSpPr>
        <p:spPr>
          <a:xfrm>
            <a:off x="575310" y="1671955"/>
            <a:ext cx="9052560" cy="450850"/>
          </a:xfrm>
          <a:prstGeom prst="rect">
            <a:avLst/>
          </a:prstGeom>
          <a:noFill/>
        </p:spPr>
        <p:txBody>
          <a:bodyPr wrap="square" rtlCol="0" anchor="t">
            <a:spAutoFit/>
          </a:bodyPr>
          <a:p>
            <a:r>
              <a:rPr lang="zh-CN" altLang="en-US"/>
              <a:t>SAD(sum of absolute difference) 运算可以使用 NEON 指令来加速。</a:t>
            </a:r>
            <a:endParaRPr lang="zh-CN" altLang="en-US"/>
          </a:p>
        </p:txBody>
      </p:sp>
      <p:sp>
        <p:nvSpPr>
          <p:cNvPr id="6" name="文本框 5"/>
          <p:cNvSpPr txBox="1"/>
          <p:nvPr>
            <p:custDataLst>
              <p:tags r:id="rId3"/>
            </p:custDataLst>
          </p:nvPr>
        </p:nvSpPr>
        <p:spPr>
          <a:xfrm>
            <a:off x="719455" y="2319655"/>
            <a:ext cx="7200900" cy="583565"/>
          </a:xfrm>
          <a:prstGeom prst="rect">
            <a:avLst/>
          </a:prstGeom>
          <a:noFill/>
        </p:spPr>
        <p:txBody>
          <a:bodyPr wrap="square" rtlCol="0" anchor="t">
            <a:spAutoFit/>
          </a:bodyPr>
          <a:p>
            <a:r>
              <a:rPr lang="zh-CN" altLang="en-US" sz="1600"/>
              <a:t>首先使用vabd做差的绝对值计算。</a:t>
            </a:r>
            <a:endParaRPr lang="zh-CN" altLang="en-US" sz="1600"/>
          </a:p>
          <a:p>
            <a:r>
              <a:rPr lang="zh-CN" altLang="en-US" sz="1600"/>
              <a:t>然后使用vdot将上面的结果做累加。</a:t>
            </a:r>
            <a:endParaRPr lang="zh-CN" altLang="en-US" sz="1600"/>
          </a:p>
        </p:txBody>
      </p:sp>
      <p:sp>
        <p:nvSpPr>
          <p:cNvPr id="7" name="文本框 6"/>
          <p:cNvSpPr txBox="1"/>
          <p:nvPr>
            <p:custDataLst>
              <p:tags r:id="rId4"/>
            </p:custDataLst>
          </p:nvPr>
        </p:nvSpPr>
        <p:spPr>
          <a:xfrm>
            <a:off x="647700" y="3328035"/>
            <a:ext cx="7200900" cy="3291840"/>
          </a:xfrm>
          <a:prstGeom prst="rect">
            <a:avLst/>
          </a:prstGeom>
          <a:noFill/>
        </p:spPr>
        <p:txBody>
          <a:bodyPr wrap="square" rtlCol="0" anchor="t">
            <a:spAutoFit/>
          </a:bodyPr>
          <a:p>
            <a:r>
              <a:rPr lang="zh-CN" altLang="en-US" sz="1600"/>
              <a:t>// 初始化 v_sum 和 v_c1  </a:t>
            </a:r>
            <a:endParaRPr lang="zh-CN" altLang="en-US" sz="1600"/>
          </a:p>
          <a:p>
            <a:r>
              <a:rPr lang="zh-CN" altLang="en-US" sz="1600"/>
              <a:t>uint32x4_t v_sum = vmovq_n_u32(0);</a:t>
            </a:r>
            <a:endParaRPr lang="zh-CN" altLang="en-US" sz="1600"/>
          </a:p>
          <a:p>
            <a:r>
              <a:rPr lang="zh-CN" altLang="en-US" sz="1600"/>
              <a:t>uint8x16_t v_c1  = vmovq_n_u8(1);</a:t>
            </a:r>
            <a:endParaRPr lang="zh-CN" altLang="en-US" sz="1600"/>
          </a:p>
          <a:p>
            <a:endParaRPr lang="zh-CN" altLang="en-US" sz="1600"/>
          </a:p>
          <a:p>
            <a:r>
              <a:rPr lang="zh-CN" altLang="en-US" sz="1600"/>
              <a:t>// v_src0, v_src1为两幅图的输入</a:t>
            </a:r>
            <a:endParaRPr lang="zh-CN" altLang="en-US" sz="1600"/>
          </a:p>
          <a:p>
            <a:r>
              <a:rPr lang="zh-CN" altLang="en-US" sz="1600"/>
              <a:t>// 将做差的绝对值计算</a:t>
            </a:r>
            <a:endParaRPr lang="zh-CN" altLang="en-US" sz="1600"/>
          </a:p>
          <a:p>
            <a:r>
              <a:rPr lang="zh-CN" altLang="en-US" sz="1600"/>
              <a:t>uint8x16_t v_abd_res = vabdq_u8(v_src0, v_src1);</a:t>
            </a:r>
            <a:endParaRPr lang="zh-CN" altLang="en-US" sz="1600"/>
          </a:p>
          <a:p>
            <a:endParaRPr lang="zh-CN" altLang="en-US" sz="1600"/>
          </a:p>
          <a:p>
            <a:r>
              <a:rPr lang="zh-CN" altLang="en-US" sz="1600"/>
              <a:t>// 做 vdot操作</a:t>
            </a:r>
            <a:endParaRPr lang="zh-CN" altLang="en-US" sz="1600"/>
          </a:p>
          <a:p>
            <a:r>
              <a:rPr lang="zh-CN" altLang="en-US" sz="1600"/>
              <a:t>v_sum = vdotq_u32(v_sum , v_abd_res, v_c1);</a:t>
            </a:r>
            <a:endParaRPr lang="zh-CN" altLang="en-US" sz="1600"/>
          </a:p>
          <a:p>
            <a:r>
              <a:rPr lang="zh-CN" altLang="en-US" sz="1600"/>
              <a:t>...</a:t>
            </a:r>
            <a:endParaRPr lang="zh-CN" altLang="en-US" sz="1600"/>
          </a:p>
          <a:p>
            <a:r>
              <a:rPr lang="zh-CN" altLang="en-US" sz="1600"/>
              <a:t>// 将最后的结果累加</a:t>
            </a:r>
            <a:endParaRPr lang="zh-CN" altLang="en-US" sz="1600"/>
          </a:p>
          <a:p>
            <a:r>
              <a:rPr lang="zh-CN" altLang="en-US" sz="1600"/>
              <a:t>uint32_t res = vaddvq_u32(v_sum);</a:t>
            </a:r>
            <a:endParaRPr lang="zh-CN" altLang="en-US" sz="1600"/>
          </a:p>
        </p:txBody>
      </p:sp>
      <p:pic>
        <p:nvPicPr>
          <p:cNvPr id="106" name="图片 105"/>
          <p:cNvPicPr/>
          <p:nvPr>
            <p:custDataLst>
              <p:tags r:id="rId5"/>
            </p:custDataLst>
          </p:nvPr>
        </p:nvPicPr>
        <p:blipFill>
          <a:blip r:embed="rId6"/>
          <a:stretch>
            <a:fillRect/>
          </a:stretch>
        </p:blipFill>
        <p:spPr>
          <a:xfrm>
            <a:off x="5904547" y="3328036"/>
            <a:ext cx="6858000" cy="3133725"/>
          </a:xfrm>
          <a:prstGeom prst="rect">
            <a:avLst/>
          </a:prstGeom>
          <a:noFill/>
          <a:ln w="9525">
            <a:noFill/>
          </a:ln>
        </p:spPr>
      </p:pic>
      <p:sp>
        <p:nvSpPr>
          <p:cNvPr id="8" name="文本框 7"/>
          <p:cNvSpPr txBox="1"/>
          <p:nvPr>
            <p:custDataLst>
              <p:tags r:id="rId7"/>
            </p:custDataLst>
          </p:nvPr>
        </p:nvSpPr>
        <p:spPr>
          <a:xfrm>
            <a:off x="2447925" y="7044690"/>
            <a:ext cx="3168015" cy="810260"/>
          </a:xfrm>
          <a:prstGeom prst="rect">
            <a:avLst/>
          </a:prstGeom>
          <a:noFill/>
        </p:spPr>
        <p:txBody>
          <a:bodyPr wrap="square" rtlCol="0" anchor="t">
            <a:spAutoFit/>
          </a:bodyPr>
          <a:p>
            <a:r>
              <a:rPr lang="zh-CN" altLang="en-US"/>
              <a:t>ri = |ai - bi|</a:t>
            </a:r>
            <a:endParaRPr lang="zh-CN" altLang="en-US"/>
          </a:p>
          <a:p>
            <a:r>
              <a:rPr lang="en-US" altLang="zh-CN"/>
              <a:t>si+=(ri*ci)</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custDataLst>
              <p:tags r:id="rId1"/>
            </p:custDataLst>
          </p:nvPr>
        </p:nvSpPr>
        <p:spPr>
          <a:xfrm>
            <a:off x="143510" y="809625"/>
            <a:ext cx="7200900" cy="450850"/>
          </a:xfrm>
          <a:prstGeom prst="rect">
            <a:avLst/>
          </a:prstGeom>
          <a:noFill/>
        </p:spPr>
        <p:txBody>
          <a:bodyPr wrap="square" rtlCol="0" anchor="t">
            <a:spAutoFit/>
            <a:scene3d>
              <a:camera prst="orthographicFront"/>
              <a:lightRig rig="threePt" dir="t"/>
            </a:scene3d>
          </a:bodyPr>
          <a:p>
            <a:r>
              <a:rPr lang="zh-CN" altLang="en-US">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UV通道下采样</a:t>
            </a:r>
            <a:endParaRPr lang="zh-CN" altLang="en-US">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5" name="文本框 4"/>
          <p:cNvSpPr txBox="1"/>
          <p:nvPr>
            <p:custDataLst>
              <p:tags r:id="rId2"/>
            </p:custDataLst>
          </p:nvPr>
        </p:nvSpPr>
        <p:spPr>
          <a:xfrm>
            <a:off x="647065" y="1457325"/>
            <a:ext cx="12658725" cy="810260"/>
          </a:xfrm>
          <a:prstGeom prst="rect">
            <a:avLst/>
          </a:prstGeom>
          <a:noFill/>
        </p:spPr>
        <p:txBody>
          <a:bodyPr wrap="square" rtlCol="0" anchor="t">
            <a:spAutoFit/>
          </a:bodyPr>
          <a:p>
            <a:pPr indent="457200"/>
            <a:r>
              <a:rPr lang="zh-CN" altLang="en-US"/>
              <a:t>输入是u8类型的数据，通过邻近的4个像素求平均，输出u8类型的数据，达到1/4下采样的目的。我们假定每行数据长度是16的整数倍。算法的示意图和参考代码如下所示。</a:t>
            </a:r>
            <a:endParaRPr lang="zh-CN" altLang="en-US"/>
          </a:p>
        </p:txBody>
      </p:sp>
      <p:pic>
        <p:nvPicPr>
          <p:cNvPr id="100" name="图片 99"/>
          <p:cNvPicPr/>
          <p:nvPr>
            <p:custDataLst>
              <p:tags r:id="rId3"/>
            </p:custDataLst>
          </p:nvPr>
        </p:nvPicPr>
        <p:blipFill>
          <a:blip r:embed="rId4"/>
          <a:stretch>
            <a:fillRect/>
          </a:stretch>
        </p:blipFill>
        <p:spPr>
          <a:xfrm>
            <a:off x="719772" y="2609533"/>
            <a:ext cx="4914900" cy="1733550"/>
          </a:xfrm>
          <a:prstGeom prst="rect">
            <a:avLst/>
          </a:prstGeom>
          <a:noFill/>
          <a:ln w="9525">
            <a:noFill/>
          </a:ln>
        </p:spPr>
      </p:pic>
      <p:pic>
        <p:nvPicPr>
          <p:cNvPr id="11" name="图片 10"/>
          <p:cNvPicPr>
            <a:picLocks noChangeAspect="1"/>
          </p:cNvPicPr>
          <p:nvPr>
            <p:custDataLst>
              <p:tags r:id="rId5"/>
            </p:custDataLst>
          </p:nvPr>
        </p:nvPicPr>
        <p:blipFill>
          <a:blip r:embed="rId6"/>
          <a:stretch>
            <a:fillRect/>
          </a:stretch>
        </p:blipFill>
        <p:spPr>
          <a:xfrm>
            <a:off x="6047740" y="2267585"/>
            <a:ext cx="7400925" cy="49244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1" name="图片 100"/>
          <p:cNvPicPr/>
          <p:nvPr>
            <p:custDataLst>
              <p:tags r:id="rId1"/>
            </p:custDataLst>
          </p:nvPr>
        </p:nvPicPr>
        <p:blipFill>
          <a:blip r:embed="rId2"/>
          <a:stretch>
            <a:fillRect/>
          </a:stretch>
        </p:blipFill>
        <p:spPr>
          <a:xfrm>
            <a:off x="360997" y="881698"/>
            <a:ext cx="6858000" cy="3009900"/>
          </a:xfrm>
          <a:prstGeom prst="rect">
            <a:avLst/>
          </a:prstGeom>
          <a:noFill/>
          <a:ln w="9525">
            <a:noFill/>
          </a:ln>
        </p:spPr>
      </p:pic>
      <p:pic>
        <p:nvPicPr>
          <p:cNvPr id="102" name="图片 101"/>
          <p:cNvPicPr/>
          <p:nvPr>
            <p:custDataLst>
              <p:tags r:id="rId3"/>
            </p:custDataLst>
          </p:nvPr>
        </p:nvPicPr>
        <p:blipFill>
          <a:blip r:embed="rId4"/>
          <a:stretch>
            <a:fillRect/>
          </a:stretch>
        </p:blipFill>
        <p:spPr>
          <a:xfrm>
            <a:off x="720407" y="4840606"/>
            <a:ext cx="4533900" cy="2486025"/>
          </a:xfrm>
          <a:prstGeom prst="rect">
            <a:avLst/>
          </a:prstGeom>
          <a:noFill/>
          <a:ln w="9525">
            <a:noFill/>
          </a:ln>
        </p:spPr>
      </p:pic>
      <p:pic>
        <p:nvPicPr>
          <p:cNvPr id="103" name="图片 102"/>
          <p:cNvPicPr/>
          <p:nvPr>
            <p:custDataLst>
              <p:tags r:id="rId5"/>
            </p:custDataLst>
          </p:nvPr>
        </p:nvPicPr>
        <p:blipFill>
          <a:blip r:embed="rId6"/>
          <a:stretch>
            <a:fillRect/>
          </a:stretch>
        </p:blipFill>
        <p:spPr>
          <a:xfrm>
            <a:off x="6981507" y="4912678"/>
            <a:ext cx="6858000" cy="2686050"/>
          </a:xfrm>
          <a:prstGeom prst="rect">
            <a:avLst/>
          </a:prstGeom>
          <a:noFill/>
          <a:ln w="9525">
            <a:noFill/>
          </a:ln>
        </p:spPr>
      </p:pic>
      <p:pic>
        <p:nvPicPr>
          <p:cNvPr id="104" name="图片 103"/>
          <p:cNvPicPr/>
          <p:nvPr>
            <p:custDataLst>
              <p:tags r:id="rId7"/>
            </p:custDataLst>
          </p:nvPr>
        </p:nvPicPr>
        <p:blipFill>
          <a:blip r:embed="rId8"/>
          <a:stretch>
            <a:fillRect/>
          </a:stretch>
        </p:blipFill>
        <p:spPr>
          <a:xfrm>
            <a:off x="8568372" y="1027430"/>
            <a:ext cx="5010150" cy="2657475"/>
          </a:xfrm>
          <a:prstGeom prst="rect">
            <a:avLst/>
          </a:prstGeom>
          <a:noFill/>
          <a:ln w="9525">
            <a:noFill/>
          </a:ln>
        </p:spPr>
      </p:pic>
      <p:sp>
        <p:nvSpPr>
          <p:cNvPr id="4" name="右箭头 3"/>
          <p:cNvSpPr/>
          <p:nvPr>
            <p:custDataLst>
              <p:tags r:id="rId9"/>
            </p:custDataLst>
          </p:nvPr>
        </p:nvSpPr>
        <p:spPr>
          <a:xfrm>
            <a:off x="5544185" y="6066155"/>
            <a:ext cx="979170" cy="4857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右箭头 4"/>
          <p:cNvSpPr/>
          <p:nvPr>
            <p:custDataLst>
              <p:tags r:id="rId10"/>
            </p:custDataLst>
          </p:nvPr>
        </p:nvSpPr>
        <p:spPr>
          <a:xfrm rot="16200000">
            <a:off x="10368280" y="4056380"/>
            <a:ext cx="979170" cy="4857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647065" y="737235"/>
            <a:ext cx="6457950" cy="7181850"/>
          </a:xfrm>
          <a:prstGeom prst="rect">
            <a:avLst/>
          </a:prstGeom>
        </p:spPr>
      </p:pic>
      <p:sp>
        <p:nvSpPr>
          <p:cNvPr id="5" name="文本框 4"/>
          <p:cNvSpPr txBox="1"/>
          <p:nvPr>
            <p:custDataLst>
              <p:tags r:id="rId3"/>
            </p:custDataLst>
          </p:nvPr>
        </p:nvSpPr>
        <p:spPr>
          <a:xfrm>
            <a:off x="7105015" y="1313815"/>
            <a:ext cx="6024245" cy="810260"/>
          </a:xfrm>
          <a:prstGeom prst="rect">
            <a:avLst/>
          </a:prstGeom>
          <a:noFill/>
        </p:spPr>
        <p:txBody>
          <a:bodyPr wrap="square" rtlCol="0" anchor="t">
            <a:spAutoFit/>
          </a:bodyPr>
          <a:p>
            <a:r>
              <a:rPr lang="zh-CN" altLang="en-US"/>
              <a:t>float d4[8]= {1.f, 2.f, 3.f, 4.f, 5.f, 6.f, 7.f, 8.f};</a:t>
            </a:r>
            <a:endParaRPr lang="zh-CN" altLang="en-US"/>
          </a:p>
          <a:p>
            <a:r>
              <a:rPr lang="zh-CN" altLang="en-US"/>
              <a:t>float32x4x2_t ret = vld2q_f32 (d4);</a:t>
            </a:r>
            <a:endParaRPr lang="zh-CN" altLang="en-US"/>
          </a:p>
        </p:txBody>
      </p:sp>
      <p:pic>
        <p:nvPicPr>
          <p:cNvPr id="105" name="图片 104"/>
          <p:cNvPicPr/>
          <p:nvPr>
            <p:custDataLst>
              <p:tags r:id="rId4"/>
            </p:custDataLst>
          </p:nvPr>
        </p:nvPicPr>
        <p:blipFill>
          <a:blip r:embed="rId5"/>
          <a:stretch>
            <a:fillRect/>
          </a:stretch>
        </p:blipFill>
        <p:spPr>
          <a:xfrm>
            <a:off x="8640445" y="2525078"/>
            <a:ext cx="2638425" cy="895350"/>
          </a:xfrm>
          <a:prstGeom prst="rect">
            <a:avLst/>
          </a:prstGeom>
          <a:noFill/>
          <a:ln w="9525">
            <a:noFill/>
          </a:ln>
        </p:spPr>
      </p:pic>
      <p:sp>
        <p:nvSpPr>
          <p:cNvPr id="6" name="文本框 5"/>
          <p:cNvSpPr txBox="1"/>
          <p:nvPr>
            <p:custDataLst>
              <p:tags r:id="rId6"/>
            </p:custDataLst>
          </p:nvPr>
        </p:nvSpPr>
        <p:spPr>
          <a:xfrm>
            <a:off x="8352155" y="3905885"/>
            <a:ext cx="3597910" cy="450850"/>
          </a:xfrm>
          <a:prstGeom prst="rect">
            <a:avLst/>
          </a:prstGeom>
          <a:noFill/>
        </p:spPr>
        <p:txBody>
          <a:bodyPr wrap="square" rtlCol="0" anchor="t">
            <a:spAutoFit/>
          </a:bodyPr>
          <a:p>
            <a:r>
              <a:rPr lang="zh-CN" altLang="en-US"/>
              <a:t>vst2q_f32</a:t>
            </a:r>
            <a:endParaRPr lang="zh-CN" altLang="en-US"/>
          </a:p>
        </p:txBody>
      </p:sp>
      <p:pic>
        <p:nvPicPr>
          <p:cNvPr id="106" name="图片 105"/>
          <p:cNvPicPr/>
          <p:nvPr>
            <p:custDataLst>
              <p:tags r:id="rId7"/>
            </p:custDataLst>
          </p:nvPr>
        </p:nvPicPr>
        <p:blipFill>
          <a:blip r:embed="rId8"/>
          <a:stretch>
            <a:fillRect/>
          </a:stretch>
        </p:blipFill>
        <p:spPr>
          <a:xfrm>
            <a:off x="9216707" y="4841558"/>
            <a:ext cx="1371600" cy="188595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custDataLst>
              <p:tags r:id="rId1"/>
            </p:custDataLst>
          </p:nvPr>
        </p:nvPicPr>
        <p:blipFill>
          <a:blip r:embed="rId2"/>
          <a:stretch>
            <a:fillRect/>
          </a:stretch>
        </p:blipFill>
        <p:spPr>
          <a:xfrm>
            <a:off x="3383915" y="2033905"/>
            <a:ext cx="5762625" cy="2333625"/>
          </a:xfrm>
          <a:prstGeom prst="rect">
            <a:avLst/>
          </a:prstGeom>
        </p:spPr>
      </p:pic>
      <p:sp>
        <p:nvSpPr>
          <p:cNvPr id="6" name="文本框 5"/>
          <p:cNvSpPr txBox="1"/>
          <p:nvPr>
            <p:custDataLst>
              <p:tags r:id="rId3"/>
            </p:custDataLst>
          </p:nvPr>
        </p:nvSpPr>
        <p:spPr>
          <a:xfrm>
            <a:off x="3916045" y="4969510"/>
            <a:ext cx="6797040" cy="1889760"/>
          </a:xfrm>
          <a:prstGeom prst="rect">
            <a:avLst/>
          </a:prstGeom>
          <a:noFill/>
        </p:spPr>
        <p:txBody>
          <a:bodyPr wrap="square" rtlCol="0">
            <a:spAutoFit/>
          </a:bodyPr>
          <a:p>
            <a:pPr algn="l"/>
            <a:r>
              <a:rPr lang="en-US" altLang="zh-CN">
                <a:solidFill>
                  <a:srgbClr val="FF0000"/>
                </a:solidFill>
              </a:rPr>
              <a:t>v1 = [  0,  1,  2,  3,  4,  5,  6,  7]</a:t>
            </a:r>
            <a:endParaRPr lang="en-US" altLang="zh-CN">
              <a:solidFill>
                <a:srgbClr val="FF0000"/>
              </a:solidFill>
            </a:endParaRPr>
          </a:p>
          <a:p>
            <a:pPr algn="l"/>
            <a:r>
              <a:rPr lang="en-US" altLang="zh-CN">
                <a:solidFill>
                  <a:srgbClr val="0070C0"/>
                </a:solidFill>
              </a:rPr>
              <a:t>v2 = </a:t>
            </a:r>
            <a:r>
              <a:rPr lang="en-US" altLang="zh-CN" sz="2335">
                <a:solidFill>
                  <a:srgbClr val="0070C0"/>
                </a:solidFill>
                <a:sym typeface="+mn-ea"/>
              </a:rPr>
              <a:t>[  1,  2,  3,  4,  5,  6,  7,  8]</a:t>
            </a:r>
            <a:endParaRPr lang="en-US" altLang="zh-CN">
              <a:solidFill>
                <a:srgbClr val="0070C0"/>
              </a:solidFill>
            </a:endParaRPr>
          </a:p>
          <a:p>
            <a:pPr algn="l"/>
            <a:r>
              <a:rPr lang="en-US" altLang="zh-CN">
                <a:solidFill>
                  <a:schemeClr val="accent3"/>
                </a:solidFill>
              </a:rPr>
              <a:t>v3 = </a:t>
            </a:r>
            <a:r>
              <a:rPr lang="en-US" altLang="zh-CN" sz="2335">
                <a:solidFill>
                  <a:schemeClr val="accent3"/>
                </a:solidFill>
                <a:sym typeface="+mn-ea"/>
              </a:rPr>
              <a:t>[  2,  3,  4,  5,  6,  7,  8,  9]</a:t>
            </a:r>
            <a:endParaRPr lang="en-US" altLang="zh-CN" sz="2335">
              <a:solidFill>
                <a:schemeClr val="accent3"/>
              </a:solidFill>
              <a:sym typeface="+mn-ea"/>
            </a:endParaRPr>
          </a:p>
          <a:p>
            <a:pPr algn="l"/>
            <a:endParaRPr lang="en-US" altLang="zh-CN" sz="2335">
              <a:sym typeface="+mn-ea"/>
            </a:endParaRPr>
          </a:p>
          <a:p>
            <a:pPr algn="l"/>
            <a:r>
              <a:rPr lang="en-US" altLang="zh-CN">
                <a:solidFill>
                  <a:schemeClr val="bg1">
                    <a:lumMod val="50000"/>
                  </a:schemeClr>
                </a:solidFill>
              </a:rPr>
              <a:t>result_v = (v1+v2+v3)/3</a:t>
            </a:r>
            <a:endParaRPr lang="en-US" altLang="zh-CN">
              <a:solidFill>
                <a:schemeClr val="bg1">
                  <a:lumMod val="50000"/>
                </a:schemeClr>
              </a:solidFill>
            </a:endParaRPr>
          </a:p>
        </p:txBody>
      </p:sp>
      <p:sp>
        <p:nvSpPr>
          <p:cNvPr id="7" name="文本框 6"/>
          <p:cNvSpPr txBox="1"/>
          <p:nvPr>
            <p:custDataLst>
              <p:tags r:id="rId4"/>
            </p:custDataLst>
          </p:nvPr>
        </p:nvSpPr>
        <p:spPr>
          <a:xfrm>
            <a:off x="5039995" y="1169670"/>
            <a:ext cx="2560320" cy="450850"/>
          </a:xfrm>
          <a:prstGeom prst="rect">
            <a:avLst/>
          </a:prstGeom>
          <a:noFill/>
        </p:spPr>
        <p:txBody>
          <a:bodyPr wrap="none" rtlCol="0">
            <a:spAutoFit/>
            <a:scene3d>
              <a:camera prst="orthographicFront"/>
              <a:lightRig rig="threePt" dir="t"/>
            </a:scene3d>
          </a:bodyPr>
          <a:p>
            <a:r>
              <a:rPr lang="zh-CN" altLang="en-US">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矩阵运算的向量化</a:t>
            </a:r>
            <a:endParaRPr lang="zh-CN" altLang="en-US">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custDataLst>
              <p:tags r:id="rId3"/>
            </p:custDataLst>
          </p:nvPr>
        </p:nvSpPr>
        <p:spPr>
          <a:xfrm>
            <a:off x="4895850" y="1297305"/>
            <a:ext cx="3823335" cy="450850"/>
          </a:xfrm>
          <a:prstGeom prst="rect">
            <a:avLst/>
          </a:prstGeom>
          <a:noFill/>
        </p:spPr>
        <p:txBody>
          <a:bodyPr wrap="square" rtlCol="0">
            <a:spAutoFit/>
            <a:scene3d>
              <a:camera prst="orthographicFront"/>
              <a:lightRig rig="threePt" dir="t"/>
            </a:scene3d>
          </a:bodyPr>
          <a:p>
            <a:r>
              <a:rPr lang="zh-CN" altLang="en-US">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基于</a:t>
            </a:r>
            <a:r>
              <a:rPr lang="en-US" altLang="zh-CN">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NEON</a:t>
            </a:r>
            <a:r>
              <a:rPr lang="zh-CN" altLang="en-US">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的加速效果</a:t>
            </a:r>
            <a:endParaRPr lang="zh-CN" altLang="en-US">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00" name="文本框 99"/>
          <p:cNvSpPr txBox="1"/>
          <p:nvPr>
            <p:custDataLst>
              <p:tags r:id="rId4"/>
            </p:custDataLst>
          </p:nvPr>
        </p:nvSpPr>
        <p:spPr>
          <a:xfrm>
            <a:off x="1871345" y="6210300"/>
            <a:ext cx="9531985" cy="645160"/>
          </a:xfrm>
          <a:prstGeom prst="rect">
            <a:avLst/>
          </a:prstGeom>
          <a:noFill/>
          <a:ln w="9525">
            <a:noFill/>
          </a:ln>
        </p:spPr>
        <p:txBody>
          <a:bodyPr wrap="square">
            <a:spAutoFit/>
          </a:bodyPr>
          <a:p>
            <a:pPr indent="0"/>
            <a:r>
              <a:rPr lang="en-US" altLang="zh-CN" sz="1800" b="0">
                <a:latin typeface="Calibri" panose="020F0502020204030204" charset="0"/>
                <a:ea typeface="宋体" panose="02010600030101010101" pitchFamily="2" charset="-122"/>
              </a:rPr>
              <a:t>         </a:t>
            </a:r>
            <a:r>
              <a:rPr lang="zh-CN" sz="1800" b="0">
                <a:latin typeface="Calibri" panose="020F0502020204030204" charset="0"/>
                <a:ea typeface="宋体" panose="02010600030101010101" pitchFamily="2" charset="-122"/>
              </a:rPr>
              <a:t>通过以上图表数据，可以看到使用</a:t>
            </a:r>
            <a:r>
              <a:rPr lang="en-US" sz="1800" b="0">
                <a:latin typeface="Calibri" panose="020F0502020204030204" charset="0"/>
                <a:ea typeface="宋体" panose="02010600030101010101" pitchFamily="2" charset="-122"/>
              </a:rPr>
              <a:t>NEON</a:t>
            </a:r>
            <a:r>
              <a:rPr lang="zh-CN" sz="1800" b="0">
                <a:latin typeface="Calibri" panose="020F0502020204030204" charset="0"/>
                <a:ea typeface="宋体" panose="02010600030101010101" pitchFamily="2" charset="-122"/>
              </a:rPr>
              <a:t>指令集进行算法编程优化后，在</a:t>
            </a:r>
            <a:r>
              <a:rPr lang="en-US" sz="1800" b="0">
                <a:latin typeface="Calibri" panose="020F0502020204030204" charset="0"/>
                <a:ea typeface="宋体" panose="02010600030101010101" pitchFamily="2" charset="-122"/>
              </a:rPr>
              <a:t>ARMv7</a:t>
            </a:r>
            <a:r>
              <a:rPr lang="zh-CN" sz="1800" b="0">
                <a:latin typeface="Calibri" panose="020F0502020204030204" charset="0"/>
                <a:ea typeface="宋体" panose="02010600030101010101" pitchFamily="2" charset="-122"/>
              </a:rPr>
              <a:t>和</a:t>
            </a:r>
            <a:r>
              <a:rPr lang="en-US" sz="1800" b="0">
                <a:latin typeface="Calibri" panose="020F0502020204030204" charset="0"/>
                <a:ea typeface="宋体" panose="02010600030101010101" pitchFamily="2" charset="-122"/>
              </a:rPr>
              <a:t>ARMv8</a:t>
            </a:r>
            <a:r>
              <a:rPr lang="zh-CN" sz="1800" b="0">
                <a:latin typeface="Calibri" panose="020F0502020204030204" charset="0"/>
                <a:ea typeface="宋体" panose="02010600030101010101" pitchFamily="2" charset="-122"/>
              </a:rPr>
              <a:t>芯片平台上均取得了明显的加速效果。部分算法效率提升一倍。</a:t>
            </a:r>
            <a:endParaRPr lang="zh-CN" altLang="en-US" sz="1800" b="0">
              <a:latin typeface="Calibri" panose="020F0502020204030204" charset="0"/>
              <a:ea typeface="宋体" panose="02010600030101010101" pitchFamily="2" charset="-122"/>
            </a:endParaRPr>
          </a:p>
        </p:txBody>
      </p:sp>
      <p:graphicFrame>
        <p:nvGraphicFramePr>
          <p:cNvPr id="5" name="图表 4"/>
          <p:cNvGraphicFramePr/>
          <p:nvPr>
            <p:custDataLst>
              <p:tags r:id="rId5"/>
            </p:custDataLst>
          </p:nvPr>
        </p:nvGraphicFramePr>
        <p:xfrm>
          <a:off x="1367472" y="2446337"/>
          <a:ext cx="4572000" cy="274320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6" name="图表 5"/>
          <p:cNvGraphicFramePr/>
          <p:nvPr>
            <p:custDataLst>
              <p:tags r:id="rId6"/>
            </p:custDataLst>
          </p:nvPr>
        </p:nvGraphicFramePr>
        <p:xfrm>
          <a:off x="6912292" y="2466022"/>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表格 4"/>
          <p:cNvGraphicFramePr/>
          <p:nvPr>
            <p:custDataLst>
              <p:tags r:id="rId1"/>
            </p:custDataLst>
          </p:nvPr>
        </p:nvGraphicFramePr>
        <p:xfrm>
          <a:off x="1084580" y="2103120"/>
          <a:ext cx="5843905" cy="2560955"/>
        </p:xfrm>
        <a:graphic>
          <a:graphicData uri="http://schemas.openxmlformats.org/drawingml/2006/table">
            <a:tbl>
              <a:tblPr/>
              <a:tblGrid>
                <a:gridCol w="1946910"/>
                <a:gridCol w="1947545"/>
                <a:gridCol w="1949450"/>
              </a:tblGrid>
              <a:tr h="731520">
                <a:tc gridSpan="3">
                  <a:txBody>
                    <a:bodyPr/>
                    <a:p>
                      <a:pPr indent="0">
                        <a:buNone/>
                      </a:pPr>
                      <a:r>
                        <a:rPr lang="en-US" sz="1400" b="1">
                          <a:latin typeface="宋体" panose="02010600030101010101" pitchFamily="2" charset="-122"/>
                          <a:ea typeface="宋体" panose="02010600030101010101" pitchFamily="2" charset="-122"/>
                          <a:cs typeface="宋体" panose="02010600030101010101" pitchFamily="2" charset="-122"/>
                        </a:rPr>
                        <a:t>测试平台：</a:t>
                      </a:r>
                      <a:r>
                        <a:rPr lang="en-US" sz="1400" b="0">
                          <a:latin typeface="宋体" panose="02010600030101010101" pitchFamily="2" charset="-122"/>
                          <a:ea typeface="宋体" panose="02010600030101010101" pitchFamily="2" charset="-122"/>
                          <a:cs typeface="宋体" panose="02010600030101010101" pitchFamily="2" charset="-122"/>
                        </a:rPr>
                        <a:t>海思3516CV500 双核 ARM Cortex-A7@ 900MHz </a:t>
                      </a:r>
                      <a:endParaRPr lang="en-US" sz="14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1400" b="1">
                          <a:latin typeface="宋体" panose="02010600030101010101" pitchFamily="2" charset="-122"/>
                          <a:ea typeface="宋体" panose="02010600030101010101" pitchFamily="2" charset="-122"/>
                          <a:cs typeface="宋体" panose="02010600030101010101" pitchFamily="2" charset="-122"/>
                        </a:rPr>
                        <a:t>测试数据：</a:t>
                      </a:r>
                      <a:r>
                        <a:rPr 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256*192</a:t>
                      </a:r>
                      <a:r>
                        <a:rPr lang="en-US" sz="1400" b="0">
                          <a:latin typeface="宋体" panose="02010600030101010101" pitchFamily="2" charset="-122"/>
                          <a:ea typeface="宋体" panose="02010600030101010101" pitchFamily="2" charset="-122"/>
                          <a:cs typeface="宋体" panose="02010600030101010101" pitchFamily="2" charset="-122"/>
                        </a:rPr>
                        <a:t>16bit红外Y16数据</a:t>
                      </a:r>
                      <a:endParaRPr lang="en-US" sz="1400" b="0">
                        <a:latin typeface="宋体" panose="02010600030101010101" pitchFamily="2" charset="-122"/>
                        <a:ea typeface="宋体" panose="02010600030101010101" pitchFamily="2" charset="-122"/>
                        <a:cs typeface="宋体" panose="02010600030101010101" pitchFamily="2" charset="-122"/>
                      </a:endParaRPr>
                    </a:p>
                    <a:p>
                      <a:pPr indent="0">
                        <a:buNone/>
                      </a:pPr>
                      <a:r>
                        <a:rPr lang="en-US" sz="1400" b="1">
                          <a:latin typeface="宋体" panose="02010600030101010101" pitchFamily="2" charset="-122"/>
                          <a:ea typeface="宋体" panose="02010600030101010101" pitchFamily="2" charset="-122"/>
                          <a:cs typeface="宋体" panose="02010600030101010101" pitchFamily="2" charset="-122"/>
                        </a:rPr>
                        <a:t>测试条件：</a:t>
                      </a:r>
                      <a:r>
                        <a:rPr lang="en-US" sz="1400" b="0">
                          <a:latin typeface="宋体" panose="02010600030101010101" pitchFamily="2" charset="-122"/>
                          <a:ea typeface="宋体" panose="02010600030101010101" pitchFamily="2" charset="-122"/>
                          <a:cs typeface="宋体" panose="02010600030101010101" pitchFamily="2" charset="-122"/>
                        </a:rPr>
                        <a:t>开启去竖纹算法开启空域滤波算法开启图像增强算法</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r h="365760">
                <a:tc>
                  <a:txBody>
                    <a:bodyPr/>
                    <a:p>
                      <a:pPr indent="0" algn="ctr">
                        <a:buNone/>
                      </a:pPr>
                      <a:r>
                        <a:rPr lang="en-US" sz="1400" b="1">
                          <a:latin typeface="宋体" panose="02010600030101010101" pitchFamily="2" charset="-122"/>
                          <a:ea typeface="宋体" panose="02010600030101010101" pitchFamily="2" charset="-122"/>
                          <a:cs typeface="宋体" panose="02010600030101010101" pitchFamily="2" charset="-122"/>
                        </a:rPr>
                        <a:t>测试算法</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CPP</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NEON</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6395">
                <a:tc>
                  <a:txBody>
                    <a:bodyPr/>
                    <a:p>
                      <a:pPr indent="0" algn="ctr">
                        <a:buNone/>
                      </a:pPr>
                      <a:r>
                        <a:rPr lang="en-US" sz="1400" b="1">
                          <a:latin typeface="宋体" panose="02010600030101010101" pitchFamily="2" charset="-122"/>
                          <a:ea typeface="宋体" panose="02010600030101010101" pitchFamily="2" charset="-122"/>
                          <a:cs typeface="宋体" panose="02010600030101010101" pitchFamily="2" charset="-122"/>
                        </a:rPr>
                        <a:t>处理时间</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39.2ms</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19.35ms</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400" b="1">
                          <a:latin typeface="宋体" panose="02010600030101010101" pitchFamily="2" charset="-122"/>
                          <a:ea typeface="宋体" panose="02010600030101010101" pitchFamily="2" charset="-122"/>
                          <a:cs typeface="宋体" panose="02010600030101010101" pitchFamily="2" charset="-122"/>
                        </a:rPr>
                        <a:t>CPU占用率</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49.9%</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25.1%</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p>
                      <a:pPr indent="0" algn="ctr">
                        <a:buNone/>
                      </a:pPr>
                      <a:r>
                        <a:rPr lang="en-US" sz="1400" b="1">
                          <a:latin typeface="宋体" panose="02010600030101010101" pitchFamily="2" charset="-122"/>
                          <a:ea typeface="宋体" panose="02010600030101010101" pitchFamily="2" charset="-122"/>
                          <a:cs typeface="宋体" panose="02010600030101010101" pitchFamily="2" charset="-122"/>
                        </a:rPr>
                        <a:t>功耗</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4.86V0.12~0.14A</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400" b="0">
                          <a:latin typeface="宋体" panose="02010600030101010101" pitchFamily="2" charset="-122"/>
                          <a:ea typeface="宋体" panose="02010600030101010101" pitchFamily="2" charset="-122"/>
                          <a:cs typeface="宋体" panose="02010600030101010101" pitchFamily="2" charset="-122"/>
                        </a:rPr>
                        <a:t>4.86V0.11~0.14V</a:t>
                      </a:r>
                      <a:endParaRPr lang="en-US" altLang="en-US" sz="14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gridSpan="3">
                  <a:txBody>
                    <a:bodyPr/>
                    <a:p>
                      <a:pPr indent="0" algn="ctr">
                        <a:buNone/>
                      </a:pPr>
                      <a:endParaRPr lang="en-US" altLang="en-US" sz="1000" b="0">
                        <a:latin typeface="Calibri" panose="020F0502020204030204" charset="0"/>
                        <a:ea typeface="Calibri" panose="020F0502020204030204" charset="0"/>
                        <a:cs typeface="Calibri" panose="020F0502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r>
            </a:tbl>
          </a:graphicData>
        </a:graphic>
      </p:graphicFrame>
      <p:pic>
        <p:nvPicPr>
          <p:cNvPr id="6" name="图片 5"/>
          <p:cNvPicPr/>
          <p:nvPr>
            <p:custDataLst>
              <p:tags r:id="rId2"/>
            </p:custDataLst>
          </p:nvPr>
        </p:nvPicPr>
        <p:blipFill>
          <a:blip r:embed="rId3"/>
          <a:stretch>
            <a:fillRect/>
          </a:stretch>
        </p:blipFill>
        <p:spPr>
          <a:xfrm>
            <a:off x="7703820" y="2246313"/>
            <a:ext cx="5276850" cy="2266950"/>
          </a:xfrm>
          <a:prstGeom prst="rect">
            <a:avLst/>
          </a:prstGeom>
          <a:noFill/>
          <a:ln w="9525">
            <a:noFill/>
          </a:ln>
        </p:spPr>
      </p:pic>
      <p:sp>
        <p:nvSpPr>
          <p:cNvPr id="100" name="文本框 99"/>
          <p:cNvSpPr txBox="1"/>
          <p:nvPr>
            <p:custDataLst>
              <p:tags r:id="rId4"/>
            </p:custDataLst>
          </p:nvPr>
        </p:nvSpPr>
        <p:spPr>
          <a:xfrm>
            <a:off x="1172845" y="5792470"/>
            <a:ext cx="11572240" cy="645160"/>
          </a:xfrm>
          <a:prstGeom prst="rect">
            <a:avLst/>
          </a:prstGeom>
          <a:noFill/>
          <a:ln w="9525">
            <a:noFill/>
          </a:ln>
        </p:spPr>
        <p:txBody>
          <a:bodyPr wrap="square">
            <a:spAutoFit/>
          </a:bodyPr>
          <a:p>
            <a:pPr indent="266700"/>
            <a:r>
              <a:rPr lang="en-US" altLang="zh-CN" sz="1800" b="0">
                <a:latin typeface="Calibri" panose="020F0502020204030204" charset="0"/>
                <a:ea typeface="宋体" panose="02010600030101010101" pitchFamily="2" charset="-122"/>
              </a:rPr>
              <a:t> </a:t>
            </a:r>
            <a:r>
              <a:rPr lang="zh-CN" sz="1800" b="0">
                <a:latin typeface="Calibri" panose="020F0502020204030204" charset="0"/>
                <a:ea typeface="宋体" panose="02010600030101010101" pitchFamily="2" charset="-122"/>
              </a:rPr>
              <a:t>通过以上实验可以看到，开启</a:t>
            </a:r>
            <a:r>
              <a:rPr lang="en-US" sz="1800" b="0">
                <a:latin typeface="Calibri" panose="020F0502020204030204" charset="0"/>
                <a:ea typeface="宋体" panose="02010600030101010101" pitchFamily="2" charset="-122"/>
              </a:rPr>
              <a:t>NEON</a:t>
            </a:r>
            <a:r>
              <a:rPr lang="zh-CN" sz="1800" b="0">
                <a:latin typeface="Calibri" panose="020F0502020204030204" charset="0"/>
                <a:ea typeface="宋体" panose="02010600030101010101" pitchFamily="2" charset="-122"/>
              </a:rPr>
              <a:t>加速后，图像单帧处理时间由</a:t>
            </a:r>
            <a:r>
              <a:rPr lang="en-US" sz="1800" b="0">
                <a:latin typeface="Calibri" panose="020F0502020204030204" charset="0"/>
                <a:ea typeface="宋体" panose="02010600030101010101" pitchFamily="2" charset="-122"/>
              </a:rPr>
              <a:t>75.9ms</a:t>
            </a:r>
            <a:r>
              <a:rPr lang="zh-CN" sz="1800" b="0">
                <a:latin typeface="Calibri" panose="020F0502020204030204" charset="0"/>
                <a:ea typeface="宋体" panose="02010600030101010101" pitchFamily="2" charset="-122"/>
              </a:rPr>
              <a:t>降为</a:t>
            </a:r>
            <a:r>
              <a:rPr lang="en-US" sz="1800" b="0">
                <a:latin typeface="Calibri" panose="020F0502020204030204" charset="0"/>
                <a:ea typeface="宋体" panose="02010600030101010101" pitchFamily="2" charset="-122"/>
              </a:rPr>
              <a:t>43.26ms</a:t>
            </a:r>
            <a:r>
              <a:rPr lang="zh-CN" sz="1800" b="0">
                <a:latin typeface="Calibri" panose="020F0502020204030204" charset="0"/>
                <a:ea typeface="宋体" panose="02010600030101010101" pitchFamily="2" charset="-122"/>
              </a:rPr>
              <a:t>帧率由</a:t>
            </a:r>
            <a:r>
              <a:rPr lang="en-US" sz="1800" b="0">
                <a:latin typeface="Calibri" panose="020F0502020204030204" charset="0"/>
                <a:ea typeface="宋体" panose="02010600030101010101" pitchFamily="2" charset="-122"/>
              </a:rPr>
              <a:t>13.2</a:t>
            </a:r>
            <a:r>
              <a:rPr lang="zh-CN" sz="1800" b="0">
                <a:latin typeface="Calibri" panose="020F0502020204030204" charset="0"/>
                <a:ea typeface="宋体" panose="02010600030101010101" pitchFamily="2" charset="-122"/>
              </a:rPr>
              <a:t>提升到</a:t>
            </a:r>
            <a:r>
              <a:rPr lang="en-US" sz="1800" b="0">
                <a:latin typeface="Calibri" panose="020F0502020204030204" charset="0"/>
                <a:ea typeface="宋体" panose="02010600030101010101" pitchFamily="2" charset="-122"/>
              </a:rPr>
              <a:t>22.7</a:t>
            </a:r>
            <a:r>
              <a:rPr lang="zh-CN" sz="1800" b="0">
                <a:latin typeface="Calibri" panose="020F0502020204030204" charset="0"/>
                <a:ea typeface="宋体" panose="02010600030101010101" pitchFamily="2" charset="-122"/>
              </a:rPr>
              <a:t>，</a:t>
            </a:r>
            <a:r>
              <a:rPr lang="en-US" sz="1800" b="0">
                <a:latin typeface="Calibri" panose="020F0502020204030204" charset="0"/>
                <a:ea typeface="宋体" panose="02010600030101010101" pitchFamily="2" charset="-122"/>
              </a:rPr>
              <a:t>CPU</a:t>
            </a:r>
            <a:r>
              <a:rPr lang="zh-CN" sz="1800" b="0">
                <a:latin typeface="Calibri" panose="020F0502020204030204" charset="0"/>
                <a:ea typeface="宋体" panose="02010600030101010101" pitchFamily="2" charset="-122"/>
              </a:rPr>
              <a:t>占用率由</a:t>
            </a:r>
            <a:r>
              <a:rPr lang="en-US" sz="1800" b="0">
                <a:latin typeface="Calibri" panose="020F0502020204030204" charset="0"/>
                <a:ea typeface="宋体" panose="02010600030101010101" pitchFamily="2" charset="-122"/>
              </a:rPr>
              <a:t>49.9%</a:t>
            </a:r>
            <a:r>
              <a:rPr lang="zh-CN" sz="1800" b="0">
                <a:latin typeface="Calibri" panose="020F0502020204030204" charset="0"/>
                <a:ea typeface="宋体" panose="02010600030101010101" pitchFamily="2" charset="-122"/>
              </a:rPr>
              <a:t>降到</a:t>
            </a:r>
            <a:r>
              <a:rPr lang="en-US" sz="1800" b="0">
                <a:latin typeface="Calibri" panose="020F0502020204030204" charset="0"/>
                <a:ea typeface="宋体" panose="02010600030101010101" pitchFamily="2" charset="-122"/>
              </a:rPr>
              <a:t>25.1%</a:t>
            </a:r>
            <a:r>
              <a:rPr lang="zh-CN" sz="1800" b="0">
                <a:latin typeface="Calibri" panose="020F0502020204030204" charset="0"/>
                <a:ea typeface="宋体" panose="02010600030101010101" pitchFamily="2" charset="-122"/>
              </a:rPr>
              <a:t>，从视频效果也可以看出加速后的图像相交加速前更加流畅，没有顿挫感。</a:t>
            </a:r>
            <a:endParaRPr lang="zh-CN" altLang="en-US" sz="1800" b="0">
              <a:latin typeface="Calibri" panose="020F050202020403020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custDataLst>
              <p:tags r:id="rId1"/>
            </p:custDataLst>
          </p:nvPr>
        </p:nvSpPr>
        <p:spPr>
          <a:xfrm>
            <a:off x="1079500" y="2306955"/>
            <a:ext cx="11277600" cy="3328670"/>
          </a:xfrm>
          <a:prstGeom prst="rect">
            <a:avLst/>
          </a:prstGeom>
          <a:noFill/>
        </p:spPr>
        <p:txBody>
          <a:bodyPr wrap="square" rtlCol="0">
            <a:spAutoFit/>
          </a:bodyPr>
          <a:p>
            <a:r>
              <a:rPr lang="en-US" altLang="zh-CN"/>
              <a:t>1 </a:t>
            </a:r>
            <a:r>
              <a:rPr lang="zh-CN" altLang="en-US"/>
              <a:t>红外算法大部分的处理数据都是</a:t>
            </a:r>
            <a:r>
              <a:rPr lang="en-US" altLang="zh-CN"/>
              <a:t>Y16</a:t>
            </a:r>
            <a:r>
              <a:rPr lang="zh-CN" altLang="en-US"/>
              <a:t>，一个向量最多处理</a:t>
            </a:r>
            <a:r>
              <a:rPr lang="en-US" altLang="zh-CN"/>
              <a:t>8</a:t>
            </a:r>
            <a:r>
              <a:rPr lang="zh-CN" altLang="en-US"/>
              <a:t>个数据</a:t>
            </a:r>
            <a:endParaRPr lang="zh-CN" altLang="en-US"/>
          </a:p>
          <a:p>
            <a:endParaRPr lang="zh-CN" altLang="en-US"/>
          </a:p>
          <a:p>
            <a:r>
              <a:rPr lang="en-US" altLang="zh-CN"/>
              <a:t>2 </a:t>
            </a:r>
            <a:r>
              <a:rPr lang="zh-CN" altLang="en-US"/>
              <a:t>需要考虑</a:t>
            </a:r>
            <a:r>
              <a:rPr lang="en-US" altLang="zh-CN"/>
              <a:t>Y16</a:t>
            </a:r>
            <a:r>
              <a:rPr lang="zh-CN" altLang="en-US"/>
              <a:t>数据乘加，累加运算溢出</a:t>
            </a:r>
            <a:endParaRPr lang="zh-CN" altLang="en-US"/>
          </a:p>
          <a:p>
            <a:endParaRPr lang="zh-CN" altLang="en-US"/>
          </a:p>
          <a:p>
            <a:r>
              <a:rPr lang="en-US" altLang="zh-CN"/>
              <a:t>3 </a:t>
            </a:r>
            <a:r>
              <a:rPr lang="zh-CN" altLang="en-US"/>
              <a:t>指针数据加载，存储，类型转换都需要额外的开销</a:t>
            </a:r>
            <a:endParaRPr lang="zh-CN" altLang="en-US"/>
          </a:p>
          <a:p>
            <a:endParaRPr lang="zh-CN" altLang="en-US"/>
          </a:p>
          <a:p>
            <a:r>
              <a:rPr lang="en-US" altLang="zh-CN"/>
              <a:t>4 </a:t>
            </a:r>
            <a:r>
              <a:rPr lang="zh-CN" altLang="en-US"/>
              <a:t>部分代码需要</a:t>
            </a:r>
            <a:r>
              <a:rPr lang="en-US" altLang="zh-CN"/>
              <a:t>NEON</a:t>
            </a:r>
            <a:r>
              <a:rPr lang="zh-CN" altLang="en-US"/>
              <a:t>指令与</a:t>
            </a:r>
            <a:r>
              <a:rPr lang="en-US" altLang="zh-CN"/>
              <a:t>C</a:t>
            </a:r>
            <a:r>
              <a:rPr lang="zh-CN" altLang="en-US"/>
              <a:t>代码进行混编</a:t>
            </a:r>
            <a:endParaRPr lang="zh-CN" altLang="en-US"/>
          </a:p>
          <a:p>
            <a:endParaRPr lang="zh-CN" altLang="en-US"/>
          </a:p>
          <a:p>
            <a:r>
              <a:rPr lang="en-US" altLang="zh-CN"/>
              <a:t>5 Y16</a:t>
            </a:r>
            <a:r>
              <a:rPr lang="zh-CN" altLang="en-US"/>
              <a:t>数据查表操作只能由</a:t>
            </a:r>
            <a:r>
              <a:rPr lang="en-US" altLang="zh-CN"/>
              <a:t>C</a:t>
            </a:r>
            <a:r>
              <a:rPr lang="zh-CN" altLang="en-US"/>
              <a:t>语言实现</a:t>
            </a:r>
            <a:endParaRPr lang="zh-CN" altLang="en-US"/>
          </a:p>
        </p:txBody>
      </p:sp>
      <p:sp>
        <p:nvSpPr>
          <p:cNvPr id="6" name="文本框 5"/>
          <p:cNvSpPr txBox="1"/>
          <p:nvPr>
            <p:custDataLst>
              <p:tags r:id="rId2"/>
            </p:custDataLst>
          </p:nvPr>
        </p:nvSpPr>
        <p:spPr>
          <a:xfrm>
            <a:off x="1151255" y="1315720"/>
            <a:ext cx="8020050" cy="450850"/>
          </a:xfrm>
          <a:prstGeom prst="rect">
            <a:avLst/>
          </a:prstGeom>
          <a:noFill/>
        </p:spPr>
        <p:txBody>
          <a:bodyPr wrap="square" rtlCol="0">
            <a:spAutoFit/>
            <a:scene3d>
              <a:camera prst="orthographicFront"/>
              <a:lightRig rig="threePt" dir="t"/>
            </a:scene3d>
          </a:bodyPr>
          <a:p>
            <a:r>
              <a:rPr lang="en-US" altLang="zh-CN">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NEON</a:t>
            </a:r>
            <a:r>
              <a:rPr lang="zh-CN" altLang="en-US">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加速实际效果与理想状态的差距</a:t>
            </a:r>
            <a:endParaRPr lang="zh-CN" altLang="en-US">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7" name="文本框 6"/>
          <p:cNvSpPr txBox="1"/>
          <p:nvPr/>
        </p:nvSpPr>
        <p:spPr>
          <a:xfrm>
            <a:off x="7844155" y="6799580"/>
            <a:ext cx="4799965" cy="450850"/>
          </a:xfrm>
          <a:prstGeom prst="rect">
            <a:avLst/>
          </a:prstGeom>
          <a:noFill/>
        </p:spPr>
        <p:txBody>
          <a:bodyPr wrap="square" rtlCol="0">
            <a:spAutoFit/>
          </a:bodyPr>
          <a:p>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17" y="0"/>
            <a:ext cx="14398978" cy="8099425"/>
          </a:xfrm>
          <a:prstGeom prst="rect">
            <a:avLst/>
          </a:prstGeom>
        </p:spPr>
      </p:pic>
      <p:sp>
        <p:nvSpPr>
          <p:cNvPr id="8" name="矩形 7"/>
          <p:cNvSpPr/>
          <p:nvPr/>
        </p:nvSpPr>
        <p:spPr>
          <a:xfrm>
            <a:off x="863402" y="809352"/>
            <a:ext cx="7197725" cy="1323439"/>
          </a:xfrm>
          <a:prstGeom prst="rect">
            <a:avLst/>
          </a:prstGeom>
          <a:scene3d>
            <a:camera prst="orthographicFront">
              <a:rot lat="0" lon="0" rev="0"/>
            </a:camera>
            <a:lightRig rig="threePt" dir="t"/>
          </a:scene3d>
        </p:spPr>
        <p:txBody>
          <a:bodyPr>
            <a:spAutoFit/>
          </a:bodyPr>
          <a:lstStyle/>
          <a:p>
            <a:r>
              <a:rPr lang="en-US" altLang="zh-CN" sz="80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Thanks!</a:t>
            </a:r>
            <a:endParaRPr lang="zh-CN" altLang="en-US" sz="80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矩形 4"/>
          <p:cNvSpPr/>
          <p:nvPr/>
        </p:nvSpPr>
        <p:spPr>
          <a:xfrm>
            <a:off x="839579" y="5705896"/>
            <a:ext cx="13536811" cy="461665"/>
          </a:xfrm>
          <a:prstGeom prst="rect">
            <a:avLst/>
          </a:prstGeom>
        </p:spPr>
        <p:txBody>
          <a:bodyPr wrap="square">
            <a:spAutoFit/>
          </a:bodyPr>
          <a:lstStyle/>
          <a:p>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武汉高德智感科技有限公司</a:t>
            </a:r>
            <a:endPar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Wuhan Guide Sensmart Tech Co.,</a:t>
            </a:r>
            <a:r>
              <a:rPr lang="en-US" altLang="zh-CN" sz="1200"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Ltd.</a:t>
            </a:r>
            <a:endPar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 name="矩形 5"/>
          <p:cNvSpPr/>
          <p:nvPr/>
        </p:nvSpPr>
        <p:spPr>
          <a:xfrm>
            <a:off x="839579" y="6714008"/>
            <a:ext cx="2400087" cy="461665"/>
          </a:xfrm>
          <a:prstGeom prst="rect">
            <a:avLst/>
          </a:prstGeom>
        </p:spPr>
        <p:txBody>
          <a:bodyPr wrap="square">
            <a:spAutoFit/>
          </a:bodyPr>
          <a:lstStyle/>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T  +86-27-81298783</a:t>
            </a:r>
            <a:endPar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F  +86-27-81298345</a:t>
            </a:r>
            <a:endParaRPr lang="zh-CN" altLang="en-US"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7" name="矩形 6"/>
          <p:cNvSpPr/>
          <p:nvPr/>
        </p:nvSpPr>
        <p:spPr>
          <a:xfrm>
            <a:off x="2879626" y="6714008"/>
            <a:ext cx="3456384" cy="461665"/>
          </a:xfrm>
          <a:prstGeom prst="rect">
            <a:avLst/>
          </a:prstGeom>
        </p:spPr>
        <p:txBody>
          <a:bodyPr wrap="square">
            <a:spAutoFit/>
          </a:bodyPr>
          <a:lstStyle/>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E   Mei@guide-infrared.com</a:t>
            </a:r>
            <a:endPar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a:p>
            <a:r>
              <a:rPr lang="en-US" altLang="zh-CN" sz="1200" dirty="0">
                <a:solidFill>
                  <a:schemeClr val="bg1"/>
                </a:solidFill>
                <a:latin typeface="Arial" panose="020B0604020202020204" pitchFamily="34" charset="0"/>
                <a:ea typeface="微软雅黑" panose="020B0503020204020204" pitchFamily="34" charset="-122"/>
                <a:cs typeface="Arial" panose="020B0604020202020204" pitchFamily="34" charset="0"/>
              </a:rPr>
              <a:t>W  </a:t>
            </a:r>
            <a:r>
              <a:rPr lang="en-US" altLang="zh-CN" sz="1200" dirty="0" smtClean="0">
                <a:solidFill>
                  <a:schemeClr val="bg1"/>
                </a:solidFill>
                <a:latin typeface="Arial" panose="020B0604020202020204" pitchFamily="34" charset="0"/>
                <a:ea typeface="微软雅黑" panose="020B0503020204020204" pitchFamily="34" charset="-122"/>
                <a:cs typeface="Arial" panose="020B0604020202020204" pitchFamily="34" charset="0"/>
              </a:rPr>
              <a:t>www.guideir.com</a:t>
            </a:r>
            <a:endParaRPr lang="zh-CN" altLang="en-US" sz="1200"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sp>
        <p:nvSpPr>
          <p:cNvPr id="10" name="矩形 9"/>
          <p:cNvSpPr/>
          <p:nvPr/>
        </p:nvSpPr>
        <p:spPr>
          <a:xfrm>
            <a:off x="839579" y="6209952"/>
            <a:ext cx="13536811" cy="461665"/>
          </a:xfrm>
          <a:prstGeom prst="rect">
            <a:avLst/>
          </a:prstGeom>
        </p:spPr>
        <p:txBody>
          <a:bodyPr wrap="square">
            <a:spAutoFit/>
          </a:bodyPr>
          <a:lstStyle/>
          <a:p>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湖北省武汉市东湖开发区光谷大道黄龙山南路</a:t>
            </a:r>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6</a:t>
            </a:r>
            <a:r>
              <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号，</a:t>
            </a:r>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430205</a:t>
            </a:r>
            <a:endPar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a:p>
            <a:r>
              <a:rPr lang="en-US" altLang="zh-CN"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No.6 Huanglongshan South Rd,Wuhan,430205,P.R.China</a:t>
            </a:r>
            <a:endParaRPr lang="zh-CN" altLang="en-US" sz="120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nodeType="withEffect">
                                  <p:stCondLst>
                                    <p:cond delay="0"/>
                                  </p:stCondLst>
                                  <p:iterate type="lt">
                                    <p:tmPct val="10000"/>
                                  </p:iterate>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500" fill="hold"/>
                                        <p:tgtEl>
                                          <p:spTgt spid="8">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8">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8">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8">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8">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Lst>
  </p:timing>
</p:sld>
</file>

<file path=ppt/tags/tag1.xml><?xml version="1.0" encoding="utf-8"?>
<p:tagLst xmlns:p="http://schemas.openxmlformats.org/presentationml/2006/main">
  <p:tag name="KSO_WM_UNIT_PLACING_PICTURE_USER_VIEWPORT" val="{&quot;height&quot;:12755,&quot;width&quot;:22675.55590551181}"/>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UNIT_PLACING_PICTURE_USER_VIEWPORT" val="{&quot;height&quot;:2730,&quot;width&quot;:7740}"/>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UNIT_TABLE_BEAUTIFY" val="smartTable{1f0b03a9-7ebd-4e31-8927-099c8558fa28}"/>
  <p:tag name="TABLE_ENDDRAG_ORIGIN_RECT" val="460*201"/>
  <p:tag name="TABLE_ENDDRAG_RECT" val="198*97*460*201"/>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PP_MARK_KEY" val="e921bc8a-f000-4954-b291-3589702a6765"/>
  <p:tag name="COMMONDATA" val="eyJoZGlkIjoiYWI3YzM1ZWQ3YTFhZmJiZWE2ZTA5NjRhMDkxNTMwNDQifQ=="/>
</p:tagLst>
</file>

<file path=ppt/theme/theme1.xml><?xml version="1.0" encoding="utf-8"?>
<a:theme xmlns:a="http://schemas.openxmlformats.org/drawingml/2006/main" name="Office 主题">
  <a:themeElements>
    <a:clrScheme name="高德智感">
      <a:dk1>
        <a:srgbClr val="000000"/>
      </a:dk1>
      <a:lt1>
        <a:srgbClr val="F5F5F5"/>
      </a:lt1>
      <a:dk2>
        <a:srgbClr val="C90915"/>
      </a:dk2>
      <a:lt2>
        <a:srgbClr val="B4B4B4"/>
      </a:lt2>
      <a:accent1>
        <a:srgbClr val="FFF100"/>
      </a:accent1>
      <a:accent2>
        <a:srgbClr val="6A258A"/>
      </a:accent2>
      <a:accent3>
        <a:srgbClr val="3D9740"/>
      </a:accent3>
      <a:accent4>
        <a:srgbClr val="E62E8B"/>
      </a:accent4>
      <a:accent5>
        <a:srgbClr val="1D50A2"/>
      </a:accent5>
      <a:accent6>
        <a:srgbClr val="FFFFFF"/>
      </a:accent6>
      <a:hlink>
        <a:srgbClr val="000099"/>
      </a:hlink>
      <a:folHlink>
        <a:srgbClr val="5F5F5F"/>
      </a:folHlink>
    </a:clrScheme>
    <a:fontScheme name="高德红外">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3323</Words>
  <Application>WPS 演示</Application>
  <PresentationFormat>自定义</PresentationFormat>
  <Paragraphs>199</Paragraphs>
  <Slides>23</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23</vt:i4>
      </vt:variant>
    </vt:vector>
  </HeadingPairs>
  <TitlesOfParts>
    <vt:vector size="36" baseType="lpstr">
      <vt:lpstr>Arial</vt:lpstr>
      <vt:lpstr>宋体</vt:lpstr>
      <vt:lpstr>Wingdings</vt:lpstr>
      <vt:lpstr>微软雅黑</vt:lpstr>
      <vt:lpstr>微软雅黑 Light</vt:lpstr>
      <vt:lpstr>Impact</vt:lpstr>
      <vt:lpstr>张海山锐谐体</vt:lpstr>
      <vt:lpstr>Times New Roman</vt:lpstr>
      <vt:lpstr>Arial Unicode MS</vt:lpstr>
      <vt:lpstr>等线</vt:lpstr>
      <vt:lpstr>Calibri</vt:lpstr>
      <vt:lpstr>Office 主题</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优化后算法整体测试</vt:lpstr>
      <vt:lpstr>优化后算法整体测试</vt:lpstr>
      <vt:lpstr>4.NEON优化</vt:lpstr>
      <vt:lpstr>主题</vt:lpstr>
      <vt:lpstr>主题</vt:lpstr>
      <vt:lpstr>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hi_mike</cp:lastModifiedBy>
  <cp:revision>301</cp:revision>
  <dcterms:created xsi:type="dcterms:W3CDTF">2015-07-01T09:37:00Z</dcterms:created>
  <dcterms:modified xsi:type="dcterms:W3CDTF">2023-04-03T01:59:41Z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9F038D1840484FEDBC6ABC96472C16E5</vt:lpwstr>
  </property>
  <property fmtid="{D5CDD505-2E9C-101B-9397-08002B2CF9AE}" pid="3" name="KSOProductBuildVer">
    <vt:lpwstr>2052-11.1.0.14036</vt:lpwstr>
  </property>
</Properties>
</file>