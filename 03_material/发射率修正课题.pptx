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91" r:id="rId2"/>
    <p:sldId id="4080" r:id="rId3"/>
    <p:sldId id="4081" r:id="rId4"/>
    <p:sldId id="4082" r:id="rId5"/>
    <p:sldId id="4083" r:id="rId6"/>
    <p:sldId id="4088" r:id="rId7"/>
    <p:sldId id="4089" r:id="rId8"/>
    <p:sldId id="4090" r:id="rId9"/>
    <p:sldId id="4072" r:id="rId10"/>
    <p:sldId id="4084" r:id="rId11"/>
    <p:sldId id="4092" r:id="rId12"/>
    <p:sldId id="4091" r:id="rId13"/>
    <p:sldId id="4093" r:id="rId14"/>
    <p:sldId id="4094" r:id="rId15"/>
    <p:sldId id="266" r:id="rId16"/>
  </p:sldIdLst>
  <p:sldSz cx="14400213" cy="8099425"/>
  <p:notesSz cx="6858000" cy="9144000"/>
  <p:custDataLst>
    <p:tags r:id="rId18"/>
  </p:custDataLst>
  <p:defaultTextStyle>
    <a:defPPr>
      <a:defRPr lang="zh-CN"/>
    </a:defPPr>
    <a:lvl1pPr marL="0" lvl="0" indent="0"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1pPr>
    <a:lvl2pPr marL="600075" lvl="1" indent="-142875"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2pPr>
    <a:lvl3pPr marL="1202055" lvl="2" indent="-287655"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3pPr>
    <a:lvl4pPr marL="1803400" lvl="3" indent="-431800"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4pPr>
    <a:lvl5pPr marL="2405380" lvl="4" indent="-576580"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5pPr>
    <a:lvl6pPr marL="2286000" lvl="5" indent="-576580"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6pPr>
    <a:lvl7pPr marL="2743200" lvl="6" indent="-576580"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7pPr>
    <a:lvl8pPr marL="3200400" lvl="7" indent="-576580"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8pPr>
    <a:lvl9pPr marL="3657600" lvl="8" indent="-576580" algn="l" defTabSz="1202055" rtl="0" eaLnBrk="0" fontAlgn="base" latinLnBrk="0" hangingPunct="0">
      <a:lnSpc>
        <a:spcPct val="100000"/>
      </a:lnSpc>
      <a:spcBef>
        <a:spcPct val="0"/>
      </a:spcBef>
      <a:spcAft>
        <a:spcPct val="0"/>
      </a:spcAft>
      <a:buNone/>
      <a:defRPr sz="2300" b="0" i="0" u="none" kern="1200" baseline="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 xmlns:p15="http://schemas.microsoft.com/office/powerpoint/2012/main">
        <p15:guide id="1" orient="horz" pos="2580" userDrawn="1">
          <p15:clr>
            <a:srgbClr val="A4A3A4"/>
          </p15:clr>
        </p15:guide>
        <p15:guide id="2" orient="horz" pos="3374" userDrawn="1">
          <p15:clr>
            <a:srgbClr val="A4A3A4"/>
          </p15:clr>
        </p15:guide>
        <p15:guide id="4" pos="4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6E6E6"/>
    <a:srgbClr val="CA0915"/>
    <a:srgbClr val="C4D82D"/>
    <a:srgbClr val="0098D8"/>
    <a:srgbClr val="00004F"/>
    <a:srgbClr val="A01323"/>
    <a:srgbClr val="59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46" autoAdjust="0"/>
    <p:restoredTop sz="85714" autoAdjust="0"/>
  </p:normalViewPr>
  <p:slideViewPr>
    <p:cSldViewPr showGuides="1">
      <p:cViewPr varScale="1">
        <p:scale>
          <a:sx n="82" d="100"/>
          <a:sy n="82" d="100"/>
        </p:scale>
        <p:origin x="-966" y="-96"/>
      </p:cViewPr>
      <p:guideLst>
        <p:guide orient="horz" pos="2580"/>
        <p:guide orient="horz" pos="3374"/>
        <p:guide pos="453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defTabSz="1203325" eaLnBrk="1" fontAlgn="auto" hangingPunct="1">
              <a:spcBef>
                <a:spcPts val="0"/>
              </a:spcBef>
              <a:spcAft>
                <a:spcPts val="0"/>
              </a:spcAft>
              <a:defRPr sz="120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defTabSz="1203325" eaLnBrk="1" fontAlgn="auto" hangingPunct="1">
              <a:spcBef>
                <a:spcPts val="0"/>
              </a:spcBef>
              <a:spcAft>
                <a:spcPts val="0"/>
              </a:spcAft>
              <a:defRPr sz="1200">
                <a:latin typeface="+mn-lt"/>
                <a:ea typeface="+mn-ea"/>
              </a:defRPr>
            </a:lvl1pPr>
          </a:lstStyle>
          <a:p>
            <a:pPr marL="0" marR="0" lvl="0" indent="0" algn="r" defTabSz="1203325" rtl="0" eaLnBrk="1" fontAlgn="auto" latinLnBrk="0" hangingPunct="1">
              <a:lnSpc>
                <a:spcPct val="100000"/>
              </a:lnSpc>
              <a:spcBef>
                <a:spcPts val="0"/>
              </a:spcBef>
              <a:spcAft>
                <a:spcPts val="0"/>
              </a:spcAft>
              <a:buClrTx/>
              <a:buSzTx/>
              <a:buFontTx/>
              <a:buNone/>
              <a:defRPr/>
            </a:pPr>
            <a:fld id="{CF0874EF-E1EC-4793-AABF-0AC2F347AA6F}"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等线" panose="02010600030101010101" pitchFamily="2" charset="-122"/>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panose="02010600030101010101" pitchFamily="2" charset="-122"/>
              </a:rPr>
              <a:t>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panose="02010600030101010101" pitchFamily="2"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panose="02010600030101010101" pitchFamily="2"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panose="02010600030101010101" pitchFamily="2"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等线" panose="02010600030101010101" pitchFamily="2" charset="-122"/>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defTabSz="1203325" eaLnBrk="1" fontAlgn="auto" hangingPunct="1">
              <a:spcBef>
                <a:spcPts val="0"/>
              </a:spcBef>
              <a:spcAft>
                <a:spcPts val="0"/>
              </a:spcAft>
              <a:defRPr sz="120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eaLnBrk="1" hangingPunct="1">
              <a:defRPr sz="1200">
                <a:latin typeface="等线" panose="02010600030101010101" pitchFamily="2" charset="-122"/>
                <a:ea typeface="等线" panose="02010600030101010101" pitchFamily="2" charset="-122"/>
              </a:defRPr>
            </a:lvl1pPr>
          </a:lstStyle>
          <a:p>
            <a:pPr marL="0" marR="0" lvl="0" indent="0" algn="r" defTabSz="1202055" rtl="0" eaLnBrk="1" fontAlgn="base" latinLnBrk="0" hangingPunct="1">
              <a:lnSpc>
                <a:spcPct val="100000"/>
              </a:lnSpc>
              <a:spcBef>
                <a:spcPct val="0"/>
              </a:spcBef>
              <a:spcAft>
                <a:spcPct val="0"/>
              </a:spcAft>
              <a:buClrTx/>
              <a:buSzTx/>
              <a:buFontTx/>
              <a:buNone/>
              <a:defRPr/>
            </a:pPr>
            <a:fld id="{059E5CA2-6A22-43D1-8113-9ABEC280F7A3}" type="slidenum">
              <a:rPr kumimoji="0" lang="zh-CN" altLang="en-US" sz="12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40824298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等线" panose="02010600030101010101" pitchFamily="2" charset="-122"/>
      </a:defRPr>
    </a:lvl1pPr>
    <a:lvl2pPr marL="457200" algn="l" rtl="0" eaLnBrk="0" fontAlgn="base" hangingPunct="0">
      <a:spcBef>
        <a:spcPct val="30000"/>
      </a:spcBef>
      <a:spcAft>
        <a:spcPct val="0"/>
      </a:spcAft>
      <a:defRPr sz="1200" kern="1200">
        <a:solidFill>
          <a:schemeClr val="tx1"/>
        </a:solidFill>
        <a:latin typeface="+mn-lt"/>
        <a:ea typeface="+mn-ea"/>
        <a:cs typeface="等线" panose="02010600030101010101" pitchFamily="2" charset="-122"/>
      </a:defRPr>
    </a:lvl2pPr>
    <a:lvl3pPr marL="914400" algn="l" rtl="0" eaLnBrk="0" fontAlgn="base" hangingPunct="0">
      <a:spcBef>
        <a:spcPct val="30000"/>
      </a:spcBef>
      <a:spcAft>
        <a:spcPct val="0"/>
      </a:spcAft>
      <a:defRPr sz="1200" kern="1200">
        <a:solidFill>
          <a:schemeClr val="tx1"/>
        </a:solidFill>
        <a:latin typeface="+mn-lt"/>
        <a:ea typeface="+mn-ea"/>
        <a:cs typeface="等线" panose="02010600030101010101" pitchFamily="2" charset="-122"/>
      </a:defRPr>
    </a:lvl3pPr>
    <a:lvl4pPr marL="1371600" algn="l" rtl="0" eaLnBrk="0" fontAlgn="base" hangingPunct="0">
      <a:spcBef>
        <a:spcPct val="30000"/>
      </a:spcBef>
      <a:spcAft>
        <a:spcPct val="0"/>
      </a:spcAft>
      <a:defRPr sz="1200" kern="1200">
        <a:solidFill>
          <a:schemeClr val="tx1"/>
        </a:solidFill>
        <a:latin typeface="+mn-lt"/>
        <a:ea typeface="+mn-ea"/>
        <a:cs typeface="等线" panose="02010600030101010101" pitchFamily="2" charset="-122"/>
      </a:defRPr>
    </a:lvl4pPr>
    <a:lvl5pPr marL="1828800" algn="l" rtl="0" eaLnBrk="0" fontAlgn="base" hangingPunct="0">
      <a:spcBef>
        <a:spcPct val="30000"/>
      </a:spcBef>
      <a:spcAft>
        <a:spcPct val="0"/>
      </a:spcAft>
      <a:defRPr sz="1200" kern="1200">
        <a:solidFill>
          <a:schemeClr val="tx1"/>
        </a:solidFill>
        <a:latin typeface="+mn-lt"/>
        <a:ea typeface="+mn-ea"/>
        <a:cs typeface="等线"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水壶中倒入凉水时，胶带的温度比水壶低</a:t>
            </a:r>
            <a:r>
              <a:rPr lang="en-US" altLang="zh-CN" dirty="0" smtClean="0"/>
              <a:t>;</a:t>
            </a:r>
            <a:r>
              <a:rPr lang="zh-CN" altLang="en-US" dirty="0" smtClean="0"/>
              <a:t>水壶中倒入热水时胶带的表面温度比水壶高。在红外热测温中，发射率高的物体表面温度接近它的真实温度，发射率低的物体表面温度接近环境温度。</a:t>
            </a:r>
            <a:br>
              <a:rPr lang="zh-CN" altLang="en-US" dirty="0" smtClean="0"/>
            </a:br>
            <a:r>
              <a:rPr lang="zh-CN" altLang="en-US" dirty="0" smtClean="0"/>
              <a:t>因此，利用红外热像仪进行测温时，一般需要对全局发射率进行修正，以免出现测温误差。</a:t>
            </a:r>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Tree>
    <p:extLst>
      <p:ext uri="{BB962C8B-B14F-4D97-AF65-F5344CB8AC3E}">
        <p14:creationId xmlns:p14="http://schemas.microsoft.com/office/powerpoint/2010/main" val="2358181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smtClean="0"/>
          </a:p>
        </p:txBody>
      </p:sp>
    </p:spTree>
    <p:extLst>
      <p:ext uri="{BB962C8B-B14F-4D97-AF65-F5344CB8AC3E}">
        <p14:creationId xmlns:p14="http://schemas.microsoft.com/office/powerpoint/2010/main" val="2358181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所以该模型可以用来作为新的发射率修正模块</a:t>
            </a:r>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第一步，反查发射率修正表格，把修正前的温度和反射温度转化为</a:t>
            </a:r>
            <a:r>
              <a:rPr lang="en-US" altLang="zh-CN" dirty="0" smtClean="0"/>
              <a:t>16</a:t>
            </a:r>
            <a:r>
              <a:rPr lang="zh-CN" altLang="en-US" dirty="0" smtClean="0"/>
              <a:t>；</a:t>
            </a:r>
            <a:endParaRPr lang="en-US" altLang="zh-CN" dirty="0" smtClean="0"/>
          </a:p>
          <a:p>
            <a:r>
              <a:rPr lang="zh-CN" altLang="en-US" dirty="0" smtClean="0"/>
              <a:t>第二步，经过发射率修正运算得到修正后的</a:t>
            </a:r>
            <a:r>
              <a:rPr lang="en-US" altLang="zh-CN" dirty="0" smtClean="0"/>
              <a:t>Y16</a:t>
            </a:r>
            <a:r>
              <a:rPr lang="zh-CN" altLang="en-US" dirty="0" smtClean="0"/>
              <a:t>；</a:t>
            </a:r>
            <a:endParaRPr lang="en-US" altLang="zh-CN" dirty="0" smtClean="0"/>
          </a:p>
          <a:p>
            <a:r>
              <a:rPr lang="zh-CN" altLang="en-US" dirty="0" smtClean="0"/>
              <a:t>第三步，正查发射率修正表格，把</a:t>
            </a:r>
            <a:r>
              <a:rPr lang="en-US" altLang="zh-CN" dirty="0" smtClean="0"/>
              <a:t>Y16</a:t>
            </a:r>
            <a:r>
              <a:rPr lang="zh-CN" altLang="en-US" dirty="0" smtClean="0"/>
              <a:t>转化为修正后的温度。</a:t>
            </a:r>
            <a:endParaRPr lang="en-US" altLang="zh-CN" dirty="0" smtClean="0"/>
          </a:p>
          <a:p>
            <a:r>
              <a:rPr lang="zh-CN" altLang="en-US" dirty="0" smtClean="0"/>
              <a:t>存在问题，</a:t>
            </a:r>
            <a:r>
              <a:rPr lang="en-US" altLang="zh-CN" dirty="0" smtClean="0"/>
              <a:t>Y16</a:t>
            </a:r>
            <a:r>
              <a:rPr lang="zh-CN" altLang="en-US" dirty="0" smtClean="0"/>
              <a:t>和辐射量的关系不明确，至少不是绝对线性的，这种发射率修正方式在低温或低发射率情况下会出现较大误差，而且两次反查表格运算效率太低。</a:t>
            </a:r>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这部分还在跟</a:t>
            </a:r>
            <a:r>
              <a:rPr lang="en-US" altLang="zh-CN" dirty="0" smtClean="0"/>
              <a:t>FPGA</a:t>
            </a:r>
            <a:r>
              <a:rPr lang="zh-CN" altLang="en-US" dirty="0" smtClean="0"/>
              <a:t>沟通，这个表格的深度可能还要缩小</a:t>
            </a:r>
            <a:endParaRPr lang="zh-CN" altLang="en-US" dirty="0"/>
          </a:p>
        </p:txBody>
      </p:sp>
    </p:spTree>
    <p:extLst>
      <p:ext uri="{BB962C8B-B14F-4D97-AF65-F5344CB8AC3E}">
        <p14:creationId xmlns:p14="http://schemas.microsoft.com/office/powerpoint/2010/main" val="2358181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a:solidFill>
              <a:srgbClr val="000000">
                <a:alpha val="100000"/>
              </a:srgbClr>
            </a:solidFill>
            <a:miter lim="800000"/>
          </a:ln>
        </p:spPr>
      </p:sp>
      <p:sp>
        <p:nvSpPr>
          <p:cNvPr id="32771"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27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latin typeface="等线" panose="02010600030101010101" pitchFamily="2" charset="-122"/>
                <a:ea typeface="等线" panose="02010600030101010101" pitchFamily="2" charset="-122"/>
              </a:rPr>
              <a:t>15</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6" name="矩形 5"/>
          <p:cNvSpPr/>
          <p:nvPr/>
        </p:nvSpPr>
        <p:spPr>
          <a:xfrm>
            <a:off x="0"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lt1"/>
              </a:solidFill>
              <a:effectLst/>
              <a:uLnTx/>
              <a:uFillTx/>
              <a:latin typeface="+mn-lt"/>
              <a:ea typeface="+mn-ea"/>
              <a:cs typeface="+mn-cs"/>
            </a:endParaRPr>
          </a:p>
        </p:txBody>
      </p:sp>
      <p:pic>
        <p:nvPicPr>
          <p:cNvPr id="2053" name="图片 6" descr="未标题-1.png"/>
          <p:cNvPicPr>
            <a:picLocks noChangeAspect="1"/>
          </p:cNvPicPr>
          <p:nvPr userDrawn="1"/>
        </p:nvPicPr>
        <p:blipFill>
          <a:blip r:embed="rId2"/>
          <a:srcRect r="1054" b="2344"/>
          <a:stretch>
            <a:fillRect/>
          </a:stretch>
        </p:blipFill>
        <p:spPr>
          <a:xfrm>
            <a:off x="4608513" y="3032125"/>
            <a:ext cx="9791700" cy="5067300"/>
          </a:xfrm>
          <a:prstGeom prst="rect">
            <a:avLst/>
          </a:prstGeom>
          <a:noFill/>
          <a:ln w="9525">
            <a:noFill/>
          </a:ln>
        </p:spPr>
      </p:pic>
      <p:sp>
        <p:nvSpPr>
          <p:cNvPr id="2" name="标题 1"/>
          <p:cNvSpPr>
            <a:spLocks noGrp="1"/>
          </p:cNvSpPr>
          <p:nvPr>
            <p:ph type="ctrTitle"/>
          </p:nvPr>
        </p:nvSpPr>
        <p:spPr>
          <a:xfrm>
            <a:off x="863993" y="1529432"/>
            <a:ext cx="6840169" cy="1736127"/>
          </a:xfrm>
          <a:prstGeom prst="rect">
            <a:avLst/>
          </a:prstGeom>
        </p:spPr>
        <p:txBody>
          <a:bodyPr/>
          <a:lstStyle>
            <a:lvl1pPr algn="l">
              <a:defRPr>
                <a:solidFill>
                  <a:schemeClr val="tx2"/>
                </a:solidFill>
              </a:defRPr>
            </a:lvl1pPr>
          </a:lstStyle>
          <a:p>
            <a:r>
              <a:rPr lang="zh-CN" altLang="en-US" dirty="0"/>
              <a:t>单击此处编辑母版标题样式</a:t>
            </a:r>
          </a:p>
        </p:txBody>
      </p:sp>
      <p:sp>
        <p:nvSpPr>
          <p:cNvPr id="3" name="副标题 2"/>
          <p:cNvSpPr>
            <a:spLocks noGrp="1"/>
          </p:cNvSpPr>
          <p:nvPr>
            <p:ph type="subTitle" idx="1"/>
          </p:nvPr>
        </p:nvSpPr>
        <p:spPr>
          <a:xfrm>
            <a:off x="863993" y="3603034"/>
            <a:ext cx="6713097" cy="2069853"/>
          </a:xfrm>
          <a:prstGeom prst="rect">
            <a:avLst/>
          </a:prstGeom>
        </p:spPr>
        <p:txBody>
          <a:bodyPr/>
          <a:lstStyle>
            <a:lvl1pPr marL="0" indent="0" algn="l">
              <a:buNone/>
              <a:defRPr sz="3200">
                <a:solidFill>
                  <a:schemeClr val="tx1">
                    <a:lumMod val="50000"/>
                    <a:lumOff val="50000"/>
                  </a:schemeClr>
                </a:solidFill>
              </a:defRPr>
            </a:lvl1pPr>
            <a:lvl2pPr marL="601345" indent="0" algn="ctr">
              <a:buNone/>
              <a:defRPr>
                <a:solidFill>
                  <a:schemeClr val="tx1">
                    <a:tint val="75000"/>
                  </a:schemeClr>
                </a:solidFill>
              </a:defRPr>
            </a:lvl2pPr>
            <a:lvl3pPr marL="1203325" indent="0" algn="ctr">
              <a:buNone/>
              <a:defRPr>
                <a:solidFill>
                  <a:schemeClr val="tx1">
                    <a:tint val="75000"/>
                  </a:schemeClr>
                </a:solidFill>
              </a:defRPr>
            </a:lvl3pPr>
            <a:lvl4pPr marL="1804670" indent="0" algn="ctr">
              <a:buNone/>
              <a:defRPr>
                <a:solidFill>
                  <a:schemeClr val="tx1">
                    <a:tint val="75000"/>
                  </a:schemeClr>
                </a:solidFill>
              </a:defRPr>
            </a:lvl4pPr>
            <a:lvl5pPr marL="2406650" indent="0" algn="ctr">
              <a:buNone/>
              <a:defRPr>
                <a:solidFill>
                  <a:schemeClr val="tx1">
                    <a:tint val="75000"/>
                  </a:schemeClr>
                </a:solidFill>
              </a:defRPr>
            </a:lvl5pPr>
            <a:lvl6pPr marL="3007995" indent="0" algn="ctr">
              <a:buNone/>
              <a:defRPr>
                <a:solidFill>
                  <a:schemeClr val="tx1">
                    <a:tint val="75000"/>
                  </a:schemeClr>
                </a:solidFill>
              </a:defRPr>
            </a:lvl6pPr>
            <a:lvl7pPr marL="3609975" indent="0" algn="ctr">
              <a:buNone/>
              <a:defRPr>
                <a:solidFill>
                  <a:schemeClr val="tx1">
                    <a:tint val="75000"/>
                  </a:schemeClr>
                </a:solidFill>
              </a:defRPr>
            </a:lvl7pPr>
            <a:lvl8pPr marL="4211320" indent="0" algn="ctr">
              <a:buNone/>
              <a:defRPr>
                <a:solidFill>
                  <a:schemeClr val="tx1">
                    <a:tint val="75000"/>
                  </a:schemeClr>
                </a:solidFill>
              </a:defRPr>
            </a:lvl8pPr>
            <a:lvl9pPr marL="4813300" indent="0" algn="ctr">
              <a:buNone/>
              <a:defRPr>
                <a:solidFill>
                  <a:schemeClr val="tx1">
                    <a:tint val="75000"/>
                  </a:schemeClr>
                </a:solidFill>
              </a:defRPr>
            </a:lvl9pPr>
          </a:lstStyle>
          <a:p>
            <a:r>
              <a:rPr lang="zh-CN" altLang="en-US" dirty="0"/>
              <a:t>单击此处编辑母版副标题样式</a:t>
            </a:r>
          </a:p>
        </p:txBody>
      </p:sp>
      <p:sp>
        <p:nvSpPr>
          <p:cNvPr id="8" name="日期占位符 3"/>
          <p:cNvSpPr>
            <a:spLocks noGrp="1"/>
          </p:cNvSpPr>
          <p:nvPr>
            <p:ph type="dt" sz="half" idx="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75F5A221-509F-446F-897B-C1F7F2C559B4}"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页脚占位符 4"/>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10" name="灯片编号占位符 5"/>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254A8B37-6905-40B6-A6EF-4A70ADE43B78}"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pic>
        <p:nvPicPr>
          <p:cNvPr id="3076" name="图片 5" descr="高德智感logo中英文常规.png"/>
          <p:cNvPicPr>
            <a:picLocks noChangeAspect="1"/>
          </p:cNvPicPr>
          <p:nvPr userDrawn="1"/>
        </p:nvPicPr>
        <p:blipFill>
          <a:blip r:embed="rId2"/>
          <a:stretch>
            <a:fillRect/>
          </a:stretch>
        </p:blipFill>
        <p:spPr>
          <a:xfrm>
            <a:off x="12817475" y="7453313"/>
            <a:ext cx="1223963" cy="452437"/>
          </a:xfrm>
          <a:prstGeom prst="rect">
            <a:avLst/>
          </a:prstGeom>
          <a:noFill/>
          <a:ln w="9525">
            <a:noFill/>
          </a:ln>
        </p:spPr>
      </p:pic>
      <p:sp>
        <p:nvSpPr>
          <p:cNvPr id="2" name="标题 1"/>
          <p:cNvSpPr>
            <a:spLocks noGrp="1"/>
          </p:cNvSpPr>
          <p:nvPr>
            <p:ph type="title"/>
          </p:nvPr>
        </p:nvSpPr>
        <p:spPr>
          <a:xfrm>
            <a:off x="503362" y="1"/>
            <a:ext cx="12241360" cy="665336"/>
          </a:xfrm>
          <a:prstGeom prst="rect">
            <a:avLst/>
          </a:prstGeom>
        </p:spPr>
        <p:txBody>
          <a:bodyPr anchor="ctr"/>
          <a:lstStyle>
            <a:lvl1pPr algn="l">
              <a:defRPr sz="2800">
                <a:solidFill>
                  <a:schemeClr val="accent6"/>
                </a:solidFill>
              </a:defRPr>
            </a:lvl1pPr>
          </a:lstStyle>
          <a:p>
            <a:r>
              <a:rPr lang="zh-CN" altLang="en-US" dirty="0"/>
              <a:t>单击此处编辑母版标题样式</a:t>
            </a:r>
          </a:p>
        </p:txBody>
      </p:sp>
      <p:sp>
        <p:nvSpPr>
          <p:cNvPr id="3" name="内容占位符 2"/>
          <p:cNvSpPr>
            <a:spLocks noGrp="1"/>
          </p:cNvSpPr>
          <p:nvPr>
            <p:ph idx="1"/>
          </p:nvPr>
        </p:nvSpPr>
        <p:spPr>
          <a:xfrm>
            <a:off x="862013" y="953368"/>
            <a:ext cx="12818190" cy="6281744"/>
          </a:xfrm>
          <a:prstGeom prst="rect">
            <a:avLst/>
          </a:prstGeom>
        </p:spPr>
        <p:txBody>
          <a:bodyPr/>
          <a:lstStyle>
            <a:lvl1pPr>
              <a:buNone/>
              <a:defRPr sz="4400" b="0">
                <a:solidFill>
                  <a:schemeClr val="tx2"/>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9F9E0172-2FC9-467B-AAC9-3EF841F3BB93}"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4"/>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5"/>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8BAEE03A-9450-4832-B576-0897E99CA8E5}"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6" name="矩形 5"/>
          <p:cNvSpPr/>
          <p:nvPr/>
        </p:nvSpPr>
        <p:spPr>
          <a:xfrm>
            <a:off x="0"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137519" y="5204631"/>
            <a:ext cx="12240181" cy="1608636"/>
          </a:xfrm>
          <a:prstGeom prst="rect">
            <a:avLst/>
          </a:prstGeom>
        </p:spPr>
        <p:txBody>
          <a:bodyPr anchor="t"/>
          <a:lstStyle>
            <a:lvl1pPr algn="l">
              <a:defRPr sz="5245" b="1" cap="all"/>
            </a:lvl1pPr>
          </a:lstStyle>
          <a:p>
            <a:r>
              <a:rPr lang="zh-CN" altLang="en-US"/>
              <a:t>单击此处编辑母版标题样式</a:t>
            </a:r>
          </a:p>
        </p:txBody>
      </p:sp>
      <p:sp>
        <p:nvSpPr>
          <p:cNvPr id="3" name="文本占位符 2"/>
          <p:cNvSpPr>
            <a:spLocks noGrp="1"/>
          </p:cNvSpPr>
          <p:nvPr>
            <p:ph type="body" idx="1"/>
          </p:nvPr>
        </p:nvSpPr>
        <p:spPr>
          <a:xfrm>
            <a:off x="1137519" y="3432884"/>
            <a:ext cx="12240181" cy="1771749"/>
          </a:xfrm>
          <a:prstGeom prst="rect">
            <a:avLst/>
          </a:prstGeom>
        </p:spPr>
        <p:txBody>
          <a:bodyPr anchor="b"/>
          <a:lstStyle>
            <a:lvl1pPr marL="0" indent="0">
              <a:buNone/>
              <a:defRPr sz="2620">
                <a:solidFill>
                  <a:schemeClr val="tx1">
                    <a:tint val="75000"/>
                  </a:schemeClr>
                </a:solidFill>
              </a:defRPr>
            </a:lvl1pPr>
            <a:lvl2pPr marL="601345" indent="0">
              <a:buNone/>
              <a:defRPr sz="2340">
                <a:solidFill>
                  <a:schemeClr val="tx1">
                    <a:tint val="75000"/>
                  </a:schemeClr>
                </a:solidFill>
              </a:defRPr>
            </a:lvl2pPr>
            <a:lvl3pPr marL="1203325" indent="0">
              <a:buNone/>
              <a:defRPr sz="2125">
                <a:solidFill>
                  <a:schemeClr val="tx1">
                    <a:tint val="75000"/>
                  </a:schemeClr>
                </a:solidFill>
              </a:defRPr>
            </a:lvl3pPr>
            <a:lvl4pPr marL="1804670" indent="0">
              <a:buNone/>
              <a:defRPr sz="1840">
                <a:solidFill>
                  <a:schemeClr val="tx1">
                    <a:tint val="75000"/>
                  </a:schemeClr>
                </a:solidFill>
              </a:defRPr>
            </a:lvl4pPr>
            <a:lvl5pPr marL="2406650" indent="0">
              <a:buNone/>
              <a:defRPr sz="1840">
                <a:solidFill>
                  <a:schemeClr val="tx1">
                    <a:tint val="75000"/>
                  </a:schemeClr>
                </a:solidFill>
              </a:defRPr>
            </a:lvl5pPr>
            <a:lvl6pPr marL="3007995" indent="0">
              <a:buNone/>
              <a:defRPr sz="1840">
                <a:solidFill>
                  <a:schemeClr val="tx1">
                    <a:tint val="75000"/>
                  </a:schemeClr>
                </a:solidFill>
              </a:defRPr>
            </a:lvl6pPr>
            <a:lvl7pPr marL="3609975" indent="0">
              <a:buNone/>
              <a:defRPr sz="1840">
                <a:solidFill>
                  <a:schemeClr val="tx1">
                    <a:tint val="75000"/>
                  </a:schemeClr>
                </a:solidFill>
              </a:defRPr>
            </a:lvl7pPr>
            <a:lvl8pPr marL="4211320" indent="0">
              <a:buNone/>
              <a:defRPr sz="1840">
                <a:solidFill>
                  <a:schemeClr val="tx1">
                    <a:tint val="75000"/>
                  </a:schemeClr>
                </a:solidFill>
              </a:defRPr>
            </a:lvl8pPr>
            <a:lvl9pPr marL="4813300" indent="0">
              <a:buNone/>
              <a:defRPr sz="1840">
                <a:solidFill>
                  <a:schemeClr val="tx1">
                    <a:tint val="75000"/>
                  </a:schemeClr>
                </a:solidFill>
              </a:defRPr>
            </a:lvl9pPr>
          </a:lstStyle>
          <a:p>
            <a:pPr lvl="0"/>
            <a:r>
              <a:rPr lang="zh-CN" altLang="en-US"/>
              <a:t>单击此处编辑母版文本样式</a:t>
            </a:r>
          </a:p>
        </p:txBody>
      </p:sp>
      <p:sp>
        <p:nvSpPr>
          <p:cNvPr id="7" name="日期占位符 3"/>
          <p:cNvSpPr>
            <a:spLocks noGrp="1"/>
          </p:cNvSpPr>
          <p:nvPr>
            <p:ph type="dt" sz="half" idx="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2AF4B1DA-D3C3-4BED-9C9E-2D28B7032460}"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4"/>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5"/>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1D30AB33-C4A8-4007-8B39-F6E7C7C3EFD7}"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720011" y="1889866"/>
            <a:ext cx="6360094" cy="5345246"/>
          </a:xfrm>
          <a:prstGeom prst="rect">
            <a:avLst/>
          </a:prstGeom>
        </p:spPr>
        <p:txBody>
          <a:bodyPr/>
          <a:lstStyle>
            <a:lvl1pPr>
              <a:defRPr sz="3685"/>
            </a:lvl1pPr>
            <a:lvl2pPr>
              <a:defRPr sz="3190"/>
            </a:lvl2pPr>
            <a:lvl3pPr>
              <a:defRPr sz="2620"/>
            </a:lvl3pPr>
            <a:lvl4pPr>
              <a:defRPr sz="2340"/>
            </a:lvl4pPr>
            <a:lvl5pPr>
              <a:defRPr sz="2340"/>
            </a:lvl5pPr>
            <a:lvl6pPr>
              <a:defRPr sz="2340"/>
            </a:lvl6pPr>
            <a:lvl7pPr>
              <a:defRPr sz="2340"/>
            </a:lvl7pPr>
            <a:lvl8pPr>
              <a:defRPr sz="2340"/>
            </a:lvl8pPr>
            <a:lvl9pPr>
              <a:defRPr sz="23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7320108" y="1889866"/>
            <a:ext cx="6360094" cy="5345246"/>
          </a:xfrm>
          <a:prstGeom prst="rect">
            <a:avLst/>
          </a:prstGeom>
        </p:spPr>
        <p:txBody>
          <a:bodyPr/>
          <a:lstStyle>
            <a:lvl1pPr>
              <a:defRPr sz="3685"/>
            </a:lvl1pPr>
            <a:lvl2pPr>
              <a:defRPr sz="3190"/>
            </a:lvl2pPr>
            <a:lvl3pPr>
              <a:defRPr sz="2620"/>
            </a:lvl3pPr>
            <a:lvl4pPr>
              <a:defRPr sz="2340"/>
            </a:lvl4pPr>
            <a:lvl5pPr>
              <a:defRPr sz="2340"/>
            </a:lvl5pPr>
            <a:lvl6pPr>
              <a:defRPr sz="2340"/>
            </a:lvl6pPr>
            <a:lvl7pPr>
              <a:defRPr sz="2340"/>
            </a:lvl7pPr>
            <a:lvl8pPr>
              <a:defRPr sz="2340"/>
            </a:lvl8pPr>
            <a:lvl9pPr>
              <a:defRPr sz="23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4"/>
          <p:cNvSpPr>
            <a:spLocks noGrp="1"/>
          </p:cNvSpPr>
          <p:nvPr>
            <p:ph type="dt" sz="half" idx="1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F89338C4-ED46-4A48-9915-83B30207B62A}"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7" name="页脚占位符 5"/>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灯片编号占位符 6"/>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1BDC65E2-5B8D-4D66-8114-DB1248365299}"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720011" y="1812997"/>
            <a:ext cx="6362595" cy="755571"/>
          </a:xfrm>
          <a:prstGeom prst="rect">
            <a:avLst/>
          </a:prstGeom>
        </p:spPr>
        <p:txBody>
          <a:bodyPr anchor="b"/>
          <a:lstStyle>
            <a:lvl1pPr marL="0" indent="0">
              <a:buNone/>
              <a:defRPr sz="3190" b="1"/>
            </a:lvl1pPr>
            <a:lvl2pPr marL="601345" indent="0">
              <a:buNone/>
              <a:defRPr sz="2620" b="1"/>
            </a:lvl2pPr>
            <a:lvl3pPr marL="1203325" indent="0">
              <a:buNone/>
              <a:defRPr sz="2340" b="1"/>
            </a:lvl3pPr>
            <a:lvl4pPr marL="1804670" indent="0">
              <a:buNone/>
              <a:defRPr sz="2125" b="1"/>
            </a:lvl4pPr>
            <a:lvl5pPr marL="2406650" indent="0">
              <a:buNone/>
              <a:defRPr sz="2125" b="1"/>
            </a:lvl5pPr>
            <a:lvl6pPr marL="3007995" indent="0">
              <a:buNone/>
              <a:defRPr sz="2125" b="1"/>
            </a:lvl6pPr>
            <a:lvl7pPr marL="3609975" indent="0">
              <a:buNone/>
              <a:defRPr sz="2125" b="1"/>
            </a:lvl7pPr>
            <a:lvl8pPr marL="4211320" indent="0">
              <a:buNone/>
              <a:defRPr sz="2125" b="1"/>
            </a:lvl8pPr>
            <a:lvl9pPr marL="4813300" indent="0">
              <a:buNone/>
              <a:defRPr sz="2125" b="1"/>
            </a:lvl9pPr>
          </a:lstStyle>
          <a:p>
            <a:pPr lvl="0"/>
            <a:r>
              <a:rPr lang="zh-CN" altLang="en-US"/>
              <a:t>单击此处编辑母版文本样式</a:t>
            </a:r>
          </a:p>
        </p:txBody>
      </p:sp>
      <p:sp>
        <p:nvSpPr>
          <p:cNvPr id="4" name="内容占位符 3"/>
          <p:cNvSpPr>
            <a:spLocks noGrp="1"/>
          </p:cNvSpPr>
          <p:nvPr>
            <p:ph sz="half" idx="2"/>
          </p:nvPr>
        </p:nvSpPr>
        <p:spPr>
          <a:xfrm>
            <a:off x="720011" y="2568569"/>
            <a:ext cx="6362595" cy="4666544"/>
          </a:xfrm>
          <a:prstGeom prst="rect">
            <a:avLst/>
          </a:prstGeom>
        </p:spPr>
        <p:txBody>
          <a:bodyPr/>
          <a:lstStyle>
            <a:lvl1pPr>
              <a:defRPr sz="3190"/>
            </a:lvl1pPr>
            <a:lvl2pPr>
              <a:defRPr sz="2620"/>
            </a:lvl2pPr>
            <a:lvl3pPr>
              <a:defRPr sz="2340"/>
            </a:lvl3pPr>
            <a:lvl4pPr>
              <a:defRPr sz="2125"/>
            </a:lvl4pPr>
            <a:lvl5pPr>
              <a:defRPr sz="2125"/>
            </a:lvl5pPr>
            <a:lvl6pPr>
              <a:defRPr sz="2125"/>
            </a:lvl6pPr>
            <a:lvl7pPr>
              <a:defRPr sz="2125"/>
            </a:lvl7pPr>
            <a:lvl8pPr>
              <a:defRPr sz="2125"/>
            </a:lvl8pPr>
            <a:lvl9pPr>
              <a:defRPr sz="212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7315110" y="1812997"/>
            <a:ext cx="6365094" cy="755571"/>
          </a:xfrm>
          <a:prstGeom prst="rect">
            <a:avLst/>
          </a:prstGeom>
        </p:spPr>
        <p:txBody>
          <a:bodyPr anchor="b"/>
          <a:lstStyle>
            <a:lvl1pPr marL="0" indent="0">
              <a:buNone/>
              <a:defRPr sz="3190" b="1"/>
            </a:lvl1pPr>
            <a:lvl2pPr marL="601345" indent="0">
              <a:buNone/>
              <a:defRPr sz="2620" b="1"/>
            </a:lvl2pPr>
            <a:lvl3pPr marL="1203325" indent="0">
              <a:buNone/>
              <a:defRPr sz="2340" b="1"/>
            </a:lvl3pPr>
            <a:lvl4pPr marL="1804670" indent="0">
              <a:buNone/>
              <a:defRPr sz="2125" b="1"/>
            </a:lvl4pPr>
            <a:lvl5pPr marL="2406650" indent="0">
              <a:buNone/>
              <a:defRPr sz="2125" b="1"/>
            </a:lvl5pPr>
            <a:lvl6pPr marL="3007995" indent="0">
              <a:buNone/>
              <a:defRPr sz="2125" b="1"/>
            </a:lvl6pPr>
            <a:lvl7pPr marL="3609975" indent="0">
              <a:buNone/>
              <a:defRPr sz="2125" b="1"/>
            </a:lvl7pPr>
            <a:lvl8pPr marL="4211320" indent="0">
              <a:buNone/>
              <a:defRPr sz="2125" b="1"/>
            </a:lvl8pPr>
            <a:lvl9pPr marL="4813300" indent="0">
              <a:buNone/>
              <a:defRPr sz="2125" b="1"/>
            </a:lvl9pPr>
          </a:lstStyle>
          <a:p>
            <a:pPr lvl="0"/>
            <a:r>
              <a:rPr lang="zh-CN" altLang="en-US"/>
              <a:t>单击此处编辑母版文本样式</a:t>
            </a:r>
          </a:p>
        </p:txBody>
      </p:sp>
      <p:sp>
        <p:nvSpPr>
          <p:cNvPr id="6" name="内容占位符 5"/>
          <p:cNvSpPr>
            <a:spLocks noGrp="1"/>
          </p:cNvSpPr>
          <p:nvPr>
            <p:ph sz="quarter" idx="4"/>
          </p:nvPr>
        </p:nvSpPr>
        <p:spPr>
          <a:xfrm>
            <a:off x="7315110" y="2568569"/>
            <a:ext cx="6365094" cy="4666544"/>
          </a:xfrm>
          <a:prstGeom prst="rect">
            <a:avLst/>
          </a:prstGeom>
        </p:spPr>
        <p:txBody>
          <a:bodyPr/>
          <a:lstStyle>
            <a:lvl1pPr>
              <a:defRPr sz="3190"/>
            </a:lvl1pPr>
            <a:lvl2pPr>
              <a:defRPr sz="2620"/>
            </a:lvl2pPr>
            <a:lvl3pPr>
              <a:defRPr sz="2340"/>
            </a:lvl3pPr>
            <a:lvl4pPr>
              <a:defRPr sz="2125"/>
            </a:lvl4pPr>
            <a:lvl5pPr>
              <a:defRPr sz="2125"/>
            </a:lvl5pPr>
            <a:lvl6pPr>
              <a:defRPr sz="2125"/>
            </a:lvl6pPr>
            <a:lvl7pPr>
              <a:defRPr sz="2125"/>
            </a:lvl7pPr>
            <a:lvl8pPr>
              <a:defRPr sz="2125"/>
            </a:lvl8pPr>
            <a:lvl9pPr>
              <a:defRPr sz="212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1D91F2C8-F1D7-41F7-997B-CD0D1C4B3004}"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BD5F6910-6877-4A92-923C-30618D17E99B}"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p>
        </p:txBody>
      </p:sp>
      <p:sp>
        <p:nvSpPr>
          <p:cNvPr id="6" name="日期占位符 2"/>
          <p:cNvSpPr>
            <a:spLocks noGrp="1"/>
          </p:cNvSpPr>
          <p:nvPr>
            <p:ph type="dt" sz="half" idx="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8CC33891-62B3-4187-BFA1-A5F816F7EF21}"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7" name="页脚占位符 3"/>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灯片编号占位符 4"/>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3683EB2C-3F65-44FC-86C4-7E77A1EE5B0F}"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6" name="日期占位符 1"/>
          <p:cNvSpPr>
            <a:spLocks noGrp="1"/>
          </p:cNvSpPr>
          <p:nvPr>
            <p:ph type="dt" sz="half" idx="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571F1162-21D9-4EFC-8FDE-1E9B95AFF4E8}"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7" name="页脚占位符 2"/>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灯片编号占位符 3"/>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1A162430-B74C-4290-91FA-BB86462CB4AF}"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2599988" y="161925"/>
            <a:ext cx="4560888" cy="430213"/>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marL="0" marR="0" lvl="0" indent="0" algn="l" defTabSz="1203325"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www.guideir.cn</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 name="标题 1"/>
          <p:cNvSpPr>
            <a:spLocks noGrp="1"/>
          </p:cNvSpPr>
          <p:nvPr>
            <p:ph type="title"/>
          </p:nvPr>
        </p:nvSpPr>
        <p:spPr>
          <a:xfrm>
            <a:off x="720013" y="322478"/>
            <a:ext cx="4737571" cy="1372403"/>
          </a:xfrm>
          <a:prstGeom prst="rect">
            <a:avLst/>
          </a:prstGeom>
        </p:spPr>
        <p:txBody>
          <a:bodyPr anchor="b"/>
          <a:lstStyle>
            <a:lvl1pPr algn="l">
              <a:defRPr sz="2620" b="1"/>
            </a:lvl1pPr>
          </a:lstStyle>
          <a:p>
            <a:r>
              <a:rPr lang="zh-CN" altLang="en-US"/>
              <a:t>单击此处编辑母版标题样式</a:t>
            </a:r>
          </a:p>
        </p:txBody>
      </p:sp>
      <p:sp>
        <p:nvSpPr>
          <p:cNvPr id="3" name="内容占位符 2"/>
          <p:cNvSpPr>
            <a:spLocks noGrp="1"/>
          </p:cNvSpPr>
          <p:nvPr>
            <p:ph idx="1"/>
          </p:nvPr>
        </p:nvSpPr>
        <p:spPr>
          <a:xfrm>
            <a:off x="5630084" y="322477"/>
            <a:ext cx="8050119" cy="6912635"/>
          </a:xfrm>
          <a:prstGeom prst="rect">
            <a:avLst/>
          </a:prstGeom>
        </p:spPr>
        <p:txBody>
          <a:bodyPr/>
          <a:lstStyle>
            <a:lvl1pPr>
              <a:defRPr sz="4180"/>
            </a:lvl1pPr>
            <a:lvl2pPr>
              <a:defRPr sz="3685"/>
            </a:lvl2pPr>
            <a:lvl3pPr>
              <a:defRPr sz="3190"/>
            </a:lvl3pPr>
            <a:lvl4pPr>
              <a:defRPr sz="2620"/>
            </a:lvl4pPr>
            <a:lvl5pPr>
              <a:defRPr sz="2620"/>
            </a:lvl5pPr>
            <a:lvl6pPr>
              <a:defRPr sz="2620"/>
            </a:lvl6pPr>
            <a:lvl7pPr>
              <a:defRPr sz="2620"/>
            </a:lvl7pPr>
            <a:lvl8pPr>
              <a:defRPr sz="2620"/>
            </a:lvl8pPr>
            <a:lvl9pPr>
              <a:defRPr sz="26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720013" y="1694881"/>
            <a:ext cx="4737571" cy="5540233"/>
          </a:xfrm>
          <a:prstGeom prst="rect">
            <a:avLst/>
          </a:prstGeom>
        </p:spPr>
        <p:txBody>
          <a:bodyPr/>
          <a:lstStyle>
            <a:lvl1pPr marL="0" indent="0">
              <a:buNone/>
              <a:defRPr sz="1840"/>
            </a:lvl1pPr>
            <a:lvl2pPr marL="601345" indent="0">
              <a:buNone/>
              <a:defRPr sz="1560"/>
            </a:lvl2pPr>
            <a:lvl3pPr marL="1203325" indent="0">
              <a:buNone/>
              <a:defRPr sz="1345"/>
            </a:lvl3pPr>
            <a:lvl4pPr marL="1804670" indent="0">
              <a:buNone/>
              <a:defRPr sz="1205"/>
            </a:lvl4pPr>
            <a:lvl5pPr marL="2406650" indent="0">
              <a:buNone/>
              <a:defRPr sz="1205"/>
            </a:lvl5pPr>
            <a:lvl6pPr marL="3007995" indent="0">
              <a:buNone/>
              <a:defRPr sz="1205"/>
            </a:lvl6pPr>
            <a:lvl7pPr marL="3609975" indent="0">
              <a:buNone/>
              <a:defRPr sz="1205"/>
            </a:lvl7pPr>
            <a:lvl8pPr marL="4211320" indent="0">
              <a:buNone/>
              <a:defRPr sz="1205"/>
            </a:lvl8pPr>
            <a:lvl9pPr marL="4813300" indent="0">
              <a:buNone/>
              <a:defRPr sz="1205"/>
            </a:lvl9pPr>
          </a:lstStyle>
          <a:p>
            <a:pPr lvl="0"/>
            <a:r>
              <a:rPr lang="zh-CN" altLang="en-US"/>
              <a:t>单击此处编辑母版文本样式</a:t>
            </a:r>
          </a:p>
        </p:txBody>
      </p:sp>
      <p:sp>
        <p:nvSpPr>
          <p:cNvPr id="7" name="日期占位符 4"/>
          <p:cNvSpPr>
            <a:spLocks noGrp="1"/>
          </p:cNvSpPr>
          <p:nvPr>
            <p:ph type="dt" sz="half" idx="1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A900B55C-D334-4B83-9E63-2798C0216A00}"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5"/>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6"/>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F9A7A813-10EB-4DAA-B646-487C54A28694}"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2599988" y="161925"/>
            <a:ext cx="4560888" cy="430213"/>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marL="0" marR="0" lvl="0" indent="0" algn="l" defTabSz="1203325"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www.guideir.cn</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 name="标题 1"/>
          <p:cNvSpPr>
            <a:spLocks noGrp="1"/>
          </p:cNvSpPr>
          <p:nvPr>
            <p:ph type="title"/>
          </p:nvPr>
        </p:nvSpPr>
        <p:spPr>
          <a:xfrm>
            <a:off x="2822543" y="5669598"/>
            <a:ext cx="8640128" cy="669328"/>
          </a:xfrm>
          <a:prstGeom prst="rect">
            <a:avLst/>
          </a:prstGeom>
        </p:spPr>
        <p:txBody>
          <a:bodyPr anchor="b"/>
          <a:lstStyle>
            <a:lvl1pPr algn="l">
              <a:defRPr sz="2620" b="1"/>
            </a:lvl1pPr>
          </a:lstStyle>
          <a:p>
            <a:r>
              <a:rPr lang="zh-CN" altLang="en-US"/>
              <a:t>单击此处编辑母版标题样式</a:t>
            </a:r>
          </a:p>
        </p:txBody>
      </p:sp>
      <p:sp>
        <p:nvSpPr>
          <p:cNvPr id="3" name="图片占位符 2"/>
          <p:cNvSpPr>
            <a:spLocks noGrp="1"/>
          </p:cNvSpPr>
          <p:nvPr>
            <p:ph type="pic" idx="1"/>
          </p:nvPr>
        </p:nvSpPr>
        <p:spPr>
          <a:xfrm>
            <a:off x="2822543" y="723699"/>
            <a:ext cx="8640128" cy="4859655"/>
          </a:xfrm>
          <a:prstGeom prst="rect">
            <a:avLst/>
          </a:prstGeom>
        </p:spPr>
        <p:txBody>
          <a:bodyPr/>
          <a:lstStyle>
            <a:lvl1pPr marL="0" indent="0">
              <a:buNone/>
              <a:defRPr sz="4180"/>
            </a:lvl1pPr>
            <a:lvl2pPr marL="601345" indent="0">
              <a:buNone/>
              <a:defRPr sz="3685"/>
            </a:lvl2pPr>
            <a:lvl3pPr marL="1203325" indent="0">
              <a:buNone/>
              <a:defRPr sz="3190"/>
            </a:lvl3pPr>
            <a:lvl4pPr marL="1804670" indent="0">
              <a:buNone/>
              <a:defRPr sz="2620"/>
            </a:lvl4pPr>
            <a:lvl5pPr marL="2406650" indent="0">
              <a:buNone/>
              <a:defRPr sz="2620"/>
            </a:lvl5pPr>
            <a:lvl6pPr marL="3007995" indent="0">
              <a:buNone/>
              <a:defRPr sz="2620"/>
            </a:lvl6pPr>
            <a:lvl7pPr marL="3609975" indent="0">
              <a:buNone/>
              <a:defRPr sz="2620"/>
            </a:lvl7pPr>
            <a:lvl8pPr marL="4211320" indent="0">
              <a:buNone/>
              <a:defRPr sz="2620"/>
            </a:lvl8pPr>
            <a:lvl9pPr marL="4813300" indent="0">
              <a:buNone/>
              <a:defRPr sz="2620"/>
            </a:lvl9pPr>
          </a:lstStyle>
          <a:p>
            <a:pPr marL="0" marR="0" lvl="0" indent="0" algn="l" defTabSz="1202055"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418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822543" y="6338926"/>
            <a:ext cx="8640128" cy="950557"/>
          </a:xfrm>
          <a:prstGeom prst="rect">
            <a:avLst/>
          </a:prstGeom>
        </p:spPr>
        <p:txBody>
          <a:bodyPr/>
          <a:lstStyle>
            <a:lvl1pPr marL="0" indent="0">
              <a:buNone/>
              <a:defRPr sz="1840"/>
            </a:lvl1pPr>
            <a:lvl2pPr marL="601345" indent="0">
              <a:buNone/>
              <a:defRPr sz="1560"/>
            </a:lvl2pPr>
            <a:lvl3pPr marL="1203325" indent="0">
              <a:buNone/>
              <a:defRPr sz="1345"/>
            </a:lvl3pPr>
            <a:lvl4pPr marL="1804670" indent="0">
              <a:buNone/>
              <a:defRPr sz="1205"/>
            </a:lvl4pPr>
            <a:lvl5pPr marL="2406650" indent="0">
              <a:buNone/>
              <a:defRPr sz="1205"/>
            </a:lvl5pPr>
            <a:lvl6pPr marL="3007995" indent="0">
              <a:buNone/>
              <a:defRPr sz="1205"/>
            </a:lvl6pPr>
            <a:lvl7pPr marL="3609975" indent="0">
              <a:buNone/>
              <a:defRPr sz="1205"/>
            </a:lvl7pPr>
            <a:lvl8pPr marL="4211320" indent="0">
              <a:buNone/>
              <a:defRPr sz="1205"/>
            </a:lvl8pPr>
            <a:lvl9pPr marL="4813300" indent="0">
              <a:buNone/>
              <a:defRPr sz="1205"/>
            </a:lvl9pPr>
          </a:lstStyle>
          <a:p>
            <a:pPr lvl="0"/>
            <a:r>
              <a:rPr lang="zh-CN" altLang="en-US"/>
              <a:t>单击此处编辑母版文本样式</a:t>
            </a:r>
          </a:p>
        </p:txBody>
      </p:sp>
      <p:sp>
        <p:nvSpPr>
          <p:cNvPr id="7" name="日期占位符 4"/>
          <p:cNvSpPr>
            <a:spLocks noGrp="1"/>
          </p:cNvSpPr>
          <p:nvPr>
            <p:ph type="dt" sz="half" idx="1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F15D4F6A-C54A-4DEE-981D-D8764C6E0D66}"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5"/>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6"/>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0081259E-B11E-49A5-85E7-4FFB0EAEA5E5}"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2599988" y="161925"/>
            <a:ext cx="4560888" cy="430213"/>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marL="0" marR="0" lvl="0" indent="0" algn="l" defTabSz="1203325"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www.guideir.cn</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720011" y="1889866"/>
            <a:ext cx="12960192" cy="534524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230839C7-799E-4BF3-AC8F-59C44E0B395C}"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4"/>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5"/>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59B38A68-8F7E-4155-B2A4-E2A2820EAC51}"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rgbClr val="FFFFFF"/>
        </a:solidFill>
        <a:effectLst/>
      </p:bgPr>
    </p:bg>
    <p:spTree>
      <p:nvGrpSpPr>
        <p:cNvPr id="1" name=""/>
        <p:cNvGrpSpPr/>
        <p:nvPr/>
      </p:nvGrpSpPr>
      <p:grpSpPr>
        <a:xfrm>
          <a:off x="0" y="0"/>
          <a:ext cx="0" cy="0"/>
          <a:chOff x="0" y="0"/>
          <a:chExt cx="0" cy="0"/>
        </a:xfrm>
      </p:grpSpPr>
      <p:sp>
        <p:nvSpPr>
          <p:cNvPr id="6" name="页脚占位符 4"/>
          <p:cNvSpPr txBox="1"/>
          <p:nvPr/>
        </p:nvSpPr>
        <p:spPr>
          <a:xfrm>
            <a:off x="12599988" y="161925"/>
            <a:ext cx="4560888" cy="430213"/>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marL="0" marR="0" lvl="0" indent="0" algn="l" defTabSz="1203325"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www.guideir.cn</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 name="竖排标题 1"/>
          <p:cNvSpPr>
            <a:spLocks noGrp="1"/>
          </p:cNvSpPr>
          <p:nvPr>
            <p:ph type="title" orient="vert"/>
          </p:nvPr>
        </p:nvSpPr>
        <p:spPr>
          <a:xfrm>
            <a:off x="10440154" y="324354"/>
            <a:ext cx="3240048" cy="691076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20011" y="324354"/>
            <a:ext cx="9480140" cy="691076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720725" y="7507288"/>
            <a:ext cx="3359150"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fld id="{6C577FA2-9663-40F8-AC05-1673D2A87F01}" type="datetimeFigureOut">
              <a:rPr kumimoji="0" lang="zh-CN" altLang="en-US" sz="2340" b="0" i="0" u="none" strike="noStrike" kern="1200" cap="none" spc="0" normalizeH="0" baseline="0" noProof="0">
                <a:ln>
                  <a:noFill/>
                </a:ln>
                <a:solidFill>
                  <a:schemeClr val="tx1"/>
                </a:solidFill>
                <a:effectLst/>
                <a:uLnTx/>
                <a:uFillTx/>
                <a:latin typeface="+mn-lt"/>
                <a:ea typeface="+mn-ea"/>
                <a:cs typeface="+mn-cs"/>
              </a:rPr>
              <a:t>2024/12/13</a:t>
            </a:fld>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4"/>
          <p:cNvSpPr>
            <a:spLocks noGrp="1"/>
          </p:cNvSpPr>
          <p:nvPr>
            <p:ph type="ftr" sz="quarter" idx="3"/>
          </p:nvPr>
        </p:nvSpPr>
        <p:spPr>
          <a:xfrm>
            <a:off x="4919663" y="7507288"/>
            <a:ext cx="4560888" cy="430213"/>
          </a:xfrm>
          <a:prstGeom prst="rect">
            <a:avLst/>
          </a:prstGeom>
        </p:spPr>
        <p:txBody>
          <a:bodyPr/>
          <a:lstStyle>
            <a:lvl1pPr defTabSz="1203325" eaLnBrk="1" fontAlgn="auto" hangingPunct="1">
              <a:spcBef>
                <a:spcPts val="0"/>
              </a:spcBef>
              <a:spcAft>
                <a:spcPts val="0"/>
              </a:spcAft>
              <a:defRPr sz="2340">
                <a:latin typeface="+mn-lt"/>
                <a:ea typeface="+mn-ea"/>
              </a:defRPr>
            </a:lvl1pPr>
          </a:lstStyle>
          <a:p>
            <a:pPr marL="0" marR="0" lvl="0" indent="0" algn="l"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5"/>
          <p:cNvSpPr>
            <a:spLocks noGrp="1"/>
          </p:cNvSpPr>
          <p:nvPr>
            <p:ph type="sldNum" sz="quarter" idx="4"/>
          </p:nvPr>
        </p:nvSpPr>
        <p:spPr>
          <a:xfrm>
            <a:off x="10320338" y="7507288"/>
            <a:ext cx="3359150" cy="430213"/>
          </a:xfrm>
          <a:prstGeom prst="rect">
            <a:avLst/>
          </a:prstGeom>
        </p:spPr>
        <p:txBody>
          <a:bodyPr vert="horz" wrap="square" lIns="91440" tIns="45720" rIns="91440" bIns="45720" numCol="1" anchor="t" anchorCtr="0" compatLnSpc="1"/>
          <a:lstStyle>
            <a:lvl1pPr eaLnBrk="1" hangingPunct="1">
              <a:defRPr/>
            </a:lvl1pPr>
          </a:lstStyle>
          <a:p>
            <a:pPr marL="0" marR="0" lvl="0" indent="0" algn="l" defTabSz="1202055" rtl="0" eaLnBrk="1" fontAlgn="base" latinLnBrk="0" hangingPunct="1">
              <a:lnSpc>
                <a:spcPct val="100000"/>
              </a:lnSpc>
              <a:spcBef>
                <a:spcPct val="0"/>
              </a:spcBef>
              <a:spcAft>
                <a:spcPct val="0"/>
              </a:spcAft>
              <a:buClrTx/>
              <a:buSzTx/>
              <a:buFontTx/>
              <a:buNone/>
              <a:defRPr/>
            </a:pPr>
            <a:fld id="{8D1D2ACB-B504-4E1E-A500-1BAA03340C62}" type="slidenum">
              <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23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p:cNvSpPr/>
          <p:nvPr/>
        </p:nvSpPr>
        <p:spPr>
          <a:xfrm>
            <a:off x="0" y="0"/>
            <a:ext cx="14400213" cy="6651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03325" rtl="0" eaLnBrk="1" fontAlgn="auto" latinLnBrk="0" hangingPunct="1">
              <a:lnSpc>
                <a:spcPct val="100000"/>
              </a:lnSpc>
              <a:spcBef>
                <a:spcPts val="0"/>
              </a:spcBef>
              <a:spcAft>
                <a:spcPts val="0"/>
              </a:spcAft>
              <a:buClrTx/>
              <a:buSzTx/>
              <a:buFontTx/>
              <a:buNone/>
              <a:defRPr/>
            </a:pPr>
            <a:endParaRPr kumimoji="0" lang="zh-CN" altLang="en-US" sz="2340" b="0" i="0" u="none" strike="noStrike" kern="1200" cap="none" spc="0" normalizeH="0" baseline="0" noProof="0">
              <a:ln>
                <a:noFill/>
              </a:ln>
              <a:solidFill>
                <a:schemeClr val="lt1"/>
              </a:solidFill>
              <a:effectLst/>
              <a:uLnTx/>
              <a:uFillTx/>
              <a:latin typeface="+mn-lt"/>
              <a:ea typeface="+mn-ea"/>
              <a:cs typeface="+mn-cs"/>
            </a:endParaRPr>
          </a:p>
        </p:txBody>
      </p:sp>
      <p:sp>
        <p:nvSpPr>
          <p:cNvPr id="5" name="页脚占位符 4"/>
          <p:cNvSpPr txBox="1"/>
          <p:nvPr/>
        </p:nvSpPr>
        <p:spPr>
          <a:xfrm>
            <a:off x="12682538" y="233363"/>
            <a:ext cx="1646238" cy="431800"/>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pPr marL="0" marR="0" lvl="0" indent="0" algn="l" defTabSz="1203325"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www.guideir.com</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1202055" rtl="0" eaLnBrk="0" fontAlgn="base" hangingPunct="0">
        <a:spcBef>
          <a:spcPct val="0"/>
        </a:spcBef>
        <a:spcAft>
          <a:spcPct val="0"/>
        </a:spcAft>
        <a:defRPr sz="5800" kern="1200">
          <a:solidFill>
            <a:schemeClr val="tx1"/>
          </a:solidFill>
          <a:latin typeface="+mj-lt"/>
          <a:ea typeface="+mj-ea"/>
          <a:cs typeface="+mj-cs"/>
        </a:defRPr>
      </a:lvl1pPr>
      <a:lvl2pPr algn="ctr" defTabSz="1202055"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2pPr>
      <a:lvl3pPr algn="ctr" defTabSz="1202055"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3pPr>
      <a:lvl4pPr algn="ctr" defTabSz="1202055"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4pPr>
      <a:lvl5pPr algn="ctr" defTabSz="1202055"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5pPr>
      <a:lvl6pPr marL="457200" algn="ctr" defTabSz="1202055"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6pPr>
      <a:lvl7pPr marL="914400" algn="ctr" defTabSz="1202055"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7pPr>
      <a:lvl8pPr marL="1371600" algn="ctr" defTabSz="1202055"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8pPr>
      <a:lvl9pPr marL="1828800" algn="ctr" defTabSz="1202055"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9pPr>
    </p:titleStyle>
    <p:bodyStyle>
      <a:lvl1pPr marL="450850" indent="-450850" algn="l" defTabSz="1202055" rtl="0" eaLnBrk="0" fontAlgn="base" hangingPunct="0">
        <a:spcBef>
          <a:spcPct val="20000"/>
        </a:spcBef>
        <a:spcAft>
          <a:spcPct val="0"/>
        </a:spcAft>
        <a:buFont typeface="Arial" panose="020B0604020202020204" pitchFamily="34" charset="0"/>
        <a:buChar char="•"/>
        <a:defRPr sz="4100" kern="1200">
          <a:solidFill>
            <a:schemeClr val="tx1"/>
          </a:solidFill>
          <a:latin typeface="+mn-lt"/>
          <a:ea typeface="+mn-ea"/>
          <a:cs typeface="+mn-cs"/>
        </a:defRPr>
      </a:lvl1pPr>
      <a:lvl2pPr marL="976630" indent="-374650" algn="l" defTabSz="1202055" rtl="0" eaLnBrk="0" fontAlgn="base" hangingPunct="0">
        <a:spcBef>
          <a:spcPct val="20000"/>
        </a:spcBef>
        <a:spcAft>
          <a:spcPct val="0"/>
        </a:spcAft>
        <a:buFont typeface="Arial" panose="020B0604020202020204" pitchFamily="34" charset="0"/>
        <a:buChar char="–"/>
        <a:defRPr sz="3600" kern="1200">
          <a:solidFill>
            <a:schemeClr val="tx1"/>
          </a:solidFill>
          <a:latin typeface="+mn-lt"/>
          <a:ea typeface="+mn-ea"/>
          <a:cs typeface="+mn-cs"/>
        </a:defRPr>
      </a:lvl2pPr>
      <a:lvl3pPr marL="1503680" indent="-300355" algn="l" defTabSz="1202055" rtl="0" eaLnBrk="0" fontAlgn="base" hangingPunct="0">
        <a:spcBef>
          <a:spcPct val="20000"/>
        </a:spcBef>
        <a:spcAft>
          <a:spcPct val="0"/>
        </a:spcAft>
        <a:buFont typeface="Arial" panose="020B0604020202020204" pitchFamily="34" charset="0"/>
        <a:buChar char="•"/>
        <a:defRPr sz="3100" kern="1200">
          <a:solidFill>
            <a:schemeClr val="tx1"/>
          </a:solidFill>
          <a:latin typeface="+mn-lt"/>
          <a:ea typeface="+mn-ea"/>
          <a:cs typeface="+mn-cs"/>
        </a:defRPr>
      </a:lvl3pPr>
      <a:lvl4pPr marL="2105025" indent="-300355" algn="l" defTabSz="1202055" rtl="0" eaLnBrk="0" fontAlgn="base" hangingPunct="0">
        <a:spcBef>
          <a:spcPct val="20000"/>
        </a:spcBef>
        <a:spcAft>
          <a:spcPct val="0"/>
        </a:spcAft>
        <a:buFont typeface="Arial" panose="020B0604020202020204" pitchFamily="34" charset="0"/>
        <a:buChar char="–"/>
        <a:defRPr sz="2600" kern="1200">
          <a:solidFill>
            <a:schemeClr val="tx1"/>
          </a:solidFill>
          <a:latin typeface="+mn-lt"/>
          <a:ea typeface="+mn-ea"/>
          <a:cs typeface="+mn-cs"/>
        </a:defRPr>
      </a:lvl4pPr>
      <a:lvl5pPr marL="2707005" indent="-300355" algn="l" defTabSz="1202055" rtl="0" eaLnBrk="0" fontAlgn="base" hangingPunct="0">
        <a:spcBef>
          <a:spcPct val="20000"/>
        </a:spcBef>
        <a:spcAft>
          <a:spcPct val="0"/>
        </a:spcAft>
        <a:buFont typeface="Arial" panose="020B0604020202020204" pitchFamily="34" charset="0"/>
        <a:buChar char="»"/>
        <a:defRPr sz="2600" kern="1200">
          <a:solidFill>
            <a:schemeClr val="tx1"/>
          </a:solidFill>
          <a:latin typeface="+mn-lt"/>
          <a:ea typeface="+mn-ea"/>
          <a:cs typeface="+mn-cs"/>
        </a:defRPr>
      </a:lvl5pPr>
      <a:lvl6pPr marL="3308985"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6pPr>
      <a:lvl7pPr marL="3910965"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7pPr>
      <a:lvl8pPr marL="451231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8pPr>
      <a:lvl9pPr marL="511429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9pPr>
    </p:bodyStyle>
    <p:otherStyle>
      <a:defPPr>
        <a:defRPr lang="zh-CN"/>
      </a:defPPr>
      <a:lvl1pPr marL="0" algn="l" defTabSz="1203325" rtl="0" eaLnBrk="1" latinLnBrk="0" hangingPunct="1">
        <a:defRPr sz="2340" kern="1200">
          <a:solidFill>
            <a:schemeClr val="tx1"/>
          </a:solidFill>
          <a:latin typeface="+mn-lt"/>
          <a:ea typeface="+mn-ea"/>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1.e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4.emf"/><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6.emf"/><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4.bin"/><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package" Target="../embeddings/Microsoft_Excel____1.xlsx"/><Relationship Id="rId3" Type="http://schemas.openxmlformats.org/officeDocument/2006/relationships/notesSlide" Target="../notesSlides/notesSlide11.xml"/><Relationship Id="rId7"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22.emf"/><Relationship Id="rId5" Type="http://schemas.openxmlformats.org/officeDocument/2006/relationships/image" Target="../media/image21.jpeg"/><Relationship Id="rId4" Type="http://schemas.openxmlformats.org/officeDocument/2006/relationships/image" Target="../media/image3.png"/><Relationship Id="rId9" Type="http://schemas.openxmlformats.org/officeDocument/2006/relationships/image" Target="../media/image20.emf"/></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4.emf"/><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notesSlide" Target="../notesSlides/notesSlide13.xml"/><Relationship Id="rId7"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1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3"/>
          <a:stretch>
            <a:fillRect/>
          </a:stretch>
        </p:blipFill>
        <p:spPr>
          <a:xfrm>
            <a:off x="246063" y="88900"/>
            <a:ext cx="1554162" cy="511175"/>
          </a:xfrm>
          <a:prstGeom prst="rect">
            <a:avLst/>
          </a:prstGeom>
          <a:noFill/>
          <a:ln w="9525">
            <a:noFill/>
          </a:ln>
        </p:spPr>
      </p:pic>
      <p:sp>
        <p:nvSpPr>
          <p:cNvPr id="6" name="文本框 64">
            <a:extLst>
              <a:ext uri="{FF2B5EF4-FFF2-40B4-BE49-F238E27FC236}">
                <a16:creationId xmlns="" xmlns:a16="http://schemas.microsoft.com/office/drawing/2014/main" id="{E0B61BD9-BF0A-9309-018D-4EF34DEE49C3}"/>
              </a:ext>
            </a:extLst>
          </p:cNvPr>
          <p:cNvSpPr txBox="1"/>
          <p:nvPr/>
        </p:nvSpPr>
        <p:spPr>
          <a:xfrm>
            <a:off x="1655490" y="1745456"/>
            <a:ext cx="9632138" cy="5632311"/>
          </a:xfrm>
          <a:prstGeom prst="rect">
            <a:avLst/>
          </a:prstGeom>
          <a:noFill/>
          <a:ln>
            <a:noFill/>
          </a:ln>
        </p:spPr>
        <p:txBody>
          <a:bodyPr wrap="square" rtlCol="0">
            <a:spAutoFit/>
          </a:bodyPr>
          <a:lstStyle/>
          <a:p>
            <a:pPr defTabSz="1018852">
              <a:lnSpc>
                <a:spcPct val="150000"/>
              </a:lnSpc>
            </a:pPr>
            <a:r>
              <a:rPr lang="zh-CN" altLang="en-US" sz="2000" b="1" dirty="0" smtClean="0">
                <a:solidFill>
                  <a:srgbClr val="FF0000"/>
                </a:solidFill>
              </a:rPr>
              <a:t>发射率背景介绍</a:t>
            </a:r>
            <a:r>
              <a:rPr lang="en-US" altLang="zh-CN" sz="2000" b="1" dirty="0" smtClean="0">
                <a:solidFill>
                  <a:srgbClr val="FF0000"/>
                </a:solidFill>
              </a:rPr>
              <a:t>:</a:t>
            </a:r>
          </a:p>
          <a:p>
            <a:pPr defTabSz="1018852">
              <a:lnSpc>
                <a:spcPct val="150000"/>
              </a:lnSpc>
            </a:pPr>
            <a:r>
              <a:rPr lang="zh-CN" altLang="zh-CN" sz="2000" dirty="0" smtClean="0">
                <a:solidFill>
                  <a:srgbClr val="FF0000"/>
                </a:solidFill>
              </a:rPr>
              <a:t>发射率</a:t>
            </a:r>
            <a:r>
              <a:rPr lang="en-US" altLang="zh-CN" sz="2000" dirty="0" smtClean="0">
                <a:solidFill>
                  <a:srgbClr val="FF0000"/>
                </a:solidFill>
              </a:rPr>
              <a:t>(</a:t>
            </a:r>
            <a:r>
              <a:rPr lang="zh-CN" altLang="en-US" sz="2000" dirty="0" smtClean="0">
                <a:solidFill>
                  <a:srgbClr val="FF0000"/>
                </a:solidFill>
              </a:rPr>
              <a:t>辐射率</a:t>
            </a:r>
            <a:r>
              <a:rPr lang="en-US" altLang="zh-CN" sz="2000" dirty="0" smtClean="0">
                <a:solidFill>
                  <a:srgbClr val="FF0000"/>
                </a:solidFill>
              </a:rPr>
              <a:t>)</a:t>
            </a:r>
            <a:r>
              <a:rPr lang="zh-CN" altLang="en-US" sz="2000" dirty="0" smtClean="0">
                <a:solidFill>
                  <a:srgbClr val="FF0000"/>
                </a:solidFill>
              </a:rPr>
              <a:t>是物体的辐射能力与相同温度下黑体的辐射能力之比</a:t>
            </a:r>
            <a:r>
              <a:rPr lang="zh-CN" altLang="zh-CN" sz="2000" dirty="0" smtClean="0"/>
              <a:t>，发射率与</a:t>
            </a:r>
            <a:r>
              <a:rPr lang="zh-CN" altLang="zh-CN" sz="2000" dirty="0"/>
              <a:t>物体</a:t>
            </a:r>
            <a:r>
              <a:rPr lang="zh-CN" altLang="zh-CN" sz="2000" dirty="0" smtClean="0"/>
              <a:t>表面性质</a:t>
            </a:r>
            <a:r>
              <a:rPr lang="zh-CN" altLang="zh-CN" sz="2000" dirty="0"/>
              <a:t>有关，在辐射测温</a:t>
            </a:r>
            <a:r>
              <a:rPr lang="zh-CN" altLang="zh-CN" sz="2000" dirty="0" smtClean="0"/>
              <a:t>领域</a:t>
            </a:r>
            <a:r>
              <a:rPr lang="zh-CN" altLang="en-US" sz="2000" dirty="0" smtClean="0"/>
              <a:t>中</a:t>
            </a:r>
            <a:r>
              <a:rPr lang="zh-CN" altLang="zh-CN" sz="2000" dirty="0" smtClean="0"/>
              <a:t>发射率</a:t>
            </a:r>
            <a:r>
              <a:rPr lang="zh-CN" altLang="en-US" sz="2000" dirty="0" smtClean="0"/>
              <a:t>修正的准确度</a:t>
            </a:r>
            <a:r>
              <a:rPr lang="zh-CN" altLang="zh-CN" sz="2000" dirty="0" smtClean="0"/>
              <a:t>与</a:t>
            </a:r>
            <a:r>
              <a:rPr lang="zh-CN" altLang="zh-CN" sz="2000" dirty="0"/>
              <a:t>测温精度有直接关系</a:t>
            </a:r>
            <a:r>
              <a:rPr lang="zh-CN" altLang="zh-CN" sz="2000" dirty="0" smtClean="0"/>
              <a:t>。</a:t>
            </a:r>
            <a:endParaRPr lang="en-US" altLang="zh-CN" sz="2000" dirty="0" smtClean="0"/>
          </a:p>
          <a:p>
            <a:pPr defTabSz="1018852">
              <a:lnSpc>
                <a:spcPct val="150000"/>
              </a:lnSpc>
            </a:pPr>
            <a:endParaRPr lang="en-US" altLang="zh-CN" sz="2000" dirty="0"/>
          </a:p>
          <a:p>
            <a:pPr defTabSz="1018852">
              <a:lnSpc>
                <a:spcPct val="150000"/>
              </a:lnSpc>
            </a:pPr>
            <a:endParaRPr lang="en-US" altLang="zh-CN" sz="2000" dirty="0" smtClean="0">
              <a:solidFill>
                <a:srgbClr val="FF0000"/>
              </a:solidFill>
            </a:endParaRPr>
          </a:p>
          <a:p>
            <a:pPr defTabSz="1018852">
              <a:lnSpc>
                <a:spcPct val="150000"/>
              </a:lnSpc>
            </a:pPr>
            <a:endParaRPr lang="en-US" altLang="zh-CN" sz="2000" dirty="0" smtClean="0">
              <a:solidFill>
                <a:srgbClr val="FF0000"/>
              </a:solidFill>
            </a:endParaRPr>
          </a:p>
          <a:p>
            <a:pPr defTabSz="1018852">
              <a:lnSpc>
                <a:spcPct val="150000"/>
              </a:lnSpc>
            </a:pPr>
            <a:endParaRPr lang="en-US" altLang="zh-CN" sz="2000" dirty="0" smtClean="0">
              <a:solidFill>
                <a:srgbClr val="FF0000"/>
              </a:solidFill>
            </a:endParaRPr>
          </a:p>
          <a:p>
            <a:pPr defTabSz="1018852">
              <a:lnSpc>
                <a:spcPct val="150000"/>
              </a:lnSpc>
            </a:pPr>
            <a:endParaRPr lang="en-US" altLang="zh-CN" sz="2000" dirty="0">
              <a:solidFill>
                <a:srgbClr val="FF0000"/>
              </a:solidFill>
            </a:endParaRPr>
          </a:p>
          <a:p>
            <a:pPr defTabSz="1018852">
              <a:lnSpc>
                <a:spcPct val="150000"/>
              </a:lnSpc>
            </a:pPr>
            <a:endParaRPr lang="en-US" altLang="zh-CN" sz="2000" b="1" dirty="0" smtClean="0">
              <a:solidFill>
                <a:srgbClr val="FF0000"/>
              </a:solidFill>
            </a:endParaRPr>
          </a:p>
          <a:p>
            <a:pPr defTabSz="1018852">
              <a:lnSpc>
                <a:spcPct val="150000"/>
              </a:lnSpc>
            </a:pPr>
            <a:r>
              <a:rPr lang="zh-CN" altLang="en-US" sz="2000" b="1" dirty="0" smtClean="0">
                <a:solidFill>
                  <a:srgbClr val="FF0000"/>
                </a:solidFill>
              </a:rPr>
              <a:t>发射率修正的意义：</a:t>
            </a:r>
            <a:endParaRPr lang="en-US" altLang="zh-CN" sz="2000" b="1" dirty="0" smtClean="0">
              <a:solidFill>
                <a:srgbClr val="FF0000"/>
              </a:solidFill>
            </a:endParaRPr>
          </a:p>
          <a:p>
            <a:pPr defTabSz="1018852">
              <a:lnSpc>
                <a:spcPct val="150000"/>
              </a:lnSpc>
            </a:pPr>
            <a:r>
              <a:rPr lang="zh-CN" altLang="en-US" sz="2000" dirty="0" smtClean="0"/>
              <a:t>扩展测温设备的应用</a:t>
            </a:r>
            <a:r>
              <a:rPr lang="zh-CN" altLang="en-US" sz="2000" dirty="0"/>
              <a:t>范围，针对</a:t>
            </a:r>
            <a:r>
              <a:rPr lang="zh-CN" altLang="en-US" sz="2000" dirty="0" smtClean="0"/>
              <a:t>不同发射率的</a:t>
            </a:r>
            <a:r>
              <a:rPr lang="zh-CN" altLang="en-US" sz="2000" dirty="0"/>
              <a:t>被测物体能够给出准确的测温</a:t>
            </a:r>
            <a:r>
              <a:rPr lang="zh-CN" altLang="en-US" sz="2000" dirty="0" smtClean="0"/>
              <a:t>结果，实现对低发射率被测物体的辐射测温</a:t>
            </a:r>
            <a:r>
              <a:rPr lang="zh-CN" altLang="en-US" sz="2000" dirty="0"/>
              <a:t>，例如钢铁</a:t>
            </a:r>
            <a:r>
              <a:rPr lang="zh-CN" altLang="en-US" sz="2000" dirty="0" smtClean="0"/>
              <a:t>冶炼工业场景的测温。</a:t>
            </a:r>
            <a:endParaRPr lang="en-US" altLang="zh-CN" sz="2000" dirty="0" smtClean="0"/>
          </a:p>
        </p:txBody>
      </p:sp>
      <p:pic>
        <p:nvPicPr>
          <p:cNvPr id="29698" name="Picture 2" descr="E:\Google downloads\图片\hongwai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5569" y="3353524"/>
            <a:ext cx="345757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9699" name="Picture 3" descr="E:\Google downloads\图片\水壶倒入热水.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4361" y="3329632"/>
            <a:ext cx="3457575" cy="214312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11088538" y="3817115"/>
            <a:ext cx="3384376" cy="1477328"/>
          </a:xfrm>
          <a:prstGeom prst="rect">
            <a:avLst/>
          </a:prstGeom>
        </p:spPr>
        <p:txBody>
          <a:bodyPr wrap="square">
            <a:spAutoFit/>
          </a:bodyPr>
          <a:lstStyle/>
          <a:p>
            <a:pPr lvl="0" defTabSz="1018852">
              <a:lnSpc>
                <a:spcPct val="150000"/>
              </a:lnSpc>
            </a:pPr>
            <a:r>
              <a:rPr lang="zh-CN" altLang="en-US" sz="2000" dirty="0">
                <a:solidFill>
                  <a:srgbClr val="000000"/>
                </a:solidFill>
                <a:latin typeface="Times New Roman" pitchFamily="18" charset="0"/>
                <a:cs typeface="Times New Roman" pitchFamily="18" charset="0"/>
              </a:rPr>
              <a:t>发射率</a:t>
            </a:r>
            <a:r>
              <a:rPr lang="zh-CN" altLang="en-US" sz="2000" dirty="0" smtClean="0">
                <a:solidFill>
                  <a:srgbClr val="000000"/>
                </a:solidFill>
                <a:latin typeface="Times New Roman" pitchFamily="18" charset="0"/>
                <a:cs typeface="Times New Roman" pitchFamily="18" charset="0"/>
              </a:rPr>
              <a:t>：</a:t>
            </a:r>
            <a:endParaRPr lang="en-US" altLang="zh-CN" sz="2000" dirty="0" smtClean="0">
              <a:solidFill>
                <a:srgbClr val="000000"/>
              </a:solidFill>
              <a:latin typeface="Times New Roman" pitchFamily="18" charset="0"/>
              <a:cs typeface="Times New Roman" pitchFamily="18" charset="0"/>
            </a:endParaRPr>
          </a:p>
          <a:p>
            <a:pPr lvl="0" defTabSz="1018852">
              <a:lnSpc>
                <a:spcPct val="150000"/>
              </a:lnSpc>
            </a:pPr>
            <a:r>
              <a:rPr lang="zh-CN" altLang="en-US" sz="2000" dirty="0" smtClean="0">
                <a:solidFill>
                  <a:srgbClr val="000000"/>
                </a:solidFill>
                <a:latin typeface="Times New Roman" pitchFamily="18" charset="0"/>
                <a:cs typeface="Times New Roman" pitchFamily="18" charset="0"/>
              </a:rPr>
              <a:t>水壶</a:t>
            </a:r>
            <a:r>
              <a:rPr lang="en-US" altLang="zh-CN" sz="2000" i="1" dirty="0" smtClean="0">
                <a:solidFill>
                  <a:srgbClr val="000000"/>
                </a:solidFill>
                <a:latin typeface="Times New Roman" pitchFamily="18" charset="0"/>
                <a:cs typeface="Times New Roman" pitchFamily="18" charset="0"/>
              </a:rPr>
              <a:t>ε</a:t>
            </a:r>
            <a:r>
              <a:rPr lang="en-US" altLang="zh-CN" sz="2000" dirty="0" smtClean="0">
                <a:solidFill>
                  <a:srgbClr val="000000"/>
                </a:solidFill>
                <a:latin typeface="Times New Roman" pitchFamily="18" charset="0"/>
                <a:cs typeface="Times New Roman" pitchFamily="18" charset="0"/>
              </a:rPr>
              <a:t>=0.1</a:t>
            </a:r>
          </a:p>
          <a:p>
            <a:pPr lvl="0" defTabSz="1018852">
              <a:lnSpc>
                <a:spcPct val="150000"/>
              </a:lnSpc>
            </a:pPr>
            <a:r>
              <a:rPr lang="zh-CN" altLang="en-US" sz="2000" dirty="0" smtClean="0">
                <a:solidFill>
                  <a:srgbClr val="000000"/>
                </a:solidFill>
                <a:latin typeface="Times New Roman" pitchFamily="18" charset="0"/>
                <a:cs typeface="Times New Roman" pitchFamily="18" charset="0"/>
              </a:rPr>
              <a:t>胶带</a:t>
            </a:r>
            <a:r>
              <a:rPr lang="en-US" altLang="zh-CN" sz="2000" i="1" dirty="0" smtClean="0">
                <a:solidFill>
                  <a:srgbClr val="000000"/>
                </a:solidFill>
                <a:latin typeface="Times New Roman" pitchFamily="18" charset="0"/>
                <a:cs typeface="Times New Roman" pitchFamily="18" charset="0"/>
              </a:rPr>
              <a:t>ε</a:t>
            </a:r>
            <a:r>
              <a:rPr lang="en-US" altLang="zh-CN" sz="2000" dirty="0" smtClean="0">
                <a:solidFill>
                  <a:srgbClr val="000000"/>
                </a:solidFill>
                <a:latin typeface="Times New Roman" pitchFamily="18" charset="0"/>
                <a:cs typeface="Times New Roman" pitchFamily="18" charset="0"/>
              </a:rPr>
              <a:t>=0.95</a:t>
            </a:r>
            <a:endParaRPr lang="en-US" altLang="zh-CN" sz="2000" dirty="0">
              <a:solidFill>
                <a:srgbClr val="FF0000"/>
              </a:solidFill>
            </a:endParaRPr>
          </a:p>
        </p:txBody>
      </p:sp>
      <p:sp>
        <p:nvSpPr>
          <p:cNvPr id="8" name="矩形 7"/>
          <p:cNvSpPr/>
          <p:nvPr/>
        </p:nvSpPr>
        <p:spPr>
          <a:xfrm>
            <a:off x="3307192" y="5511806"/>
            <a:ext cx="1415772" cy="338554"/>
          </a:xfrm>
          <a:prstGeom prst="rect">
            <a:avLst/>
          </a:prstGeom>
        </p:spPr>
        <p:txBody>
          <a:bodyPr wrap="none">
            <a:spAutoFit/>
          </a:bodyPr>
          <a:lstStyle/>
          <a:p>
            <a:r>
              <a:rPr lang="zh-CN" altLang="en-US" sz="1600" dirty="0" smtClean="0"/>
              <a:t>水壶倒入凉水</a:t>
            </a:r>
            <a:endParaRPr lang="zh-CN" altLang="zh-CN" sz="1600" dirty="0"/>
          </a:p>
        </p:txBody>
      </p:sp>
      <p:sp>
        <p:nvSpPr>
          <p:cNvPr id="9" name="矩形 8"/>
          <p:cNvSpPr/>
          <p:nvPr/>
        </p:nvSpPr>
        <p:spPr>
          <a:xfrm>
            <a:off x="7980464" y="5511806"/>
            <a:ext cx="1415772" cy="338554"/>
          </a:xfrm>
          <a:prstGeom prst="rect">
            <a:avLst/>
          </a:prstGeom>
        </p:spPr>
        <p:txBody>
          <a:bodyPr wrap="none">
            <a:spAutoFit/>
          </a:bodyPr>
          <a:lstStyle/>
          <a:p>
            <a:r>
              <a:rPr lang="zh-CN" altLang="en-US" sz="1600" dirty="0" smtClean="0"/>
              <a:t>水壶倒入热水</a:t>
            </a:r>
            <a:endParaRPr lang="zh-CN" altLang="zh-CN" sz="1600" dirty="0"/>
          </a:p>
        </p:txBody>
      </p:sp>
      <p:sp>
        <p:nvSpPr>
          <p:cNvPr id="10" name="文本框 1"/>
          <p:cNvSpPr txBox="1"/>
          <p:nvPr/>
        </p:nvSpPr>
        <p:spPr>
          <a:xfrm>
            <a:off x="333375" y="1054735"/>
            <a:ext cx="7010747" cy="815608"/>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sz="2400"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4"/>
          <a:stretch>
            <a:fillRect/>
          </a:stretch>
        </p:blipFill>
        <p:spPr>
          <a:xfrm>
            <a:off x="246063" y="88900"/>
            <a:ext cx="1554162" cy="511175"/>
          </a:xfrm>
          <a:prstGeom prst="rect">
            <a:avLst/>
          </a:prstGeom>
          <a:noFill/>
          <a:ln w="9525">
            <a:noFill/>
          </a:ln>
        </p:spPr>
      </p:pic>
      <p:sp>
        <p:nvSpPr>
          <p:cNvPr id="6" name="文本框 64">
            <a:extLst>
              <a:ext uri="{FF2B5EF4-FFF2-40B4-BE49-F238E27FC236}">
                <a16:creationId xmlns="" xmlns:a16="http://schemas.microsoft.com/office/drawing/2014/main" id="{E0B61BD9-BF0A-9309-018D-4EF34DEE49C3}"/>
              </a:ext>
            </a:extLst>
          </p:cNvPr>
          <p:cNvSpPr txBox="1"/>
          <p:nvPr/>
        </p:nvSpPr>
        <p:spPr>
          <a:xfrm>
            <a:off x="1655490" y="1745456"/>
            <a:ext cx="11737304" cy="6247864"/>
          </a:xfrm>
          <a:prstGeom prst="rect">
            <a:avLst/>
          </a:prstGeom>
          <a:noFill/>
          <a:ln>
            <a:noFill/>
          </a:ln>
        </p:spPr>
        <p:txBody>
          <a:bodyPr wrap="square" rtlCol="0">
            <a:spAutoFit/>
          </a:bodyPr>
          <a:lstStyle/>
          <a:p>
            <a:pPr defTabSz="1018852">
              <a:lnSpc>
                <a:spcPct val="150000"/>
              </a:lnSpc>
            </a:pPr>
            <a:r>
              <a:rPr lang="zh-CN" altLang="en-US" sz="2000" b="1" dirty="0" smtClean="0">
                <a:solidFill>
                  <a:srgbClr val="FF0000"/>
                </a:solidFill>
              </a:rPr>
              <a:t>课题研究目标</a:t>
            </a:r>
            <a:r>
              <a:rPr lang="en-US" altLang="zh-CN" sz="2000" b="1" dirty="0" smtClean="0">
                <a:solidFill>
                  <a:srgbClr val="FF0000"/>
                </a:solidFill>
              </a:rPr>
              <a:t>:</a:t>
            </a:r>
          </a:p>
          <a:p>
            <a:pPr defTabSz="1018852">
              <a:lnSpc>
                <a:spcPct val="200000"/>
              </a:lnSpc>
            </a:pPr>
            <a:r>
              <a:rPr lang="en-US" altLang="zh-CN" sz="2000" dirty="0" smtClean="0"/>
              <a:t>1.</a:t>
            </a:r>
            <a:r>
              <a:rPr lang="zh-CN" altLang="zh-CN" sz="2000" dirty="0"/>
              <a:t>曲线拟合过程中</a:t>
            </a:r>
            <a:r>
              <a:rPr lang="zh-CN" altLang="zh-CN" sz="2000" dirty="0" smtClean="0"/>
              <a:t>，在</a:t>
            </a:r>
            <a:r>
              <a:rPr lang="zh-CN" altLang="zh-CN" sz="2000" dirty="0"/>
              <a:t>采集非</a:t>
            </a:r>
            <a:r>
              <a:rPr lang="en-US" altLang="zh-CN" sz="2000" dirty="0">
                <a:latin typeface="Times New Roman" pitchFamily="18" charset="0"/>
                <a:cs typeface="Times New Roman" pitchFamily="18" charset="0"/>
              </a:rPr>
              <a:t>1.0</a:t>
            </a:r>
            <a:r>
              <a:rPr lang="zh-CN" altLang="zh-CN" sz="2000" dirty="0"/>
              <a:t>发射率黑体情况下，反演回</a:t>
            </a:r>
            <a:r>
              <a:rPr lang="en-US" altLang="zh-CN" sz="2000" dirty="0">
                <a:latin typeface="Times New Roman" pitchFamily="18" charset="0"/>
                <a:cs typeface="Times New Roman" pitchFamily="18" charset="0"/>
              </a:rPr>
              <a:t>1.0</a:t>
            </a:r>
            <a:r>
              <a:rPr lang="zh-CN" altLang="zh-CN" sz="2000" dirty="0"/>
              <a:t>发射率曲线</a:t>
            </a:r>
            <a:r>
              <a:rPr lang="zh-CN" altLang="zh-CN" sz="2000" dirty="0" smtClean="0"/>
              <a:t>。</a:t>
            </a:r>
            <a:r>
              <a:rPr lang="zh-CN" altLang="en-US" sz="2000" dirty="0" smtClean="0"/>
              <a:t>（</a:t>
            </a:r>
            <a:r>
              <a:rPr lang="en-US" altLang="zh-CN" sz="2000" dirty="0" smtClean="0"/>
              <a:t>9-10</a:t>
            </a:r>
            <a:r>
              <a:rPr lang="zh-CN" altLang="en-US" sz="2000" dirty="0" smtClean="0"/>
              <a:t>月份，已完成）</a:t>
            </a:r>
            <a:endParaRPr lang="en-US" altLang="zh-CN" sz="2000" dirty="0" smtClean="0"/>
          </a:p>
          <a:p>
            <a:pPr defTabSz="1018852">
              <a:lnSpc>
                <a:spcPct val="200000"/>
              </a:lnSpc>
            </a:pPr>
            <a:r>
              <a:rPr lang="en-US" altLang="zh-CN" sz="2000" dirty="0" smtClean="0"/>
              <a:t>2.</a:t>
            </a:r>
            <a:r>
              <a:rPr lang="zh-CN" altLang="en-US" sz="2000" dirty="0" smtClean="0"/>
              <a:t>通过理论上进行发射率修正而不是查表，来解决现有发射率二次（曲线</a:t>
            </a:r>
            <a:r>
              <a:rPr lang="en-US" altLang="zh-CN" sz="2000" dirty="0" smtClean="0"/>
              <a:t>+</a:t>
            </a:r>
            <a:r>
              <a:rPr lang="zh-CN" altLang="en-US" sz="2000" dirty="0" smtClean="0"/>
              <a:t>发射率模块）校正导致采集曲线不准的问题。（延申）（</a:t>
            </a:r>
            <a:r>
              <a:rPr lang="en-US" altLang="zh-CN" sz="2000" dirty="0" smtClean="0"/>
              <a:t>10-12</a:t>
            </a:r>
            <a:r>
              <a:rPr lang="zh-CN" altLang="en-US" sz="2000" dirty="0" smtClean="0"/>
              <a:t>月份，已完成）</a:t>
            </a:r>
            <a:endParaRPr lang="en-US" altLang="zh-CN" sz="2000" dirty="0" smtClean="0"/>
          </a:p>
          <a:p>
            <a:pPr defTabSz="1018852">
              <a:lnSpc>
                <a:spcPct val="200000"/>
              </a:lnSpc>
            </a:pPr>
            <a:r>
              <a:rPr lang="en-US" altLang="zh-CN" sz="2000" dirty="0" smtClean="0"/>
              <a:t>3.</a:t>
            </a:r>
            <a:r>
              <a:rPr lang="zh-CN" altLang="en-US" sz="2000" dirty="0" smtClean="0"/>
              <a:t>提高计算效率</a:t>
            </a:r>
            <a:r>
              <a:rPr lang="zh-CN" altLang="en-US" sz="2000" dirty="0"/>
              <a:t>，有助于后续实时生成二维温度矩阵</a:t>
            </a:r>
            <a:r>
              <a:rPr lang="zh-CN" altLang="en-US" sz="2000" dirty="0" smtClean="0"/>
              <a:t>。（延申）（</a:t>
            </a:r>
            <a:r>
              <a:rPr lang="en-US" altLang="zh-CN" sz="2000" dirty="0" smtClean="0"/>
              <a:t>12</a:t>
            </a:r>
            <a:r>
              <a:rPr lang="zh-CN" altLang="en-US" sz="2000" dirty="0" smtClean="0"/>
              <a:t>月份</a:t>
            </a:r>
            <a:r>
              <a:rPr lang="en-US" altLang="zh-CN" sz="2000" dirty="0" smtClean="0"/>
              <a:t>-</a:t>
            </a:r>
            <a:r>
              <a:rPr lang="zh-CN" altLang="en-US" sz="2000" dirty="0" smtClean="0"/>
              <a:t>）</a:t>
            </a:r>
            <a:endParaRPr lang="en-US" altLang="zh-CN" sz="2000" dirty="0" smtClean="0"/>
          </a:p>
          <a:p>
            <a:pPr defTabSz="1018852"/>
            <a:r>
              <a:rPr lang="zh-CN" altLang="en-US" sz="2000" b="1" dirty="0">
                <a:solidFill>
                  <a:srgbClr val="FF0000"/>
                </a:solidFill>
              </a:rPr>
              <a:t>研究方向</a:t>
            </a:r>
            <a:r>
              <a:rPr lang="en-US" altLang="zh-CN" sz="2000" b="1" dirty="0">
                <a:solidFill>
                  <a:srgbClr val="FF0000"/>
                </a:solidFill>
              </a:rPr>
              <a:t>:</a:t>
            </a:r>
          </a:p>
          <a:p>
            <a:pPr defTabSz="1018852">
              <a:lnSpc>
                <a:spcPct val="150000"/>
              </a:lnSpc>
            </a:pPr>
            <a:r>
              <a:rPr lang="zh-CN" altLang="en-US" sz="2000" dirty="0"/>
              <a:t>根据</a:t>
            </a:r>
            <a:r>
              <a:rPr lang="zh-CN" altLang="en-US" sz="2000" dirty="0">
                <a:solidFill>
                  <a:srgbClr val="FF0000"/>
                </a:solidFill>
              </a:rPr>
              <a:t>普朗克黑体辐射公式</a:t>
            </a:r>
            <a:r>
              <a:rPr lang="zh-CN" altLang="en-US" sz="2000" dirty="0"/>
              <a:t>以及</a:t>
            </a:r>
            <a:r>
              <a:rPr lang="zh-CN" altLang="en-US" sz="2000" dirty="0">
                <a:solidFill>
                  <a:srgbClr val="FF0000"/>
                </a:solidFill>
              </a:rPr>
              <a:t>基尔霍夫热辐射定律</a:t>
            </a:r>
            <a:r>
              <a:rPr lang="zh-CN" altLang="en-US" sz="2000" dirty="0"/>
              <a:t>建立发射率修正的理论模型</a:t>
            </a:r>
            <a:r>
              <a:rPr lang="zh-CN" altLang="en-US" sz="2000" dirty="0" smtClean="0"/>
              <a:t>：</a:t>
            </a:r>
            <a:endParaRPr lang="en-US" altLang="zh-CN" sz="2000" dirty="0" smtClean="0"/>
          </a:p>
          <a:p>
            <a:pPr defTabSz="1018852">
              <a:lnSpc>
                <a:spcPct val="200000"/>
              </a:lnSpc>
            </a:pPr>
            <a:endParaRPr lang="en-US" altLang="zh-CN" sz="2000" dirty="0"/>
          </a:p>
          <a:p>
            <a:pPr defTabSz="1018852">
              <a:lnSpc>
                <a:spcPct val="200000"/>
              </a:lnSpc>
            </a:pPr>
            <a:endParaRPr lang="en-US" altLang="zh-CN" sz="2000" dirty="0"/>
          </a:p>
          <a:p>
            <a:pPr defTabSz="1018852">
              <a:lnSpc>
                <a:spcPct val="200000"/>
              </a:lnSpc>
            </a:pPr>
            <a:endParaRPr lang="en-US" altLang="zh-CN" sz="2000" dirty="0"/>
          </a:p>
          <a:p>
            <a:pPr defTabSz="1018852">
              <a:lnSpc>
                <a:spcPct val="200000"/>
              </a:lnSpc>
            </a:pPr>
            <a:r>
              <a:rPr lang="zh-CN" altLang="en-US" sz="2000" dirty="0" smtClean="0"/>
              <a:t>该</a:t>
            </a:r>
            <a:r>
              <a:rPr lang="zh-CN" altLang="en-US" sz="2000" dirty="0"/>
              <a:t>模型涉及到辐射量正反算，式中涉及的积分区间与测温产品允许接受的光谱范围一致</a:t>
            </a:r>
            <a:r>
              <a:rPr lang="zh-CN" altLang="en-US" sz="2000" dirty="0" smtClean="0"/>
              <a:t>。</a:t>
            </a:r>
            <a:endParaRPr lang="en-US" altLang="zh-CN" sz="2000" dirty="0">
              <a:latin typeface="Times New Roman" pitchFamily="18" charset="0"/>
              <a:cs typeface="Times New Roman"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02191882"/>
              </p:ext>
            </p:extLst>
          </p:nvPr>
        </p:nvGraphicFramePr>
        <p:xfrm>
          <a:off x="5255890" y="5561880"/>
          <a:ext cx="3612824" cy="1755917"/>
        </p:xfrm>
        <a:graphic>
          <a:graphicData uri="http://schemas.openxmlformats.org/presentationml/2006/ole">
            <mc:AlternateContent xmlns:mc="http://schemas.openxmlformats.org/markup-compatibility/2006">
              <mc:Choice xmlns:v="urn:schemas-microsoft-com:vml" Requires="v">
                <p:oleObj spid="_x0000_s16424" name="Equation" r:id="rId5" imgW="1981080" imgH="1015920" progId="Equation.DSMT4">
                  <p:embed/>
                </p:oleObj>
              </mc:Choice>
              <mc:Fallback>
                <p:oleObj name="Equation" r:id="rId5" imgW="1981080" imgH="1015920" progId="Equation.DSMT4">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890" y="5561880"/>
                        <a:ext cx="3612824" cy="1755917"/>
                      </a:xfrm>
                      <a:prstGeom prst="rect">
                        <a:avLst/>
                      </a:prstGeom>
                      <a:noFill/>
                      <a:ln>
                        <a:noFill/>
                      </a:ln>
                    </p:spPr>
                  </p:pic>
                </p:oleObj>
              </mc:Fallback>
            </mc:AlternateContent>
          </a:graphicData>
        </a:graphic>
      </p:graphicFrame>
      <p:sp>
        <p:nvSpPr>
          <p:cNvPr id="7" name="文本框 1"/>
          <p:cNvSpPr txBox="1"/>
          <p:nvPr/>
        </p:nvSpPr>
        <p:spPr>
          <a:xfrm>
            <a:off x="333375" y="1054735"/>
            <a:ext cx="7010747" cy="815608"/>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sz="2400"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extLst>
      <p:ext uri="{BB962C8B-B14F-4D97-AF65-F5344CB8AC3E}">
        <p14:creationId xmlns:p14="http://schemas.microsoft.com/office/powerpoint/2010/main" val="1325268397"/>
      </p:ext>
    </p:ext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3"/>
          <a:stretch>
            <a:fillRect/>
          </a:stretch>
        </p:blipFill>
        <p:spPr>
          <a:xfrm>
            <a:off x="246063" y="88900"/>
            <a:ext cx="1554162" cy="511175"/>
          </a:xfrm>
          <a:prstGeom prst="rect">
            <a:avLst/>
          </a:prstGeom>
          <a:noFill/>
          <a:ln w="9525">
            <a:noFill/>
          </a:ln>
        </p:spPr>
      </p:pic>
      <p:sp>
        <p:nvSpPr>
          <p:cNvPr id="65" name="文本框 64">
            <a:extLst>
              <a:ext uri="{FF2B5EF4-FFF2-40B4-BE49-F238E27FC236}">
                <a16:creationId xmlns="" xmlns:a16="http://schemas.microsoft.com/office/drawing/2014/main" id="{E0B61BD9-BF0A-9309-018D-4EF34DEE49C3}"/>
              </a:ext>
            </a:extLst>
          </p:cNvPr>
          <p:cNvSpPr txBox="1"/>
          <p:nvPr/>
        </p:nvSpPr>
        <p:spPr>
          <a:xfrm>
            <a:off x="1655490" y="1745456"/>
            <a:ext cx="9632138" cy="499111"/>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模型计算结果与点温枪示数对比：</a:t>
            </a:r>
            <a:endParaRPr lang="zh-CN" altLang="zh-CN" sz="2000" b="1" dirty="0"/>
          </a:p>
        </p:txBody>
      </p:sp>
      <p:pic>
        <p:nvPicPr>
          <p:cNvPr id="8" name="图片 7"/>
          <p:cNvPicPr/>
          <p:nvPr/>
        </p:nvPicPr>
        <p:blipFill>
          <a:blip r:embed="rId4">
            <a:extLst>
              <a:ext uri="{28A0092B-C50C-407E-A947-70E740481C1C}">
                <a14:useLocalDpi xmlns:a14="http://schemas.microsoft.com/office/drawing/2010/main" val="0"/>
              </a:ext>
            </a:extLst>
          </a:blip>
          <a:srcRect/>
          <a:stretch>
            <a:fillRect/>
          </a:stretch>
        </p:blipFill>
        <p:spPr bwMode="auto">
          <a:xfrm>
            <a:off x="1367458" y="2105496"/>
            <a:ext cx="7128792" cy="5256584"/>
          </a:xfrm>
          <a:prstGeom prst="rect">
            <a:avLst/>
          </a:prstGeom>
          <a:noFill/>
          <a:ln>
            <a:noFill/>
          </a:ln>
        </p:spPr>
      </p:pic>
      <p:sp>
        <p:nvSpPr>
          <p:cNvPr id="9" name="文本框 64">
            <a:extLst>
              <a:ext uri="{FF2B5EF4-FFF2-40B4-BE49-F238E27FC236}">
                <a16:creationId xmlns="" xmlns:a16="http://schemas.microsoft.com/office/drawing/2014/main" id="{E0B61BD9-BF0A-9309-018D-4EF34DEE49C3}"/>
              </a:ext>
            </a:extLst>
          </p:cNvPr>
          <p:cNvSpPr txBox="1"/>
          <p:nvPr/>
        </p:nvSpPr>
        <p:spPr>
          <a:xfrm>
            <a:off x="9343411" y="2481383"/>
            <a:ext cx="3888433" cy="4708981"/>
          </a:xfrm>
          <a:prstGeom prst="rect">
            <a:avLst/>
          </a:prstGeom>
          <a:noFill/>
        </p:spPr>
        <p:txBody>
          <a:bodyPr wrap="square" rtlCol="0">
            <a:spAutoFit/>
          </a:bodyPr>
          <a:lstStyle/>
          <a:p>
            <a:pPr defTabSz="1018852">
              <a:lnSpc>
                <a:spcPct val="150000"/>
              </a:lnSpc>
            </a:pPr>
            <a:r>
              <a:rPr lang="zh-CN" altLang="en-US" sz="2000" b="1" dirty="0">
                <a:solidFill>
                  <a:srgbClr val="FF0000"/>
                </a:solidFill>
              </a:rPr>
              <a:t>实验过程：</a:t>
            </a:r>
            <a:r>
              <a:rPr lang="zh-CN" altLang="en-US" sz="2000" dirty="0"/>
              <a:t>点温</a:t>
            </a:r>
            <a:r>
              <a:rPr lang="zh-CN" altLang="en-US" sz="2000" dirty="0" smtClean="0"/>
              <a:t>枪与</a:t>
            </a:r>
            <a:r>
              <a:rPr lang="zh-CN" altLang="en-US" sz="2000" dirty="0"/>
              <a:t>黑体靶面的距离固定为</a:t>
            </a:r>
            <a:r>
              <a:rPr lang="en-US" altLang="zh-CN" sz="2000" dirty="0" smtClean="0">
                <a:latin typeface="Times New Roman" pitchFamily="18" charset="0"/>
                <a:cs typeface="Times New Roman" pitchFamily="18" charset="0"/>
              </a:rPr>
              <a:t>40mm</a:t>
            </a:r>
            <a:r>
              <a:rPr lang="zh-CN" altLang="en-US" sz="2000" dirty="0" smtClean="0"/>
              <a:t>，以</a:t>
            </a:r>
            <a:r>
              <a:rPr lang="en-US" altLang="zh-CN" sz="2000" dirty="0">
                <a:latin typeface="Times New Roman" pitchFamily="18" charset="0"/>
                <a:cs typeface="Times New Roman" pitchFamily="18" charset="0"/>
              </a:rPr>
              <a:t>0.95</a:t>
            </a:r>
            <a:r>
              <a:rPr lang="zh-CN" altLang="en-US" sz="2000" dirty="0"/>
              <a:t>发射率</a:t>
            </a:r>
            <a:r>
              <a:rPr lang="zh-CN" altLang="en-US" sz="2000" dirty="0" smtClean="0"/>
              <a:t>采集黑体</a:t>
            </a:r>
            <a:r>
              <a:rPr lang="zh-CN" altLang="en-US" sz="2000" dirty="0"/>
              <a:t>温度并拟合曲线，此后发射率依次设置为</a:t>
            </a:r>
            <a:r>
              <a:rPr lang="zh-CN" altLang="en-US" sz="2000" dirty="0" smtClean="0"/>
              <a:t>：</a:t>
            </a:r>
            <a:r>
              <a:rPr lang="en-US" altLang="zh-CN" sz="2000" dirty="0" smtClean="0">
                <a:latin typeface="Times New Roman" pitchFamily="18" charset="0"/>
                <a:cs typeface="Times New Roman" pitchFamily="18" charset="0"/>
              </a:rPr>
              <a:t>0.1-1.0</a:t>
            </a:r>
            <a:r>
              <a:rPr lang="zh-CN" altLang="en-US" sz="2000" dirty="0" smtClean="0"/>
              <a:t>，</a:t>
            </a:r>
            <a:r>
              <a:rPr lang="zh-CN" altLang="en-US" sz="2000" dirty="0"/>
              <a:t>记录点温</a:t>
            </a:r>
            <a:r>
              <a:rPr lang="zh-CN" altLang="en-US" sz="2000" dirty="0" smtClean="0"/>
              <a:t>枪</a:t>
            </a:r>
            <a:r>
              <a:rPr lang="zh-CN" altLang="en-US" sz="2000" dirty="0"/>
              <a:t>示数</a:t>
            </a:r>
            <a:r>
              <a:rPr lang="zh-CN" altLang="en-US" sz="2000" dirty="0" smtClean="0"/>
              <a:t>。</a:t>
            </a:r>
            <a:endParaRPr lang="en-US" altLang="zh-CN" sz="2000" dirty="0" smtClean="0"/>
          </a:p>
          <a:p>
            <a:pPr defTabSz="1018852">
              <a:lnSpc>
                <a:spcPct val="150000"/>
              </a:lnSpc>
            </a:pPr>
            <a:endParaRPr lang="en-US" altLang="zh-CN" sz="2000" dirty="0" smtClean="0"/>
          </a:p>
          <a:p>
            <a:pPr defTabSz="1018852">
              <a:lnSpc>
                <a:spcPct val="150000"/>
              </a:lnSpc>
            </a:pPr>
            <a:r>
              <a:rPr lang="zh-CN" altLang="en-US" sz="2000" dirty="0" smtClean="0"/>
              <a:t>与模型计算结果对比，发现在黑体温度设置为</a:t>
            </a:r>
            <a:r>
              <a:rPr lang="en-US" altLang="zh-CN" sz="2000" dirty="0" smtClean="0">
                <a:latin typeface="Times New Roman" pitchFamily="18" charset="0"/>
                <a:cs typeface="Times New Roman" pitchFamily="18" charset="0"/>
              </a:rPr>
              <a:t>30</a:t>
            </a:r>
            <a:r>
              <a:rPr lang="zh-CN" altLang="en-US" sz="2000" dirty="0" smtClean="0">
                <a:latin typeface="Times New Roman" pitchFamily="18" charset="0"/>
                <a:cs typeface="Times New Roman" pitchFamily="18" charset="0"/>
              </a:rPr>
              <a:t>℃</a:t>
            </a:r>
            <a:r>
              <a:rPr lang="en-US" altLang="zh-CN" sz="2000" dirty="0" smtClean="0">
                <a:latin typeface="Times New Roman" pitchFamily="18" charset="0"/>
                <a:cs typeface="Times New Roman" pitchFamily="18" charset="0"/>
              </a:rPr>
              <a:t>-450</a:t>
            </a:r>
            <a:r>
              <a:rPr lang="zh-CN" altLang="en-US" sz="2000" dirty="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℃、发射率为</a:t>
            </a:r>
            <a:r>
              <a:rPr lang="en-US" altLang="zh-CN" sz="2000" dirty="0" smtClean="0">
                <a:latin typeface="Times New Roman" pitchFamily="18" charset="0"/>
                <a:cs typeface="Times New Roman" pitchFamily="18" charset="0"/>
              </a:rPr>
              <a:t>0.1-1.0</a:t>
            </a:r>
            <a:r>
              <a:rPr lang="zh-CN" altLang="en-US" sz="2000" dirty="0" smtClean="0">
                <a:latin typeface="Times New Roman" pitchFamily="18" charset="0"/>
                <a:cs typeface="Times New Roman" pitchFamily="18" charset="0"/>
              </a:rPr>
              <a:t>时，</a:t>
            </a:r>
            <a:r>
              <a:rPr lang="zh-CN" altLang="en-US" sz="2000" b="1" dirty="0" smtClean="0">
                <a:solidFill>
                  <a:srgbClr val="FF0000"/>
                </a:solidFill>
                <a:latin typeface="Times New Roman" pitchFamily="18" charset="0"/>
                <a:cs typeface="Times New Roman" pitchFamily="18" charset="0"/>
              </a:rPr>
              <a:t>点温枪显示温度与理论模型具有较高的适配度</a:t>
            </a:r>
            <a:r>
              <a:rPr lang="zh-CN" altLang="en-US" sz="2000" dirty="0" smtClean="0">
                <a:latin typeface="Times New Roman" pitchFamily="18" charset="0"/>
                <a:cs typeface="Times New Roman" pitchFamily="18" charset="0"/>
              </a:rPr>
              <a:t>。</a:t>
            </a:r>
            <a:endParaRPr lang="en-US" altLang="zh-CN" sz="2000" dirty="0" smtClean="0">
              <a:latin typeface="Times New Roman" pitchFamily="18" charset="0"/>
              <a:cs typeface="Times New Roman" pitchFamily="18" charset="0"/>
            </a:endParaRPr>
          </a:p>
        </p:txBody>
      </p:sp>
      <p:sp>
        <p:nvSpPr>
          <p:cNvPr id="6" name="矩形 5"/>
          <p:cNvSpPr/>
          <p:nvPr/>
        </p:nvSpPr>
        <p:spPr>
          <a:xfrm>
            <a:off x="3214877" y="7506096"/>
            <a:ext cx="3525324" cy="338554"/>
          </a:xfrm>
          <a:prstGeom prst="rect">
            <a:avLst/>
          </a:prstGeom>
        </p:spPr>
        <p:txBody>
          <a:bodyPr wrap="none">
            <a:spAutoFit/>
          </a:bodyPr>
          <a:lstStyle/>
          <a:p>
            <a:r>
              <a:rPr lang="en-US" altLang="zh-CN" sz="1600" dirty="0" smtClean="0"/>
              <a:t> </a:t>
            </a:r>
            <a:r>
              <a:rPr lang="zh-CN" altLang="en-US" sz="1600" dirty="0" smtClean="0"/>
              <a:t>模型求解</a:t>
            </a:r>
            <a:r>
              <a:rPr lang="zh-CN" altLang="zh-CN" sz="1600" dirty="0" smtClean="0"/>
              <a:t>温度</a:t>
            </a:r>
            <a:r>
              <a:rPr lang="zh-CN" altLang="zh-CN" sz="1600" dirty="0"/>
              <a:t>与点温枪温度对比关系</a:t>
            </a:r>
          </a:p>
        </p:txBody>
      </p:sp>
      <p:sp>
        <p:nvSpPr>
          <p:cNvPr id="10" name="文本框 1"/>
          <p:cNvSpPr txBox="1"/>
          <p:nvPr/>
        </p:nvSpPr>
        <p:spPr>
          <a:xfrm>
            <a:off x="333375" y="1054735"/>
            <a:ext cx="7010747" cy="815608"/>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sz="2400"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extLst>
      <p:ext uri="{BB962C8B-B14F-4D97-AF65-F5344CB8AC3E}">
        <p14:creationId xmlns:p14="http://schemas.microsoft.com/office/powerpoint/2010/main" val="316111882"/>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6984082" y="1797071"/>
            <a:ext cx="6045344" cy="3140986"/>
          </a:xfrm>
          <a:prstGeom prst="rect">
            <a:avLst/>
          </a:prstGeom>
        </p:spPr>
      </p:pic>
      <p:pic>
        <p:nvPicPr>
          <p:cNvPr id="6" name="图片 5"/>
          <p:cNvPicPr>
            <a:picLocks noChangeAspect="1"/>
          </p:cNvPicPr>
          <p:nvPr/>
        </p:nvPicPr>
        <p:blipFill>
          <a:blip r:embed="rId4"/>
          <a:stretch>
            <a:fillRect/>
          </a:stretch>
        </p:blipFill>
        <p:spPr>
          <a:xfrm>
            <a:off x="863402" y="1838950"/>
            <a:ext cx="5962058" cy="3144307"/>
          </a:xfrm>
          <a:prstGeom prst="rect">
            <a:avLst/>
          </a:prstGeom>
        </p:spPr>
      </p:pic>
      <p:pic>
        <p:nvPicPr>
          <p:cNvPr id="17410" name="Picture 9"/>
          <p:cNvPicPr>
            <a:picLocks noChangeAspect="1"/>
          </p:cNvPicPr>
          <p:nvPr/>
        </p:nvPicPr>
        <p:blipFill>
          <a:blip r:embed="rId5"/>
          <a:stretch>
            <a:fillRect/>
          </a:stretch>
        </p:blipFill>
        <p:spPr>
          <a:xfrm>
            <a:off x="246063" y="88900"/>
            <a:ext cx="1554162" cy="511175"/>
          </a:xfrm>
          <a:prstGeom prst="rect">
            <a:avLst/>
          </a:prstGeom>
          <a:noFill/>
          <a:ln w="9525">
            <a:noFill/>
          </a:ln>
        </p:spPr>
      </p:pic>
      <p:sp>
        <p:nvSpPr>
          <p:cNvPr id="65" name="文本框 64">
            <a:extLst>
              <a:ext uri="{FF2B5EF4-FFF2-40B4-BE49-F238E27FC236}">
                <a16:creationId xmlns="" xmlns:a16="http://schemas.microsoft.com/office/drawing/2014/main" id="{E0B61BD9-BF0A-9309-018D-4EF34DEE49C3}"/>
              </a:ext>
            </a:extLst>
          </p:cNvPr>
          <p:cNvSpPr txBox="1"/>
          <p:nvPr/>
        </p:nvSpPr>
        <p:spPr>
          <a:xfrm>
            <a:off x="1655490" y="1745456"/>
            <a:ext cx="9632138" cy="499111"/>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误差分析和结论：</a:t>
            </a:r>
            <a:endParaRPr lang="en-US" altLang="zh-CN" sz="2000" b="1" dirty="0">
              <a:solidFill>
                <a:srgbClr val="FF0000"/>
              </a:solidFill>
            </a:endParaRPr>
          </a:p>
        </p:txBody>
      </p:sp>
      <p:sp>
        <p:nvSpPr>
          <p:cNvPr id="2" name="矩形 1"/>
          <p:cNvSpPr/>
          <p:nvPr/>
        </p:nvSpPr>
        <p:spPr>
          <a:xfrm>
            <a:off x="3297716" y="5223326"/>
            <a:ext cx="1063112" cy="338554"/>
          </a:xfrm>
          <a:prstGeom prst="rect">
            <a:avLst/>
          </a:prstGeom>
        </p:spPr>
        <p:txBody>
          <a:bodyPr wrap="none">
            <a:spAutoFit/>
          </a:bodyPr>
          <a:lstStyle/>
          <a:p>
            <a:r>
              <a:rPr lang="en-US" altLang="zh-CN" sz="1600" dirty="0" smtClean="0"/>
              <a:t> </a:t>
            </a:r>
            <a:r>
              <a:rPr lang="zh-CN" altLang="zh-CN" sz="1600" dirty="0"/>
              <a:t>相对误差</a:t>
            </a:r>
          </a:p>
        </p:txBody>
      </p:sp>
      <p:sp>
        <p:nvSpPr>
          <p:cNvPr id="8" name="矩形 7"/>
          <p:cNvSpPr/>
          <p:nvPr/>
        </p:nvSpPr>
        <p:spPr>
          <a:xfrm>
            <a:off x="9576370" y="5223326"/>
            <a:ext cx="1063112" cy="338554"/>
          </a:xfrm>
          <a:prstGeom prst="rect">
            <a:avLst/>
          </a:prstGeom>
        </p:spPr>
        <p:txBody>
          <a:bodyPr wrap="none">
            <a:spAutoFit/>
          </a:bodyPr>
          <a:lstStyle/>
          <a:p>
            <a:r>
              <a:rPr lang="en-US" altLang="zh-CN" sz="1600" dirty="0" smtClean="0"/>
              <a:t> </a:t>
            </a:r>
            <a:r>
              <a:rPr lang="zh-CN" altLang="en-US" sz="1600" dirty="0" smtClean="0"/>
              <a:t>绝对</a:t>
            </a:r>
            <a:r>
              <a:rPr lang="zh-CN" altLang="zh-CN" sz="1600" dirty="0" smtClean="0"/>
              <a:t>误差</a:t>
            </a:r>
            <a:endParaRPr lang="zh-CN" altLang="zh-CN" sz="1600" dirty="0"/>
          </a:p>
        </p:txBody>
      </p:sp>
      <p:sp>
        <p:nvSpPr>
          <p:cNvPr id="9" name="矩形 8"/>
          <p:cNvSpPr/>
          <p:nvPr/>
        </p:nvSpPr>
        <p:spPr>
          <a:xfrm>
            <a:off x="1541867" y="5592260"/>
            <a:ext cx="11487559" cy="1800493"/>
          </a:xfrm>
          <a:prstGeom prst="rect">
            <a:avLst/>
          </a:prstGeom>
        </p:spPr>
        <p:txBody>
          <a:bodyPr wrap="square">
            <a:spAutoFit/>
          </a:bodyPr>
          <a:lstStyle/>
          <a:p>
            <a:pPr lvl="0" defTabSz="1018852">
              <a:lnSpc>
                <a:spcPct val="150000"/>
              </a:lnSpc>
            </a:pPr>
            <a:r>
              <a:rPr lang="zh-CN" altLang="en-US" sz="1800" b="1" dirty="0" smtClean="0">
                <a:solidFill>
                  <a:srgbClr val="FF0000"/>
                </a:solidFill>
              </a:rPr>
              <a:t>相对误差</a:t>
            </a:r>
            <a:r>
              <a:rPr lang="zh-CN" altLang="en-US" sz="1800" b="1" dirty="0">
                <a:solidFill>
                  <a:srgbClr val="FF0000"/>
                </a:solidFill>
              </a:rPr>
              <a:t>基本控制在</a:t>
            </a:r>
            <a:r>
              <a:rPr lang="en-US" altLang="zh-CN" sz="1800" b="1" dirty="0">
                <a:solidFill>
                  <a:srgbClr val="FF0000"/>
                </a:solidFill>
              </a:rPr>
              <a:t>0.2%</a:t>
            </a:r>
            <a:r>
              <a:rPr lang="zh-CN" altLang="en-US" sz="1800" b="1" dirty="0">
                <a:solidFill>
                  <a:srgbClr val="FF0000"/>
                </a:solidFill>
              </a:rPr>
              <a:t>以内，低发射率下的绝对误差基本控制在</a:t>
            </a:r>
            <a:r>
              <a:rPr lang="en-US" altLang="zh-CN" sz="1800" b="1" dirty="0">
                <a:solidFill>
                  <a:srgbClr val="FF0000"/>
                </a:solidFill>
              </a:rPr>
              <a:t>2℃</a:t>
            </a:r>
            <a:r>
              <a:rPr lang="zh-CN" altLang="en-US" sz="1800" b="1" dirty="0" smtClean="0">
                <a:solidFill>
                  <a:srgbClr val="FF0000"/>
                </a:solidFill>
              </a:rPr>
              <a:t>以内。</a:t>
            </a:r>
            <a:endParaRPr lang="zh-CN" altLang="en-US" sz="1800" b="1" dirty="0">
              <a:solidFill>
                <a:srgbClr val="FF0000"/>
              </a:solidFill>
            </a:endParaRPr>
          </a:p>
          <a:p>
            <a:pPr lvl="0" defTabSz="1018852">
              <a:lnSpc>
                <a:spcPct val="150000"/>
              </a:lnSpc>
            </a:pPr>
            <a:r>
              <a:rPr lang="zh-CN" altLang="en-US" sz="1800" dirty="0" smtClean="0">
                <a:solidFill>
                  <a:srgbClr val="000000"/>
                </a:solidFill>
              </a:rPr>
              <a:t>该结果说明</a:t>
            </a:r>
            <a:r>
              <a:rPr lang="zh-CN" altLang="en-US" sz="1800" dirty="0">
                <a:solidFill>
                  <a:srgbClr val="000000"/>
                </a:solidFill>
              </a:rPr>
              <a:t>通过</a:t>
            </a:r>
            <a:r>
              <a:rPr lang="zh-CN" altLang="en-US" sz="1800" b="1" dirty="0">
                <a:solidFill>
                  <a:srgbClr val="FF0000"/>
                </a:solidFill>
              </a:rPr>
              <a:t>理论</a:t>
            </a:r>
            <a:r>
              <a:rPr lang="zh-CN" altLang="en-US" sz="1800" b="1" dirty="0" smtClean="0">
                <a:solidFill>
                  <a:srgbClr val="FF0000"/>
                </a:solidFill>
              </a:rPr>
              <a:t>计算</a:t>
            </a:r>
            <a:r>
              <a:rPr lang="zh-CN" altLang="en-US" sz="1800" b="1" dirty="0">
                <a:solidFill>
                  <a:srgbClr val="FF0000"/>
                </a:solidFill>
              </a:rPr>
              <a:t>求解</a:t>
            </a:r>
            <a:r>
              <a:rPr lang="zh-CN" altLang="en-US" sz="1800" b="1" dirty="0" smtClean="0">
                <a:solidFill>
                  <a:srgbClr val="FF0000"/>
                </a:solidFill>
              </a:rPr>
              <a:t>方程的方式可以</a:t>
            </a:r>
            <a:r>
              <a:rPr lang="zh-CN" altLang="en-US" sz="1800" b="1" dirty="0">
                <a:solidFill>
                  <a:srgbClr val="FF0000"/>
                </a:solidFill>
              </a:rPr>
              <a:t>反演点温枪不同发射率下</a:t>
            </a:r>
            <a:r>
              <a:rPr lang="zh-CN" altLang="en-US" sz="1800" b="1" dirty="0" smtClean="0">
                <a:solidFill>
                  <a:srgbClr val="FF0000"/>
                </a:solidFill>
              </a:rPr>
              <a:t>的测温示数</a:t>
            </a:r>
            <a:r>
              <a:rPr lang="zh-CN" altLang="en-US" sz="1800" dirty="0" smtClean="0">
                <a:solidFill>
                  <a:srgbClr val="000000"/>
                </a:solidFill>
              </a:rPr>
              <a:t>，</a:t>
            </a:r>
            <a:r>
              <a:rPr lang="zh-CN" altLang="en-US" sz="1800" dirty="0">
                <a:solidFill>
                  <a:srgbClr val="000000"/>
                </a:solidFill>
              </a:rPr>
              <a:t>同时可以</a:t>
            </a:r>
            <a:r>
              <a:rPr lang="zh-CN" altLang="en-US" sz="1800" dirty="0" smtClean="0">
                <a:solidFill>
                  <a:srgbClr val="000000"/>
                </a:solidFill>
              </a:rPr>
              <a:t>利用</a:t>
            </a:r>
            <a:r>
              <a:rPr lang="en-US" altLang="zh-CN" sz="1800" b="1" i="1" dirty="0" smtClean="0">
                <a:solidFill>
                  <a:srgbClr val="FF0000"/>
                </a:solidFill>
                <a:latin typeface="Times New Roman" pitchFamily="18" charset="0"/>
                <a:cs typeface="Times New Roman" pitchFamily="18" charset="0"/>
              </a:rPr>
              <a:t>ε</a:t>
            </a:r>
            <a:r>
              <a:rPr lang="zh-CN" altLang="en-US" sz="1800" b="1" dirty="0" smtClean="0">
                <a:solidFill>
                  <a:srgbClr val="FF0000"/>
                </a:solidFill>
                <a:latin typeface="Times New Roman" pitchFamily="18" charset="0"/>
                <a:cs typeface="Times New Roman" pitchFamily="18" charset="0"/>
              </a:rPr>
              <a:t>≠</a:t>
            </a:r>
            <a:r>
              <a:rPr lang="en-US" altLang="zh-CN" sz="1800" b="1" dirty="0" smtClean="0">
                <a:solidFill>
                  <a:srgbClr val="FF0000"/>
                </a:solidFill>
                <a:latin typeface="Times New Roman" pitchFamily="18" charset="0"/>
                <a:cs typeface="Times New Roman" pitchFamily="18" charset="0"/>
              </a:rPr>
              <a:t>1.0</a:t>
            </a:r>
            <a:r>
              <a:rPr lang="zh-CN" altLang="en-US" sz="1800" dirty="0" smtClean="0">
                <a:solidFill>
                  <a:srgbClr val="000000"/>
                </a:solidFill>
              </a:rPr>
              <a:t>黑体</a:t>
            </a:r>
            <a:r>
              <a:rPr lang="zh-CN" altLang="en-US" sz="1800" dirty="0">
                <a:solidFill>
                  <a:srgbClr val="000000"/>
                </a:solidFill>
              </a:rPr>
              <a:t>的温度数据</a:t>
            </a:r>
            <a:r>
              <a:rPr lang="zh-CN" altLang="en-US" sz="1800" dirty="0" smtClean="0">
                <a:solidFill>
                  <a:srgbClr val="000000"/>
                </a:solidFill>
              </a:rPr>
              <a:t>反演</a:t>
            </a:r>
            <a:r>
              <a:rPr lang="en-US" altLang="zh-CN" sz="1800" b="1" i="1" dirty="0" smtClean="0">
                <a:solidFill>
                  <a:srgbClr val="FF0000"/>
                </a:solidFill>
                <a:latin typeface="Times New Roman" pitchFamily="18" charset="0"/>
                <a:cs typeface="Times New Roman" pitchFamily="18" charset="0"/>
              </a:rPr>
              <a:t>ε</a:t>
            </a:r>
            <a:r>
              <a:rPr lang="en-US" altLang="zh-CN" sz="1800" b="1" dirty="0" smtClean="0">
                <a:solidFill>
                  <a:srgbClr val="FF0000"/>
                </a:solidFill>
                <a:latin typeface="Times New Roman" pitchFamily="18" charset="0"/>
                <a:cs typeface="Times New Roman" pitchFamily="18" charset="0"/>
              </a:rPr>
              <a:t>=1.0</a:t>
            </a:r>
            <a:r>
              <a:rPr lang="zh-CN" altLang="en-US" sz="1800" dirty="0">
                <a:latin typeface="Times New Roman" pitchFamily="18" charset="0"/>
                <a:cs typeface="Times New Roman" pitchFamily="18" charset="0"/>
              </a:rPr>
              <a:t>的</a:t>
            </a:r>
            <a:r>
              <a:rPr lang="zh-CN" altLang="en-US" sz="1800" dirty="0" smtClean="0"/>
              <a:t>曲线</a:t>
            </a:r>
            <a:r>
              <a:rPr lang="zh-CN" altLang="en-US" sz="1800" dirty="0">
                <a:solidFill>
                  <a:srgbClr val="000000"/>
                </a:solidFill>
              </a:rPr>
              <a:t>。</a:t>
            </a:r>
          </a:p>
          <a:p>
            <a:pPr lvl="0" defTabSz="1018852">
              <a:lnSpc>
                <a:spcPct val="150000"/>
              </a:lnSpc>
            </a:pPr>
            <a:endParaRPr lang="zh-CN" altLang="en-US" sz="1800" dirty="0">
              <a:solidFill>
                <a:srgbClr val="000000"/>
              </a:solidFill>
            </a:endParaRPr>
          </a:p>
        </p:txBody>
      </p:sp>
      <p:sp>
        <p:nvSpPr>
          <p:cNvPr id="10" name="文本框 1"/>
          <p:cNvSpPr txBox="1"/>
          <p:nvPr/>
        </p:nvSpPr>
        <p:spPr>
          <a:xfrm>
            <a:off x="333375" y="1054735"/>
            <a:ext cx="7010747" cy="815608"/>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sz="2400"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extLst>
      <p:ext uri="{BB962C8B-B14F-4D97-AF65-F5344CB8AC3E}">
        <p14:creationId xmlns:p14="http://schemas.microsoft.com/office/powerpoint/2010/main" val="126579402"/>
      </p:ext>
    </p:extLst>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4"/>
          <a:stretch>
            <a:fillRect/>
          </a:stretch>
        </p:blipFill>
        <p:spPr>
          <a:xfrm>
            <a:off x="246063" y="88900"/>
            <a:ext cx="1554162" cy="511175"/>
          </a:xfrm>
          <a:prstGeom prst="rect">
            <a:avLst/>
          </a:prstGeom>
          <a:noFill/>
          <a:ln w="9525">
            <a:noFill/>
          </a:ln>
        </p:spPr>
      </p:pic>
      <p:sp>
        <p:nvSpPr>
          <p:cNvPr id="65" name="文本框 64">
            <a:extLst>
              <a:ext uri="{FF2B5EF4-FFF2-40B4-BE49-F238E27FC236}">
                <a16:creationId xmlns="" xmlns:a16="http://schemas.microsoft.com/office/drawing/2014/main" id="{E0B61BD9-BF0A-9309-018D-4EF34DEE49C3}"/>
              </a:ext>
            </a:extLst>
          </p:cNvPr>
          <p:cNvSpPr txBox="1"/>
          <p:nvPr/>
        </p:nvSpPr>
        <p:spPr>
          <a:xfrm>
            <a:off x="1511474" y="1745456"/>
            <a:ext cx="8136904" cy="4247317"/>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反演</a:t>
            </a:r>
            <a:r>
              <a:rPr lang="en-US" altLang="zh-CN" sz="2000" b="1" dirty="0" smtClean="0">
                <a:solidFill>
                  <a:srgbClr val="FF0000"/>
                </a:solidFill>
                <a:latin typeface="Times New Roman" pitchFamily="18" charset="0"/>
                <a:cs typeface="Times New Roman" pitchFamily="18" charset="0"/>
              </a:rPr>
              <a:t>1.0</a:t>
            </a:r>
            <a:r>
              <a:rPr lang="zh-CN" altLang="en-US" sz="2000" b="1" dirty="0" smtClean="0">
                <a:solidFill>
                  <a:srgbClr val="FF0000"/>
                </a:solidFill>
              </a:rPr>
              <a:t>发射率曲线：</a:t>
            </a:r>
            <a:endParaRPr lang="en-US" altLang="zh-CN" sz="2000" b="1" dirty="0"/>
          </a:p>
          <a:p>
            <a:pPr defTabSz="1018852">
              <a:lnSpc>
                <a:spcPct val="150000"/>
              </a:lnSpc>
            </a:pPr>
            <a:r>
              <a:rPr lang="zh-CN" altLang="en-US" sz="2000" dirty="0" smtClean="0"/>
              <a:t>（</a:t>
            </a:r>
            <a:r>
              <a:rPr lang="en-US" altLang="zh-CN" sz="2000" dirty="0"/>
              <a:t>1</a:t>
            </a:r>
            <a:r>
              <a:rPr lang="zh-CN" altLang="en-US" sz="2000" dirty="0" smtClean="0"/>
              <a:t>）采集</a:t>
            </a:r>
            <a:r>
              <a:rPr lang="zh-CN" altLang="en-US" sz="2000" dirty="0"/>
              <a:t>发射率为</a:t>
            </a:r>
            <a:r>
              <a:rPr lang="en-US" altLang="zh-CN" sz="2000" i="1" dirty="0" smtClean="0">
                <a:latin typeface="Times New Roman" pitchFamily="18" charset="0"/>
                <a:cs typeface="Times New Roman" pitchFamily="18" charset="0"/>
              </a:rPr>
              <a:t>ε </a:t>
            </a:r>
            <a:r>
              <a:rPr lang="en-US" altLang="zh-CN" sz="2000" dirty="0" smtClean="0">
                <a:latin typeface="Times New Roman" pitchFamily="18" charset="0"/>
                <a:cs typeface="Times New Roman" pitchFamily="18" charset="0"/>
              </a:rPr>
              <a:t>= 0.5</a:t>
            </a:r>
            <a:r>
              <a:rPr lang="zh-CN" altLang="en-US" sz="2000" dirty="0" smtClean="0"/>
              <a:t>的</a:t>
            </a:r>
            <a:r>
              <a:rPr lang="zh-CN" altLang="en-US" sz="2000" dirty="0"/>
              <a:t>黑体</a:t>
            </a:r>
            <a:r>
              <a:rPr lang="en-US" altLang="zh-CN" sz="2000" i="1" dirty="0">
                <a:latin typeface="Times New Roman" pitchFamily="18" charset="0"/>
                <a:cs typeface="Times New Roman" pitchFamily="18" charset="0"/>
              </a:rPr>
              <a:t>Y</a:t>
            </a:r>
            <a:r>
              <a:rPr lang="en-US" altLang="zh-CN" sz="2000" dirty="0">
                <a:latin typeface="Times New Roman" pitchFamily="18" charset="0"/>
                <a:cs typeface="Times New Roman" pitchFamily="18" charset="0"/>
              </a:rPr>
              <a:t>16</a:t>
            </a:r>
            <a:r>
              <a:rPr lang="zh-CN" altLang="en-US" sz="2000" dirty="0" smtClean="0"/>
              <a:t>值 ：</a:t>
            </a:r>
            <a:r>
              <a:rPr lang="en-US" altLang="zh-CN" sz="2000" i="1" dirty="0" smtClean="0">
                <a:latin typeface="Times New Roman" pitchFamily="18" charset="0"/>
                <a:cs typeface="Times New Roman" pitchFamily="18" charset="0"/>
              </a:rPr>
              <a:t>Y</a:t>
            </a:r>
            <a:r>
              <a:rPr lang="en-US" altLang="zh-CN" sz="1600" dirty="0" smtClean="0">
                <a:latin typeface="Times New Roman" pitchFamily="18" charset="0"/>
                <a:cs typeface="Times New Roman" pitchFamily="18" charset="0"/>
              </a:rPr>
              <a:t>n</a:t>
            </a:r>
            <a:r>
              <a:rPr lang="en-US" altLang="zh-CN" sz="2000" dirty="0" smtClean="0">
                <a:latin typeface="Times New Roman" pitchFamily="18" charset="0"/>
                <a:cs typeface="Times New Roman" pitchFamily="18" charset="0"/>
              </a:rPr>
              <a:t>16</a:t>
            </a:r>
            <a:endParaRPr lang="en-US" altLang="zh-CN" sz="2000" dirty="0" smtClean="0"/>
          </a:p>
          <a:p>
            <a:pPr defTabSz="1018852">
              <a:lnSpc>
                <a:spcPct val="150000"/>
              </a:lnSpc>
            </a:pPr>
            <a:r>
              <a:rPr lang="zh-CN" altLang="en-US" sz="2000" dirty="0" smtClean="0"/>
              <a:t>         记录点</a:t>
            </a:r>
            <a:r>
              <a:rPr lang="zh-CN" altLang="en-US" sz="2000" dirty="0"/>
              <a:t>温枪显示</a:t>
            </a:r>
            <a:r>
              <a:rPr lang="zh-CN" altLang="en-US" sz="2000" dirty="0" smtClean="0"/>
              <a:t>温度：</a:t>
            </a:r>
            <a:r>
              <a:rPr lang="en-US" altLang="zh-CN" sz="2000" i="1" dirty="0" err="1" smtClean="0">
                <a:latin typeface="Times New Roman" pitchFamily="18" charset="0"/>
                <a:cs typeface="Times New Roman" pitchFamily="18" charset="0"/>
              </a:rPr>
              <a:t>T</a:t>
            </a:r>
            <a:r>
              <a:rPr lang="en-US" altLang="zh-CN" sz="1600" dirty="0" err="1" smtClean="0">
                <a:latin typeface="Times New Roman" pitchFamily="18" charset="0"/>
                <a:cs typeface="Times New Roman" pitchFamily="18" charset="0"/>
              </a:rPr>
              <a:t>n</a:t>
            </a:r>
            <a:endParaRPr lang="en-US" altLang="zh-CN" sz="1600" dirty="0" smtClean="0">
              <a:latin typeface="Times New Roman" pitchFamily="18" charset="0"/>
              <a:cs typeface="Times New Roman" pitchFamily="18" charset="0"/>
            </a:endParaRPr>
          </a:p>
          <a:p>
            <a:pPr defTabSz="1018852">
              <a:lnSpc>
                <a:spcPct val="150000"/>
              </a:lnSpc>
            </a:pPr>
            <a:r>
              <a:rPr lang="zh-CN" altLang="en-US" sz="2000" dirty="0" smtClean="0"/>
              <a:t>         环境温度：</a:t>
            </a:r>
            <a:r>
              <a:rPr lang="en-US" altLang="zh-CN" sz="2000" i="1" dirty="0" smtClean="0">
                <a:latin typeface="Times New Roman" pitchFamily="18" charset="0"/>
                <a:cs typeface="Times New Roman" pitchFamily="18" charset="0"/>
              </a:rPr>
              <a:t>T</a:t>
            </a:r>
            <a:r>
              <a:rPr lang="zh-CN" altLang="en-US" sz="1200" dirty="0"/>
              <a:t>环境</a:t>
            </a:r>
            <a:r>
              <a:rPr lang="en-US" altLang="zh-CN" sz="1200" dirty="0" smtClean="0">
                <a:latin typeface="Times New Roman" pitchFamily="18" charset="0"/>
                <a:cs typeface="Times New Roman" pitchFamily="18" charset="0"/>
              </a:rPr>
              <a:t>n</a:t>
            </a:r>
            <a:endParaRPr lang="en-US" altLang="zh-CN" sz="2000" dirty="0" smtClean="0"/>
          </a:p>
          <a:p>
            <a:pPr defTabSz="1018852">
              <a:lnSpc>
                <a:spcPct val="150000"/>
              </a:lnSpc>
            </a:pPr>
            <a:r>
              <a:rPr lang="zh-CN" altLang="en-US" sz="2000" dirty="0" smtClean="0"/>
              <a:t>         根据</a:t>
            </a:r>
            <a:r>
              <a:rPr lang="zh-CN" altLang="en-US" sz="2000" dirty="0"/>
              <a:t>以下</a:t>
            </a:r>
            <a:r>
              <a:rPr lang="zh-CN" altLang="en-US" sz="2000" dirty="0" smtClean="0"/>
              <a:t>方程：</a:t>
            </a:r>
            <a:endParaRPr lang="en-US" altLang="zh-CN" sz="2000" dirty="0" smtClean="0"/>
          </a:p>
          <a:p>
            <a:pPr defTabSz="1018852">
              <a:lnSpc>
                <a:spcPct val="150000"/>
              </a:lnSpc>
            </a:pPr>
            <a:endParaRPr lang="en-US" altLang="zh-CN" sz="2000" dirty="0"/>
          </a:p>
          <a:p>
            <a:pPr defTabSz="1018852">
              <a:lnSpc>
                <a:spcPct val="150000"/>
              </a:lnSpc>
            </a:pPr>
            <a:endParaRPr lang="en-US" altLang="zh-CN" sz="2000" dirty="0" smtClean="0"/>
          </a:p>
          <a:p>
            <a:pPr defTabSz="1018852">
              <a:lnSpc>
                <a:spcPct val="150000"/>
              </a:lnSpc>
            </a:pPr>
            <a:r>
              <a:rPr lang="en-US" altLang="zh-CN" sz="2000" dirty="0"/>
              <a:t> </a:t>
            </a:r>
            <a:r>
              <a:rPr lang="en-US" altLang="zh-CN" sz="2000" dirty="0" smtClean="0"/>
              <a:t>  </a:t>
            </a:r>
            <a:r>
              <a:rPr lang="zh-CN" altLang="en-US" sz="2000" dirty="0" smtClean="0"/>
              <a:t>求解发射率</a:t>
            </a:r>
            <a:r>
              <a:rPr lang="en-US" altLang="zh-CN" sz="2000" dirty="0">
                <a:latin typeface="Times New Roman" pitchFamily="18" charset="0"/>
                <a:cs typeface="Times New Roman" pitchFamily="18" charset="0"/>
              </a:rPr>
              <a:t>1.0</a:t>
            </a:r>
            <a:r>
              <a:rPr lang="zh-CN" altLang="en-US" sz="2000" dirty="0"/>
              <a:t>的黑体温度 </a:t>
            </a:r>
            <a:r>
              <a:rPr lang="en-US" altLang="zh-CN" sz="2000" i="1" dirty="0" smtClean="0">
                <a:latin typeface="Times New Roman" pitchFamily="18" charset="0"/>
                <a:cs typeface="Times New Roman" pitchFamily="18" charset="0"/>
              </a:rPr>
              <a:t>T</a:t>
            </a:r>
            <a:r>
              <a:rPr lang="en-US" altLang="zh-CN" sz="2000" dirty="0" smtClean="0">
                <a:latin typeface="Times New Roman" pitchFamily="18" charset="0"/>
                <a:cs typeface="Times New Roman" pitchFamily="18" charset="0"/>
              </a:rPr>
              <a:t>*</a:t>
            </a:r>
            <a:r>
              <a:rPr lang="en-US" altLang="zh-CN" sz="1600" dirty="0" smtClean="0">
                <a:latin typeface="Times New Roman" pitchFamily="18" charset="0"/>
                <a:cs typeface="Times New Roman" pitchFamily="18" charset="0"/>
              </a:rPr>
              <a:t>n</a:t>
            </a:r>
            <a:endParaRPr lang="en-US" altLang="zh-CN" sz="2000" dirty="0" smtClean="0"/>
          </a:p>
          <a:p>
            <a:pPr defTabSz="1018852">
              <a:lnSpc>
                <a:spcPct val="150000"/>
              </a:lnSpc>
            </a:pPr>
            <a:r>
              <a:rPr lang="zh-CN" altLang="en-US" sz="2000" dirty="0" smtClean="0"/>
              <a:t>（</a:t>
            </a:r>
            <a:r>
              <a:rPr lang="en-US" altLang="zh-CN" sz="2000" dirty="0" smtClean="0"/>
              <a:t>2</a:t>
            </a:r>
            <a:r>
              <a:rPr lang="zh-CN" altLang="en-US" sz="2000" dirty="0" smtClean="0"/>
              <a:t>）</a:t>
            </a:r>
            <a:r>
              <a:rPr lang="zh-CN" altLang="zh-CN" sz="2000" dirty="0" smtClean="0"/>
              <a:t>利用</a:t>
            </a:r>
            <a:r>
              <a:rPr lang="zh-CN" altLang="en-US" sz="2000" dirty="0" smtClean="0"/>
              <a:t>新得到的温度拟合</a:t>
            </a:r>
            <a:r>
              <a:rPr lang="en-US" altLang="zh-CN" sz="2000" dirty="0" smtClean="0">
                <a:latin typeface="Times New Roman" pitchFamily="18" charset="0"/>
                <a:cs typeface="Times New Roman" pitchFamily="18" charset="0"/>
              </a:rPr>
              <a:t>1.0</a:t>
            </a:r>
            <a:r>
              <a:rPr lang="zh-CN" altLang="zh-CN" sz="2000" dirty="0"/>
              <a:t>发射率</a:t>
            </a:r>
            <a:r>
              <a:rPr lang="zh-CN" altLang="zh-CN" sz="2000" dirty="0" smtClean="0"/>
              <a:t>曲线</a:t>
            </a:r>
            <a:endParaRPr lang="zh-CN" altLang="zh-CN" sz="2000" dirty="0"/>
          </a:p>
        </p:txBody>
      </p:sp>
      <p:graphicFrame>
        <p:nvGraphicFramePr>
          <p:cNvPr id="2" name="对象 1"/>
          <p:cNvGraphicFramePr>
            <a:graphicFrameLocks noChangeAspect="1"/>
          </p:cNvGraphicFramePr>
          <p:nvPr>
            <p:extLst>
              <p:ext uri="{D42A27DB-BD31-4B8C-83A1-F6EECF244321}">
                <p14:modId xmlns:p14="http://schemas.microsoft.com/office/powerpoint/2010/main" val="2857766249"/>
              </p:ext>
            </p:extLst>
          </p:nvPr>
        </p:nvGraphicFramePr>
        <p:xfrm>
          <a:off x="1802656" y="4222929"/>
          <a:ext cx="7554540" cy="562573"/>
        </p:xfrm>
        <a:graphic>
          <a:graphicData uri="http://schemas.openxmlformats.org/presentationml/2006/ole">
            <mc:AlternateContent xmlns:mc="http://schemas.openxmlformats.org/markup-compatibility/2006">
              <mc:Choice xmlns:v="urn:schemas-microsoft-com:vml" Requires="v">
                <p:oleObj spid="_x0000_s17458" name="Equation" r:id="rId5" imgW="4775040" imgH="355320" progId="Equation.DSMT4">
                  <p:embed/>
                </p:oleObj>
              </mc:Choice>
              <mc:Fallback>
                <p:oleObj name="Equation" r:id="rId5" imgW="4775040" imgH="355320" progId="Equation.DSMT4">
                  <p:embed/>
                  <p:pic>
                    <p:nvPicPr>
                      <p:cNvPr id="0" name=""/>
                      <p:cNvPicPr/>
                      <p:nvPr/>
                    </p:nvPicPr>
                    <p:blipFill>
                      <a:blip r:embed="rId6"/>
                      <a:stretch>
                        <a:fillRect/>
                      </a:stretch>
                    </p:blipFill>
                    <p:spPr>
                      <a:xfrm>
                        <a:off x="1802656" y="4222929"/>
                        <a:ext cx="7554540" cy="562573"/>
                      </a:xfrm>
                      <a:prstGeom prst="rect">
                        <a:avLst/>
                      </a:prstGeom>
                    </p:spPr>
                  </p:pic>
                </p:oleObj>
              </mc:Fallback>
            </mc:AlternateContent>
          </a:graphicData>
        </a:graphic>
      </p:graphicFrame>
      <p:pic>
        <p:nvPicPr>
          <p:cNvPr id="7" name="图片 6"/>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682685" y="2249512"/>
            <a:ext cx="4986166" cy="3924091"/>
          </a:xfrm>
          <a:prstGeom prst="rect">
            <a:avLst/>
          </a:prstGeom>
          <a:noFill/>
          <a:ln>
            <a:noFill/>
          </a:ln>
        </p:spPr>
      </p:pic>
      <p:sp>
        <p:nvSpPr>
          <p:cNvPr id="8" name="矩形 7"/>
          <p:cNvSpPr/>
          <p:nvPr/>
        </p:nvSpPr>
        <p:spPr>
          <a:xfrm>
            <a:off x="11304562" y="6216769"/>
            <a:ext cx="1678665" cy="338554"/>
          </a:xfrm>
          <a:prstGeom prst="rect">
            <a:avLst/>
          </a:prstGeom>
        </p:spPr>
        <p:txBody>
          <a:bodyPr wrap="none">
            <a:spAutoFit/>
          </a:bodyPr>
          <a:lstStyle/>
          <a:p>
            <a:r>
              <a:rPr lang="en-US" altLang="zh-CN" sz="1600" dirty="0" smtClean="0"/>
              <a:t> </a:t>
            </a:r>
            <a:r>
              <a:rPr lang="zh-CN" altLang="zh-CN" sz="1600" dirty="0"/>
              <a:t>发射率反演曲线</a:t>
            </a:r>
          </a:p>
        </p:txBody>
      </p:sp>
      <p:sp>
        <p:nvSpPr>
          <p:cNvPr id="9" name="文本框 1"/>
          <p:cNvSpPr txBox="1"/>
          <p:nvPr/>
        </p:nvSpPr>
        <p:spPr>
          <a:xfrm>
            <a:off x="333375" y="1054735"/>
            <a:ext cx="10755163" cy="815608"/>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a:solidFill>
                  <a:schemeClr val="tx2"/>
                </a:solidFill>
                <a:latin typeface="+mn-ea"/>
                <a:ea typeface="+mn-ea"/>
              </a:rPr>
              <a:t>反演</a:t>
            </a:r>
            <a:r>
              <a:rPr lang="en-US" altLang="zh-CN" b="1" dirty="0">
                <a:solidFill>
                  <a:schemeClr val="tx2"/>
                </a:solidFill>
                <a:latin typeface="Times New Roman" pitchFamily="18" charset="0"/>
                <a:ea typeface="+mn-ea"/>
                <a:cs typeface="Times New Roman" pitchFamily="18" charset="0"/>
              </a:rPr>
              <a:t>1.0</a:t>
            </a:r>
            <a:r>
              <a:rPr lang="zh-CN" altLang="en-US" b="1" dirty="0">
                <a:solidFill>
                  <a:schemeClr val="tx2"/>
                </a:solidFill>
                <a:latin typeface="+mn-ea"/>
                <a:ea typeface="+mn-ea"/>
              </a:rPr>
              <a:t>发射率曲线</a:t>
            </a:r>
            <a:endParaRPr lang="en-US" altLang="zh-CN" b="1" dirty="0">
              <a:solidFill>
                <a:schemeClr val="tx2"/>
              </a:solidFill>
              <a:latin typeface="+mn-ea"/>
              <a:ea typeface="+mn-ea"/>
            </a:endParaRPr>
          </a:p>
          <a:p>
            <a:endParaRPr lang="zh-CN" altLang="en-US" dirty="0"/>
          </a:p>
        </p:txBody>
      </p:sp>
    </p:spTree>
    <p:extLst>
      <p:ext uri="{BB962C8B-B14F-4D97-AF65-F5344CB8AC3E}">
        <p14:creationId xmlns:p14="http://schemas.microsoft.com/office/powerpoint/2010/main" val="277134845"/>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10033184" y="5751770"/>
            <a:ext cx="3575634" cy="1898342"/>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10033184" y="3185616"/>
            <a:ext cx="3575634" cy="2007681"/>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410" name="Picture 9"/>
          <p:cNvPicPr>
            <a:picLocks noChangeAspect="1"/>
          </p:cNvPicPr>
          <p:nvPr/>
        </p:nvPicPr>
        <p:blipFill>
          <a:blip r:embed="rId4"/>
          <a:stretch>
            <a:fillRect/>
          </a:stretch>
        </p:blipFill>
        <p:spPr>
          <a:xfrm>
            <a:off x="246063" y="88900"/>
            <a:ext cx="1554162" cy="511175"/>
          </a:xfrm>
          <a:prstGeom prst="rect">
            <a:avLst/>
          </a:prstGeom>
          <a:noFill/>
          <a:ln w="9525">
            <a:noFill/>
          </a:ln>
        </p:spPr>
      </p:pic>
      <p:sp>
        <p:nvSpPr>
          <p:cNvPr id="65" name="文本框 64">
            <a:extLst>
              <a:ext uri="{FF2B5EF4-FFF2-40B4-BE49-F238E27FC236}">
                <a16:creationId xmlns="" xmlns:a16="http://schemas.microsoft.com/office/drawing/2014/main" id="{E0B61BD9-BF0A-9309-018D-4EF34DEE49C3}"/>
              </a:ext>
            </a:extLst>
          </p:cNvPr>
          <p:cNvSpPr txBox="1"/>
          <p:nvPr/>
        </p:nvSpPr>
        <p:spPr>
          <a:xfrm>
            <a:off x="1655490" y="1745456"/>
            <a:ext cx="9632138" cy="499111"/>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扩</a:t>
            </a:r>
            <a:r>
              <a:rPr lang="zh-CN" altLang="en-US" sz="2000" b="1" dirty="0">
                <a:solidFill>
                  <a:srgbClr val="FF0000"/>
                </a:solidFill>
              </a:rPr>
              <a:t>宽验证数据范围，确保更极端情况下模型的</a:t>
            </a:r>
            <a:r>
              <a:rPr lang="zh-CN" altLang="en-US" sz="2000" b="1" dirty="0" smtClean="0">
                <a:solidFill>
                  <a:srgbClr val="FF0000"/>
                </a:solidFill>
              </a:rPr>
              <a:t>稳定性：</a:t>
            </a:r>
            <a:endParaRPr lang="zh-CN" altLang="zh-CN" sz="2000" b="1" dirty="0"/>
          </a:p>
        </p:txBody>
      </p:sp>
      <p:sp>
        <p:nvSpPr>
          <p:cNvPr id="2" name="左大括号 1"/>
          <p:cNvSpPr/>
          <p:nvPr/>
        </p:nvSpPr>
        <p:spPr>
          <a:xfrm>
            <a:off x="884708" y="4151572"/>
            <a:ext cx="576064" cy="2463848"/>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圆角矩形 2"/>
          <p:cNvSpPr/>
          <p:nvPr/>
        </p:nvSpPr>
        <p:spPr>
          <a:xfrm>
            <a:off x="1748804" y="6376905"/>
            <a:ext cx="2808312" cy="504056"/>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低温</a:t>
            </a:r>
            <a:r>
              <a:rPr lang="zh-CN" altLang="en-US" sz="1800" dirty="0">
                <a:solidFill>
                  <a:schemeClr val="tx1"/>
                </a:solidFill>
              </a:rPr>
              <a:t>下</a:t>
            </a:r>
            <a:r>
              <a:rPr lang="zh-CN" altLang="en-US" sz="1800" dirty="0" smtClean="0">
                <a:solidFill>
                  <a:schemeClr val="tx1"/>
                </a:solidFill>
              </a:rPr>
              <a:t>复核模型</a:t>
            </a:r>
            <a:endParaRPr lang="zh-CN" altLang="en-US" sz="1800" dirty="0">
              <a:solidFill>
                <a:schemeClr val="tx1"/>
              </a:solidFill>
            </a:endParaRPr>
          </a:p>
        </p:txBody>
      </p:sp>
      <p:sp>
        <p:nvSpPr>
          <p:cNvPr id="7" name="圆角矩形 6"/>
          <p:cNvSpPr/>
          <p:nvPr/>
        </p:nvSpPr>
        <p:spPr>
          <a:xfrm>
            <a:off x="1748804" y="3946109"/>
            <a:ext cx="2808312" cy="504056"/>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高反射温度下复核模型</a:t>
            </a:r>
            <a:endParaRPr lang="zh-CN" altLang="en-US" sz="1800" dirty="0">
              <a:solidFill>
                <a:schemeClr val="tx1"/>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12783984"/>
              </p:ext>
            </p:extLst>
          </p:nvPr>
        </p:nvGraphicFramePr>
        <p:xfrm>
          <a:off x="5111874" y="2537544"/>
          <a:ext cx="8474075" cy="631825"/>
        </p:xfrm>
        <a:graphic>
          <a:graphicData uri="http://schemas.openxmlformats.org/presentationml/2006/ole">
            <mc:AlternateContent xmlns:mc="http://schemas.openxmlformats.org/markup-compatibility/2006">
              <mc:Choice xmlns:v="urn:schemas-microsoft-com:vml" Requires="v">
                <p:oleObj spid="_x0000_s20524" name="Equation" r:id="rId5" imgW="4775040" imgH="355320" progId="Equation.DSMT4">
                  <p:embed/>
                </p:oleObj>
              </mc:Choice>
              <mc:Fallback>
                <p:oleObj name="Equation" r:id="rId5" imgW="4775040" imgH="3553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1874" y="2537544"/>
                        <a:ext cx="84740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文本框 64">
            <a:extLst>
              <a:ext uri="{FF2B5EF4-FFF2-40B4-BE49-F238E27FC236}">
                <a16:creationId xmlns="" xmlns:a16="http://schemas.microsoft.com/office/drawing/2014/main" id="{E0B61BD9-BF0A-9309-018D-4EF34DEE49C3}"/>
              </a:ext>
            </a:extLst>
          </p:cNvPr>
          <p:cNvSpPr txBox="1"/>
          <p:nvPr/>
        </p:nvSpPr>
        <p:spPr>
          <a:xfrm>
            <a:off x="1655490" y="2537544"/>
            <a:ext cx="3247474" cy="553998"/>
          </a:xfrm>
          <a:prstGeom prst="rect">
            <a:avLst/>
          </a:prstGeom>
          <a:noFill/>
        </p:spPr>
        <p:txBody>
          <a:bodyPr wrap="square" rtlCol="0">
            <a:spAutoFit/>
          </a:bodyPr>
          <a:lstStyle/>
          <a:p>
            <a:pPr defTabSz="1018852">
              <a:lnSpc>
                <a:spcPct val="150000"/>
              </a:lnSpc>
            </a:pPr>
            <a:r>
              <a:rPr lang="zh-CN" altLang="en-US" sz="2000" dirty="0" smtClean="0"/>
              <a:t>发射率修正模块理论公式：</a:t>
            </a:r>
            <a:endParaRPr lang="zh-CN" altLang="zh-CN" sz="2000" dirty="0"/>
          </a:p>
        </p:txBody>
      </p:sp>
      <p:sp>
        <p:nvSpPr>
          <p:cNvPr id="10" name="左大括号 9"/>
          <p:cNvSpPr/>
          <p:nvPr/>
        </p:nvSpPr>
        <p:spPr>
          <a:xfrm>
            <a:off x="4879839" y="3375815"/>
            <a:ext cx="576064" cy="1585867"/>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左大括号 10"/>
          <p:cNvSpPr/>
          <p:nvPr/>
        </p:nvSpPr>
        <p:spPr>
          <a:xfrm>
            <a:off x="4879839" y="6060741"/>
            <a:ext cx="576064" cy="1124080"/>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圆角矩形 11"/>
          <p:cNvSpPr/>
          <p:nvPr/>
        </p:nvSpPr>
        <p:spPr>
          <a:xfrm>
            <a:off x="5831954" y="5872849"/>
            <a:ext cx="2808312" cy="504056"/>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点温枪设置</a:t>
            </a:r>
            <a:r>
              <a:rPr lang="zh-CN" altLang="en-US" sz="1800" dirty="0" smtClean="0">
                <a:solidFill>
                  <a:srgbClr val="FF0000"/>
                </a:solidFill>
              </a:rPr>
              <a:t>自动反射模式</a:t>
            </a:r>
            <a:endParaRPr lang="zh-CN" altLang="en-US" sz="1800" dirty="0">
              <a:solidFill>
                <a:srgbClr val="FF0000"/>
              </a:solidFill>
            </a:endParaRPr>
          </a:p>
        </p:txBody>
      </p:sp>
      <p:sp>
        <p:nvSpPr>
          <p:cNvPr id="13" name="圆角矩形 12"/>
          <p:cNvSpPr/>
          <p:nvPr/>
        </p:nvSpPr>
        <p:spPr>
          <a:xfrm>
            <a:off x="5831954" y="3185616"/>
            <a:ext cx="2808312" cy="504056"/>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点温枪设置</a:t>
            </a:r>
            <a:r>
              <a:rPr lang="zh-CN" altLang="en-US" sz="1800" dirty="0" smtClean="0">
                <a:solidFill>
                  <a:srgbClr val="FF0000"/>
                </a:solidFill>
              </a:rPr>
              <a:t>手动反射模式</a:t>
            </a:r>
            <a:endParaRPr lang="zh-CN" altLang="en-US" sz="1800" dirty="0">
              <a:solidFill>
                <a:srgbClr val="FF0000"/>
              </a:solidFill>
            </a:endParaRPr>
          </a:p>
        </p:txBody>
      </p:sp>
      <p:sp>
        <p:nvSpPr>
          <p:cNvPr id="14" name="圆角矩形 13"/>
          <p:cNvSpPr/>
          <p:nvPr/>
        </p:nvSpPr>
        <p:spPr>
          <a:xfrm>
            <a:off x="5831954" y="6932793"/>
            <a:ext cx="2808312" cy="504056"/>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黑体设置为</a:t>
            </a:r>
            <a:r>
              <a:rPr lang="en-US" altLang="zh-CN" sz="1800" dirty="0" smtClean="0">
                <a:solidFill>
                  <a:schemeClr val="tx1"/>
                </a:solidFill>
                <a:latin typeface="Times New Roman" pitchFamily="18" charset="0"/>
                <a:cs typeface="Times New Roman" pitchFamily="18" charset="0"/>
              </a:rPr>
              <a:t>-10</a:t>
            </a:r>
            <a:r>
              <a:rPr lang="en-US" altLang="zh-CN" sz="1800" dirty="0" smtClean="0">
                <a:solidFill>
                  <a:schemeClr val="tx1"/>
                </a:solidFill>
              </a:rPr>
              <a:t>,</a:t>
            </a:r>
            <a:r>
              <a:rPr lang="en-US" altLang="zh-CN" sz="1800" dirty="0" smtClean="0">
                <a:solidFill>
                  <a:schemeClr val="tx1"/>
                </a:solidFill>
                <a:latin typeface="Times New Roman" pitchFamily="18" charset="0"/>
                <a:cs typeface="Times New Roman" pitchFamily="18" charset="0"/>
              </a:rPr>
              <a:t>0</a:t>
            </a:r>
            <a:r>
              <a:rPr lang="en-US" altLang="zh-CN" sz="1800" dirty="0">
                <a:solidFill>
                  <a:schemeClr val="tx1"/>
                </a:solidFill>
              </a:rPr>
              <a:t>,</a:t>
            </a:r>
            <a:r>
              <a:rPr lang="en-US" altLang="zh-CN" sz="1800" dirty="0" smtClean="0">
                <a:solidFill>
                  <a:schemeClr val="tx1"/>
                </a:solidFill>
                <a:latin typeface="Times New Roman" pitchFamily="18" charset="0"/>
                <a:cs typeface="Times New Roman" pitchFamily="18" charset="0"/>
              </a:rPr>
              <a:t>10</a:t>
            </a:r>
            <a:r>
              <a:rPr lang="zh-CN" altLang="en-US" sz="1800" dirty="0" smtClean="0">
                <a:solidFill>
                  <a:schemeClr val="tx1"/>
                </a:solidFill>
                <a:latin typeface="Times New Roman" pitchFamily="18" charset="0"/>
                <a:cs typeface="Times New Roman" pitchFamily="18" charset="0"/>
              </a:rPr>
              <a:t>℃</a:t>
            </a:r>
            <a:endParaRPr lang="zh-CN" altLang="en-US" sz="1800" dirty="0">
              <a:solidFill>
                <a:schemeClr val="tx1"/>
              </a:solidFill>
              <a:latin typeface="Times New Roman" pitchFamily="18" charset="0"/>
              <a:cs typeface="Times New Roman" pitchFamily="18" charset="0"/>
            </a:endParaRPr>
          </a:p>
        </p:txBody>
      </p:sp>
      <p:sp>
        <p:nvSpPr>
          <p:cNvPr id="15" name="圆角矩形 14"/>
          <p:cNvSpPr/>
          <p:nvPr/>
        </p:nvSpPr>
        <p:spPr>
          <a:xfrm>
            <a:off x="5831954" y="4459423"/>
            <a:ext cx="2808312" cy="1030449"/>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rgbClr val="FF0000"/>
                </a:solidFill>
              </a:rPr>
              <a:t>确保模型在较低发射率有解的条件下</a:t>
            </a:r>
            <a:r>
              <a:rPr lang="zh-CN" altLang="en-US" sz="1800" dirty="0" smtClean="0">
                <a:solidFill>
                  <a:schemeClr val="tx1"/>
                </a:solidFill>
              </a:rPr>
              <a:t>设置更高的点温枪反射温度</a:t>
            </a:r>
            <a:endParaRPr lang="zh-CN" altLang="en-US" sz="1800" dirty="0">
              <a:solidFill>
                <a:schemeClr val="tx1"/>
              </a:solidFill>
            </a:endParaRPr>
          </a:p>
        </p:txBody>
      </p:sp>
      <p:sp>
        <p:nvSpPr>
          <p:cNvPr id="17" name="文本框 64">
            <a:extLst>
              <a:ext uri="{FF2B5EF4-FFF2-40B4-BE49-F238E27FC236}">
                <a16:creationId xmlns="" xmlns:a16="http://schemas.microsoft.com/office/drawing/2014/main" id="{E0B61BD9-BF0A-9309-018D-4EF34DEE49C3}"/>
              </a:ext>
            </a:extLst>
          </p:cNvPr>
          <p:cNvSpPr txBox="1"/>
          <p:nvPr/>
        </p:nvSpPr>
        <p:spPr>
          <a:xfrm>
            <a:off x="10080426" y="5751770"/>
            <a:ext cx="3528392" cy="1754326"/>
          </a:xfrm>
          <a:prstGeom prst="rect">
            <a:avLst/>
          </a:prstGeom>
          <a:noFill/>
        </p:spPr>
        <p:txBody>
          <a:bodyPr wrap="square" rtlCol="0">
            <a:spAutoFit/>
          </a:bodyPr>
          <a:lstStyle/>
          <a:p>
            <a:pPr algn="just" defTabSz="1018852">
              <a:lnSpc>
                <a:spcPct val="150000"/>
              </a:lnSpc>
            </a:pPr>
            <a:r>
              <a:rPr lang="zh-CN" altLang="en-US" sz="1800" dirty="0" smtClean="0"/>
              <a:t>由于待测目标黑体温度过低，反射辐射量所占权重变大，点温枪设置自动反射模式</a:t>
            </a:r>
            <a:r>
              <a:rPr lang="zh-CN" altLang="en-US" sz="1800" dirty="0" smtClean="0">
                <a:solidFill>
                  <a:srgbClr val="FF0000"/>
                </a:solidFill>
              </a:rPr>
              <a:t>验证模型测低温仍满足误差要求</a:t>
            </a:r>
            <a:r>
              <a:rPr lang="zh-CN" altLang="en-US" sz="1800" dirty="0" smtClean="0"/>
              <a:t>。</a:t>
            </a:r>
            <a:endParaRPr lang="zh-CN" altLang="zh-CN" sz="1800" dirty="0"/>
          </a:p>
        </p:txBody>
      </p:sp>
      <p:sp>
        <p:nvSpPr>
          <p:cNvPr id="18" name="文本框 64">
            <a:extLst>
              <a:ext uri="{FF2B5EF4-FFF2-40B4-BE49-F238E27FC236}">
                <a16:creationId xmlns="" xmlns:a16="http://schemas.microsoft.com/office/drawing/2014/main" id="{E0B61BD9-BF0A-9309-018D-4EF34DEE49C3}"/>
              </a:ext>
            </a:extLst>
          </p:cNvPr>
          <p:cNvSpPr txBox="1"/>
          <p:nvPr/>
        </p:nvSpPr>
        <p:spPr>
          <a:xfrm>
            <a:off x="10080426" y="3113608"/>
            <a:ext cx="3528392" cy="2169825"/>
          </a:xfrm>
          <a:prstGeom prst="rect">
            <a:avLst/>
          </a:prstGeom>
          <a:noFill/>
        </p:spPr>
        <p:txBody>
          <a:bodyPr wrap="square" rtlCol="0">
            <a:spAutoFit/>
          </a:bodyPr>
          <a:lstStyle/>
          <a:p>
            <a:pPr algn="just" defTabSz="1018852">
              <a:lnSpc>
                <a:spcPct val="150000"/>
              </a:lnSpc>
            </a:pPr>
            <a:r>
              <a:rPr lang="zh-CN" altLang="en-US" sz="1800" dirty="0" smtClean="0"/>
              <a:t>目的是增大反射辐射量的权重，</a:t>
            </a:r>
            <a:r>
              <a:rPr lang="zh-CN" altLang="en-US" sz="1800" dirty="0" smtClean="0">
                <a:solidFill>
                  <a:srgbClr val="FF0000"/>
                </a:solidFill>
              </a:rPr>
              <a:t>验证高反射温度下模型仍满足误差要求</a:t>
            </a:r>
            <a:r>
              <a:rPr lang="zh-CN" altLang="en-US" sz="1800" dirty="0" smtClean="0"/>
              <a:t>；在设置点温枪反射温度和黑体温度时要尽可能确保模型在低发射率下有解。</a:t>
            </a:r>
            <a:endParaRPr lang="zh-CN" altLang="zh-CN" sz="1800" dirty="0"/>
          </a:p>
        </p:txBody>
      </p:sp>
      <p:sp>
        <p:nvSpPr>
          <p:cNvPr id="6" name="右箭头 5"/>
          <p:cNvSpPr/>
          <p:nvPr/>
        </p:nvSpPr>
        <p:spPr>
          <a:xfrm>
            <a:off x="9025072" y="6425976"/>
            <a:ext cx="1008112" cy="432048"/>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右箭头 19"/>
          <p:cNvSpPr/>
          <p:nvPr/>
        </p:nvSpPr>
        <p:spPr>
          <a:xfrm>
            <a:off x="9025072" y="3967632"/>
            <a:ext cx="1008112" cy="432048"/>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1"/>
          <p:cNvSpPr txBox="1"/>
          <p:nvPr/>
        </p:nvSpPr>
        <p:spPr>
          <a:xfrm>
            <a:off x="333375" y="1054735"/>
            <a:ext cx="11979299" cy="800219"/>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a:solidFill>
                  <a:schemeClr val="tx2"/>
                </a:solidFill>
                <a:latin typeface="+mn-ea"/>
                <a:ea typeface="+mn-ea"/>
                <a:sym typeface="+mn-ea"/>
              </a:rPr>
              <a:t>发射率修正模块更新</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extLst>
      <p:ext uri="{BB962C8B-B14F-4D97-AF65-F5344CB8AC3E}">
        <p14:creationId xmlns:p14="http://schemas.microsoft.com/office/powerpoint/2010/main" val="2273986051"/>
      </p:ext>
    </p:extLst>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91344" y="6569992"/>
            <a:ext cx="10961290" cy="1266820"/>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991344" y="1601440"/>
            <a:ext cx="10961290" cy="468052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410" name="Picture 9"/>
          <p:cNvPicPr>
            <a:picLocks noChangeAspect="1"/>
          </p:cNvPicPr>
          <p:nvPr/>
        </p:nvPicPr>
        <p:blipFill>
          <a:blip r:embed="rId3"/>
          <a:stretch>
            <a:fillRect/>
          </a:stretch>
        </p:blipFill>
        <p:spPr>
          <a:xfrm>
            <a:off x="246063" y="88900"/>
            <a:ext cx="1554162" cy="511175"/>
          </a:xfrm>
          <a:prstGeom prst="rect">
            <a:avLst/>
          </a:prstGeom>
          <a:noFill/>
          <a:ln w="9525">
            <a:noFill/>
          </a:ln>
        </p:spPr>
      </p:pic>
      <p:sp>
        <p:nvSpPr>
          <p:cNvPr id="14" name="文本框 64">
            <a:extLst>
              <a:ext uri="{FF2B5EF4-FFF2-40B4-BE49-F238E27FC236}">
                <a16:creationId xmlns="" xmlns:a16="http://schemas.microsoft.com/office/drawing/2014/main" id="{E0B61BD9-BF0A-9309-018D-4EF34DEE49C3}"/>
              </a:ext>
            </a:extLst>
          </p:cNvPr>
          <p:cNvSpPr txBox="1"/>
          <p:nvPr/>
        </p:nvSpPr>
        <p:spPr>
          <a:xfrm>
            <a:off x="1655490" y="1745456"/>
            <a:ext cx="9865096" cy="553998"/>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高反射温度验证：</a:t>
            </a:r>
            <a:endParaRPr lang="en-US" altLang="zh-CN" sz="2000" b="1" dirty="0" smtClean="0"/>
          </a:p>
        </p:txBody>
      </p:sp>
      <p:pic>
        <p:nvPicPr>
          <p:cNvPr id="1025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344" y="2465536"/>
            <a:ext cx="520065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51"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1944" y="2465536"/>
            <a:ext cx="520065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35410" y="6497984"/>
            <a:ext cx="11089232" cy="1338828"/>
          </a:xfrm>
          <a:prstGeom prst="rect">
            <a:avLst/>
          </a:prstGeom>
        </p:spPr>
        <p:txBody>
          <a:bodyPr wrap="square">
            <a:spAutoFit/>
          </a:bodyPr>
          <a:lstStyle/>
          <a:p>
            <a:pPr defTabSz="1018852">
              <a:lnSpc>
                <a:spcPct val="150000"/>
              </a:lnSpc>
            </a:pPr>
            <a:r>
              <a:rPr lang="zh-CN" altLang="en-US" sz="1800" dirty="0" smtClean="0">
                <a:solidFill>
                  <a:srgbClr val="000000"/>
                </a:solidFill>
                <a:latin typeface="Times New Roman" pitchFamily="18" charset="0"/>
                <a:cs typeface="Times New Roman" pitchFamily="18" charset="0"/>
              </a:rPr>
              <a:t>（</a:t>
            </a:r>
            <a:r>
              <a:rPr lang="en-US" altLang="zh-CN" sz="1800" dirty="0" smtClean="0">
                <a:solidFill>
                  <a:srgbClr val="000000"/>
                </a:solidFill>
                <a:latin typeface="Times New Roman" pitchFamily="18" charset="0"/>
                <a:cs typeface="Times New Roman" pitchFamily="18" charset="0"/>
              </a:rPr>
              <a:t>1</a:t>
            </a:r>
            <a:r>
              <a:rPr lang="zh-CN" altLang="en-US" sz="1800" dirty="0" smtClean="0">
                <a:solidFill>
                  <a:srgbClr val="000000"/>
                </a:solidFill>
                <a:latin typeface="Times New Roman" pitchFamily="18" charset="0"/>
                <a:cs typeface="Times New Roman" pitchFamily="18" charset="0"/>
              </a:rPr>
              <a:t>）验证过程中点温枪反射温度设置为</a:t>
            </a:r>
            <a:r>
              <a:rPr lang="en-US" altLang="zh-CN" sz="1800" dirty="0" smtClean="0">
                <a:solidFill>
                  <a:srgbClr val="000000"/>
                </a:solidFill>
                <a:latin typeface="Times New Roman" pitchFamily="18" charset="0"/>
                <a:cs typeface="Times New Roman" pitchFamily="18" charset="0"/>
              </a:rPr>
              <a:t>50-500</a:t>
            </a:r>
            <a:r>
              <a:rPr lang="zh-CN" altLang="en-US" sz="1800" dirty="0" smtClean="0">
                <a:solidFill>
                  <a:srgbClr val="000000"/>
                </a:solidFill>
                <a:latin typeface="Times New Roman" pitchFamily="18" charset="0"/>
                <a:cs typeface="Times New Roman" pitchFamily="18" charset="0"/>
              </a:rPr>
              <a:t>℃不等</a:t>
            </a:r>
            <a:r>
              <a:rPr lang="zh-CN" altLang="en-US" sz="1800" dirty="0" smtClean="0">
                <a:solidFill>
                  <a:srgbClr val="000000"/>
                </a:solidFill>
              </a:rPr>
              <a:t>；</a:t>
            </a:r>
            <a:endParaRPr lang="en-US" altLang="zh-CN" sz="1800" dirty="0" smtClean="0">
              <a:solidFill>
                <a:srgbClr val="000000"/>
              </a:solidFill>
            </a:endParaRPr>
          </a:p>
          <a:p>
            <a:pPr lvl="0" defTabSz="1018852">
              <a:lnSpc>
                <a:spcPct val="150000"/>
              </a:lnSpc>
            </a:pPr>
            <a:r>
              <a:rPr lang="zh-CN" altLang="en-US" sz="1800" dirty="0" smtClean="0">
                <a:solidFill>
                  <a:srgbClr val="000000"/>
                </a:solidFill>
                <a:latin typeface="Times New Roman" pitchFamily="18" charset="0"/>
                <a:cs typeface="Times New Roman" pitchFamily="18" charset="0"/>
              </a:rPr>
              <a:t>（</a:t>
            </a:r>
            <a:r>
              <a:rPr lang="en-US" altLang="zh-CN" sz="1800" dirty="0" smtClean="0">
                <a:solidFill>
                  <a:srgbClr val="000000"/>
                </a:solidFill>
                <a:latin typeface="Times New Roman" pitchFamily="18" charset="0"/>
                <a:cs typeface="Times New Roman" pitchFamily="18" charset="0"/>
              </a:rPr>
              <a:t>2</a:t>
            </a:r>
            <a:r>
              <a:rPr lang="zh-CN" altLang="en-US" sz="1800" dirty="0" smtClean="0">
                <a:solidFill>
                  <a:srgbClr val="000000"/>
                </a:solidFill>
                <a:latin typeface="Times New Roman" pitchFamily="18" charset="0"/>
                <a:cs typeface="Times New Roman" pitchFamily="18" charset="0"/>
              </a:rPr>
              <a:t>）</a:t>
            </a:r>
            <a:r>
              <a:rPr lang="en-US" altLang="zh-CN" sz="1800" dirty="0" smtClean="0">
                <a:solidFill>
                  <a:srgbClr val="000000"/>
                </a:solidFill>
                <a:latin typeface="Times New Roman" pitchFamily="18" charset="0"/>
                <a:cs typeface="Times New Roman" pitchFamily="18" charset="0"/>
              </a:rPr>
              <a:t>50</a:t>
            </a:r>
            <a:r>
              <a:rPr lang="zh-CN" altLang="en-US" sz="1800" dirty="0" smtClean="0">
                <a:solidFill>
                  <a:srgbClr val="000000"/>
                </a:solidFill>
                <a:latin typeface="Times New Roman" pitchFamily="18" charset="0"/>
                <a:cs typeface="Times New Roman" pitchFamily="18" charset="0"/>
              </a:rPr>
              <a:t>℃以下温度点的</a:t>
            </a:r>
            <a:r>
              <a:rPr lang="zh-CN" altLang="en-US" sz="1800" dirty="0" smtClean="0">
                <a:solidFill>
                  <a:srgbClr val="FF0000"/>
                </a:solidFill>
              </a:rPr>
              <a:t>绝对误差在</a:t>
            </a:r>
            <a:r>
              <a:rPr lang="en-US" altLang="zh-CN" sz="1800" dirty="0" smtClean="0">
                <a:solidFill>
                  <a:srgbClr val="FF0000"/>
                </a:solidFill>
                <a:latin typeface="Times New Roman" pitchFamily="18" charset="0"/>
                <a:cs typeface="Times New Roman" pitchFamily="18" charset="0"/>
              </a:rPr>
              <a:t>1.2</a:t>
            </a:r>
            <a:r>
              <a:rPr lang="en-US" altLang="zh-CN" sz="1800" dirty="0">
                <a:solidFill>
                  <a:srgbClr val="FF0000"/>
                </a:solidFill>
                <a:latin typeface="Times New Roman" pitchFamily="18" charset="0"/>
                <a:cs typeface="Times New Roman" pitchFamily="18" charset="0"/>
              </a:rPr>
              <a:t>℃</a:t>
            </a:r>
            <a:r>
              <a:rPr lang="zh-CN" altLang="en-US" sz="1800" dirty="0" smtClean="0">
                <a:solidFill>
                  <a:srgbClr val="FF0000"/>
                </a:solidFill>
              </a:rPr>
              <a:t>以内</a:t>
            </a:r>
            <a:r>
              <a:rPr lang="zh-CN" altLang="en-US" sz="1800" dirty="0" smtClean="0">
                <a:solidFill>
                  <a:srgbClr val="000000"/>
                </a:solidFill>
              </a:rPr>
              <a:t>，</a:t>
            </a:r>
            <a:r>
              <a:rPr lang="en-US" altLang="zh-CN" sz="1800" dirty="0" smtClean="0">
                <a:solidFill>
                  <a:srgbClr val="000000"/>
                </a:solidFill>
                <a:latin typeface="Times New Roman" pitchFamily="18" charset="0"/>
                <a:cs typeface="Times New Roman" pitchFamily="18" charset="0"/>
              </a:rPr>
              <a:t>50</a:t>
            </a:r>
            <a:r>
              <a:rPr lang="zh-CN" altLang="en-US" sz="1800" dirty="0">
                <a:solidFill>
                  <a:srgbClr val="000000"/>
                </a:solidFill>
                <a:latin typeface="Times New Roman" pitchFamily="18" charset="0"/>
                <a:cs typeface="Times New Roman" pitchFamily="18" charset="0"/>
              </a:rPr>
              <a:t>℃</a:t>
            </a:r>
            <a:r>
              <a:rPr lang="zh-CN" altLang="en-US" sz="1800" dirty="0" smtClean="0">
                <a:solidFill>
                  <a:srgbClr val="000000"/>
                </a:solidFill>
                <a:latin typeface="Times New Roman" pitchFamily="18" charset="0"/>
                <a:cs typeface="Times New Roman" pitchFamily="18" charset="0"/>
              </a:rPr>
              <a:t>以上温度</a:t>
            </a:r>
            <a:r>
              <a:rPr lang="zh-CN" altLang="en-US" sz="1800" dirty="0">
                <a:solidFill>
                  <a:srgbClr val="000000"/>
                </a:solidFill>
                <a:latin typeface="Times New Roman" pitchFamily="18" charset="0"/>
                <a:cs typeface="Times New Roman" pitchFamily="18" charset="0"/>
              </a:rPr>
              <a:t>点</a:t>
            </a:r>
            <a:r>
              <a:rPr lang="zh-CN" altLang="en-US" sz="1800" dirty="0" smtClean="0">
                <a:solidFill>
                  <a:srgbClr val="FF0000"/>
                </a:solidFill>
              </a:rPr>
              <a:t>相对误差</a:t>
            </a:r>
            <a:r>
              <a:rPr lang="zh-CN" altLang="en-US" sz="1800" dirty="0">
                <a:solidFill>
                  <a:srgbClr val="FF0000"/>
                </a:solidFill>
              </a:rPr>
              <a:t>基本控制在</a:t>
            </a:r>
            <a:r>
              <a:rPr lang="en-US" altLang="zh-CN" sz="1800" dirty="0" smtClean="0">
                <a:solidFill>
                  <a:srgbClr val="FF0000"/>
                </a:solidFill>
                <a:latin typeface="Times New Roman" pitchFamily="18" charset="0"/>
                <a:cs typeface="Times New Roman" pitchFamily="18" charset="0"/>
              </a:rPr>
              <a:t>0.5%</a:t>
            </a:r>
            <a:r>
              <a:rPr lang="zh-CN" altLang="en-US" sz="1800" dirty="0" smtClean="0">
                <a:solidFill>
                  <a:srgbClr val="FF0000"/>
                </a:solidFill>
              </a:rPr>
              <a:t>以内</a:t>
            </a:r>
            <a:r>
              <a:rPr lang="zh-CN" altLang="en-US" sz="1800" dirty="0" smtClean="0">
                <a:solidFill>
                  <a:srgbClr val="000000"/>
                </a:solidFill>
              </a:rPr>
              <a:t>；</a:t>
            </a:r>
            <a:endParaRPr lang="en-US" altLang="zh-CN" sz="1800" dirty="0" smtClean="0">
              <a:solidFill>
                <a:srgbClr val="000000"/>
              </a:solidFill>
            </a:endParaRPr>
          </a:p>
          <a:p>
            <a:pPr lvl="0" defTabSz="1018852">
              <a:lnSpc>
                <a:spcPct val="150000"/>
              </a:lnSpc>
            </a:pPr>
            <a:r>
              <a:rPr lang="zh-CN" altLang="en-US" sz="1800" dirty="0" smtClean="0">
                <a:solidFill>
                  <a:srgbClr val="000000"/>
                </a:solidFill>
                <a:latin typeface="Times New Roman" pitchFamily="18" charset="0"/>
                <a:cs typeface="Times New Roman" pitchFamily="18" charset="0"/>
              </a:rPr>
              <a:t>（</a:t>
            </a:r>
            <a:r>
              <a:rPr lang="en-US" altLang="zh-CN" sz="1800" dirty="0" smtClean="0">
                <a:solidFill>
                  <a:srgbClr val="000000"/>
                </a:solidFill>
                <a:latin typeface="Times New Roman" pitchFamily="18" charset="0"/>
                <a:cs typeface="Times New Roman" pitchFamily="18" charset="0"/>
              </a:rPr>
              <a:t>3</a:t>
            </a:r>
            <a:r>
              <a:rPr lang="zh-CN" altLang="en-US" sz="1800" dirty="0" smtClean="0">
                <a:solidFill>
                  <a:srgbClr val="000000"/>
                </a:solidFill>
                <a:latin typeface="Times New Roman" pitchFamily="18" charset="0"/>
                <a:cs typeface="Times New Roman" pitchFamily="18" charset="0"/>
              </a:rPr>
              <a:t>）</a:t>
            </a:r>
            <a:r>
              <a:rPr lang="zh-CN" altLang="en-US" sz="1800" dirty="0" smtClean="0">
                <a:solidFill>
                  <a:srgbClr val="000000"/>
                </a:solidFill>
              </a:rPr>
              <a:t>理论模型计算得到的温度值越</a:t>
            </a:r>
            <a:r>
              <a:rPr lang="zh-CN" altLang="en-US" sz="1800" dirty="0">
                <a:solidFill>
                  <a:srgbClr val="000000"/>
                </a:solidFill>
              </a:rPr>
              <a:t>小</a:t>
            </a:r>
            <a:r>
              <a:rPr lang="zh-CN" altLang="en-US" sz="1800" dirty="0" smtClean="0">
                <a:solidFill>
                  <a:srgbClr val="000000"/>
                </a:solidFill>
              </a:rPr>
              <a:t>，误差越大，这是由</a:t>
            </a:r>
            <a:r>
              <a:rPr lang="zh-CN" altLang="en-US" sz="1800" dirty="0" smtClean="0"/>
              <a:t>辐射量</a:t>
            </a:r>
            <a:r>
              <a:rPr lang="en-US" altLang="zh-CN" sz="1800" dirty="0" smtClean="0"/>
              <a:t>-</a:t>
            </a:r>
            <a:r>
              <a:rPr lang="zh-CN" altLang="en-US" sz="1800" dirty="0" smtClean="0"/>
              <a:t>温度曲线</a:t>
            </a:r>
            <a:r>
              <a:rPr lang="zh-CN" altLang="en-US" sz="1800" dirty="0" smtClean="0">
                <a:solidFill>
                  <a:srgbClr val="000000"/>
                </a:solidFill>
              </a:rPr>
              <a:t>的指数型特征所决定的。</a:t>
            </a:r>
            <a:endParaRPr lang="zh-CN" altLang="en-US" sz="1800" dirty="0">
              <a:solidFill>
                <a:srgbClr val="000000"/>
              </a:solidFill>
            </a:endParaRPr>
          </a:p>
        </p:txBody>
      </p:sp>
      <p:sp>
        <p:nvSpPr>
          <p:cNvPr id="8" name="文本框 1"/>
          <p:cNvSpPr txBox="1"/>
          <p:nvPr/>
        </p:nvSpPr>
        <p:spPr>
          <a:xfrm>
            <a:off x="333375" y="1054735"/>
            <a:ext cx="11979299" cy="800219"/>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a:solidFill>
                  <a:schemeClr val="tx2"/>
                </a:solidFill>
                <a:latin typeface="+mn-ea"/>
                <a:ea typeface="+mn-ea"/>
                <a:sym typeface="+mn-ea"/>
              </a:rPr>
              <a:t>发射率修正模块更新</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extLst>
      <p:ext uri="{BB962C8B-B14F-4D97-AF65-F5344CB8AC3E}">
        <p14:creationId xmlns:p14="http://schemas.microsoft.com/office/powerpoint/2010/main" val="2410761523"/>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768058" y="4481760"/>
            <a:ext cx="4176464" cy="2520280"/>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410" name="Picture 9"/>
          <p:cNvPicPr>
            <a:picLocks noChangeAspect="1"/>
          </p:cNvPicPr>
          <p:nvPr/>
        </p:nvPicPr>
        <p:blipFill>
          <a:blip r:embed="rId3"/>
          <a:stretch>
            <a:fillRect/>
          </a:stretch>
        </p:blipFill>
        <p:spPr>
          <a:xfrm>
            <a:off x="246063" y="88900"/>
            <a:ext cx="1554162" cy="511175"/>
          </a:xfrm>
          <a:prstGeom prst="rect">
            <a:avLst/>
          </a:prstGeom>
          <a:noFill/>
          <a:ln w="9525">
            <a:noFill/>
          </a:ln>
        </p:spPr>
      </p:pic>
      <p:sp>
        <p:nvSpPr>
          <p:cNvPr id="65" name="文本框 64">
            <a:extLst>
              <a:ext uri="{FF2B5EF4-FFF2-40B4-BE49-F238E27FC236}">
                <a16:creationId xmlns="" xmlns:a16="http://schemas.microsoft.com/office/drawing/2014/main" id="{E0B61BD9-BF0A-9309-018D-4EF34DEE49C3}"/>
              </a:ext>
            </a:extLst>
          </p:cNvPr>
          <p:cNvSpPr txBox="1"/>
          <p:nvPr/>
        </p:nvSpPr>
        <p:spPr>
          <a:xfrm>
            <a:off x="1655490" y="1745456"/>
            <a:ext cx="9632138" cy="499111"/>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低温验证：</a:t>
            </a:r>
            <a:endParaRPr lang="en-US" altLang="zh-CN" sz="2000" b="1" dirty="0">
              <a:solidFill>
                <a:srgbClr val="FF0000"/>
              </a:solidFill>
            </a:endParaRPr>
          </a:p>
        </p:txBody>
      </p:sp>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562" y="4265736"/>
            <a:ext cx="4305300"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0345" y="2316142"/>
            <a:ext cx="8064177" cy="1805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文本框 64">
            <a:extLst>
              <a:ext uri="{FF2B5EF4-FFF2-40B4-BE49-F238E27FC236}">
                <a16:creationId xmlns="" xmlns:a16="http://schemas.microsoft.com/office/drawing/2014/main" id="{E0B61BD9-BF0A-9309-018D-4EF34DEE49C3}"/>
              </a:ext>
            </a:extLst>
          </p:cNvPr>
          <p:cNvSpPr txBox="1"/>
          <p:nvPr/>
        </p:nvSpPr>
        <p:spPr>
          <a:xfrm>
            <a:off x="6912074" y="4841800"/>
            <a:ext cx="4104456" cy="1938992"/>
          </a:xfrm>
          <a:prstGeom prst="rect">
            <a:avLst/>
          </a:prstGeom>
          <a:noFill/>
        </p:spPr>
        <p:txBody>
          <a:bodyPr wrap="square" rtlCol="0">
            <a:spAutoFit/>
          </a:bodyPr>
          <a:lstStyle/>
          <a:p>
            <a:pPr algn="just" defTabSz="1018852">
              <a:lnSpc>
                <a:spcPct val="150000"/>
              </a:lnSpc>
            </a:pPr>
            <a:r>
              <a:rPr lang="zh-CN" altLang="en-US" sz="2000" dirty="0" smtClean="0"/>
              <a:t>针对测低温，发射率修正理论模型计算结果与点温枪示数的绝对误差仍在</a:t>
            </a:r>
            <a:r>
              <a:rPr lang="en-US" altLang="zh-CN" sz="2000" dirty="0" smtClean="0">
                <a:latin typeface="Times New Roman" pitchFamily="18" charset="0"/>
                <a:cs typeface="Times New Roman" pitchFamily="18" charset="0"/>
              </a:rPr>
              <a:t>2</a:t>
            </a:r>
            <a:r>
              <a:rPr lang="zh-CN" altLang="en-US" sz="2000" dirty="0" smtClean="0">
                <a:latin typeface="Times New Roman" pitchFamily="18" charset="0"/>
                <a:cs typeface="Times New Roman" pitchFamily="18" charset="0"/>
              </a:rPr>
              <a:t>℃</a:t>
            </a:r>
            <a:r>
              <a:rPr lang="zh-CN" altLang="en-US" sz="2000" dirty="0" smtClean="0"/>
              <a:t>以内，进一步验证了模型的稳定性。</a:t>
            </a:r>
            <a:endParaRPr lang="en-US" altLang="zh-CN" sz="2000" dirty="0">
              <a:latin typeface="Times New Roman" pitchFamily="18" charset="0"/>
              <a:cs typeface="Times New Roman" pitchFamily="18" charset="0"/>
            </a:endParaRPr>
          </a:p>
        </p:txBody>
      </p:sp>
      <p:sp>
        <p:nvSpPr>
          <p:cNvPr id="8" name="文本框 1"/>
          <p:cNvSpPr txBox="1"/>
          <p:nvPr/>
        </p:nvSpPr>
        <p:spPr>
          <a:xfrm>
            <a:off x="333375" y="1054735"/>
            <a:ext cx="11979299" cy="800219"/>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a:solidFill>
                  <a:schemeClr val="tx2"/>
                </a:solidFill>
                <a:latin typeface="+mn-ea"/>
                <a:ea typeface="+mn-ea"/>
                <a:sym typeface="+mn-ea"/>
              </a:rPr>
              <a:t>发射率修正模块更新</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extLst>
      <p:ext uri="{BB962C8B-B14F-4D97-AF65-F5344CB8AC3E}">
        <p14:creationId xmlns:p14="http://schemas.microsoft.com/office/powerpoint/2010/main" val="770890781"/>
      </p:ext>
    </p:extLst>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圆角矩形 17412"/>
          <p:cNvSpPr/>
          <p:nvPr/>
        </p:nvSpPr>
        <p:spPr>
          <a:xfrm>
            <a:off x="749612" y="2249981"/>
            <a:ext cx="11687268" cy="4680051"/>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410" name="Picture 9"/>
          <p:cNvPicPr>
            <a:picLocks noChangeAspect="1"/>
          </p:cNvPicPr>
          <p:nvPr/>
        </p:nvPicPr>
        <p:blipFill>
          <a:blip r:embed="rId4"/>
          <a:stretch>
            <a:fillRect/>
          </a:stretch>
        </p:blipFill>
        <p:spPr>
          <a:xfrm>
            <a:off x="246063" y="88900"/>
            <a:ext cx="1554162" cy="511175"/>
          </a:xfrm>
          <a:prstGeom prst="rect">
            <a:avLst/>
          </a:prstGeom>
          <a:noFill/>
          <a:ln w="9525">
            <a:noFill/>
          </a:ln>
        </p:spPr>
      </p:pic>
      <p:sp>
        <p:nvSpPr>
          <p:cNvPr id="3" name="文本框 1"/>
          <p:cNvSpPr txBox="1"/>
          <p:nvPr/>
        </p:nvSpPr>
        <p:spPr>
          <a:xfrm>
            <a:off x="333375" y="1054735"/>
            <a:ext cx="11979299" cy="800219"/>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a:solidFill>
                  <a:schemeClr val="tx2"/>
                </a:solidFill>
                <a:latin typeface="+mn-ea"/>
                <a:ea typeface="+mn-ea"/>
                <a:sym typeface="+mn-ea"/>
              </a:rPr>
              <a:t>发射率修正模块更新</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
        <p:nvSpPr>
          <p:cNvPr id="4" name="文本框 64">
            <a:extLst>
              <a:ext uri="{FF2B5EF4-FFF2-40B4-BE49-F238E27FC236}">
                <a16:creationId xmlns="" xmlns:a16="http://schemas.microsoft.com/office/drawing/2014/main" id="{E0B61BD9-BF0A-9309-018D-4EF34DEE49C3}"/>
              </a:ext>
            </a:extLst>
          </p:cNvPr>
          <p:cNvSpPr txBox="1"/>
          <p:nvPr/>
        </p:nvSpPr>
        <p:spPr>
          <a:xfrm>
            <a:off x="1655490" y="1745456"/>
            <a:ext cx="9632138" cy="553998"/>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原发射率修正模块：</a:t>
            </a:r>
            <a:endParaRPr lang="zh-CN" altLang="zh-CN" sz="2000" b="1" dirty="0"/>
          </a:p>
        </p:txBody>
      </p:sp>
      <p:sp>
        <p:nvSpPr>
          <p:cNvPr id="5" name="圆角矩形 4"/>
          <p:cNvSpPr/>
          <p:nvPr/>
        </p:nvSpPr>
        <p:spPr>
          <a:xfrm>
            <a:off x="3927831" y="2321520"/>
            <a:ext cx="2130904" cy="430877"/>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4115238" y="2321521"/>
            <a:ext cx="1752659" cy="446276"/>
          </a:xfrm>
          <a:prstGeom prst="rect">
            <a:avLst/>
          </a:prstGeom>
          <a:noFill/>
        </p:spPr>
        <p:txBody>
          <a:bodyPr wrap="none" rtlCol="0">
            <a:spAutoFit/>
          </a:bodyPr>
          <a:lstStyle/>
          <a:p>
            <a:r>
              <a:rPr lang="en-US" altLang="zh-CN" dirty="0" err="1" smtClean="0">
                <a:solidFill>
                  <a:srgbClr val="00B0F0"/>
                </a:solidFill>
                <a:latin typeface="Times New Roman" pitchFamily="18" charset="0"/>
                <a:cs typeface="Times New Roman" pitchFamily="18" charset="0"/>
              </a:rPr>
              <a:t>iTemperature</a:t>
            </a:r>
            <a:endParaRPr lang="zh-CN" altLang="en-US" dirty="0">
              <a:solidFill>
                <a:srgbClr val="00B0F0"/>
              </a:solidFill>
              <a:latin typeface="Times New Roman" pitchFamily="18" charset="0"/>
              <a:cs typeface="Times New Roman" pitchFamily="18" charset="0"/>
            </a:endParaRPr>
          </a:p>
        </p:txBody>
      </p:sp>
      <p:sp>
        <p:nvSpPr>
          <p:cNvPr id="7" name="TextBox 6"/>
          <p:cNvSpPr txBox="1"/>
          <p:nvPr/>
        </p:nvSpPr>
        <p:spPr>
          <a:xfrm>
            <a:off x="6101565" y="3695357"/>
            <a:ext cx="1827001" cy="338554"/>
          </a:xfrm>
          <a:prstGeom prst="rect">
            <a:avLst/>
          </a:prstGeom>
          <a:noFill/>
        </p:spPr>
        <p:txBody>
          <a:bodyPr wrap="square" rtlCol="0">
            <a:spAutoFit/>
          </a:bodyPr>
          <a:lstStyle/>
          <a:p>
            <a:r>
              <a:rPr lang="zh-CN" altLang="en-US" sz="1600" dirty="0"/>
              <a:t>反</a:t>
            </a:r>
            <a:r>
              <a:rPr lang="zh-CN" altLang="en-US" sz="1600" dirty="0" smtClean="0"/>
              <a:t>查</a:t>
            </a:r>
            <a:r>
              <a:rPr lang="en-US" altLang="zh-CN" sz="1600" dirty="0" smtClean="0">
                <a:latin typeface="Times New Roman" pitchFamily="18" charset="0"/>
                <a:cs typeface="Times New Roman" pitchFamily="18" charset="0"/>
              </a:rPr>
              <a:t>Y16-T</a:t>
            </a:r>
            <a:r>
              <a:rPr lang="zh-CN" altLang="en-US" sz="1600" dirty="0" smtClean="0"/>
              <a:t>表格</a:t>
            </a:r>
            <a:endParaRPr lang="zh-CN" altLang="en-US" sz="1600" dirty="0"/>
          </a:p>
        </p:txBody>
      </p:sp>
      <p:sp>
        <p:nvSpPr>
          <p:cNvPr id="8" name="矩形 7"/>
          <p:cNvSpPr/>
          <p:nvPr/>
        </p:nvSpPr>
        <p:spPr>
          <a:xfrm>
            <a:off x="3655277" y="1345346"/>
            <a:ext cx="10089600" cy="800219"/>
          </a:xfrm>
          <a:prstGeom prst="rect">
            <a:avLst/>
          </a:prstGeom>
        </p:spPr>
        <p:txBody>
          <a:bodyPr wrap="square">
            <a:spAutoFit/>
          </a:bodyPr>
          <a:lstStyle/>
          <a:p>
            <a:r>
              <a:rPr lang="en-US" altLang="zh-CN" dirty="0" err="1">
                <a:latin typeface="Times New Roman" pitchFamily="18" charset="0"/>
                <a:cs typeface="Times New Roman" pitchFamily="18" charset="0"/>
              </a:rPr>
              <a:t>fEmissIndex</a:t>
            </a:r>
            <a:r>
              <a:rPr lang="en-US" altLang="zh-CN" dirty="0">
                <a:latin typeface="Times New Roman" pitchFamily="18" charset="0"/>
                <a:cs typeface="Times New Roman" pitchFamily="18" charset="0"/>
              </a:rPr>
              <a:t> = </a:t>
            </a:r>
            <a:r>
              <a:rPr lang="en-US" altLang="zh-CN" dirty="0" smtClean="0">
                <a:latin typeface="Times New Roman" pitchFamily="18" charset="0"/>
                <a:cs typeface="Times New Roman" pitchFamily="18" charset="0"/>
              </a:rPr>
              <a:t>fY16NoEmiss  </a:t>
            </a:r>
            <a:r>
              <a:rPr lang="en-US" altLang="zh-CN" dirty="0">
                <a:latin typeface="Times New Roman" pitchFamily="18" charset="0"/>
                <a:cs typeface="Times New Roman" pitchFamily="18" charset="0"/>
              </a:rPr>
              <a:t>- (</a:t>
            </a:r>
            <a:r>
              <a:rPr lang="en-US" altLang="zh-CN" dirty="0" smtClean="0">
                <a:latin typeface="Times New Roman" pitchFamily="18" charset="0"/>
                <a:cs typeface="Times New Roman" pitchFamily="18" charset="0"/>
              </a:rPr>
              <a:t>1 </a:t>
            </a:r>
            <a:r>
              <a:rPr lang="en-US" altLang="zh-CN" dirty="0">
                <a:latin typeface="Times New Roman" pitchFamily="18" charset="0"/>
                <a:cs typeface="Times New Roman" pitchFamily="18" charset="0"/>
              </a:rPr>
              <a:t>- </a:t>
            </a:r>
            <a:r>
              <a:rPr lang="en-US" altLang="zh-CN" dirty="0" err="1">
                <a:latin typeface="Times New Roman" pitchFamily="18" charset="0"/>
                <a:cs typeface="Times New Roman" pitchFamily="18" charset="0"/>
              </a:rPr>
              <a:t>nEmiss</a:t>
            </a:r>
            <a:r>
              <a:rPr lang="en-US" altLang="zh-CN" dirty="0">
                <a:latin typeface="Times New Roman" pitchFamily="18" charset="0"/>
                <a:cs typeface="Times New Roman" pitchFamily="18" charset="0"/>
              </a:rPr>
              <a:t>) </a:t>
            </a:r>
            <a:r>
              <a:rPr lang="en-US" altLang="zh-CN" dirty="0" smtClean="0">
                <a:latin typeface="Times New Roman" pitchFamily="18" charset="0"/>
                <a:cs typeface="Times New Roman" pitchFamily="18" charset="0"/>
              </a:rPr>
              <a:t>× nY16Reflect </a:t>
            </a:r>
            <a:endParaRPr lang="en-US" altLang="zh-CN" dirty="0">
              <a:latin typeface="Times New Roman" pitchFamily="18" charset="0"/>
              <a:cs typeface="Times New Roman" pitchFamily="18" charset="0"/>
            </a:endParaRPr>
          </a:p>
          <a:p>
            <a:r>
              <a:rPr lang="en-US" altLang="zh-CN" dirty="0">
                <a:latin typeface="Times New Roman" pitchFamily="18" charset="0"/>
                <a:cs typeface="Times New Roman" pitchFamily="18" charset="0"/>
              </a:rPr>
              <a:t> </a:t>
            </a:r>
            <a:r>
              <a:rPr lang="en-US" altLang="zh-CN" dirty="0" smtClean="0">
                <a:latin typeface="Times New Roman" pitchFamily="18" charset="0"/>
                <a:cs typeface="Times New Roman" pitchFamily="18" charset="0"/>
              </a:rPr>
              <a:t>                                                    </a:t>
            </a:r>
            <a:r>
              <a:rPr lang="en-US" altLang="zh-CN" dirty="0" err="1" smtClean="0">
                <a:latin typeface="Times New Roman" pitchFamily="18" charset="0"/>
                <a:cs typeface="Times New Roman" pitchFamily="18" charset="0"/>
              </a:rPr>
              <a:t>nEmiss</a:t>
            </a:r>
            <a:endParaRPr lang="zh-CN" altLang="en-US" dirty="0"/>
          </a:p>
        </p:txBody>
      </p:sp>
      <p:sp>
        <p:nvSpPr>
          <p:cNvPr id="9" name="矩形 8"/>
          <p:cNvSpPr/>
          <p:nvPr/>
        </p:nvSpPr>
        <p:spPr>
          <a:xfrm>
            <a:off x="5840334" y="3193802"/>
            <a:ext cx="2233304" cy="446276"/>
          </a:xfrm>
          <a:prstGeom prst="rect">
            <a:avLst/>
          </a:prstGeom>
        </p:spPr>
        <p:txBody>
          <a:bodyPr wrap="none">
            <a:spAutoFit/>
          </a:bodyPr>
          <a:lstStyle/>
          <a:p>
            <a:r>
              <a:rPr lang="en-US" altLang="zh-CN" dirty="0" err="1">
                <a:solidFill>
                  <a:schemeClr val="accent4">
                    <a:lumMod val="75000"/>
                  </a:schemeClr>
                </a:solidFill>
                <a:latin typeface="Times New Roman" pitchFamily="18" charset="0"/>
                <a:cs typeface="Times New Roman" pitchFamily="18" charset="0"/>
              </a:rPr>
              <a:t>nEmissCurveLen</a:t>
            </a:r>
            <a:endParaRPr lang="zh-CN" altLang="en-US" dirty="0">
              <a:solidFill>
                <a:schemeClr val="accent4">
                  <a:lumMod val="75000"/>
                </a:schemeClr>
              </a:solidFill>
              <a:latin typeface="Times New Roman" pitchFamily="18" charset="0"/>
              <a:cs typeface="Times New Roman" pitchFamily="18" charset="0"/>
            </a:endParaRPr>
          </a:p>
        </p:txBody>
      </p:sp>
      <p:sp>
        <p:nvSpPr>
          <p:cNvPr id="10" name="圆角矩形 9"/>
          <p:cNvSpPr/>
          <p:nvPr/>
        </p:nvSpPr>
        <p:spPr>
          <a:xfrm>
            <a:off x="5840334" y="3140700"/>
            <a:ext cx="2275656" cy="552480"/>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a:endCxn id="5" idx="2"/>
          </p:cNvCxnSpPr>
          <p:nvPr/>
        </p:nvCxnSpPr>
        <p:spPr>
          <a:xfrm flipV="1">
            <a:off x="4991567" y="2752397"/>
            <a:ext cx="1716" cy="1395096"/>
          </a:xfrm>
          <a:prstGeom prst="straightConnector1">
            <a:avLst/>
          </a:prstGeom>
          <a:ln w="3175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8395320" y="2321520"/>
            <a:ext cx="1477462" cy="435556"/>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8217316" y="2321521"/>
            <a:ext cx="1808679" cy="446276"/>
          </a:xfrm>
          <a:prstGeom prst="rect">
            <a:avLst/>
          </a:prstGeom>
          <a:noFill/>
        </p:spPr>
        <p:txBody>
          <a:bodyPr wrap="square" rtlCol="0">
            <a:spAutoFit/>
          </a:bodyPr>
          <a:lstStyle/>
          <a:p>
            <a:pPr algn="ctr"/>
            <a:r>
              <a:rPr lang="en-US" altLang="zh-CN" dirty="0" err="1" smtClean="0">
                <a:solidFill>
                  <a:srgbClr val="00B0F0"/>
                </a:solidFill>
                <a:latin typeface="Times New Roman" pitchFamily="18" charset="0"/>
                <a:cs typeface="Times New Roman" pitchFamily="18" charset="0"/>
              </a:rPr>
              <a:t>reflectT</a:t>
            </a:r>
            <a:endParaRPr lang="zh-CN" altLang="en-US" dirty="0">
              <a:solidFill>
                <a:srgbClr val="00B0F0"/>
              </a:solidFill>
              <a:latin typeface="Times New Roman" pitchFamily="18" charset="0"/>
              <a:cs typeface="Times New Roman" pitchFamily="18" charset="0"/>
            </a:endParaRPr>
          </a:p>
        </p:txBody>
      </p:sp>
      <p:cxnSp>
        <p:nvCxnSpPr>
          <p:cNvPr id="15" name="直接箭头连接符 14"/>
          <p:cNvCxnSpPr/>
          <p:nvPr/>
        </p:nvCxnSpPr>
        <p:spPr>
          <a:xfrm flipV="1">
            <a:off x="9121655" y="2747988"/>
            <a:ext cx="1716" cy="1395094"/>
          </a:xfrm>
          <a:prstGeom prst="straightConnector1">
            <a:avLst/>
          </a:prstGeom>
          <a:ln w="3175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4311729" y="4162246"/>
            <a:ext cx="1960653" cy="360040"/>
          </a:xfrm>
          <a:prstGeom prst="roundRect">
            <a:avLst/>
          </a:prstGeom>
          <a:no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endCxn id="10" idx="1"/>
          </p:cNvCxnSpPr>
          <p:nvPr/>
        </p:nvCxnSpPr>
        <p:spPr>
          <a:xfrm>
            <a:off x="4991567" y="3416940"/>
            <a:ext cx="848767" cy="0"/>
          </a:xfrm>
          <a:prstGeom prst="straightConnector1">
            <a:avLst/>
          </a:prstGeom>
          <a:ln w="3175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10" idx="3"/>
          </p:cNvCxnSpPr>
          <p:nvPr/>
        </p:nvCxnSpPr>
        <p:spPr>
          <a:xfrm flipH="1">
            <a:off x="8115990" y="3416940"/>
            <a:ext cx="1005665" cy="0"/>
          </a:xfrm>
          <a:prstGeom prst="straightConnector1">
            <a:avLst/>
          </a:prstGeom>
          <a:ln w="3175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6573202" y="5992791"/>
            <a:ext cx="1242425" cy="428640"/>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6752689" y="5983973"/>
            <a:ext cx="857927" cy="446276"/>
          </a:xfrm>
          <a:prstGeom prst="rect">
            <a:avLst/>
          </a:prstGeom>
          <a:noFill/>
        </p:spPr>
        <p:txBody>
          <a:bodyPr wrap="none" rtlCol="0">
            <a:spAutoFit/>
          </a:bodyPr>
          <a:lstStyle/>
          <a:p>
            <a:r>
              <a:rPr lang="en-US" altLang="zh-CN" dirty="0" err="1" smtClean="0">
                <a:solidFill>
                  <a:srgbClr val="00B0F0"/>
                </a:solidFill>
                <a:latin typeface="Times New Roman" pitchFamily="18" charset="0"/>
                <a:cs typeface="Times New Roman" pitchFamily="18" charset="0"/>
              </a:rPr>
              <a:t>emiss</a:t>
            </a:r>
            <a:endParaRPr lang="zh-CN" altLang="en-US" dirty="0">
              <a:solidFill>
                <a:srgbClr val="00B0F0"/>
              </a:solidFill>
              <a:latin typeface="Times New Roman" pitchFamily="18" charset="0"/>
              <a:cs typeface="Times New Roman" pitchFamily="18" charset="0"/>
            </a:endParaRPr>
          </a:p>
        </p:txBody>
      </p:sp>
      <p:sp>
        <p:nvSpPr>
          <p:cNvPr id="22" name="圆角矩形 21"/>
          <p:cNvSpPr/>
          <p:nvPr/>
        </p:nvSpPr>
        <p:spPr>
          <a:xfrm>
            <a:off x="2320396" y="4323102"/>
            <a:ext cx="1757669" cy="446276"/>
          </a:xfrm>
          <a:prstGeom prst="roundRect">
            <a:avLst/>
          </a:prstGeom>
          <a:no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5287099" y="2960680"/>
            <a:ext cx="378936" cy="360040"/>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1</a:t>
            </a:r>
            <a:endParaRPr lang="zh-CN" altLang="en-US" sz="2000" dirty="0">
              <a:solidFill>
                <a:schemeClr val="tx1"/>
              </a:solidFill>
            </a:endParaRPr>
          </a:p>
        </p:txBody>
      </p:sp>
      <p:sp>
        <p:nvSpPr>
          <p:cNvPr id="24" name="圆角矩形 23"/>
          <p:cNvSpPr/>
          <p:nvPr/>
        </p:nvSpPr>
        <p:spPr>
          <a:xfrm>
            <a:off x="2601466" y="5992791"/>
            <a:ext cx="1242425" cy="428640"/>
          </a:xfrm>
          <a:prstGeom prst="round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p:cNvSpPr txBox="1"/>
          <p:nvPr/>
        </p:nvSpPr>
        <p:spPr>
          <a:xfrm>
            <a:off x="2591594" y="5992791"/>
            <a:ext cx="1233030" cy="446276"/>
          </a:xfrm>
          <a:prstGeom prst="rect">
            <a:avLst/>
          </a:prstGeom>
          <a:noFill/>
        </p:spPr>
        <p:txBody>
          <a:bodyPr wrap="none" rtlCol="0">
            <a:spAutoFit/>
          </a:bodyPr>
          <a:lstStyle/>
          <a:p>
            <a:r>
              <a:rPr lang="en-US" altLang="zh-CN" dirty="0" err="1" smtClean="0">
                <a:solidFill>
                  <a:schemeClr val="tx2"/>
                </a:solidFill>
                <a:latin typeface="Times New Roman" pitchFamily="18" charset="0"/>
                <a:cs typeface="Times New Roman" pitchFamily="18" charset="0"/>
              </a:rPr>
              <a:t>nTEmiss</a:t>
            </a:r>
            <a:endParaRPr lang="zh-CN" altLang="en-US" dirty="0">
              <a:solidFill>
                <a:schemeClr val="tx2"/>
              </a:solidFill>
              <a:latin typeface="Times New Roman" pitchFamily="18" charset="0"/>
              <a:cs typeface="Times New Roman" pitchFamily="18" charset="0"/>
            </a:endParaRPr>
          </a:p>
        </p:txBody>
      </p:sp>
      <p:cxnSp>
        <p:nvCxnSpPr>
          <p:cNvPr id="26" name="直接箭头连接符 25"/>
          <p:cNvCxnSpPr>
            <a:endCxn id="20" idx="0"/>
          </p:cNvCxnSpPr>
          <p:nvPr/>
        </p:nvCxnSpPr>
        <p:spPr>
          <a:xfrm>
            <a:off x="7181653" y="4988545"/>
            <a:ext cx="0" cy="995428"/>
          </a:xfrm>
          <a:prstGeom prst="straightConnector1">
            <a:avLst/>
          </a:prstGeom>
          <a:ln w="3175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5" idx="0"/>
          </p:cNvCxnSpPr>
          <p:nvPr/>
        </p:nvCxnSpPr>
        <p:spPr>
          <a:xfrm flipV="1">
            <a:off x="3208109" y="4769378"/>
            <a:ext cx="5820" cy="1223413"/>
          </a:xfrm>
          <a:prstGeom prst="straightConnector1">
            <a:avLst/>
          </a:prstGeom>
          <a:ln w="31750">
            <a:solidFill>
              <a:schemeClr val="tx2">
                <a:lumMod val="60000"/>
                <a:lumOff val="4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8553041" y="3013782"/>
            <a:ext cx="378936" cy="360040"/>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1</a:t>
            </a:r>
            <a:endParaRPr lang="zh-CN" altLang="en-US" sz="2000" dirty="0">
              <a:solidFill>
                <a:schemeClr val="tx1"/>
              </a:solidFill>
            </a:endParaRPr>
          </a:p>
        </p:txBody>
      </p:sp>
      <p:sp>
        <p:nvSpPr>
          <p:cNvPr id="29" name="椭圆 28"/>
          <p:cNvSpPr/>
          <p:nvPr/>
        </p:nvSpPr>
        <p:spPr>
          <a:xfrm>
            <a:off x="7285096" y="5152519"/>
            <a:ext cx="378936" cy="360040"/>
          </a:xfrm>
          <a:prstGeom prst="ellipse">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1</a:t>
            </a:r>
            <a:endParaRPr lang="zh-CN" altLang="en-US" sz="2000" dirty="0">
              <a:solidFill>
                <a:schemeClr val="tx1"/>
              </a:solidFill>
            </a:endParaRPr>
          </a:p>
        </p:txBody>
      </p:sp>
      <p:sp>
        <p:nvSpPr>
          <p:cNvPr id="30" name="椭圆 29"/>
          <p:cNvSpPr/>
          <p:nvPr/>
        </p:nvSpPr>
        <p:spPr>
          <a:xfrm>
            <a:off x="10462722" y="4162246"/>
            <a:ext cx="378936" cy="360040"/>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2</a:t>
            </a:r>
            <a:endParaRPr lang="zh-CN" altLang="en-US" sz="2000" dirty="0">
              <a:solidFill>
                <a:schemeClr val="tx1"/>
              </a:solidFill>
            </a:endParaRPr>
          </a:p>
        </p:txBody>
      </p:sp>
      <p:sp>
        <p:nvSpPr>
          <p:cNvPr id="31" name="椭圆 30"/>
          <p:cNvSpPr/>
          <p:nvPr/>
        </p:nvSpPr>
        <p:spPr>
          <a:xfrm>
            <a:off x="2513600" y="5115973"/>
            <a:ext cx="378936" cy="36004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tx1"/>
                </a:solidFill>
              </a:rPr>
              <a:t>3</a:t>
            </a:r>
            <a:endParaRPr lang="zh-CN" altLang="en-US" sz="2000" dirty="0">
              <a:solidFill>
                <a:schemeClr val="tx1"/>
              </a:solidFill>
            </a:endParaRPr>
          </a:p>
        </p:txBody>
      </p:sp>
      <p:sp>
        <p:nvSpPr>
          <p:cNvPr id="34" name="TextBox 33"/>
          <p:cNvSpPr txBox="1"/>
          <p:nvPr/>
        </p:nvSpPr>
        <p:spPr>
          <a:xfrm>
            <a:off x="3164566" y="5152519"/>
            <a:ext cx="1827001" cy="338554"/>
          </a:xfrm>
          <a:prstGeom prst="rect">
            <a:avLst/>
          </a:prstGeom>
          <a:noFill/>
        </p:spPr>
        <p:txBody>
          <a:bodyPr wrap="square" rtlCol="0">
            <a:spAutoFit/>
          </a:bodyPr>
          <a:lstStyle/>
          <a:p>
            <a:r>
              <a:rPr lang="zh-CN" altLang="en-US" sz="1600" dirty="0"/>
              <a:t>正</a:t>
            </a:r>
            <a:r>
              <a:rPr lang="zh-CN" altLang="en-US" sz="1600" dirty="0" smtClean="0"/>
              <a:t>查</a:t>
            </a:r>
            <a:r>
              <a:rPr lang="en-US" altLang="zh-CN" sz="1600" dirty="0" smtClean="0">
                <a:latin typeface="Times New Roman" pitchFamily="18" charset="0"/>
                <a:cs typeface="Times New Roman" pitchFamily="18" charset="0"/>
              </a:rPr>
              <a:t>Y16-T</a:t>
            </a:r>
            <a:r>
              <a:rPr lang="zh-CN" altLang="en-US" sz="1600" dirty="0" smtClean="0"/>
              <a:t>表格</a:t>
            </a:r>
            <a:endParaRPr lang="zh-CN" altLang="en-US" sz="1600" dirty="0"/>
          </a:p>
        </p:txBody>
      </p:sp>
      <p:sp>
        <p:nvSpPr>
          <p:cNvPr id="17412" name="矩形 17411"/>
          <p:cNvSpPr/>
          <p:nvPr/>
        </p:nvSpPr>
        <p:spPr>
          <a:xfrm>
            <a:off x="1223442" y="6727822"/>
            <a:ext cx="11486970" cy="1323439"/>
          </a:xfrm>
          <a:prstGeom prst="rect">
            <a:avLst/>
          </a:prstGeom>
        </p:spPr>
        <p:txBody>
          <a:bodyPr wrap="square">
            <a:spAutoFit/>
          </a:bodyPr>
          <a:lstStyle/>
          <a:p>
            <a:pPr lvl="0" defTabSz="1018852">
              <a:lnSpc>
                <a:spcPct val="200000"/>
              </a:lnSpc>
            </a:pPr>
            <a:r>
              <a:rPr lang="zh-CN" altLang="en-US" sz="2000" dirty="0" smtClean="0">
                <a:solidFill>
                  <a:srgbClr val="FF0000"/>
                </a:solidFill>
              </a:rPr>
              <a:t>存在的问题：</a:t>
            </a:r>
            <a:r>
              <a:rPr lang="en-US" altLang="zh-CN" sz="2000" dirty="0" smtClean="0">
                <a:solidFill>
                  <a:srgbClr val="000000"/>
                </a:solidFill>
              </a:rPr>
              <a:t>Y16</a:t>
            </a:r>
            <a:r>
              <a:rPr lang="zh-CN" altLang="en-US" sz="2000" dirty="0">
                <a:solidFill>
                  <a:srgbClr val="000000"/>
                </a:solidFill>
              </a:rPr>
              <a:t>和辐射量的关系不明确，至少不是绝对线性的</a:t>
            </a:r>
            <a:r>
              <a:rPr lang="zh-CN" altLang="en-US" sz="2000" dirty="0" smtClean="0">
                <a:solidFill>
                  <a:srgbClr val="000000"/>
                </a:solidFill>
              </a:rPr>
              <a:t>，该发射率修正方法在</a:t>
            </a:r>
            <a:r>
              <a:rPr lang="zh-CN" altLang="en-US" sz="2000" dirty="0">
                <a:solidFill>
                  <a:srgbClr val="000000"/>
                </a:solidFill>
              </a:rPr>
              <a:t>低温或低发射率情况下会出现较大误差，而且两次反查表</a:t>
            </a:r>
            <a:r>
              <a:rPr lang="zh-CN" altLang="en-US" sz="2000" dirty="0" smtClean="0">
                <a:solidFill>
                  <a:srgbClr val="000000"/>
                </a:solidFill>
              </a:rPr>
              <a:t>格比较耗费资源。</a:t>
            </a:r>
            <a:endParaRPr lang="zh-CN" altLang="en-US" sz="2000" dirty="0">
              <a:solidFill>
                <a:srgbClr val="000000"/>
              </a:solidFill>
            </a:endParaRPr>
          </a:p>
        </p:txBody>
      </p:sp>
      <p:sp>
        <p:nvSpPr>
          <p:cNvPr id="32" name="矩形 31"/>
          <p:cNvSpPr/>
          <p:nvPr/>
        </p:nvSpPr>
        <p:spPr>
          <a:xfrm>
            <a:off x="3095650" y="6552321"/>
            <a:ext cx="6710620" cy="338554"/>
          </a:xfrm>
          <a:prstGeom prst="rect">
            <a:avLst/>
          </a:prstGeom>
        </p:spPr>
        <p:txBody>
          <a:bodyPr wrap="none">
            <a:spAutoFit/>
          </a:bodyPr>
          <a:lstStyle/>
          <a:p>
            <a:r>
              <a:rPr lang="zh-CN" altLang="en-US" sz="1600" dirty="0"/>
              <a:t>其</a:t>
            </a:r>
            <a:r>
              <a:rPr lang="zh-CN" altLang="en-US" sz="1600" dirty="0" smtClean="0"/>
              <a:t>中，</a:t>
            </a:r>
            <a:r>
              <a:rPr lang="en-US" altLang="zh-CN" sz="1600" dirty="0" err="1" smtClean="0">
                <a:latin typeface="Times New Roman" pitchFamily="18" charset="0"/>
                <a:cs typeface="Times New Roman" pitchFamily="18" charset="0"/>
              </a:rPr>
              <a:t>iTemperature</a:t>
            </a:r>
            <a:r>
              <a:rPr lang="zh-CN" altLang="en-US" sz="1600" dirty="0" smtClean="0"/>
              <a:t>为未修正的温度，</a:t>
            </a:r>
            <a:r>
              <a:rPr lang="en-US" altLang="zh-CN" sz="1600" dirty="0" err="1" smtClean="0">
                <a:latin typeface="Times New Roman" pitchFamily="18" charset="0"/>
                <a:cs typeface="Times New Roman" pitchFamily="18" charset="0"/>
              </a:rPr>
              <a:t>reflectT</a:t>
            </a:r>
            <a:r>
              <a:rPr lang="zh-CN" altLang="en-US" sz="1600" dirty="0" smtClean="0"/>
              <a:t>为反射温度，</a:t>
            </a:r>
            <a:r>
              <a:rPr lang="en-US" altLang="zh-CN" sz="1600" dirty="0" err="1" smtClean="0">
                <a:latin typeface="Times New Roman" pitchFamily="18" charset="0"/>
                <a:cs typeface="Times New Roman" pitchFamily="18" charset="0"/>
              </a:rPr>
              <a:t>emiss</a:t>
            </a:r>
            <a:r>
              <a:rPr lang="zh-CN" altLang="en-US" sz="1600" dirty="0" smtClean="0"/>
              <a:t>为发射率</a:t>
            </a:r>
            <a:endParaRPr lang="zh-CN" altLang="en-US" sz="1600" dirty="0"/>
          </a:p>
        </p:txBody>
      </p:sp>
      <p:graphicFrame>
        <p:nvGraphicFramePr>
          <p:cNvPr id="33" name="对象 32"/>
          <p:cNvGraphicFramePr>
            <a:graphicFrameLocks noChangeAspect="1"/>
          </p:cNvGraphicFramePr>
          <p:nvPr>
            <p:extLst>
              <p:ext uri="{D42A27DB-BD31-4B8C-83A1-F6EECF244321}">
                <p14:modId xmlns:p14="http://schemas.microsoft.com/office/powerpoint/2010/main" val="1836002577"/>
              </p:ext>
            </p:extLst>
          </p:nvPr>
        </p:nvGraphicFramePr>
        <p:xfrm>
          <a:off x="2312759" y="4162246"/>
          <a:ext cx="7713236" cy="784749"/>
        </p:xfrm>
        <a:graphic>
          <a:graphicData uri="http://schemas.openxmlformats.org/presentationml/2006/ole">
            <mc:AlternateContent xmlns:mc="http://schemas.openxmlformats.org/markup-compatibility/2006">
              <mc:Choice xmlns:v="urn:schemas-microsoft-com:vml" Requires="v">
                <p:oleObj spid="_x0000_s29708" name="Equation" r:id="rId5" imgW="3429000" imgH="393480" progId="Equation.DSMT4">
                  <p:embed/>
                </p:oleObj>
              </mc:Choice>
              <mc:Fallback>
                <p:oleObj name="Equation" r:id="rId5" imgW="3429000" imgH="393480" progId="Equation.DSMT4">
                  <p:embed/>
                  <p:pic>
                    <p:nvPicPr>
                      <p:cNvPr id="0" name="对象 1"/>
                      <p:cNvPicPr>
                        <a:picLocks noChangeAspect="1" noChangeArrowheads="1"/>
                      </p:cNvPicPr>
                      <p:nvPr/>
                    </p:nvPicPr>
                    <p:blipFill>
                      <a:blip r:embed="rId6"/>
                      <a:srcRect/>
                      <a:stretch>
                        <a:fillRect/>
                      </a:stretch>
                    </p:blipFill>
                    <p:spPr bwMode="auto">
                      <a:xfrm>
                        <a:off x="2312759" y="4162246"/>
                        <a:ext cx="7713236" cy="784749"/>
                      </a:xfrm>
                      <a:prstGeom prst="rect">
                        <a:avLst/>
                      </a:prstGeom>
                      <a:noFill/>
                      <a:ln>
                        <a:noFill/>
                      </a:ln>
                    </p:spPr>
                  </p:pic>
                </p:oleObj>
              </mc:Fallback>
            </mc:AlternateContent>
          </a:graphicData>
        </a:graphic>
      </p:graphicFrame>
      <p:sp>
        <p:nvSpPr>
          <p:cNvPr id="39" name="圆角矩形 38"/>
          <p:cNvSpPr/>
          <p:nvPr/>
        </p:nvSpPr>
        <p:spPr>
          <a:xfrm>
            <a:off x="8113880" y="4152170"/>
            <a:ext cx="1914628" cy="383994"/>
          </a:xfrm>
          <a:prstGeom prst="roundRect">
            <a:avLst/>
          </a:prstGeom>
          <a:no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a:off x="6587457" y="4608522"/>
            <a:ext cx="1125085" cy="383994"/>
          </a:xfrm>
          <a:prstGeom prst="roundRect">
            <a:avLst/>
          </a:prstGeom>
          <a:no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418240"/>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3"/>
          <a:stretch>
            <a:fillRect/>
          </a:stretch>
        </p:blipFill>
        <p:spPr>
          <a:xfrm>
            <a:off x="246063" y="88900"/>
            <a:ext cx="1554162" cy="511175"/>
          </a:xfrm>
          <a:prstGeom prst="rect">
            <a:avLst/>
          </a:prstGeom>
          <a:noFill/>
          <a:ln w="9525">
            <a:noFill/>
          </a:ln>
        </p:spPr>
      </p:pic>
      <p:sp>
        <p:nvSpPr>
          <p:cNvPr id="65" name="文本框 64">
            <a:extLst>
              <a:ext uri="{FF2B5EF4-FFF2-40B4-BE49-F238E27FC236}">
                <a16:creationId xmlns="" xmlns:a16="http://schemas.microsoft.com/office/drawing/2014/main" id="{E0B61BD9-BF0A-9309-018D-4EF34DEE49C3}"/>
              </a:ext>
            </a:extLst>
          </p:cNvPr>
          <p:cNvSpPr txBox="1"/>
          <p:nvPr/>
        </p:nvSpPr>
        <p:spPr>
          <a:xfrm>
            <a:off x="1655490" y="1745456"/>
            <a:ext cx="9865096" cy="958660"/>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新发射率修正模块仿真：</a:t>
            </a:r>
            <a:endParaRPr lang="en-US" altLang="zh-CN" sz="2000" b="1" dirty="0">
              <a:solidFill>
                <a:srgbClr val="FF0000"/>
              </a:solidFill>
            </a:endParaRPr>
          </a:p>
          <a:p>
            <a:pPr defTabSz="1018852">
              <a:lnSpc>
                <a:spcPct val="150000"/>
              </a:lnSpc>
            </a:pPr>
            <a:endParaRPr lang="en-US" altLang="zh-CN" sz="2000" dirty="0" smtClean="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370" y="2825576"/>
            <a:ext cx="6696744" cy="241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35410" y="3329632"/>
            <a:ext cx="5256584" cy="5760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p:cNvCxnSpPr/>
          <p:nvPr/>
        </p:nvCxnSpPr>
        <p:spPr>
          <a:xfrm flipH="1">
            <a:off x="3563702" y="3899084"/>
            <a:ext cx="2628292" cy="202283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64">
            <a:extLst>
              <a:ext uri="{FF2B5EF4-FFF2-40B4-BE49-F238E27FC236}">
                <a16:creationId xmlns="" xmlns:a16="http://schemas.microsoft.com/office/drawing/2014/main" id="{E0B61BD9-BF0A-9309-018D-4EF34DEE49C3}"/>
              </a:ext>
            </a:extLst>
          </p:cNvPr>
          <p:cNvSpPr txBox="1"/>
          <p:nvPr/>
        </p:nvSpPr>
        <p:spPr>
          <a:xfrm>
            <a:off x="575370" y="5784888"/>
            <a:ext cx="6696744" cy="1754326"/>
          </a:xfrm>
          <a:prstGeom prst="rect">
            <a:avLst/>
          </a:prstGeom>
          <a:noFill/>
        </p:spPr>
        <p:txBody>
          <a:bodyPr wrap="square" rtlCol="0">
            <a:spAutoFit/>
          </a:bodyPr>
          <a:lstStyle/>
          <a:p>
            <a:pPr algn="just" defTabSz="1018852">
              <a:lnSpc>
                <a:spcPct val="150000"/>
              </a:lnSpc>
            </a:pPr>
            <a:r>
              <a:rPr lang="zh-CN" altLang="en-US" sz="1800" dirty="0" smtClean="0">
                <a:latin typeface="Times New Roman" pitchFamily="18" charset="0"/>
                <a:cs typeface="Times New Roman" pitchFamily="18" charset="0"/>
              </a:rPr>
              <a:t>其中，</a:t>
            </a:r>
            <a:r>
              <a:rPr lang="en-US" altLang="zh-CN" sz="1800" dirty="0" smtClean="0">
                <a:solidFill>
                  <a:srgbClr val="FF0000"/>
                </a:solidFill>
                <a:latin typeface="Times New Roman" pitchFamily="18" charset="0"/>
                <a:cs typeface="Times New Roman" pitchFamily="18" charset="0"/>
              </a:rPr>
              <a:t>t1</a:t>
            </a:r>
            <a:r>
              <a:rPr lang="zh-CN" altLang="en-US" sz="1800" dirty="0" smtClean="0">
                <a:latin typeface="Times New Roman" pitchFamily="18" charset="0"/>
                <a:cs typeface="Times New Roman" pitchFamily="18" charset="0"/>
              </a:rPr>
              <a:t>为</a:t>
            </a:r>
            <a:r>
              <a:rPr lang="zh-CN" altLang="en-US" sz="1800" dirty="0" smtClean="0">
                <a:solidFill>
                  <a:srgbClr val="FF0000"/>
                </a:solidFill>
                <a:latin typeface="Times New Roman" pitchFamily="18" charset="0"/>
                <a:cs typeface="Times New Roman" pitchFamily="18" charset="0"/>
              </a:rPr>
              <a:t>待修正温度</a:t>
            </a:r>
            <a:r>
              <a:rPr lang="zh-CN" altLang="en-US" sz="1800" dirty="0" smtClean="0">
                <a:latin typeface="Times New Roman" pitchFamily="18" charset="0"/>
                <a:cs typeface="Times New Roman" pitchFamily="18" charset="0"/>
              </a:rPr>
              <a:t>，通过调取</a:t>
            </a:r>
            <a:r>
              <a:rPr lang="en-US" altLang="zh-CN" sz="1800" dirty="0" smtClean="0">
                <a:latin typeface="Times New Roman" pitchFamily="18" charset="0"/>
                <a:cs typeface="Times New Roman" pitchFamily="18" charset="0"/>
              </a:rPr>
              <a:t>1.0</a:t>
            </a:r>
            <a:r>
              <a:rPr lang="zh-CN" altLang="en-US" sz="1800" dirty="0" smtClean="0">
                <a:latin typeface="Times New Roman" pitchFamily="18" charset="0"/>
                <a:cs typeface="Times New Roman" pitchFamily="18" charset="0"/>
              </a:rPr>
              <a:t>发射率测温曲线获得；</a:t>
            </a:r>
            <a:r>
              <a:rPr lang="en-US" altLang="zh-CN" sz="1800" dirty="0" err="1" smtClean="0">
                <a:solidFill>
                  <a:srgbClr val="FF0000"/>
                </a:solidFill>
                <a:latin typeface="Times New Roman" pitchFamily="18" charset="0"/>
                <a:cs typeface="Times New Roman" pitchFamily="18" charset="0"/>
              </a:rPr>
              <a:t>em</a:t>
            </a:r>
            <a:r>
              <a:rPr lang="zh-CN" altLang="en-US" sz="1800" dirty="0" smtClean="0">
                <a:latin typeface="Times New Roman" pitchFamily="18" charset="0"/>
                <a:cs typeface="Times New Roman" pitchFamily="18" charset="0"/>
              </a:rPr>
              <a:t>为</a:t>
            </a:r>
            <a:r>
              <a:rPr lang="zh-CN" altLang="en-US" sz="1800" dirty="0" smtClean="0">
                <a:solidFill>
                  <a:srgbClr val="FF0000"/>
                </a:solidFill>
                <a:latin typeface="Times New Roman" pitchFamily="18" charset="0"/>
                <a:cs typeface="Times New Roman" pitchFamily="18" charset="0"/>
              </a:rPr>
              <a:t>发射率</a:t>
            </a:r>
            <a:r>
              <a:rPr lang="zh-CN" altLang="en-US" sz="1800" dirty="0" smtClean="0">
                <a:latin typeface="Times New Roman" pitchFamily="18" charset="0"/>
                <a:cs typeface="Times New Roman" pitchFamily="18" charset="0"/>
              </a:rPr>
              <a:t>，</a:t>
            </a:r>
            <a:r>
              <a:rPr lang="en-US" altLang="zh-CN" sz="1800" dirty="0" smtClean="0">
                <a:solidFill>
                  <a:srgbClr val="FF0000"/>
                </a:solidFill>
                <a:latin typeface="Times New Roman" pitchFamily="18" charset="0"/>
                <a:cs typeface="Times New Roman" pitchFamily="18" charset="0"/>
              </a:rPr>
              <a:t>t2</a:t>
            </a:r>
            <a:r>
              <a:rPr lang="zh-CN" altLang="en-US" sz="1800" dirty="0" smtClean="0">
                <a:latin typeface="Times New Roman" pitchFamily="18" charset="0"/>
                <a:cs typeface="Times New Roman" pitchFamily="18" charset="0"/>
              </a:rPr>
              <a:t>为</a:t>
            </a:r>
            <a:r>
              <a:rPr lang="zh-CN" altLang="en-US" sz="1800" dirty="0" smtClean="0">
                <a:solidFill>
                  <a:srgbClr val="FF0000"/>
                </a:solidFill>
                <a:latin typeface="Times New Roman" pitchFamily="18" charset="0"/>
                <a:cs typeface="Times New Roman" pitchFamily="18" charset="0"/>
              </a:rPr>
              <a:t>环境温度</a:t>
            </a:r>
            <a:r>
              <a:rPr lang="zh-CN" altLang="en-US" sz="1800" dirty="0" smtClean="0">
                <a:latin typeface="Times New Roman" pitchFamily="18" charset="0"/>
                <a:cs typeface="Times New Roman" pitchFamily="18" charset="0"/>
              </a:rPr>
              <a:t>，需要手动进行设置。</a:t>
            </a:r>
            <a:endParaRPr lang="en-US" altLang="zh-CN" sz="1800" dirty="0" smtClean="0">
              <a:latin typeface="Times New Roman" pitchFamily="18" charset="0"/>
              <a:cs typeface="Times New Roman" pitchFamily="18" charset="0"/>
            </a:endParaRPr>
          </a:p>
          <a:p>
            <a:pPr algn="just" defTabSz="1018852">
              <a:lnSpc>
                <a:spcPct val="150000"/>
              </a:lnSpc>
            </a:pPr>
            <a:r>
              <a:rPr lang="zh-CN" altLang="en-US" sz="1800" dirty="0" smtClean="0">
                <a:latin typeface="Times New Roman" pitchFamily="18" charset="0"/>
                <a:cs typeface="Times New Roman" pitchFamily="18" charset="0"/>
              </a:rPr>
              <a:t>基于函数二分法求解修正后的温度，在保持二位小数精度的前提下响应时间控制在</a:t>
            </a:r>
            <a:r>
              <a:rPr lang="en-US" altLang="zh-CN" sz="1800" dirty="0">
                <a:latin typeface="Times New Roman" pitchFamily="18" charset="0"/>
                <a:cs typeface="Times New Roman" pitchFamily="18" charset="0"/>
              </a:rPr>
              <a:t>1</a:t>
            </a:r>
            <a:r>
              <a:rPr lang="en-US" altLang="zh-CN" sz="1800" dirty="0" smtClean="0">
                <a:latin typeface="Times New Roman" pitchFamily="18" charset="0"/>
                <a:cs typeface="Times New Roman" pitchFamily="18" charset="0"/>
              </a:rPr>
              <a:t>0ms</a:t>
            </a:r>
            <a:r>
              <a:rPr lang="zh-CN" altLang="en-US" sz="1800" dirty="0" smtClean="0">
                <a:latin typeface="Times New Roman" pitchFamily="18" charset="0"/>
                <a:cs typeface="Times New Roman" pitchFamily="18" charset="0"/>
              </a:rPr>
              <a:t>以内。</a:t>
            </a:r>
            <a:endParaRPr lang="en-US" altLang="zh-CN" sz="1800" dirty="0">
              <a:latin typeface="Times New Roman" pitchFamily="18" charset="0"/>
              <a:cs typeface="Times New Roman" pitchFamily="18" charset="0"/>
            </a:endParaRPr>
          </a:p>
        </p:txBody>
      </p:sp>
      <p:pic>
        <p:nvPicPr>
          <p:cNvPr id="153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4122" y="1714896"/>
            <a:ext cx="7038975"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文本框 1"/>
          <p:cNvSpPr txBox="1"/>
          <p:nvPr/>
        </p:nvSpPr>
        <p:spPr>
          <a:xfrm>
            <a:off x="333375" y="1054735"/>
            <a:ext cx="11979299" cy="800219"/>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a:solidFill>
                  <a:schemeClr val="tx2"/>
                </a:solidFill>
                <a:latin typeface="+mn-ea"/>
                <a:ea typeface="+mn-ea"/>
                <a:sym typeface="+mn-ea"/>
              </a:rPr>
              <a:t>发射率修正模块更新</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spTree>
    <p:extLst>
      <p:ext uri="{BB962C8B-B14F-4D97-AF65-F5344CB8AC3E}">
        <p14:creationId xmlns:p14="http://schemas.microsoft.com/office/powerpoint/2010/main" val="76589972"/>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32154" y="2465536"/>
            <a:ext cx="6408712" cy="2376264"/>
          </a:xfrm>
          <a:prstGeom prst="rect">
            <a:avLst/>
          </a:prstGeom>
          <a:solidFill>
            <a:schemeClr val="accent3">
              <a:lumMod val="40000"/>
              <a:lumOff val="60000"/>
            </a:scheme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410" name="Picture 9"/>
          <p:cNvPicPr>
            <a:picLocks noChangeAspect="1"/>
          </p:cNvPicPr>
          <p:nvPr/>
        </p:nvPicPr>
        <p:blipFill>
          <a:blip r:embed="rId4"/>
          <a:stretch>
            <a:fillRect/>
          </a:stretch>
        </p:blipFill>
        <p:spPr>
          <a:xfrm>
            <a:off x="246063" y="88900"/>
            <a:ext cx="1554162" cy="511175"/>
          </a:xfrm>
          <a:prstGeom prst="rect">
            <a:avLst/>
          </a:prstGeom>
          <a:noFill/>
          <a:ln w="9525">
            <a:noFill/>
          </a:ln>
        </p:spPr>
      </p:pic>
      <p:sp>
        <p:nvSpPr>
          <p:cNvPr id="8" name="文本框 1"/>
          <p:cNvSpPr txBox="1"/>
          <p:nvPr/>
        </p:nvSpPr>
        <p:spPr>
          <a:xfrm>
            <a:off x="333375" y="1054735"/>
            <a:ext cx="11979299" cy="800219"/>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a:solidFill>
                  <a:schemeClr val="tx2"/>
                </a:solidFill>
                <a:latin typeface="+mn-ea"/>
                <a:ea typeface="+mn-ea"/>
                <a:sym typeface="+mn-ea"/>
              </a:rPr>
              <a:t>发射率修正模块更新</a:t>
            </a:r>
            <a:endParaRPr kumimoji="0" lang="en-US" altLang="zh-CN" b="1" kern="1200" cap="none" spc="0" normalizeH="0" baseline="0" noProof="0" dirty="0">
              <a:solidFill>
                <a:schemeClr val="tx2"/>
              </a:solidFill>
              <a:latin typeface="+mn-ea"/>
              <a:ea typeface="+mn-ea"/>
              <a:cs typeface="+mn-cs"/>
            </a:endParaRPr>
          </a:p>
          <a:p>
            <a:endParaRPr lang="zh-CN" altLang="en-US" dirty="0"/>
          </a:p>
        </p:txBody>
      </p:sp>
      <p:pic>
        <p:nvPicPr>
          <p:cNvPr id="21506" name="Picture 2" descr="D:\WXWork\1688856525462962\Cache\Image\2023-12\IMG_433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18577" y="2554004"/>
            <a:ext cx="1237122" cy="2199328"/>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64">
            <a:extLst>
              <a:ext uri="{FF2B5EF4-FFF2-40B4-BE49-F238E27FC236}">
                <a16:creationId xmlns="" xmlns:a16="http://schemas.microsoft.com/office/drawing/2014/main" id="{E0B61BD9-BF0A-9309-018D-4EF34DEE49C3}"/>
              </a:ext>
            </a:extLst>
          </p:cNvPr>
          <p:cNvSpPr txBox="1"/>
          <p:nvPr/>
        </p:nvSpPr>
        <p:spPr>
          <a:xfrm>
            <a:off x="9504362" y="2465536"/>
            <a:ext cx="3816424" cy="2169825"/>
          </a:xfrm>
          <a:prstGeom prst="rect">
            <a:avLst/>
          </a:prstGeom>
          <a:noFill/>
        </p:spPr>
        <p:txBody>
          <a:bodyPr wrap="square" rtlCol="0">
            <a:spAutoFit/>
          </a:bodyPr>
          <a:lstStyle/>
          <a:p>
            <a:pPr lvl="0" algn="just" defTabSz="1018852">
              <a:lnSpc>
                <a:spcPct val="150000"/>
              </a:lnSpc>
            </a:pPr>
            <a:r>
              <a:rPr lang="zh-CN" altLang="en-US" sz="1800" dirty="0" smtClean="0">
                <a:solidFill>
                  <a:srgbClr val="000000"/>
                </a:solidFill>
                <a:latin typeface="Times New Roman" pitchFamily="18" charset="0"/>
                <a:cs typeface="Times New Roman" pitchFamily="18" charset="0"/>
              </a:rPr>
              <a:t>其中，</a:t>
            </a:r>
            <a:r>
              <a:rPr lang="en-US" altLang="zh-CN" sz="1800" dirty="0" smtClean="0">
                <a:solidFill>
                  <a:srgbClr val="000000"/>
                </a:solidFill>
                <a:latin typeface="Times New Roman" pitchFamily="18" charset="0"/>
                <a:cs typeface="Times New Roman" pitchFamily="18" charset="0"/>
              </a:rPr>
              <a:t>50</a:t>
            </a:r>
            <a:r>
              <a:rPr lang="zh-CN" altLang="en-US" sz="1800" dirty="0" smtClean="0">
                <a:solidFill>
                  <a:srgbClr val="000000"/>
                </a:solidFill>
                <a:latin typeface="Times New Roman" pitchFamily="18" charset="0"/>
                <a:cs typeface="Times New Roman" pitchFamily="18" charset="0"/>
              </a:rPr>
              <a:t>℃以下的温度点绝对误差在</a:t>
            </a:r>
            <a:r>
              <a:rPr lang="en-US" altLang="zh-CN" sz="1800" dirty="0" smtClean="0">
                <a:solidFill>
                  <a:srgbClr val="000000"/>
                </a:solidFill>
                <a:latin typeface="Times New Roman" pitchFamily="18" charset="0"/>
                <a:cs typeface="Times New Roman" pitchFamily="18" charset="0"/>
              </a:rPr>
              <a:t>2</a:t>
            </a:r>
            <a:r>
              <a:rPr lang="zh-CN" altLang="en-US" sz="1800" dirty="0" smtClean="0">
                <a:solidFill>
                  <a:srgbClr val="000000"/>
                </a:solidFill>
                <a:latin typeface="Times New Roman" pitchFamily="18" charset="0"/>
                <a:cs typeface="Times New Roman" pitchFamily="18" charset="0"/>
              </a:rPr>
              <a:t>℃以内，</a:t>
            </a:r>
            <a:r>
              <a:rPr lang="en-US" altLang="zh-CN" sz="1800" dirty="0" smtClean="0">
                <a:solidFill>
                  <a:srgbClr val="000000"/>
                </a:solidFill>
                <a:latin typeface="Times New Roman" pitchFamily="18" charset="0"/>
                <a:cs typeface="Times New Roman" pitchFamily="18" charset="0"/>
              </a:rPr>
              <a:t>50</a:t>
            </a:r>
            <a:r>
              <a:rPr lang="zh-CN" altLang="en-US" sz="1800" dirty="0" smtClean="0">
                <a:solidFill>
                  <a:srgbClr val="000000"/>
                </a:solidFill>
                <a:latin typeface="Times New Roman" pitchFamily="18" charset="0"/>
                <a:cs typeface="Times New Roman" pitchFamily="18" charset="0"/>
              </a:rPr>
              <a:t>℃以上温度点误差均在</a:t>
            </a:r>
            <a:r>
              <a:rPr lang="en-US" altLang="zh-CN" sz="1800" dirty="0" smtClean="0">
                <a:solidFill>
                  <a:srgbClr val="000000"/>
                </a:solidFill>
                <a:latin typeface="Times New Roman" pitchFamily="18" charset="0"/>
                <a:cs typeface="Times New Roman" pitchFamily="18" charset="0"/>
              </a:rPr>
              <a:t>2%</a:t>
            </a:r>
            <a:r>
              <a:rPr lang="zh-CN" altLang="en-US" sz="1800" dirty="0" smtClean="0">
                <a:solidFill>
                  <a:srgbClr val="000000"/>
                </a:solidFill>
                <a:latin typeface="Times New Roman" pitchFamily="18" charset="0"/>
                <a:cs typeface="Times New Roman" pitchFamily="18" charset="0"/>
              </a:rPr>
              <a:t>以内；个别高温点在低发射率下误差超过</a:t>
            </a:r>
            <a:r>
              <a:rPr lang="en-US" altLang="zh-CN" sz="1800" dirty="0" smtClean="0">
                <a:solidFill>
                  <a:srgbClr val="000000"/>
                </a:solidFill>
                <a:latin typeface="Times New Roman" pitchFamily="18" charset="0"/>
                <a:cs typeface="Times New Roman" pitchFamily="18" charset="0"/>
              </a:rPr>
              <a:t>5</a:t>
            </a:r>
            <a:r>
              <a:rPr lang="zh-CN" altLang="en-US" sz="1800" dirty="0" smtClean="0">
                <a:solidFill>
                  <a:srgbClr val="000000"/>
                </a:solidFill>
                <a:latin typeface="Times New Roman" pitchFamily="18" charset="0"/>
                <a:cs typeface="Times New Roman" pitchFamily="18" charset="0"/>
              </a:rPr>
              <a:t>℃，主要是在</a:t>
            </a:r>
            <a:r>
              <a:rPr lang="en-US" altLang="zh-CN" sz="1800" dirty="0" smtClean="0">
                <a:solidFill>
                  <a:srgbClr val="000000"/>
                </a:solidFill>
                <a:latin typeface="Times New Roman" pitchFamily="18" charset="0"/>
                <a:cs typeface="Times New Roman" pitchFamily="18" charset="0"/>
              </a:rPr>
              <a:t>1.0</a:t>
            </a:r>
            <a:r>
              <a:rPr lang="zh-CN" altLang="en-US" sz="1800" dirty="0" smtClean="0">
                <a:solidFill>
                  <a:srgbClr val="000000"/>
                </a:solidFill>
                <a:latin typeface="Times New Roman" pitchFamily="18" charset="0"/>
                <a:cs typeface="Times New Roman" pitchFamily="18" charset="0"/>
              </a:rPr>
              <a:t>发射率时未与点温枪校准。</a:t>
            </a:r>
            <a:endParaRPr lang="en-US" altLang="zh-CN" sz="1800" dirty="0">
              <a:solidFill>
                <a:srgbClr val="000000"/>
              </a:solidFill>
              <a:latin typeface="Times New Roman" pitchFamily="18" charset="0"/>
              <a:cs typeface="Times New Roman" pitchFamily="18" charset="0"/>
            </a:endParaRPr>
          </a:p>
        </p:txBody>
      </p:sp>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634" y="2465536"/>
            <a:ext cx="6594472"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3749019664"/>
              </p:ext>
            </p:extLst>
          </p:nvPr>
        </p:nvGraphicFramePr>
        <p:xfrm>
          <a:off x="7632154" y="4919598"/>
          <a:ext cx="6373813" cy="2647950"/>
        </p:xfrm>
        <a:graphic>
          <a:graphicData uri="http://schemas.openxmlformats.org/presentationml/2006/ole">
            <mc:AlternateContent xmlns:mc="http://schemas.openxmlformats.org/markup-compatibility/2006">
              <mc:Choice xmlns:v="urn:schemas-microsoft-com:vml" Requires="v">
                <p:oleObj spid="_x0000_s21551" name="工作表" r:id="rId8" imgW="6781829" imgH="2819542" progId="Excel.Sheet.12">
                  <p:embed/>
                </p:oleObj>
              </mc:Choice>
              <mc:Fallback>
                <p:oleObj name="工作表" r:id="rId8" imgW="6781829" imgH="2819542" progId="Excel.Sheet.12">
                  <p:embed/>
                  <p:pic>
                    <p:nvPicPr>
                      <p:cNvPr id="0" name="对象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32154" y="4919598"/>
                        <a:ext cx="6373813"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文本框 64">
            <a:extLst>
              <a:ext uri="{FF2B5EF4-FFF2-40B4-BE49-F238E27FC236}">
                <a16:creationId xmlns="" xmlns:a16="http://schemas.microsoft.com/office/drawing/2014/main" id="{E0B61BD9-BF0A-9309-018D-4EF34DEE49C3}"/>
              </a:ext>
            </a:extLst>
          </p:cNvPr>
          <p:cNvSpPr txBox="1"/>
          <p:nvPr/>
        </p:nvSpPr>
        <p:spPr>
          <a:xfrm>
            <a:off x="1655490" y="1745456"/>
            <a:ext cx="9865096" cy="1015663"/>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新发射率修正模块移植</a:t>
            </a:r>
            <a:r>
              <a:rPr lang="en-US" altLang="zh-CN" sz="2000" b="1" dirty="0" smtClean="0">
                <a:solidFill>
                  <a:srgbClr val="FF0000"/>
                </a:solidFill>
                <a:latin typeface="Times New Roman" pitchFamily="18" charset="0"/>
                <a:cs typeface="Times New Roman" pitchFamily="18" charset="0"/>
              </a:rPr>
              <a:t>ZC07A</a:t>
            </a:r>
            <a:r>
              <a:rPr lang="zh-CN" altLang="en-US" sz="2000" b="1" dirty="0" smtClean="0">
                <a:solidFill>
                  <a:srgbClr val="FF0000"/>
                </a:solidFill>
              </a:rPr>
              <a:t>验证：</a:t>
            </a:r>
            <a:endParaRPr lang="en-US" altLang="zh-CN" sz="2000" b="1" dirty="0">
              <a:solidFill>
                <a:srgbClr val="FF0000"/>
              </a:solidFill>
            </a:endParaRPr>
          </a:p>
          <a:p>
            <a:pPr defTabSz="1018852">
              <a:lnSpc>
                <a:spcPct val="150000"/>
              </a:lnSpc>
            </a:pPr>
            <a:endParaRPr lang="en-US" altLang="zh-CN" sz="2000" dirty="0" smtClean="0"/>
          </a:p>
        </p:txBody>
      </p:sp>
    </p:spTree>
    <p:extLst>
      <p:ext uri="{BB962C8B-B14F-4D97-AF65-F5344CB8AC3E}">
        <p14:creationId xmlns:p14="http://schemas.microsoft.com/office/powerpoint/2010/main" val="3617019782"/>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3"/>
          <a:stretch>
            <a:fillRect/>
          </a:stretch>
        </p:blipFill>
        <p:spPr>
          <a:xfrm>
            <a:off x="246063" y="88900"/>
            <a:ext cx="1554162" cy="511175"/>
          </a:xfrm>
          <a:prstGeom prst="rect">
            <a:avLst/>
          </a:prstGeom>
          <a:noFill/>
          <a:ln w="9525">
            <a:noFill/>
          </a:ln>
        </p:spPr>
      </p:pic>
      <p:sp>
        <p:nvSpPr>
          <p:cNvPr id="8" name="文本框 1"/>
          <p:cNvSpPr txBox="1"/>
          <p:nvPr/>
        </p:nvSpPr>
        <p:spPr>
          <a:xfrm>
            <a:off x="333375" y="1054735"/>
            <a:ext cx="11979299" cy="446276"/>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smtClean="0">
                <a:solidFill>
                  <a:schemeClr val="tx2"/>
                </a:solidFill>
                <a:latin typeface="+mn-ea"/>
                <a:ea typeface="+mn-ea"/>
                <a:sym typeface="+mn-ea"/>
              </a:rPr>
              <a:t>面阵</a:t>
            </a:r>
            <a:r>
              <a:rPr lang="zh-CN" altLang="en-US" b="1" dirty="0">
                <a:solidFill>
                  <a:schemeClr val="tx2"/>
                </a:solidFill>
                <a:latin typeface="+mn-ea"/>
                <a:ea typeface="+mn-ea"/>
                <a:sym typeface="+mn-ea"/>
              </a:rPr>
              <a:t>测温中发射率修正</a:t>
            </a:r>
            <a:r>
              <a:rPr lang="zh-CN" altLang="en-US" b="1" dirty="0" smtClean="0">
                <a:solidFill>
                  <a:schemeClr val="tx2"/>
                </a:solidFill>
                <a:latin typeface="+mn-ea"/>
                <a:ea typeface="+mn-ea"/>
                <a:sym typeface="+mn-ea"/>
              </a:rPr>
              <a:t>可行性分析</a:t>
            </a:r>
            <a:endParaRPr lang="zh-CN" altLang="en-US" dirty="0"/>
          </a:p>
        </p:txBody>
      </p:sp>
      <p:sp>
        <p:nvSpPr>
          <p:cNvPr id="9" name="文本框 64">
            <a:extLst>
              <a:ext uri="{FF2B5EF4-FFF2-40B4-BE49-F238E27FC236}">
                <a16:creationId xmlns="" xmlns:a16="http://schemas.microsoft.com/office/drawing/2014/main" id="{E0B61BD9-BF0A-9309-018D-4EF34DEE49C3}"/>
              </a:ext>
            </a:extLst>
          </p:cNvPr>
          <p:cNvSpPr txBox="1"/>
          <p:nvPr/>
        </p:nvSpPr>
        <p:spPr>
          <a:xfrm>
            <a:off x="1655490" y="1745456"/>
            <a:ext cx="9865096" cy="5493812"/>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暂定方案：</a:t>
            </a:r>
            <a:endParaRPr lang="en-US" altLang="zh-CN" sz="2000" b="1" dirty="0">
              <a:solidFill>
                <a:srgbClr val="FF0000"/>
              </a:solidFill>
            </a:endParaRPr>
          </a:p>
          <a:p>
            <a:pPr defTabSz="1018852">
              <a:lnSpc>
                <a:spcPct val="150000"/>
              </a:lnSpc>
            </a:pPr>
            <a:r>
              <a:rPr lang="zh-CN" altLang="en-US" sz="1800" dirty="0" smtClean="0"/>
              <a:t>为满足</a:t>
            </a:r>
            <a:r>
              <a:rPr lang="en-US" altLang="zh-CN" sz="1800" dirty="0">
                <a:latin typeface="Times New Roman" pitchFamily="18" charset="0"/>
                <a:cs typeface="Times New Roman" pitchFamily="18" charset="0"/>
              </a:rPr>
              <a:t>FPGA</a:t>
            </a:r>
            <a:r>
              <a:rPr lang="zh-CN" altLang="en-US" sz="1800" dirty="0"/>
              <a:t>算力要求，采用查表的方式进行发射率修正，针对不同的测温档位建立辐射量</a:t>
            </a:r>
            <a:r>
              <a:rPr lang="en-US" altLang="zh-CN" sz="1800" dirty="0">
                <a:latin typeface="Times New Roman" pitchFamily="18" charset="0"/>
                <a:cs typeface="Times New Roman" pitchFamily="18" charset="0"/>
              </a:rPr>
              <a:t>W-</a:t>
            </a:r>
            <a:r>
              <a:rPr lang="zh-CN" altLang="en-US" sz="1800" dirty="0"/>
              <a:t>温度</a:t>
            </a:r>
            <a:r>
              <a:rPr lang="en-US" altLang="zh-CN" sz="1800" dirty="0">
                <a:latin typeface="Times New Roman" pitchFamily="18" charset="0"/>
                <a:cs typeface="Times New Roman" pitchFamily="18" charset="0"/>
              </a:rPr>
              <a:t>T</a:t>
            </a:r>
            <a:r>
              <a:rPr lang="zh-CN" altLang="en-US" sz="1800" dirty="0"/>
              <a:t>正反查表格</a:t>
            </a:r>
            <a:r>
              <a:rPr lang="zh-CN" altLang="en-US" sz="1800" dirty="0" smtClean="0"/>
              <a:t>。</a:t>
            </a:r>
            <a:endParaRPr lang="en-US" altLang="zh-CN" sz="1800" dirty="0" smtClean="0"/>
          </a:p>
          <a:p>
            <a:pPr defTabSz="1018852">
              <a:lnSpc>
                <a:spcPct val="150000"/>
              </a:lnSpc>
            </a:pPr>
            <a:endParaRPr lang="en-US" altLang="zh-CN" sz="2000" dirty="0" smtClean="0"/>
          </a:p>
          <a:p>
            <a:pPr>
              <a:lnSpc>
                <a:spcPct val="150000"/>
              </a:lnSpc>
            </a:pPr>
            <a:r>
              <a:rPr lang="zh-CN" altLang="zh-CN" sz="2000" b="1" dirty="0"/>
              <a:t>辐射量正算表</a:t>
            </a:r>
            <a:r>
              <a:rPr lang="zh-CN" altLang="zh-CN" sz="2000" b="1" dirty="0" smtClean="0"/>
              <a:t>：</a:t>
            </a:r>
            <a:endParaRPr lang="en-US" altLang="zh-CN" sz="2000" b="1" dirty="0" smtClean="0"/>
          </a:p>
          <a:p>
            <a:pPr>
              <a:lnSpc>
                <a:spcPct val="150000"/>
              </a:lnSpc>
            </a:pPr>
            <a:r>
              <a:rPr lang="zh-CN" altLang="zh-CN" sz="1800" dirty="0" smtClean="0"/>
              <a:t>已知</a:t>
            </a:r>
            <a:r>
              <a:rPr lang="zh-CN" altLang="zh-CN" sz="1800" dirty="0"/>
              <a:t>量温度以</a:t>
            </a:r>
            <a:r>
              <a:rPr lang="en-US" altLang="zh-CN" sz="1800" dirty="0">
                <a:latin typeface="Times New Roman" pitchFamily="18" charset="0"/>
                <a:cs typeface="Times New Roman" pitchFamily="18" charset="0"/>
              </a:rPr>
              <a:t>0.1℃</a:t>
            </a:r>
            <a:r>
              <a:rPr lang="zh-CN" altLang="zh-CN" sz="1800" dirty="0"/>
              <a:t>为步长，未知量辐射量保留两位有效小数</a:t>
            </a:r>
            <a:r>
              <a:rPr lang="zh-CN" altLang="zh-CN" sz="1800" dirty="0" smtClean="0"/>
              <a:t>。</a:t>
            </a:r>
            <a:endParaRPr lang="zh-CN" altLang="zh-CN" sz="1800" dirty="0"/>
          </a:p>
          <a:p>
            <a:pPr>
              <a:lnSpc>
                <a:spcPct val="150000"/>
              </a:lnSpc>
            </a:pPr>
            <a:r>
              <a:rPr lang="zh-CN" altLang="zh-CN" sz="1800" dirty="0"/>
              <a:t>低温档（以</a:t>
            </a:r>
            <a:r>
              <a:rPr lang="en-US" altLang="zh-CN" sz="1800" dirty="0">
                <a:latin typeface="Times New Roman" pitchFamily="18" charset="0"/>
                <a:cs typeface="Times New Roman" pitchFamily="18" charset="0"/>
              </a:rPr>
              <a:t>-40~150℃</a:t>
            </a:r>
            <a:r>
              <a:rPr lang="zh-CN" altLang="zh-CN" sz="1800" dirty="0"/>
              <a:t>为例，</a:t>
            </a:r>
            <a:r>
              <a:rPr lang="zh-CN" altLang="zh-CN" sz="1800" dirty="0" smtClean="0"/>
              <a:t>表格</a:t>
            </a:r>
            <a:r>
              <a:rPr lang="zh-CN" altLang="en-US" sz="1800" dirty="0" smtClean="0"/>
              <a:t>深度</a:t>
            </a:r>
            <a:r>
              <a:rPr lang="zh-CN" altLang="zh-CN" sz="1800" dirty="0" smtClean="0"/>
              <a:t>为</a:t>
            </a:r>
            <a:r>
              <a:rPr lang="en-US" altLang="zh-CN" sz="1800" dirty="0">
                <a:latin typeface="Times New Roman" pitchFamily="18" charset="0"/>
                <a:cs typeface="Times New Roman" pitchFamily="18" charset="0"/>
              </a:rPr>
              <a:t>1901</a:t>
            </a:r>
            <a:r>
              <a:rPr lang="zh-CN" altLang="zh-CN" sz="1800" dirty="0"/>
              <a:t>）</a:t>
            </a:r>
            <a:r>
              <a:rPr lang="zh-CN" altLang="zh-CN" sz="1800" dirty="0" smtClean="0"/>
              <a:t>：</a:t>
            </a:r>
            <a:endParaRPr lang="en-US" altLang="zh-CN" sz="1800" dirty="0" smtClean="0"/>
          </a:p>
          <a:p>
            <a:pPr>
              <a:lnSpc>
                <a:spcPct val="150000"/>
              </a:lnSpc>
            </a:pPr>
            <a:endParaRPr lang="en-US" altLang="zh-CN" sz="2000" dirty="0"/>
          </a:p>
          <a:p>
            <a:pPr>
              <a:lnSpc>
                <a:spcPct val="150000"/>
              </a:lnSpc>
            </a:pPr>
            <a:endParaRPr lang="en-US" altLang="zh-CN" sz="2000" dirty="0"/>
          </a:p>
          <a:p>
            <a:pPr>
              <a:lnSpc>
                <a:spcPct val="150000"/>
              </a:lnSpc>
            </a:pPr>
            <a:r>
              <a:rPr lang="zh-CN" altLang="zh-CN" sz="1800" dirty="0" smtClean="0"/>
              <a:t>高温</a:t>
            </a:r>
            <a:r>
              <a:rPr lang="zh-CN" altLang="zh-CN" sz="1800" dirty="0"/>
              <a:t>档（以</a:t>
            </a:r>
            <a:r>
              <a:rPr lang="en-US" altLang="zh-CN" sz="1800" dirty="0">
                <a:latin typeface="Times New Roman" pitchFamily="18" charset="0"/>
                <a:cs typeface="Times New Roman" pitchFamily="18" charset="0"/>
              </a:rPr>
              <a:t>100~800℃</a:t>
            </a:r>
            <a:r>
              <a:rPr lang="zh-CN" altLang="zh-CN" sz="1800" dirty="0"/>
              <a:t>为例，</a:t>
            </a:r>
            <a:r>
              <a:rPr lang="zh-CN" altLang="zh-CN" sz="1800" dirty="0" smtClean="0"/>
              <a:t>表格</a:t>
            </a:r>
            <a:r>
              <a:rPr lang="zh-CN" altLang="en-US" sz="1800" dirty="0"/>
              <a:t>深度</a:t>
            </a:r>
            <a:r>
              <a:rPr lang="zh-CN" altLang="zh-CN" sz="1800" dirty="0" smtClean="0"/>
              <a:t>为</a:t>
            </a:r>
            <a:r>
              <a:rPr lang="en-US" altLang="zh-CN" sz="1800" dirty="0">
                <a:latin typeface="Times New Roman" pitchFamily="18" charset="0"/>
                <a:cs typeface="Times New Roman" pitchFamily="18" charset="0"/>
              </a:rPr>
              <a:t>7001</a:t>
            </a:r>
            <a:r>
              <a:rPr lang="zh-CN" altLang="zh-CN" sz="1800" dirty="0"/>
              <a:t>）</a:t>
            </a:r>
            <a:r>
              <a:rPr lang="zh-CN" altLang="zh-CN" sz="1800" dirty="0" smtClean="0"/>
              <a:t>：</a:t>
            </a:r>
            <a:endParaRPr lang="zh-CN" altLang="zh-CN" sz="1800" dirty="0"/>
          </a:p>
          <a:p>
            <a:pPr defTabSz="1018852">
              <a:lnSpc>
                <a:spcPct val="150000"/>
              </a:lnSpc>
            </a:pPr>
            <a:endParaRPr lang="en-US" altLang="zh-CN" sz="2000" dirty="0"/>
          </a:p>
          <a:p>
            <a:pPr defTabSz="1018852">
              <a:lnSpc>
                <a:spcPct val="150000"/>
              </a:lnSpc>
            </a:pPr>
            <a:endParaRPr lang="en-US" altLang="zh-CN" sz="2000" dirty="0" smtClean="0"/>
          </a:p>
        </p:txBody>
      </p:sp>
      <p:pic>
        <p:nvPicPr>
          <p:cNvPr id="2253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3329" y="4985816"/>
            <a:ext cx="7779610" cy="880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00225" y="6338478"/>
            <a:ext cx="7772714" cy="879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7019782"/>
      </p:ext>
    </p:extLst>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4"/>
          <a:stretch>
            <a:fillRect/>
          </a:stretch>
        </p:blipFill>
        <p:spPr>
          <a:xfrm>
            <a:off x="246063" y="88900"/>
            <a:ext cx="1554162" cy="511175"/>
          </a:xfrm>
          <a:prstGeom prst="rect">
            <a:avLst/>
          </a:prstGeom>
          <a:noFill/>
          <a:ln w="9525">
            <a:noFill/>
          </a:ln>
        </p:spPr>
      </p:pic>
      <p:sp>
        <p:nvSpPr>
          <p:cNvPr id="8" name="文本框 1"/>
          <p:cNvSpPr txBox="1"/>
          <p:nvPr/>
        </p:nvSpPr>
        <p:spPr>
          <a:xfrm>
            <a:off x="333375" y="1054735"/>
            <a:ext cx="11979299" cy="446276"/>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smtClean="0">
                <a:solidFill>
                  <a:schemeClr val="tx2"/>
                </a:solidFill>
                <a:latin typeface="+mn-ea"/>
                <a:ea typeface="+mn-ea"/>
                <a:sym typeface="+mn-ea"/>
              </a:rPr>
              <a:t>面阵</a:t>
            </a:r>
            <a:r>
              <a:rPr lang="zh-CN" altLang="en-US" b="1" dirty="0">
                <a:solidFill>
                  <a:schemeClr val="tx2"/>
                </a:solidFill>
                <a:latin typeface="+mn-ea"/>
                <a:ea typeface="+mn-ea"/>
                <a:sym typeface="+mn-ea"/>
              </a:rPr>
              <a:t>测温中发射率修正</a:t>
            </a:r>
            <a:r>
              <a:rPr lang="zh-CN" altLang="en-US" b="1" dirty="0" smtClean="0">
                <a:solidFill>
                  <a:schemeClr val="tx2"/>
                </a:solidFill>
                <a:latin typeface="+mn-ea"/>
                <a:ea typeface="+mn-ea"/>
                <a:sym typeface="+mn-ea"/>
              </a:rPr>
              <a:t>可行性分析</a:t>
            </a:r>
            <a:endParaRPr lang="zh-CN" altLang="en-US" dirty="0"/>
          </a:p>
        </p:txBody>
      </p:sp>
      <p:sp>
        <p:nvSpPr>
          <p:cNvPr id="9" name="文本框 64">
            <a:extLst>
              <a:ext uri="{FF2B5EF4-FFF2-40B4-BE49-F238E27FC236}">
                <a16:creationId xmlns="" xmlns:a16="http://schemas.microsoft.com/office/drawing/2014/main" id="{E0B61BD9-BF0A-9309-018D-4EF34DEE49C3}"/>
              </a:ext>
            </a:extLst>
          </p:cNvPr>
          <p:cNvSpPr txBox="1"/>
          <p:nvPr/>
        </p:nvSpPr>
        <p:spPr>
          <a:xfrm>
            <a:off x="1655490" y="1745456"/>
            <a:ext cx="9865096" cy="5986254"/>
          </a:xfrm>
          <a:prstGeom prst="rect">
            <a:avLst/>
          </a:prstGeom>
          <a:noFill/>
        </p:spPr>
        <p:txBody>
          <a:bodyPr wrap="square" rtlCol="0">
            <a:spAutoFit/>
          </a:bodyPr>
          <a:lstStyle/>
          <a:p>
            <a:pPr>
              <a:lnSpc>
                <a:spcPct val="150000"/>
              </a:lnSpc>
            </a:pPr>
            <a:r>
              <a:rPr lang="zh-CN" altLang="zh-CN" sz="2000" b="1" dirty="0" smtClean="0"/>
              <a:t>辐射量</a:t>
            </a:r>
            <a:r>
              <a:rPr lang="zh-CN" altLang="en-US" sz="2000" b="1" dirty="0" smtClean="0"/>
              <a:t>反</a:t>
            </a:r>
            <a:r>
              <a:rPr lang="zh-CN" altLang="zh-CN" sz="2000" b="1" dirty="0" smtClean="0"/>
              <a:t>算</a:t>
            </a:r>
            <a:r>
              <a:rPr lang="zh-CN" altLang="zh-CN" sz="2000" b="1" dirty="0"/>
              <a:t>表</a:t>
            </a:r>
            <a:r>
              <a:rPr lang="zh-CN" altLang="zh-CN" sz="2000" b="1" dirty="0" smtClean="0"/>
              <a:t>：</a:t>
            </a:r>
            <a:endParaRPr lang="en-US" altLang="zh-CN" sz="2000" b="1" dirty="0" smtClean="0"/>
          </a:p>
          <a:p>
            <a:r>
              <a:rPr lang="zh-CN" altLang="zh-CN" sz="1800" dirty="0">
                <a:solidFill>
                  <a:srgbClr val="FF0000"/>
                </a:solidFill>
              </a:rPr>
              <a:t>低温档已知量辐射量以</a:t>
            </a:r>
            <a:r>
              <a:rPr lang="en-US" altLang="zh-CN" sz="1800" dirty="0">
                <a:solidFill>
                  <a:srgbClr val="FF0000"/>
                </a:solidFill>
                <a:latin typeface="Times New Roman" pitchFamily="18" charset="0"/>
                <a:cs typeface="Times New Roman" pitchFamily="18" charset="0"/>
              </a:rPr>
              <a:t>0.1 W/m</a:t>
            </a:r>
            <a:r>
              <a:rPr lang="en-US" altLang="zh-CN" sz="1800" baseline="30000" dirty="0">
                <a:solidFill>
                  <a:srgbClr val="FF0000"/>
                </a:solidFill>
                <a:latin typeface="Times New Roman" pitchFamily="18" charset="0"/>
                <a:cs typeface="Times New Roman" pitchFamily="18" charset="0"/>
              </a:rPr>
              <a:t>2</a:t>
            </a:r>
            <a:r>
              <a:rPr lang="zh-CN" altLang="zh-CN" sz="1800" dirty="0">
                <a:solidFill>
                  <a:srgbClr val="FF0000"/>
                </a:solidFill>
              </a:rPr>
              <a:t>为步长</a:t>
            </a:r>
            <a:r>
              <a:rPr lang="zh-CN" altLang="zh-CN" sz="1800" dirty="0"/>
              <a:t>，未知量温度保留两位有效小数</a:t>
            </a:r>
            <a:r>
              <a:rPr lang="zh-CN" altLang="zh-CN" sz="1800" dirty="0" smtClean="0"/>
              <a:t>。低温</a:t>
            </a:r>
            <a:r>
              <a:rPr lang="zh-CN" altLang="zh-CN" sz="1800" dirty="0"/>
              <a:t>档（以</a:t>
            </a:r>
            <a:r>
              <a:rPr lang="en-US" altLang="zh-CN" sz="1800" dirty="0">
                <a:latin typeface="Times New Roman" pitchFamily="18" charset="0"/>
                <a:cs typeface="Times New Roman" pitchFamily="18" charset="0"/>
              </a:rPr>
              <a:t>-40~150℃</a:t>
            </a:r>
            <a:r>
              <a:rPr lang="zh-CN" altLang="zh-CN" sz="1800" dirty="0"/>
              <a:t>为例，</a:t>
            </a:r>
            <a:r>
              <a:rPr lang="zh-CN" altLang="zh-CN" sz="1800" dirty="0" smtClean="0"/>
              <a:t>表格</a:t>
            </a:r>
            <a:r>
              <a:rPr lang="zh-CN" altLang="en-US" sz="1800" dirty="0"/>
              <a:t>深</a:t>
            </a:r>
            <a:r>
              <a:rPr lang="zh-CN" altLang="zh-CN" sz="1800" dirty="0" smtClean="0"/>
              <a:t>度</a:t>
            </a:r>
            <a:r>
              <a:rPr lang="zh-CN" altLang="zh-CN" sz="1800" dirty="0"/>
              <a:t>为</a:t>
            </a:r>
            <a:r>
              <a:rPr lang="en-US" altLang="zh-CN" sz="1800" dirty="0">
                <a:latin typeface="Times New Roman" pitchFamily="18" charset="0"/>
                <a:cs typeface="Times New Roman" pitchFamily="18" charset="0"/>
              </a:rPr>
              <a:t>6305</a:t>
            </a:r>
            <a:r>
              <a:rPr lang="zh-CN" altLang="zh-CN" sz="1800" dirty="0" smtClean="0"/>
              <a:t>）</a:t>
            </a:r>
            <a:endParaRPr lang="en-US" altLang="zh-CN" sz="1800" dirty="0" smtClean="0"/>
          </a:p>
          <a:p>
            <a:endParaRPr lang="en-US" altLang="zh-CN" sz="2000" dirty="0"/>
          </a:p>
          <a:p>
            <a:endParaRPr lang="en-US" altLang="zh-CN" sz="2000" dirty="0" smtClean="0"/>
          </a:p>
          <a:p>
            <a:endParaRPr lang="en-US" altLang="zh-CN" sz="2000" dirty="0"/>
          </a:p>
          <a:p>
            <a:r>
              <a:rPr lang="zh-CN" altLang="zh-CN" sz="1800" dirty="0" smtClean="0">
                <a:solidFill>
                  <a:srgbClr val="FF0000"/>
                </a:solidFill>
              </a:rPr>
              <a:t>高温</a:t>
            </a:r>
            <a:r>
              <a:rPr lang="zh-CN" altLang="zh-CN" sz="1800" dirty="0">
                <a:solidFill>
                  <a:srgbClr val="FF0000"/>
                </a:solidFill>
              </a:rPr>
              <a:t>档已知量辐射量以</a:t>
            </a:r>
            <a:r>
              <a:rPr lang="en-US" altLang="zh-CN" sz="1800" dirty="0">
                <a:solidFill>
                  <a:srgbClr val="FF0000"/>
                </a:solidFill>
                <a:latin typeface="Times New Roman" pitchFamily="18" charset="0"/>
                <a:cs typeface="Times New Roman" pitchFamily="18" charset="0"/>
              </a:rPr>
              <a:t>1 W/m</a:t>
            </a:r>
            <a:r>
              <a:rPr lang="en-US" altLang="zh-CN" sz="1800" baseline="30000" dirty="0">
                <a:solidFill>
                  <a:srgbClr val="FF0000"/>
                </a:solidFill>
                <a:latin typeface="Times New Roman" pitchFamily="18" charset="0"/>
                <a:cs typeface="Times New Roman" pitchFamily="18" charset="0"/>
              </a:rPr>
              <a:t>2</a:t>
            </a:r>
            <a:r>
              <a:rPr lang="zh-CN" altLang="zh-CN" sz="1800" dirty="0">
                <a:solidFill>
                  <a:srgbClr val="FF0000"/>
                </a:solidFill>
              </a:rPr>
              <a:t>为步长</a:t>
            </a:r>
            <a:r>
              <a:rPr lang="zh-CN" altLang="zh-CN" sz="1800" dirty="0"/>
              <a:t>，未知量温度保留两位有效小数</a:t>
            </a:r>
            <a:r>
              <a:rPr lang="zh-CN" altLang="zh-CN" sz="1800" dirty="0" smtClean="0"/>
              <a:t>。低温</a:t>
            </a:r>
            <a:r>
              <a:rPr lang="zh-CN" altLang="zh-CN" sz="1800" dirty="0"/>
              <a:t>档（以</a:t>
            </a:r>
            <a:r>
              <a:rPr lang="en-US" altLang="zh-CN" sz="1800" dirty="0">
                <a:latin typeface="Times New Roman" pitchFamily="18" charset="0"/>
                <a:cs typeface="Times New Roman" pitchFamily="18" charset="0"/>
              </a:rPr>
              <a:t>100~800℃</a:t>
            </a:r>
            <a:r>
              <a:rPr lang="zh-CN" altLang="zh-CN" sz="1800" dirty="0"/>
              <a:t>为例，</a:t>
            </a:r>
            <a:r>
              <a:rPr lang="zh-CN" altLang="zh-CN" sz="1800" dirty="0" smtClean="0"/>
              <a:t>表格</a:t>
            </a:r>
            <a:r>
              <a:rPr lang="zh-CN" altLang="en-US" sz="1800" dirty="0"/>
              <a:t>深度</a:t>
            </a:r>
            <a:r>
              <a:rPr lang="zh-CN" altLang="zh-CN" sz="1800" dirty="0" smtClean="0"/>
              <a:t>为</a:t>
            </a:r>
            <a:r>
              <a:rPr lang="en-US" altLang="zh-CN" sz="1800" dirty="0">
                <a:latin typeface="Times New Roman" pitchFamily="18" charset="0"/>
                <a:cs typeface="Times New Roman" pitchFamily="18" charset="0"/>
              </a:rPr>
              <a:t>6470</a:t>
            </a:r>
            <a:r>
              <a:rPr lang="zh-CN" altLang="zh-CN" sz="1800" dirty="0"/>
              <a:t>）：</a:t>
            </a:r>
          </a:p>
          <a:p>
            <a:pPr defTabSz="1018852">
              <a:lnSpc>
                <a:spcPct val="150000"/>
              </a:lnSpc>
            </a:pPr>
            <a:endParaRPr lang="en-US" altLang="zh-CN" sz="2000" dirty="0"/>
          </a:p>
          <a:p>
            <a:pPr defTabSz="1018852">
              <a:lnSpc>
                <a:spcPct val="150000"/>
              </a:lnSpc>
            </a:pPr>
            <a:endParaRPr lang="en-US" altLang="zh-CN" sz="2000" dirty="0" smtClean="0"/>
          </a:p>
          <a:p>
            <a:pPr defTabSz="1018852">
              <a:lnSpc>
                <a:spcPct val="150000"/>
              </a:lnSpc>
            </a:pPr>
            <a:r>
              <a:rPr lang="zh-CN" altLang="en-US" sz="2000" b="1" dirty="0" smtClean="0"/>
              <a:t>发射率修正：</a:t>
            </a:r>
            <a:endParaRPr lang="en-US" altLang="zh-CN" sz="2000" b="1" dirty="0" smtClean="0"/>
          </a:p>
          <a:p>
            <a:pPr defTabSz="1018852">
              <a:lnSpc>
                <a:spcPct val="150000"/>
              </a:lnSpc>
            </a:pPr>
            <a:r>
              <a:rPr lang="zh-CN" altLang="zh-CN" sz="1800" dirty="0"/>
              <a:t>利用未修正温度</a:t>
            </a:r>
            <a:r>
              <a:rPr lang="en-US" altLang="zh-CN" sz="1800" dirty="0"/>
              <a:t>T</a:t>
            </a:r>
            <a:r>
              <a:rPr lang="zh-CN" altLang="zh-CN" sz="1800" baseline="-25000" dirty="0"/>
              <a:t>未修正</a:t>
            </a:r>
            <a:r>
              <a:rPr lang="zh-CN" altLang="zh-CN" sz="1800" dirty="0"/>
              <a:t>（查</a:t>
            </a:r>
            <a:r>
              <a:rPr lang="en-US" altLang="zh-CN" sz="1800" dirty="0"/>
              <a:t>1.0</a:t>
            </a:r>
            <a:r>
              <a:rPr lang="zh-CN" altLang="zh-CN" sz="1800" dirty="0"/>
              <a:t>发射率</a:t>
            </a:r>
            <a:r>
              <a:rPr lang="en-US" altLang="zh-CN" sz="1800" dirty="0"/>
              <a:t>Y16-T</a:t>
            </a:r>
            <a:r>
              <a:rPr lang="zh-CN" altLang="zh-CN" sz="1800" dirty="0"/>
              <a:t>曲线获得）和反射温度</a:t>
            </a:r>
            <a:r>
              <a:rPr lang="en-US" altLang="zh-CN" sz="1800" dirty="0"/>
              <a:t>T</a:t>
            </a:r>
            <a:r>
              <a:rPr lang="zh-CN" altLang="zh-CN" sz="1800" baseline="-25000" dirty="0"/>
              <a:t>反射</a:t>
            </a:r>
            <a:r>
              <a:rPr lang="zh-CN" altLang="zh-CN" sz="1800" dirty="0"/>
              <a:t>（手动设置）查辐射量正算表获得对应的辐射量，</a:t>
            </a:r>
            <a:r>
              <a:rPr lang="zh-CN" altLang="zh-CN" sz="1800" dirty="0" smtClean="0"/>
              <a:t>通过发射率</a:t>
            </a:r>
            <a:r>
              <a:rPr lang="zh-CN" altLang="zh-CN" sz="1800" dirty="0"/>
              <a:t>修正理论计算式得到修正后温度对应的辐射量，再查辐射量反算表的到修正后的温度</a:t>
            </a:r>
            <a:r>
              <a:rPr lang="en-US" altLang="zh-CN" sz="1800" dirty="0"/>
              <a:t>T</a:t>
            </a:r>
            <a:r>
              <a:rPr lang="zh-CN" altLang="zh-CN" sz="1800" baseline="-25000" dirty="0"/>
              <a:t>修正</a:t>
            </a:r>
            <a:r>
              <a:rPr lang="zh-CN" altLang="zh-CN" sz="1800" dirty="0"/>
              <a:t>，完成发射率修正。</a:t>
            </a:r>
          </a:p>
          <a:p>
            <a:pPr defTabSz="1018852"/>
            <a:endParaRPr lang="en-US" altLang="zh-CN" sz="2000" dirty="0" smtClean="0"/>
          </a:p>
          <a:p>
            <a:pPr defTabSz="1018852">
              <a:lnSpc>
                <a:spcPct val="150000"/>
              </a:lnSpc>
            </a:pPr>
            <a:endParaRPr lang="en-US" altLang="zh-CN" sz="2000" dirty="0" smtClean="0"/>
          </a:p>
        </p:txBody>
      </p:sp>
      <p:pic>
        <p:nvPicPr>
          <p:cNvPr id="2765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00225" y="2897584"/>
            <a:ext cx="7787796" cy="881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1"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85144" y="4337744"/>
            <a:ext cx="7787795" cy="881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5"/>
          <p:cNvSpPr>
            <a:spLocks noChangeArrowheads="1"/>
          </p:cNvSpPr>
          <p:nvPr/>
        </p:nvSpPr>
        <p:spPr bwMode="auto">
          <a:xfrm>
            <a:off x="0" y="0"/>
            <a:ext cx="14400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91135420"/>
              </p:ext>
            </p:extLst>
          </p:nvPr>
        </p:nvGraphicFramePr>
        <p:xfrm>
          <a:off x="4751834" y="6939622"/>
          <a:ext cx="3320028" cy="792088"/>
        </p:xfrm>
        <a:graphic>
          <a:graphicData uri="http://schemas.openxmlformats.org/presentationml/2006/ole">
            <mc:AlternateContent xmlns:mc="http://schemas.openxmlformats.org/markup-compatibility/2006">
              <mc:Choice xmlns:v="urn:schemas-microsoft-com:vml" Requires="v">
                <p:oleObj spid="_x0000_s27696" name="Equation" r:id="rId7" imgW="1752600" imgH="431800" progId="Equation.DSMT4">
                  <p:embed/>
                </p:oleObj>
              </mc:Choice>
              <mc:Fallback>
                <p:oleObj name="Equation" r:id="rId7" imgW="1752600" imgH="4318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51834" y="6939622"/>
                        <a:ext cx="3320028" cy="792088"/>
                      </a:xfrm>
                      <a:prstGeom prst="rect">
                        <a:avLst/>
                      </a:prstGeom>
                      <a:noFill/>
                    </p:spPr>
                  </p:pic>
                </p:oleObj>
              </mc:Fallback>
            </mc:AlternateContent>
          </a:graphicData>
        </a:graphic>
      </p:graphicFrame>
    </p:spTree>
    <p:extLst>
      <p:ext uri="{BB962C8B-B14F-4D97-AF65-F5344CB8AC3E}">
        <p14:creationId xmlns:p14="http://schemas.microsoft.com/office/powerpoint/2010/main" val="796116986"/>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p:cNvPicPr>
          <p:nvPr/>
        </p:nvPicPr>
        <p:blipFill>
          <a:blip r:embed="rId3"/>
          <a:stretch>
            <a:fillRect/>
          </a:stretch>
        </p:blipFill>
        <p:spPr>
          <a:xfrm>
            <a:off x="246063" y="88900"/>
            <a:ext cx="1554162" cy="511175"/>
          </a:xfrm>
          <a:prstGeom prst="rect">
            <a:avLst/>
          </a:prstGeom>
          <a:noFill/>
          <a:ln w="9525">
            <a:noFill/>
          </a:ln>
        </p:spPr>
      </p:pic>
      <p:sp>
        <p:nvSpPr>
          <p:cNvPr id="8" name="文本框 1"/>
          <p:cNvSpPr txBox="1"/>
          <p:nvPr/>
        </p:nvSpPr>
        <p:spPr>
          <a:xfrm>
            <a:off x="333375" y="1054735"/>
            <a:ext cx="11979299" cy="446276"/>
          </a:xfrm>
          <a:prstGeom prst="rect">
            <a:avLst/>
          </a:prstGeom>
          <a:noFill/>
        </p:spPr>
        <p:txBody>
          <a:bodyPr wrap="square" rtlCol="0">
            <a:spAutoFit/>
          </a:bodyPr>
          <a:lstStyle/>
          <a:p>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二</a:t>
            </a:r>
            <a:r>
              <a:rPr lang="zh-CN" altLang="en-US" b="1" noProof="0" dirty="0" smtClean="0">
                <a:solidFill>
                  <a:schemeClr val="tx2"/>
                </a:solidFill>
                <a:latin typeface="+mn-ea"/>
                <a:ea typeface="+mn-ea"/>
                <a:sym typeface="+mn-ea"/>
              </a:rPr>
              <a:t>）</a:t>
            </a:r>
            <a:r>
              <a:rPr lang="zh-CN" altLang="en-US" b="1" dirty="0">
                <a:solidFill>
                  <a:schemeClr val="tx2"/>
                </a:solidFill>
                <a:latin typeface="+mn-ea"/>
                <a:sym typeface="+mn-ea"/>
              </a:rPr>
              <a:t>预研课题</a:t>
            </a:r>
            <a:r>
              <a:rPr lang="en-US" altLang="zh-CN" b="1" noProof="0" dirty="0" smtClean="0">
                <a:solidFill>
                  <a:schemeClr val="tx2"/>
                </a:solidFill>
                <a:latin typeface="+mn-ea"/>
                <a:ea typeface="+mn-ea"/>
                <a:sym typeface="+mn-ea"/>
              </a:rPr>
              <a:t>-</a:t>
            </a:r>
            <a:r>
              <a:rPr lang="zh-CN" altLang="en-US" b="1" noProof="0" dirty="0" smtClean="0">
                <a:solidFill>
                  <a:schemeClr val="tx2"/>
                </a:solidFill>
                <a:latin typeface="+mn-ea"/>
                <a:ea typeface="+mn-ea"/>
                <a:sym typeface="+mn-ea"/>
              </a:rPr>
              <a:t>发射率对曲线采集的影响研究</a:t>
            </a:r>
            <a:r>
              <a:rPr lang="en-US" altLang="zh-CN" b="1" noProof="0" dirty="0" smtClean="0">
                <a:solidFill>
                  <a:schemeClr val="tx2"/>
                </a:solidFill>
                <a:latin typeface="+mn-ea"/>
                <a:ea typeface="+mn-ea"/>
                <a:sym typeface="+mn-ea"/>
              </a:rPr>
              <a:t>-</a:t>
            </a:r>
            <a:r>
              <a:rPr lang="zh-CN" altLang="en-US" b="1" dirty="0" smtClean="0">
                <a:solidFill>
                  <a:schemeClr val="tx2"/>
                </a:solidFill>
                <a:latin typeface="+mn-ea"/>
                <a:ea typeface="+mn-ea"/>
                <a:sym typeface="+mn-ea"/>
              </a:rPr>
              <a:t>面阵</a:t>
            </a:r>
            <a:r>
              <a:rPr lang="zh-CN" altLang="en-US" b="1" dirty="0">
                <a:solidFill>
                  <a:schemeClr val="tx2"/>
                </a:solidFill>
                <a:latin typeface="+mn-ea"/>
                <a:ea typeface="+mn-ea"/>
                <a:sym typeface="+mn-ea"/>
              </a:rPr>
              <a:t>测温中发射率修正</a:t>
            </a:r>
            <a:r>
              <a:rPr lang="zh-CN" altLang="en-US" b="1" dirty="0" smtClean="0">
                <a:solidFill>
                  <a:schemeClr val="tx2"/>
                </a:solidFill>
                <a:latin typeface="+mn-ea"/>
                <a:ea typeface="+mn-ea"/>
                <a:sym typeface="+mn-ea"/>
              </a:rPr>
              <a:t>可行性分析</a:t>
            </a:r>
            <a:endParaRPr lang="zh-CN" altLang="en-US" dirty="0"/>
          </a:p>
        </p:txBody>
      </p:sp>
      <p:sp>
        <p:nvSpPr>
          <p:cNvPr id="9" name="文本框 64">
            <a:extLst>
              <a:ext uri="{FF2B5EF4-FFF2-40B4-BE49-F238E27FC236}">
                <a16:creationId xmlns="" xmlns:a16="http://schemas.microsoft.com/office/drawing/2014/main" id="{E0B61BD9-BF0A-9309-018D-4EF34DEE49C3}"/>
              </a:ext>
            </a:extLst>
          </p:cNvPr>
          <p:cNvSpPr txBox="1"/>
          <p:nvPr/>
        </p:nvSpPr>
        <p:spPr>
          <a:xfrm>
            <a:off x="1655490" y="1745456"/>
            <a:ext cx="11233248" cy="4016484"/>
          </a:xfrm>
          <a:prstGeom prst="rect">
            <a:avLst/>
          </a:prstGeom>
          <a:noFill/>
        </p:spPr>
        <p:txBody>
          <a:bodyPr wrap="square" rtlCol="0">
            <a:spAutoFit/>
          </a:bodyPr>
          <a:lstStyle/>
          <a:p>
            <a:pPr defTabSz="1018852">
              <a:lnSpc>
                <a:spcPct val="150000"/>
              </a:lnSpc>
            </a:pPr>
            <a:r>
              <a:rPr lang="zh-CN" altLang="en-US" sz="2000" b="1" dirty="0" smtClean="0">
                <a:solidFill>
                  <a:srgbClr val="FF0000"/>
                </a:solidFill>
              </a:rPr>
              <a:t>原理误差分析：</a:t>
            </a:r>
            <a:endParaRPr lang="en-US" altLang="zh-CN" sz="2000" b="1" dirty="0">
              <a:solidFill>
                <a:srgbClr val="FF0000"/>
              </a:solidFill>
            </a:endParaRPr>
          </a:p>
          <a:p>
            <a:pPr defTabSz="1018852">
              <a:lnSpc>
                <a:spcPct val="150000"/>
              </a:lnSpc>
            </a:pPr>
            <a:r>
              <a:rPr lang="zh-CN" altLang="zh-CN" sz="1800" dirty="0" smtClean="0"/>
              <a:t>通过</a:t>
            </a:r>
            <a:r>
              <a:rPr lang="zh-CN" altLang="zh-CN" sz="1800" dirty="0"/>
              <a:t>插值</a:t>
            </a:r>
            <a:r>
              <a:rPr lang="zh-CN" altLang="zh-CN" sz="1800" dirty="0" smtClean="0"/>
              <a:t>计算温度</a:t>
            </a:r>
            <a:r>
              <a:rPr lang="zh-CN" altLang="zh-CN" sz="1800" dirty="0"/>
              <a:t>步长区间（</a:t>
            </a:r>
            <a:r>
              <a:rPr lang="en-US" altLang="zh-CN" sz="1800" dirty="0">
                <a:latin typeface="Times New Roman" pitchFamily="18" charset="0"/>
                <a:cs typeface="Times New Roman" pitchFamily="18" charset="0"/>
              </a:rPr>
              <a:t>0.1℃</a:t>
            </a:r>
            <a:r>
              <a:rPr lang="zh-CN" altLang="zh-CN" sz="1800" dirty="0"/>
              <a:t>）中点对应辐射量，与理论辐射量值进行对比，其中低温区间（</a:t>
            </a:r>
            <a:r>
              <a:rPr lang="en-US" altLang="zh-CN" sz="1800" dirty="0">
                <a:latin typeface="Times New Roman" pitchFamily="18" charset="0"/>
                <a:cs typeface="Times New Roman" pitchFamily="18" charset="0"/>
              </a:rPr>
              <a:t>-40~150℃</a:t>
            </a:r>
            <a:r>
              <a:rPr lang="zh-CN" altLang="zh-CN" sz="1800" dirty="0"/>
              <a:t>）误差在</a:t>
            </a:r>
            <a:r>
              <a:rPr lang="en-US" altLang="zh-CN" sz="1800" dirty="0">
                <a:latin typeface="Times New Roman" pitchFamily="18" charset="0"/>
                <a:cs typeface="Times New Roman" pitchFamily="18" charset="0"/>
              </a:rPr>
              <a:t>0.01 W/m</a:t>
            </a:r>
            <a:r>
              <a:rPr lang="en-US" altLang="zh-CN" sz="1800" baseline="30000" dirty="0">
                <a:latin typeface="Times New Roman" pitchFamily="18" charset="0"/>
                <a:cs typeface="Times New Roman" pitchFamily="18" charset="0"/>
              </a:rPr>
              <a:t>2</a:t>
            </a:r>
            <a:r>
              <a:rPr lang="zh-CN" altLang="zh-CN" sz="1800" dirty="0"/>
              <a:t>以内，高温区间（</a:t>
            </a:r>
            <a:r>
              <a:rPr lang="en-US" altLang="zh-CN" sz="1800" dirty="0">
                <a:latin typeface="Times New Roman" pitchFamily="18" charset="0"/>
                <a:cs typeface="Times New Roman" pitchFamily="18" charset="0"/>
              </a:rPr>
              <a:t>100~800℃</a:t>
            </a:r>
            <a:r>
              <a:rPr lang="zh-CN" altLang="zh-CN" sz="1800" dirty="0"/>
              <a:t>）误差在</a:t>
            </a:r>
            <a:r>
              <a:rPr lang="en-US" altLang="zh-CN" sz="1800" dirty="0">
                <a:latin typeface="Times New Roman" pitchFamily="18" charset="0"/>
                <a:cs typeface="Times New Roman" pitchFamily="18" charset="0"/>
              </a:rPr>
              <a:t>0.02 W/m</a:t>
            </a:r>
            <a:r>
              <a:rPr lang="en-US" altLang="zh-CN" sz="1800" baseline="30000" dirty="0">
                <a:latin typeface="Times New Roman" pitchFamily="18" charset="0"/>
                <a:cs typeface="Times New Roman" pitchFamily="18" charset="0"/>
              </a:rPr>
              <a:t>2</a:t>
            </a:r>
            <a:r>
              <a:rPr lang="zh-CN" altLang="zh-CN" sz="1800" dirty="0"/>
              <a:t>以内</a:t>
            </a:r>
            <a:r>
              <a:rPr lang="zh-CN" altLang="zh-CN" sz="1800" dirty="0" smtClean="0"/>
              <a:t>。经过</a:t>
            </a:r>
            <a:r>
              <a:rPr lang="zh-CN" altLang="zh-CN" sz="1800" dirty="0"/>
              <a:t>发射率</a:t>
            </a:r>
            <a:r>
              <a:rPr lang="zh-CN" altLang="zh-CN" sz="1800" dirty="0" smtClean="0"/>
              <a:t>修正</a:t>
            </a:r>
            <a:r>
              <a:rPr lang="zh-CN" altLang="en-US" sz="1800" dirty="0" smtClean="0"/>
              <a:t>后</a:t>
            </a:r>
            <a:r>
              <a:rPr lang="zh-CN" altLang="zh-CN" sz="1800" dirty="0" smtClean="0"/>
              <a:t>查</a:t>
            </a:r>
            <a:r>
              <a:rPr lang="zh-CN" altLang="zh-CN" sz="1800" dirty="0"/>
              <a:t>辐射量反算</a:t>
            </a:r>
            <a:r>
              <a:rPr lang="zh-CN" altLang="zh-CN" sz="1800" dirty="0" smtClean="0"/>
              <a:t>表，</a:t>
            </a:r>
            <a:r>
              <a:rPr lang="zh-CN" altLang="zh-CN" sz="1800" dirty="0">
                <a:solidFill>
                  <a:srgbClr val="FF0000"/>
                </a:solidFill>
              </a:rPr>
              <a:t>在</a:t>
            </a:r>
            <a:r>
              <a:rPr lang="en-US" altLang="zh-CN" sz="1800" dirty="0">
                <a:solidFill>
                  <a:srgbClr val="FF0000"/>
                </a:solidFill>
                <a:latin typeface="Times New Roman" pitchFamily="18" charset="0"/>
                <a:cs typeface="Times New Roman" pitchFamily="18" charset="0"/>
              </a:rPr>
              <a:t>0.1</a:t>
            </a:r>
            <a:r>
              <a:rPr lang="zh-CN" altLang="zh-CN" sz="1800" dirty="0">
                <a:solidFill>
                  <a:srgbClr val="FF0000"/>
                </a:solidFill>
              </a:rPr>
              <a:t>发射率下，低温区间温度最大绝对误差为</a:t>
            </a:r>
            <a:r>
              <a:rPr lang="en-US" altLang="zh-CN" sz="1800" dirty="0">
                <a:solidFill>
                  <a:srgbClr val="FF0000"/>
                </a:solidFill>
                <a:latin typeface="Times New Roman" pitchFamily="18" charset="0"/>
                <a:cs typeface="Times New Roman" pitchFamily="18" charset="0"/>
              </a:rPr>
              <a:t>0.2℃</a:t>
            </a:r>
            <a:r>
              <a:rPr lang="zh-CN" altLang="zh-CN" sz="1800" dirty="0">
                <a:solidFill>
                  <a:srgbClr val="FF0000"/>
                </a:solidFill>
              </a:rPr>
              <a:t>，高温区间最大绝对误差为</a:t>
            </a:r>
            <a:r>
              <a:rPr lang="en-US" altLang="zh-CN" sz="1800" dirty="0">
                <a:solidFill>
                  <a:srgbClr val="FF0000"/>
                </a:solidFill>
                <a:latin typeface="Times New Roman" pitchFamily="18" charset="0"/>
                <a:cs typeface="Times New Roman" pitchFamily="18" charset="0"/>
              </a:rPr>
              <a:t>0.1℃</a:t>
            </a:r>
            <a:r>
              <a:rPr lang="zh-CN" altLang="zh-CN" sz="1800" dirty="0">
                <a:solidFill>
                  <a:srgbClr val="FF0000"/>
                </a:solidFill>
              </a:rPr>
              <a:t>。</a:t>
            </a:r>
          </a:p>
          <a:p>
            <a:pPr defTabSz="1018852">
              <a:lnSpc>
                <a:spcPct val="150000"/>
              </a:lnSpc>
            </a:pPr>
            <a:endParaRPr lang="zh-CN" altLang="zh-CN" sz="1800" dirty="0"/>
          </a:p>
          <a:p>
            <a:pPr defTabSz="1018852">
              <a:lnSpc>
                <a:spcPct val="150000"/>
              </a:lnSpc>
            </a:pPr>
            <a:endParaRPr lang="en-US" altLang="zh-CN" sz="1800" dirty="0" smtClean="0"/>
          </a:p>
          <a:p>
            <a:pPr defTabSz="1018852">
              <a:lnSpc>
                <a:spcPct val="150000"/>
              </a:lnSpc>
            </a:pPr>
            <a:endParaRPr lang="en-US" altLang="zh-CN" sz="2000" dirty="0" smtClean="0"/>
          </a:p>
          <a:p>
            <a:pPr defTabSz="1018852">
              <a:lnSpc>
                <a:spcPct val="150000"/>
              </a:lnSpc>
            </a:pPr>
            <a:endParaRPr lang="en-US" altLang="zh-CN" sz="2000" dirty="0"/>
          </a:p>
          <a:p>
            <a:pPr defTabSz="1018852">
              <a:lnSpc>
                <a:spcPct val="150000"/>
              </a:lnSpc>
            </a:pPr>
            <a:endParaRPr lang="en-US" altLang="zh-CN" sz="2000" dirty="0" smtClean="0"/>
          </a:p>
        </p:txBody>
      </p:sp>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1295450" y="3898819"/>
            <a:ext cx="4335145" cy="2774950"/>
          </a:xfrm>
          <a:prstGeom prst="rect">
            <a:avLst/>
          </a:prstGeom>
          <a:noFill/>
          <a:ln>
            <a:noFill/>
          </a:ln>
        </p:spPr>
      </p:pic>
      <p:pic>
        <p:nvPicPr>
          <p:cNvPr id="10" name="图片 9"/>
          <p:cNvPicPr/>
          <p:nvPr/>
        </p:nvPicPr>
        <p:blipFill>
          <a:blip r:embed="rId5">
            <a:extLst>
              <a:ext uri="{28A0092B-C50C-407E-A947-70E740481C1C}">
                <a14:useLocalDpi xmlns:a14="http://schemas.microsoft.com/office/drawing/2010/main" val="0"/>
              </a:ext>
            </a:extLst>
          </a:blip>
          <a:srcRect/>
          <a:stretch>
            <a:fillRect/>
          </a:stretch>
        </p:blipFill>
        <p:spPr bwMode="auto">
          <a:xfrm>
            <a:off x="5759946" y="3902688"/>
            <a:ext cx="3557270" cy="2771081"/>
          </a:xfrm>
          <a:prstGeom prst="rect">
            <a:avLst/>
          </a:prstGeom>
          <a:noFill/>
          <a:ln>
            <a:noFill/>
          </a:ln>
        </p:spPr>
      </p:pic>
      <p:pic>
        <p:nvPicPr>
          <p:cNvPr id="11" name="图片 10"/>
          <p:cNvPicPr/>
          <p:nvPr/>
        </p:nvPicPr>
        <p:blipFill>
          <a:blip r:embed="rId6">
            <a:extLst>
              <a:ext uri="{28A0092B-C50C-407E-A947-70E740481C1C}">
                <a14:useLocalDpi xmlns:a14="http://schemas.microsoft.com/office/drawing/2010/main" val="0"/>
              </a:ext>
            </a:extLst>
          </a:blip>
          <a:srcRect/>
          <a:stretch>
            <a:fillRect/>
          </a:stretch>
        </p:blipFill>
        <p:spPr bwMode="auto">
          <a:xfrm>
            <a:off x="9648378" y="3902688"/>
            <a:ext cx="3594645" cy="2771081"/>
          </a:xfrm>
          <a:prstGeom prst="rect">
            <a:avLst/>
          </a:prstGeom>
          <a:noFill/>
          <a:ln>
            <a:noFill/>
          </a:ln>
        </p:spPr>
      </p:pic>
      <p:sp>
        <p:nvSpPr>
          <p:cNvPr id="2" name="矩形 1"/>
          <p:cNvSpPr/>
          <p:nvPr/>
        </p:nvSpPr>
        <p:spPr>
          <a:xfrm>
            <a:off x="2652543" y="6699869"/>
            <a:ext cx="1620957" cy="338554"/>
          </a:xfrm>
          <a:prstGeom prst="rect">
            <a:avLst/>
          </a:prstGeom>
        </p:spPr>
        <p:txBody>
          <a:bodyPr wrap="none">
            <a:spAutoFit/>
          </a:bodyPr>
          <a:lstStyle/>
          <a:p>
            <a:r>
              <a:rPr lang="zh-CN" altLang="zh-CN" sz="1600" dirty="0"/>
              <a:t>正算辐射量误差</a:t>
            </a:r>
            <a:endParaRPr lang="zh-CN" altLang="en-US" sz="1600" dirty="0"/>
          </a:p>
        </p:txBody>
      </p:sp>
      <p:sp>
        <p:nvSpPr>
          <p:cNvPr id="3" name="矩形 2"/>
          <p:cNvSpPr/>
          <p:nvPr/>
        </p:nvSpPr>
        <p:spPr>
          <a:xfrm>
            <a:off x="5867290" y="6735494"/>
            <a:ext cx="3342582" cy="338554"/>
          </a:xfrm>
          <a:prstGeom prst="rect">
            <a:avLst/>
          </a:prstGeom>
        </p:spPr>
        <p:txBody>
          <a:bodyPr wrap="none">
            <a:spAutoFit/>
          </a:bodyPr>
          <a:lstStyle/>
          <a:p>
            <a:r>
              <a:rPr lang="zh-CN" altLang="zh-CN" sz="1600" dirty="0"/>
              <a:t>低温区间</a:t>
            </a:r>
            <a:r>
              <a:rPr lang="en-US" altLang="zh-CN" sz="1600" dirty="0">
                <a:latin typeface="Times New Roman" pitchFamily="18" charset="0"/>
                <a:cs typeface="Times New Roman" pitchFamily="18" charset="0"/>
              </a:rPr>
              <a:t>0.1</a:t>
            </a:r>
            <a:r>
              <a:rPr lang="zh-CN" altLang="zh-CN" sz="1600" dirty="0"/>
              <a:t>发射率修正后温度误差</a:t>
            </a:r>
            <a:endParaRPr lang="zh-CN" altLang="en-US" sz="1600" dirty="0"/>
          </a:p>
        </p:txBody>
      </p:sp>
      <p:sp>
        <p:nvSpPr>
          <p:cNvPr id="12" name="矩形 11"/>
          <p:cNvSpPr/>
          <p:nvPr/>
        </p:nvSpPr>
        <p:spPr>
          <a:xfrm>
            <a:off x="9900441" y="6728617"/>
            <a:ext cx="3313728" cy="338554"/>
          </a:xfrm>
          <a:prstGeom prst="rect">
            <a:avLst/>
          </a:prstGeom>
        </p:spPr>
        <p:txBody>
          <a:bodyPr wrap="none">
            <a:spAutoFit/>
          </a:bodyPr>
          <a:lstStyle/>
          <a:p>
            <a:r>
              <a:rPr lang="zh-CN" altLang="en-US" sz="1600" dirty="0"/>
              <a:t>高</a:t>
            </a:r>
            <a:r>
              <a:rPr lang="zh-CN" altLang="zh-CN" sz="1600" dirty="0" smtClean="0"/>
              <a:t>温</a:t>
            </a:r>
            <a:r>
              <a:rPr lang="zh-CN" altLang="zh-CN" sz="1600" dirty="0"/>
              <a:t>区间</a:t>
            </a:r>
            <a:r>
              <a:rPr lang="en-US" altLang="zh-CN" sz="1600" dirty="0">
                <a:latin typeface="Times New Roman" pitchFamily="18" charset="0"/>
                <a:cs typeface="Times New Roman" pitchFamily="18" charset="0"/>
              </a:rPr>
              <a:t>0.1</a:t>
            </a:r>
            <a:r>
              <a:rPr lang="zh-CN" altLang="zh-CN" sz="1600" dirty="0"/>
              <a:t>发射率修正后温度误差</a:t>
            </a:r>
            <a:endParaRPr lang="zh-CN" altLang="en-US" sz="1600" dirty="0"/>
          </a:p>
        </p:txBody>
      </p:sp>
    </p:spTree>
    <p:extLst>
      <p:ext uri="{BB962C8B-B14F-4D97-AF65-F5344CB8AC3E}">
        <p14:creationId xmlns:p14="http://schemas.microsoft.com/office/powerpoint/2010/main" val="2436635794"/>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图片 8"/>
          <p:cNvPicPr>
            <a:picLocks noChangeAspect="1"/>
          </p:cNvPicPr>
          <p:nvPr/>
        </p:nvPicPr>
        <p:blipFill>
          <a:blip r:embed="rId3"/>
          <a:stretch>
            <a:fillRect/>
          </a:stretch>
        </p:blipFill>
        <p:spPr>
          <a:xfrm>
            <a:off x="0" y="0"/>
            <a:ext cx="14400213" cy="8099425"/>
          </a:xfrm>
          <a:prstGeom prst="rect">
            <a:avLst/>
          </a:prstGeom>
          <a:noFill/>
          <a:ln w="9525">
            <a:noFill/>
          </a:ln>
        </p:spPr>
      </p:pic>
      <p:sp>
        <p:nvSpPr>
          <p:cNvPr id="8" name="矩形 7"/>
          <p:cNvSpPr/>
          <p:nvPr/>
        </p:nvSpPr>
        <p:spPr>
          <a:xfrm>
            <a:off x="863402" y="809352"/>
            <a:ext cx="7197725" cy="1323439"/>
          </a:xfrm>
          <a:prstGeom prst="rect">
            <a:avLst/>
          </a:prstGeom>
          <a:scene3d>
            <a:camera prst="orthographicFront">
              <a:rot lat="0" lon="0" rev="0"/>
            </a:camera>
            <a:lightRig rig="threePt" dir="t"/>
          </a:scene3d>
        </p:spPr>
        <p:txBody>
          <a:bodyPr>
            <a:spAutoFit/>
          </a:bodyPr>
          <a:lstStyle/>
          <a:p>
            <a:pPr marL="0" marR="0" lvl="0" indent="0" algn="l" defTabSz="1203325" rtl="0" eaLnBrk="1" fontAlgn="auto" latinLnBrk="0" hangingPunct="1">
              <a:lnSpc>
                <a:spcPct val="100000"/>
              </a:lnSpc>
              <a:spcBef>
                <a:spcPts val="0"/>
              </a:spcBef>
              <a:spcAft>
                <a:spcPts val="0"/>
              </a:spcAft>
              <a:buClrTx/>
              <a:buSzTx/>
              <a:buFontTx/>
              <a:buNone/>
              <a:defRPr/>
            </a:pPr>
            <a:r>
              <a:rPr kumimoji="0" lang="en-US" altLang="zh-CN" sz="80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Thanks!</a:t>
            </a:r>
            <a:endParaRPr kumimoji="0" lang="zh-CN" altLang="en-US" sz="80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矩形 4"/>
          <p:cNvSpPr/>
          <p:nvPr/>
        </p:nvSpPr>
        <p:spPr>
          <a:xfrm>
            <a:off x="839788" y="5705475"/>
            <a:ext cx="13536612" cy="461963"/>
          </a:xfrm>
          <a:prstGeom prst="rect">
            <a:avLst/>
          </a:prstGeom>
          <a:noFill/>
          <a:ln w="9525">
            <a:noFill/>
          </a:ln>
        </p:spPr>
        <p:txBody>
          <a:bodyPr>
            <a:spAutoFit/>
          </a:bodyPr>
          <a:lstStyle/>
          <a:p>
            <a:pPr eaLnBrk="1" hangingPunct="1"/>
            <a:r>
              <a:rPr lang="zh-CN" altLang="en-US" sz="1200" dirty="0">
                <a:solidFill>
                  <a:schemeClr val="bg1"/>
                </a:solidFill>
                <a:latin typeface="微软雅黑" panose="020B0503020204020204" pitchFamily="34" charset="-122"/>
                <a:cs typeface="Arial" panose="020B0604020202020204" pitchFamily="34" charset="0"/>
              </a:rPr>
              <a:t>武汉高德智感科技有限公司</a:t>
            </a:r>
          </a:p>
          <a:p>
            <a:pPr eaLnBrk="1" hangingPunct="1"/>
            <a:r>
              <a:rPr lang="en-US" altLang="zh-CN" sz="1200" dirty="0">
                <a:solidFill>
                  <a:schemeClr val="bg1"/>
                </a:solidFill>
                <a:latin typeface="微软雅黑" panose="020B0503020204020204" pitchFamily="34" charset="-122"/>
                <a:cs typeface="Arial" panose="020B0604020202020204" pitchFamily="34" charset="0"/>
              </a:rPr>
              <a:t>Wuhan Guide Sensmart Tech Co.,Ltd.</a:t>
            </a:r>
            <a:endParaRPr lang="zh-CN" altLang="en-US" sz="1200" dirty="0">
              <a:solidFill>
                <a:schemeClr val="bg1"/>
              </a:solidFill>
              <a:latin typeface="微软雅黑" panose="020B0503020204020204" pitchFamily="34" charset="-122"/>
              <a:ea typeface="Arial" panose="020B0604020202020204" pitchFamily="34" charset="0"/>
            </a:endParaRPr>
          </a:p>
        </p:txBody>
      </p:sp>
      <p:sp>
        <p:nvSpPr>
          <p:cNvPr id="6" name="矩形 5"/>
          <p:cNvSpPr/>
          <p:nvPr/>
        </p:nvSpPr>
        <p:spPr>
          <a:xfrm>
            <a:off x="839788" y="6713538"/>
            <a:ext cx="2400300" cy="461962"/>
          </a:xfrm>
          <a:prstGeom prst="rect">
            <a:avLst/>
          </a:prstGeom>
          <a:noFill/>
          <a:ln w="9525">
            <a:noFill/>
          </a:ln>
        </p:spPr>
        <p:txBody>
          <a:bodyPr>
            <a:spAutoFit/>
          </a:bodyPr>
          <a:lstStyle/>
          <a:p>
            <a:pPr eaLnBrk="1" hangingPunct="1"/>
            <a:r>
              <a:rPr lang="en-US" altLang="zh-CN" sz="1200" dirty="0">
                <a:solidFill>
                  <a:schemeClr val="bg1"/>
                </a:solidFill>
                <a:latin typeface="Arial" panose="020B0604020202020204" pitchFamily="34" charset="0"/>
                <a:cs typeface="Arial" panose="020B0604020202020204" pitchFamily="34" charset="0"/>
              </a:rPr>
              <a:t>T  +86-27-81298783</a:t>
            </a:r>
          </a:p>
          <a:p>
            <a:pPr eaLnBrk="1" hangingPunct="1"/>
            <a:r>
              <a:rPr lang="en-US" altLang="zh-CN" sz="1200" dirty="0">
                <a:solidFill>
                  <a:schemeClr val="bg1"/>
                </a:solidFill>
                <a:latin typeface="Arial" panose="020B0604020202020204" pitchFamily="34" charset="0"/>
                <a:cs typeface="Arial" panose="020B0604020202020204" pitchFamily="34" charset="0"/>
              </a:rPr>
              <a:t>F  +86-27-81298345</a:t>
            </a:r>
            <a:endParaRPr lang="zh-CN" altLang="en-US" sz="1200" dirty="0">
              <a:solidFill>
                <a:schemeClr val="bg1"/>
              </a:solidFill>
              <a:latin typeface="Arial" panose="020B0604020202020204" pitchFamily="34" charset="0"/>
              <a:ea typeface="Arial" panose="020B0604020202020204" pitchFamily="34" charset="0"/>
            </a:endParaRPr>
          </a:p>
        </p:txBody>
      </p:sp>
      <p:sp>
        <p:nvSpPr>
          <p:cNvPr id="7" name="矩形 6"/>
          <p:cNvSpPr/>
          <p:nvPr/>
        </p:nvSpPr>
        <p:spPr>
          <a:xfrm>
            <a:off x="2879725" y="6713538"/>
            <a:ext cx="3455988" cy="461962"/>
          </a:xfrm>
          <a:prstGeom prst="rect">
            <a:avLst/>
          </a:prstGeom>
          <a:noFill/>
          <a:ln w="9525">
            <a:noFill/>
          </a:ln>
        </p:spPr>
        <p:txBody>
          <a:bodyPr>
            <a:spAutoFit/>
          </a:bodyPr>
          <a:lstStyle/>
          <a:p>
            <a:pPr eaLnBrk="1" hangingPunct="1"/>
            <a:r>
              <a:rPr lang="en-US" altLang="zh-CN" sz="1200" dirty="0">
                <a:solidFill>
                  <a:schemeClr val="bg1"/>
                </a:solidFill>
                <a:latin typeface="Arial" panose="020B0604020202020204" pitchFamily="34" charset="0"/>
                <a:cs typeface="Arial" panose="020B0604020202020204" pitchFamily="34" charset="0"/>
              </a:rPr>
              <a:t>E   Mei@guide-infrared.com</a:t>
            </a:r>
          </a:p>
          <a:p>
            <a:pPr eaLnBrk="1" hangingPunct="1"/>
            <a:r>
              <a:rPr lang="en-US" altLang="zh-CN" sz="1200" dirty="0">
                <a:solidFill>
                  <a:schemeClr val="bg1"/>
                </a:solidFill>
                <a:latin typeface="Arial" panose="020B0604020202020204" pitchFamily="34" charset="0"/>
                <a:cs typeface="Arial" panose="020B0604020202020204" pitchFamily="34" charset="0"/>
              </a:rPr>
              <a:t>W  www.guideir.com</a:t>
            </a:r>
            <a:endParaRPr lang="zh-CN" altLang="en-US" sz="1200" dirty="0">
              <a:solidFill>
                <a:schemeClr val="bg1"/>
              </a:solidFill>
              <a:latin typeface="Arial" panose="020B0604020202020204" pitchFamily="34" charset="0"/>
              <a:ea typeface="Arial" panose="020B0604020202020204" pitchFamily="34" charset="0"/>
            </a:endParaRPr>
          </a:p>
        </p:txBody>
      </p:sp>
      <p:sp>
        <p:nvSpPr>
          <p:cNvPr id="10" name="矩形 9"/>
          <p:cNvSpPr/>
          <p:nvPr/>
        </p:nvSpPr>
        <p:spPr>
          <a:xfrm>
            <a:off x="839788" y="6210300"/>
            <a:ext cx="13536612" cy="461963"/>
          </a:xfrm>
          <a:prstGeom prst="rect">
            <a:avLst/>
          </a:prstGeom>
          <a:noFill/>
          <a:ln w="9525">
            <a:noFill/>
          </a:ln>
        </p:spPr>
        <p:txBody>
          <a:bodyPr>
            <a:spAutoFit/>
          </a:bodyPr>
          <a:lstStyle/>
          <a:p>
            <a:pPr eaLnBrk="1" hangingPunct="1"/>
            <a:r>
              <a:rPr lang="zh-CN" altLang="en-US" sz="1200" dirty="0">
                <a:solidFill>
                  <a:schemeClr val="bg1"/>
                </a:solidFill>
                <a:latin typeface="微软雅黑" panose="020B0503020204020204" pitchFamily="34" charset="-122"/>
                <a:cs typeface="Arial" panose="020B0604020202020204" pitchFamily="34" charset="0"/>
              </a:rPr>
              <a:t>湖北省武汉市东湖开发区光谷大道黄龙山南路</a:t>
            </a:r>
            <a:r>
              <a:rPr lang="en-US" altLang="zh-CN" sz="1200" dirty="0">
                <a:solidFill>
                  <a:schemeClr val="bg1"/>
                </a:solidFill>
                <a:latin typeface="微软雅黑" panose="020B0503020204020204" pitchFamily="34" charset="-122"/>
                <a:cs typeface="Arial" panose="020B0604020202020204" pitchFamily="34" charset="0"/>
              </a:rPr>
              <a:t>6</a:t>
            </a:r>
            <a:r>
              <a:rPr lang="zh-CN" altLang="en-US" sz="1200" dirty="0">
                <a:solidFill>
                  <a:schemeClr val="bg1"/>
                </a:solidFill>
                <a:latin typeface="微软雅黑" panose="020B0503020204020204" pitchFamily="34" charset="-122"/>
                <a:cs typeface="Arial" panose="020B0604020202020204" pitchFamily="34" charset="0"/>
              </a:rPr>
              <a:t>号，</a:t>
            </a:r>
            <a:r>
              <a:rPr lang="en-US" altLang="zh-CN" sz="1200" dirty="0">
                <a:solidFill>
                  <a:schemeClr val="bg1"/>
                </a:solidFill>
                <a:latin typeface="微软雅黑" panose="020B0503020204020204" pitchFamily="34" charset="-122"/>
                <a:cs typeface="Arial" panose="020B0604020202020204" pitchFamily="34" charset="0"/>
              </a:rPr>
              <a:t>430205</a:t>
            </a:r>
          </a:p>
          <a:p>
            <a:pPr eaLnBrk="1" hangingPunct="1"/>
            <a:r>
              <a:rPr lang="en-US" altLang="zh-CN" sz="1200" dirty="0">
                <a:solidFill>
                  <a:schemeClr val="bg1"/>
                </a:solidFill>
                <a:latin typeface="微软雅黑" panose="020B0503020204020204" pitchFamily="34" charset="-122"/>
                <a:cs typeface="Arial" panose="020B0604020202020204" pitchFamily="34" charset="0"/>
              </a:rPr>
              <a:t>No.6 Huanglongshan South Rd,Wuhan,430205,P.R.China</a:t>
            </a:r>
            <a:endParaRPr lang="zh-CN" altLang="en-US" sz="1200" dirty="0">
              <a:solidFill>
                <a:schemeClr val="bg1"/>
              </a:solidFill>
              <a:latin typeface="微软雅黑" panose="020B0503020204020204" pitchFamily="34" charset="-122"/>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6a9207a7-770c-4d76-95cb-1f16ca5050a5"/>
  <p:tag name="COMMONDATA" val="eyJoZGlkIjoiNmQyYTFlZDcxOWQ4YzFjYzFjZWY0YTZmODQyNGQ1YjUifQ=="/>
</p:tagLst>
</file>

<file path=ppt/theme/theme1.xml><?xml version="1.0" encoding="utf-8"?>
<a:theme xmlns:a="http://schemas.openxmlformats.org/drawingml/2006/main" name="Office 主题">
  <a:themeElements>
    <a:clrScheme name="高德智感">
      <a:dk1>
        <a:srgbClr val="000000"/>
      </a:dk1>
      <a:lt1>
        <a:srgbClr val="F5F5F5"/>
      </a:lt1>
      <a:dk2>
        <a:srgbClr val="C90915"/>
      </a:dk2>
      <a:lt2>
        <a:srgbClr val="B4B4B4"/>
      </a:lt2>
      <a:accent1>
        <a:srgbClr val="FFF100"/>
      </a:accent1>
      <a:accent2>
        <a:srgbClr val="6A258A"/>
      </a:accent2>
      <a:accent3>
        <a:srgbClr val="3D9740"/>
      </a:accent3>
      <a:accent4>
        <a:srgbClr val="E62E8B"/>
      </a:accent4>
      <a:accent5>
        <a:srgbClr val="1D50A2"/>
      </a:accent5>
      <a:accent6>
        <a:srgbClr val="FFFFFF"/>
      </a:accent6>
      <a:hlink>
        <a:srgbClr val="000099"/>
      </a:hlink>
      <a:folHlink>
        <a:srgbClr val="5F5F5F"/>
      </a:folHlink>
    </a:clrScheme>
    <a:fontScheme name="高德红外">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25945</TotalTime>
  <Words>1754</Words>
  <Application>Microsoft Office PowerPoint</Application>
  <PresentationFormat>自定义</PresentationFormat>
  <Paragraphs>141</Paragraphs>
  <Slides>15</Slides>
  <Notes>15</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15</vt:i4>
      </vt:variant>
    </vt:vector>
  </HeadingPairs>
  <TitlesOfParts>
    <vt:vector size="18" baseType="lpstr">
      <vt:lpstr>Office 主题</vt:lpstr>
      <vt:lpstr>Equation</vt:lpstr>
      <vt:lpstr>工作表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向锦-互联网</cp:lastModifiedBy>
  <cp:revision>748</cp:revision>
  <dcterms:created xsi:type="dcterms:W3CDTF">2015-07-01T09:37:00Z</dcterms:created>
  <dcterms:modified xsi:type="dcterms:W3CDTF">2024-12-13T03:29:04Z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5CDE80A097FF46C790F768161C979074_13</vt:lpwstr>
  </property>
  <property fmtid="{D5CDD505-2E9C-101B-9397-08002B2CF9AE}" pid="3" name="KSOProductBuildVer">
    <vt:lpwstr>2052-11.1.0.14309</vt:lpwstr>
  </property>
</Properties>
</file>