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84" r:id="rId3"/>
    <p:sldMasterId id="2147483696" r:id="rId4"/>
  </p:sldMasterIdLst>
  <p:notesMasterIdLst>
    <p:notesMasterId r:id="rId17"/>
  </p:notesMasterIdLst>
  <p:handoutMasterIdLst>
    <p:handoutMasterId r:id="rId18"/>
  </p:handoutMasterIdLst>
  <p:sldIdLst>
    <p:sldId id="365" r:id="rId5"/>
    <p:sldId id="463" r:id="rId6"/>
    <p:sldId id="598" r:id="rId7"/>
    <p:sldId id="599" r:id="rId8"/>
    <p:sldId id="472" r:id="rId9"/>
    <p:sldId id="595" r:id="rId10"/>
    <p:sldId id="596" r:id="rId11"/>
    <p:sldId id="494" r:id="rId12"/>
    <p:sldId id="591" r:id="rId13"/>
    <p:sldId id="597" r:id="rId14"/>
    <p:sldId id="593" r:id="rId15"/>
    <p:sldId id="442" r:id="rId16"/>
  </p:sldIdLst>
  <p:sldSz cx="12192000" cy="6858000"/>
  <p:notesSz cx="6858000" cy="9144000"/>
  <p:custDataLst>
    <p:tags r:id="rId19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278" userDrawn="1">
          <p15:clr>
            <a:srgbClr val="A4A3A4"/>
          </p15:clr>
        </p15:guide>
        <p15:guide id="2" pos="38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0000"/>
    <a:srgbClr val="00BBD6"/>
    <a:srgbClr val="02347D"/>
    <a:srgbClr val="9BC319"/>
    <a:srgbClr val="FF642E"/>
    <a:srgbClr val="BF030A"/>
    <a:srgbClr val="A92375"/>
    <a:srgbClr val="74309F"/>
    <a:srgbClr val="F0E7E7"/>
    <a:srgbClr val="A923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515E906-2A41-4519-BC3D-922CBC5290B8}" styleName="{385b2ea8-0d66-414d-9127-dde3b277f022}">
    <a:wholeTbl>
      <a:tcTxStyle>
        <a:fontRef idx="none">
          <a:prstClr val="black"/>
        </a:fontRef>
      </a:tcTxStyle>
      <a:tcStyle>
        <a:tcBdr>
          <a:left>
            <a:ln w="9525" cmpd="sng">
              <a:solidFill>
                <a:srgbClr val="FEFEFE"/>
              </a:solidFill>
            </a:ln>
          </a:left>
          <a:right>
            <a:ln w="9525" cmpd="sng">
              <a:solidFill>
                <a:srgbClr val="FEFEFE"/>
              </a:solidFill>
            </a:ln>
          </a:right>
          <a:top>
            <a:ln w="9525" cmpd="sng">
              <a:solidFill>
                <a:srgbClr val="FEFEFE"/>
              </a:solidFill>
            </a:ln>
          </a:top>
          <a:bottom>
            <a:ln w="9525" cmpd="sng">
              <a:solidFill>
                <a:srgbClr val="FEFEFE"/>
              </a:solidFill>
            </a:ln>
          </a:bottom>
          <a:insideH>
            <a:ln w="9525" cmpd="sng">
              <a:solidFill>
                <a:srgbClr val="FEFEFE"/>
              </a:solidFill>
            </a:ln>
          </a:insideH>
          <a:insideV>
            <a:ln w="9525" cmpd="sng">
              <a:solidFill>
                <a:srgbClr val="FEFEFE"/>
              </a:solidFill>
            </a:ln>
          </a:insideV>
        </a:tcBdr>
        <a:fill>
          <a:solidFill>
            <a:srgbClr val="545454"/>
          </a:solidFill>
        </a:fill>
      </a:tcStyle>
    </a:wholeTbl>
    <a:firstRow>
      <a:tcTxStyle>
        <a:fontRef idx="none">
          <a:prstClr val="black"/>
        </a:fontRef>
      </a:tcTxStyle>
      <a:tcStyle>
        <a:tcBdr>
          <a:bottom>
            <a:ln w="76200" cmpd="sng">
              <a:solidFill>
                <a:srgbClr val="FEFEFE"/>
              </a:solidFill>
            </a:ln>
          </a:bottom>
        </a:tcBdr>
        <a:fill>
          <a:solidFill>
            <a:srgbClr val="53CED5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20" autoAdjust="0"/>
  </p:normalViewPr>
  <p:slideViewPr>
    <p:cSldViewPr showGuides="1">
      <p:cViewPr varScale="1">
        <p:scale>
          <a:sx n="114" d="100"/>
          <a:sy n="114" d="100"/>
        </p:scale>
        <p:origin x="-414" y="-108"/>
      </p:cViewPr>
      <p:guideLst>
        <p:guide orient="horz" pos="2278"/>
        <p:guide pos="385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2024/7/25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66040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2024/7/25</a:t>
            </a:fld>
            <a:endParaRPr lang="zh-CN" altLang="en-US" strike="noStrike" noProof="1"/>
          </a:p>
        </p:txBody>
      </p:sp>
      <p:sp>
        <p:nvSpPr>
          <p:cNvPr id="3076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530" y="1143000"/>
            <a:ext cx="548694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/>
          </a:p>
        </p:txBody>
      </p:sp>
    </p:spTree>
    <p:extLst>
      <p:ext uri="{BB962C8B-B14F-4D97-AF65-F5344CB8AC3E}">
        <p14:creationId xmlns:p14="http://schemas.microsoft.com/office/powerpoint/2010/main" val="940371248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文本占位符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6146" name="文本占位符 2"/>
          <p:cNvSpPr>
            <a:spLocks noGrp="1"/>
          </p:cNvSpPr>
          <p:nvPr>
            <p:ph type="body"/>
          </p:nvPr>
        </p:nvSpPr>
        <p:spPr/>
        <p:txBody>
          <a:bodyPr lIns="91440" tIns="45720" rIns="91440" bIns="45720" anchor="t" anchorCtr="0"/>
          <a:lstStyle/>
          <a:p>
            <a:pPr lvl="0"/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65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415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18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18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3850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3107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78304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4670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2521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32023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1487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65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415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18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18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32562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53255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17494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45311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85382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7461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54135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35428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9233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24164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73219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65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415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18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18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1811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03067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61396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4083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139" y="1122486"/>
            <a:ext cx="9144833" cy="2387863"/>
          </a:xfrm>
        </p:spPr>
        <p:txBody>
          <a:bodyPr anchor="b"/>
          <a:lstStyle>
            <a:lvl1pPr algn="ctr">
              <a:defRPr sz="4505"/>
            </a:lvl1pPr>
          </a:lstStyle>
          <a:p>
            <a:pPr fontAlgn="base"/>
            <a:r>
              <a:rPr lang="zh-CN" altLang="en-US" sz="354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139" y="3602434"/>
            <a:ext cx="9144833" cy="1655945"/>
          </a:xfrm>
        </p:spPr>
        <p:txBody>
          <a:bodyPr/>
          <a:lstStyle>
            <a:lvl1pPr marL="0" indent="0" algn="ctr">
              <a:buNone/>
              <a:defRPr sz="1795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5"/>
            </a:lvl3pPr>
            <a:lvl4pPr marL="1029335" indent="0" algn="ctr">
              <a:buNone/>
              <a:defRPr sz="1200"/>
            </a:lvl4pPr>
            <a:lvl5pPr marL="1372235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pPr fontAlgn="base"/>
            <a:r>
              <a:rPr lang="zh-CN" altLang="en-US" sz="1415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3794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653355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926" y="1709926"/>
            <a:ext cx="10516556" cy="2853051"/>
          </a:xfrm>
        </p:spPr>
        <p:txBody>
          <a:bodyPr anchor="b"/>
          <a:lstStyle>
            <a:lvl1pPr>
              <a:defRPr sz="4505"/>
            </a:lvl1pPr>
          </a:lstStyle>
          <a:p>
            <a:pPr fontAlgn="base"/>
            <a:r>
              <a:rPr lang="zh-CN" altLang="en-US" sz="354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926" y="4589968"/>
            <a:ext cx="10516556" cy="1500353"/>
          </a:xfrm>
        </p:spPr>
        <p:txBody>
          <a:bodyPr/>
          <a:lstStyle>
            <a:lvl1pPr marL="0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5">
                <a:solidFill>
                  <a:schemeClr val="tx1">
                    <a:tint val="75000"/>
                  </a:schemeClr>
                </a:solidFill>
              </a:defRPr>
            </a:lvl3pPr>
            <a:lvl4pPr marL="10293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22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83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z="141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852660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56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06293" y="1600376"/>
            <a:ext cx="5377162" cy="4526461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234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365165"/>
            <a:ext cx="10516556" cy="1325709"/>
          </a:xfrm>
        </p:spPr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882" y="1778634"/>
            <a:ext cx="4874017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882" y="2665673"/>
            <a:ext cx="4874017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7508" y="1778634"/>
            <a:ext cx="4898022" cy="824003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795"/>
            </a:lvl2pPr>
            <a:lvl3pPr marL="685800" indent="0">
              <a:buNone/>
              <a:defRPr sz="1500"/>
            </a:lvl3pPr>
            <a:lvl4pPr marL="1029335" indent="0">
              <a:buNone/>
              <a:defRPr sz="1355"/>
            </a:lvl4pPr>
            <a:lvl5pPr marL="1372235" indent="0">
              <a:buNone/>
              <a:defRPr sz="1355"/>
            </a:lvl5pPr>
            <a:lvl6pPr marL="1714500" indent="0">
              <a:buNone/>
              <a:defRPr sz="1355"/>
            </a:lvl6pPr>
            <a:lvl7pPr marL="2057400" indent="0">
              <a:buNone/>
              <a:defRPr sz="1355"/>
            </a:lvl7pPr>
            <a:lvl8pPr marL="2400300" indent="0">
              <a:buNone/>
              <a:defRPr sz="1355"/>
            </a:lvl8pPr>
            <a:lvl9pPr marL="2743835" indent="0">
              <a:buNone/>
              <a:defRPr sz="1355"/>
            </a:lvl9pPr>
          </a:lstStyle>
          <a:p>
            <a:pPr lvl="0" fontAlgn="base"/>
            <a:r>
              <a:rPr lang="zh-CN" altLang="en-US" sz="165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7508" y="2665673"/>
            <a:ext cx="4898022" cy="3524673"/>
          </a:xfrm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5028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55405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60115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3932595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659" y="987534"/>
            <a:ext cx="6172762" cy="487416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795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z="189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165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415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180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180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3932595" cy="381200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9335" indent="0">
              <a:buNone/>
              <a:defRPr sz="750"/>
            </a:lvl4pPr>
            <a:lvl5pPr marL="1372235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 fontAlgn="base"/>
            <a:r>
              <a:rPr lang="zh-CN" altLang="en-US" sz="945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863532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865" y="457250"/>
            <a:ext cx="4165728" cy="1600376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z="1890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659" y="457252"/>
            <a:ext cx="6172762" cy="540444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795"/>
            </a:lvl3pPr>
            <a:lvl4pPr marL="1029335" indent="0">
              <a:buNone/>
              <a:defRPr sz="1500"/>
            </a:lvl4pPr>
            <a:lvl5pPr marL="1372235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865" y="2057627"/>
            <a:ext cx="4165728" cy="381200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5"/>
            </a:lvl2pPr>
            <a:lvl3pPr marL="685800" indent="0">
              <a:buNone/>
              <a:defRPr sz="1200"/>
            </a:lvl3pPr>
            <a:lvl4pPr marL="1029335" indent="0">
              <a:buNone/>
              <a:defRPr sz="1050"/>
            </a:lvl4pPr>
            <a:lvl5pPr marL="1372235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835" indent="0">
              <a:buNone/>
              <a:defRPr sz="1050"/>
            </a:lvl9pPr>
          </a:lstStyle>
          <a:p>
            <a:pPr lvl="0" fontAlgn="base"/>
            <a:r>
              <a:rPr lang="zh-CN" altLang="en-US" sz="1180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72197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52434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40005" y="274668"/>
            <a:ext cx="2743450" cy="5852170"/>
          </a:xfrm>
        </p:spPr>
        <p:txBody>
          <a:bodyPr vert="eaVert"/>
          <a:lstStyle/>
          <a:p>
            <a:pPr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56" y="274668"/>
            <a:ext cx="8071308" cy="5852170"/>
          </a:xfrm>
        </p:spPr>
        <p:txBody>
          <a:bodyPr vert="eaVert"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82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pPr lvl="0" fontAlgn="base"/>
            <a:endParaRPr lang="zh-CN" altLang="en-US" strike="noStrike" noProof="1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pPr lvl="0" fontAlgn="base"/>
            <a:fld id="{9A0DB2DC-4C9A-4742-B13C-FB6460FD3503}" type="slidenum">
              <a:rPr lang="zh-CN" altLang="en-US" strike="noStrike" noProof="1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lang="zh-CN" altLang="en-US" strike="noStrike" noProof="1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317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0405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609373" y="274223"/>
            <a:ext cx="10974096" cy="1143269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 fontAlgn="base"/>
            <a:r>
              <a:rPr lang="zh-CN" altLang="en-US" sz="3465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609373" y="1600980"/>
            <a:ext cx="10974096" cy="45267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fontAlgn="base"/>
            <a:r>
              <a:rPr lang="zh-CN" altLang="en-US" sz="2520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z="2205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z="1890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z="1575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z="1575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609373" y="6246644"/>
            <a:ext cx="284613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395"/>
            </a:lvl1pPr>
          </a:lstStyle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4165245" y="6246644"/>
            <a:ext cx="3862352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395"/>
            </a:lvl1pPr>
          </a:lstStyle>
          <a:p>
            <a:endParaRPr lang="zh-CN" altLang="en-US" noProof="1">
              <a:solidFill>
                <a:srgbClr val="000000"/>
              </a:solidFill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8739130" y="6246644"/>
            <a:ext cx="2844340" cy="475858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395"/>
            </a:lvl1pPr>
          </a:lstStyle>
          <a:p>
            <a:fld id="{9A0DB2DC-4C9A-4742-B13C-FB6460FD3503}" type="slidenum">
              <a:rPr lang="zh-CN" altLang="en-US" noProof="1">
                <a:solidFill>
                  <a:srgbClr val="000000"/>
                </a:solidFill>
              </a:rPr>
              <a:pPr/>
              <a:t>‹#›</a:t>
            </a:fld>
            <a:endParaRPr lang="zh-CN" altLang="en-US" noProof="1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45196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635" lvl="7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835" lvl="8" indent="-227965" algn="l" defTabSz="914400" eaLnBrk="1" fontAlgn="base" latinLnBrk="0" hangingPunct="1">
        <a:lnSpc>
          <a:spcPct val="100000"/>
        </a:lnSpc>
        <a:spcBef>
          <a:spcPts val="95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795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2235" lvl="3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9435" lvl="4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635" lvl="5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835" lvl="6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1035" lvl="7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1161415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image" Target="../media/image4.png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notesSlide" Target="../notesSlides/notesSlide2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Relationship Id="rId22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>
                <a:alpha val="100000"/>
              </a:srgbClr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_画板 1"/>
          <p:cNvPicPr preferRelativeResize="0"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235" y="100027"/>
            <a:ext cx="6673215" cy="6857365"/>
          </a:xfrm>
          <a:prstGeom prst="rect">
            <a:avLst/>
          </a:prstGeom>
          <a:blipFill rotWithShape="1">
            <a:blip r:embed="rId3">
              <a:alphaModFix amt="51000"/>
            </a:blip>
            <a:stretch>
              <a:fillRect/>
            </a:stretch>
          </a:blipFill>
        </p:spPr>
      </p:pic>
      <p:sp>
        <p:nvSpPr>
          <p:cNvPr id="4098" name="文本框 2"/>
          <p:cNvSpPr txBox="1"/>
          <p:nvPr/>
        </p:nvSpPr>
        <p:spPr>
          <a:xfrm>
            <a:off x="840104" y="2486506"/>
            <a:ext cx="7200112" cy="255454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en-US" sz="4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ZP52A-</a:t>
            </a:r>
            <a:r>
              <a:rPr lang="zh-CN" altLang="en-US" sz="4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大气透过率修正验证结果</a:t>
            </a:r>
            <a:r>
              <a:rPr lang="zh-CN" altLang="en-US" sz="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评审</a:t>
            </a:r>
            <a:endParaRPr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 sz="28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00" name="文本框 4"/>
          <p:cNvSpPr txBox="1"/>
          <p:nvPr/>
        </p:nvSpPr>
        <p:spPr>
          <a:xfrm>
            <a:off x="839416" y="5877243"/>
            <a:ext cx="2153154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时间：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2024.7.29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未标题33_画板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960" y="188595"/>
            <a:ext cx="1499235" cy="1351280"/>
          </a:xfrm>
          <a:prstGeom prst="rect">
            <a:avLst/>
          </a:prstGeom>
        </p:spPr>
      </p:pic>
      <p:pic>
        <p:nvPicPr>
          <p:cNvPr id="9" name="图片 8" descr="日 历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448" y="6006813"/>
            <a:ext cx="230505" cy="222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211_画板 1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-1752600" y="476884"/>
            <a:ext cx="6607175" cy="6802755"/>
          </a:xfrm>
          <a:prstGeom prst="rect">
            <a:avLst/>
          </a:prstGeom>
        </p:spPr>
      </p:pic>
      <p:sp>
        <p:nvSpPr>
          <p:cNvPr id="5123" name="文本框 3"/>
          <p:cNvSpPr txBox="1"/>
          <p:nvPr/>
        </p:nvSpPr>
        <p:spPr>
          <a:xfrm>
            <a:off x="552098" y="171450"/>
            <a:ext cx="1820862" cy="89154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3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altLang="en-US" sz="400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en-US" altLang="zh-CN" sz="16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40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CONTENT</a:t>
            </a:r>
          </a:p>
        </p:txBody>
      </p:sp>
      <p:grpSp>
        <p:nvGrpSpPr>
          <p:cNvPr id="35" name="组合 34"/>
          <p:cNvGrpSpPr/>
          <p:nvPr>
            <p:custDataLst>
              <p:tags r:id="rId1"/>
            </p:custDataLst>
          </p:nvPr>
        </p:nvGrpSpPr>
        <p:grpSpPr>
          <a:xfrm>
            <a:off x="2396714" y="1825300"/>
            <a:ext cx="1108075" cy="671830"/>
            <a:chOff x="3606" y="3064"/>
            <a:chExt cx="1745" cy="1058"/>
          </a:xfrm>
        </p:grpSpPr>
        <p:grpSp>
          <p:nvGrpSpPr>
            <p:cNvPr id="31" name="组合 30"/>
            <p:cNvGrpSpPr/>
            <p:nvPr/>
          </p:nvGrpSpPr>
          <p:grpSpPr>
            <a:xfrm>
              <a:off x="3606" y="3064"/>
              <a:ext cx="1058" cy="1058"/>
              <a:chOff x="4089" y="1181"/>
              <a:chExt cx="1058" cy="1058"/>
            </a:xfrm>
          </p:grpSpPr>
          <p:sp>
            <p:nvSpPr>
              <p:cNvPr id="3" name="椭圆 2"/>
              <p:cNvSpPr/>
              <p:nvPr>
                <p:custDataLst>
                  <p:tags r:id="rId17"/>
                </p:custDataLst>
              </p:nvPr>
            </p:nvSpPr>
            <p:spPr>
              <a:xfrm>
                <a:off x="4089" y="1181"/>
                <a:ext cx="1058" cy="1058"/>
              </a:xfrm>
              <a:prstGeom prst="ellipse">
                <a:avLst/>
              </a:prstGeom>
              <a:gradFill>
                <a:gsLst>
                  <a:gs pos="0">
                    <a:srgbClr val="C00000"/>
                  </a:gs>
                  <a:gs pos="100000">
                    <a:srgbClr val="7030A0"/>
                  </a:gs>
                </a:gsLst>
                <a:lin ang="11700000" scaled="0"/>
              </a:gradFill>
              <a:ln w="19050"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/>
              </a:p>
            </p:txBody>
          </p:sp>
          <p:sp>
            <p:nvSpPr>
              <p:cNvPr id="5126" name="文本框 3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4317" y="1299"/>
                <a:ext cx="601" cy="82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1</a:t>
                </a:r>
              </a:p>
            </p:txBody>
          </p:sp>
        </p:grpSp>
        <p:sp>
          <p:nvSpPr>
            <p:cNvPr id="9" name="文本框 8"/>
            <p:cNvSpPr txBox="1"/>
            <p:nvPr/>
          </p:nvSpPr>
          <p:spPr>
            <a:xfrm>
              <a:off x="5060" y="3261"/>
              <a:ext cx="29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zh-CN"/>
              </a:defPPr>
              <a:lvl1pPr>
                <a:defRPr sz="220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defRPr>
              </a:lvl1pPr>
            </a:lstStyle>
            <a:p>
              <a:endParaRPr lang="en-US" altLang="zh-CN" noProof="1">
                <a:sym typeface="+mn-ea"/>
              </a:endParaRPr>
            </a:p>
          </p:txBody>
        </p:sp>
      </p:grpSp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grpSp>
        <p:nvGrpSpPr>
          <p:cNvPr id="36" name="组合 35"/>
          <p:cNvGrpSpPr/>
          <p:nvPr>
            <p:custDataLst>
              <p:tags r:id="rId2"/>
            </p:custDataLst>
          </p:nvPr>
        </p:nvGrpSpPr>
        <p:grpSpPr>
          <a:xfrm>
            <a:off x="3499208" y="3631808"/>
            <a:ext cx="3175000" cy="1556385"/>
            <a:chOff x="4837" y="4251"/>
            <a:chExt cx="5000" cy="2451"/>
          </a:xfrm>
        </p:grpSpPr>
        <p:sp>
          <p:nvSpPr>
            <p:cNvPr id="11" name="文本框 10"/>
            <p:cNvSpPr txBox="1"/>
            <p:nvPr>
              <p:custDataLst>
                <p:tags r:id="rId14"/>
              </p:custDataLst>
            </p:nvPr>
          </p:nvSpPr>
          <p:spPr>
            <a:xfrm>
              <a:off x="6436" y="6023"/>
              <a:ext cx="3401" cy="67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200" noProof="1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高低温验证结果</a:t>
              </a:r>
              <a:endParaRPr lang="zh-CN" altLang="en-US" sz="2200" noProof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grpSp>
          <p:nvGrpSpPr>
            <p:cNvPr id="32" name="组合 31"/>
            <p:cNvGrpSpPr/>
            <p:nvPr/>
          </p:nvGrpSpPr>
          <p:grpSpPr>
            <a:xfrm>
              <a:off x="4837" y="4251"/>
              <a:ext cx="1058" cy="1058"/>
              <a:chOff x="5518" y="2211"/>
              <a:chExt cx="1058" cy="1058"/>
            </a:xfrm>
          </p:grpSpPr>
          <p:sp>
            <p:nvSpPr>
              <p:cNvPr id="16" name="椭圆 15"/>
              <p:cNvSpPr/>
              <p:nvPr>
                <p:custDataLst>
                  <p:tags r:id="rId15"/>
                </p:custDataLst>
              </p:nvPr>
            </p:nvSpPr>
            <p:spPr>
              <a:xfrm>
                <a:off x="5518" y="2211"/>
                <a:ext cx="1058" cy="1058"/>
              </a:xfrm>
              <a:prstGeom prst="ellipse">
                <a:avLst/>
              </a:prstGeom>
              <a:gradFill>
                <a:gsLst>
                  <a:gs pos="0">
                    <a:srgbClr val="C00000"/>
                  </a:gs>
                  <a:gs pos="100000">
                    <a:srgbClr val="7030A0"/>
                  </a:gs>
                </a:gsLst>
                <a:lin ang="11700000" scaled="0"/>
              </a:gradFill>
              <a:ln w="19050"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fontAlgn="base"/>
                <a:endParaRPr lang="zh-CN" altLang="en-US" strike="noStrike" noProof="1"/>
              </a:p>
            </p:txBody>
          </p:sp>
          <p:sp>
            <p:nvSpPr>
              <p:cNvPr id="17" name="文本框 3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5746" y="2344"/>
                <a:ext cx="601" cy="82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anchor="t" anchorCtr="0">
                <a:spAutoFit/>
              </a:bodyPr>
              <a:lstStyle/>
              <a:p>
                <a:r>
                  <a:rPr lang="en-US" altLang="zh-CN" sz="28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2</a:t>
                </a:r>
              </a:p>
            </p:txBody>
          </p:sp>
        </p:grpSp>
      </p:grpSp>
      <p:sp>
        <p:nvSpPr>
          <p:cNvPr id="26" name="矩形 25"/>
          <p:cNvSpPr/>
          <p:nvPr>
            <p:custDataLst>
              <p:tags r:id="rId3"/>
            </p:custDataLst>
          </p:nvPr>
        </p:nvSpPr>
        <p:spPr>
          <a:xfrm>
            <a:off x="4632779" y="6085617"/>
            <a:ext cx="513080" cy="4298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noProof="1">
                <a:solidFill>
                  <a:schemeClr val="bg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3320004" y="191989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noProof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大气透过率修正模块说明</a:t>
            </a:r>
            <a:endParaRPr lang="en-US" altLang="zh-CN" sz="2400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" name="文本框 10"/>
          <p:cNvSpPr txBox="1"/>
          <p:nvPr>
            <p:custDataLst>
              <p:tags r:id="rId5"/>
            </p:custDataLst>
          </p:nvPr>
        </p:nvSpPr>
        <p:spPr>
          <a:xfrm>
            <a:off x="4612046" y="5692050"/>
            <a:ext cx="748665" cy="431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sz="2200" noProof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结论</a:t>
            </a:r>
            <a:endParaRPr lang="zh-CN" altLang="en-US" sz="2200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3716160" y="5571554"/>
            <a:ext cx="671830" cy="671830"/>
            <a:chOff x="5518" y="2211"/>
            <a:chExt cx="1058" cy="1058"/>
          </a:xfrm>
        </p:grpSpPr>
        <p:sp>
          <p:nvSpPr>
            <p:cNvPr id="33" name="椭圆 32"/>
            <p:cNvSpPr/>
            <p:nvPr>
              <p:custDataLst>
                <p:tags r:id="rId12"/>
              </p:custDataLst>
            </p:nvPr>
          </p:nvSpPr>
          <p:spPr>
            <a:xfrm>
              <a:off x="5518" y="2211"/>
              <a:ext cx="1058" cy="1058"/>
            </a:xfrm>
            <a:prstGeom prst="ellipse">
              <a:avLst/>
            </a:prstGeom>
            <a:gradFill>
              <a:gsLst>
                <a:gs pos="0">
                  <a:srgbClr val="C00000"/>
                </a:gs>
                <a:gs pos="100000">
                  <a:srgbClr val="7030A0"/>
                </a:gs>
              </a:gsLst>
              <a:lin ang="11700000" scaled="0"/>
            </a:gradFill>
            <a:ln w="19050"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34" name="文本框 3"/>
            <p:cNvSpPr txBox="1"/>
            <p:nvPr>
              <p:custDataLst>
                <p:tags r:id="rId13"/>
              </p:custDataLst>
            </p:nvPr>
          </p:nvSpPr>
          <p:spPr>
            <a:xfrm>
              <a:off x="5746" y="2344"/>
              <a:ext cx="601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1" name="文本框 3"/>
          <p:cNvSpPr txBox="1"/>
          <p:nvPr>
            <p:custDataLst>
              <p:tags r:id="rId6"/>
            </p:custDataLst>
          </p:nvPr>
        </p:nvSpPr>
        <p:spPr>
          <a:xfrm>
            <a:off x="3769118" y="2777656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noProof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测试条件说明</a:t>
            </a:r>
            <a:endParaRPr lang="en-US" altLang="zh-CN" sz="2400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2" name="文本框 3"/>
          <p:cNvSpPr txBox="1"/>
          <p:nvPr>
            <p:custDataLst>
              <p:tags r:id="rId7"/>
            </p:custDataLst>
          </p:nvPr>
        </p:nvSpPr>
        <p:spPr>
          <a:xfrm>
            <a:off x="4271144" y="3727187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noProof="1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常温常湿验证结果</a:t>
            </a:r>
            <a:endParaRPr lang="en-US" altLang="zh-CN" sz="2400" noProof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3719660" y="4636899"/>
            <a:ext cx="671830" cy="671830"/>
            <a:chOff x="5518" y="2211"/>
            <a:chExt cx="1058" cy="1058"/>
          </a:xfrm>
        </p:grpSpPr>
        <p:sp>
          <p:nvSpPr>
            <p:cNvPr id="25" name="椭圆 24"/>
            <p:cNvSpPr/>
            <p:nvPr>
              <p:custDataLst>
                <p:tags r:id="rId10"/>
              </p:custDataLst>
            </p:nvPr>
          </p:nvSpPr>
          <p:spPr>
            <a:xfrm>
              <a:off x="5518" y="2211"/>
              <a:ext cx="1058" cy="1058"/>
            </a:xfrm>
            <a:prstGeom prst="ellipse">
              <a:avLst/>
            </a:prstGeom>
            <a:gradFill>
              <a:gsLst>
                <a:gs pos="0">
                  <a:srgbClr val="C00000"/>
                </a:gs>
                <a:gs pos="100000">
                  <a:srgbClr val="7030A0"/>
                </a:gs>
              </a:gsLst>
              <a:lin ang="11700000" scaled="0"/>
            </a:gradFill>
            <a:ln w="19050"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27" name="文本框 3"/>
            <p:cNvSpPr txBox="1"/>
            <p:nvPr>
              <p:custDataLst>
                <p:tags r:id="rId11"/>
              </p:custDataLst>
            </p:nvPr>
          </p:nvSpPr>
          <p:spPr>
            <a:xfrm>
              <a:off x="5746" y="2344"/>
              <a:ext cx="601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3076328" y="2708235"/>
            <a:ext cx="671830" cy="671830"/>
            <a:chOff x="5518" y="2211"/>
            <a:chExt cx="1058" cy="1058"/>
          </a:xfrm>
        </p:grpSpPr>
        <p:sp>
          <p:nvSpPr>
            <p:cNvPr id="29" name="椭圆 28"/>
            <p:cNvSpPr/>
            <p:nvPr>
              <p:custDataLst>
                <p:tags r:id="rId8"/>
              </p:custDataLst>
            </p:nvPr>
          </p:nvSpPr>
          <p:spPr>
            <a:xfrm>
              <a:off x="5518" y="2211"/>
              <a:ext cx="1058" cy="1058"/>
            </a:xfrm>
            <a:prstGeom prst="ellipse">
              <a:avLst/>
            </a:prstGeom>
            <a:gradFill>
              <a:gsLst>
                <a:gs pos="0">
                  <a:srgbClr val="C00000"/>
                </a:gs>
                <a:gs pos="100000">
                  <a:srgbClr val="7030A0"/>
                </a:gs>
              </a:gsLst>
              <a:lin ang="11700000" scaled="0"/>
            </a:gradFill>
            <a:ln w="19050"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37" name="文本框 3"/>
            <p:cNvSpPr txBox="1"/>
            <p:nvPr>
              <p:custDataLst>
                <p:tags r:id="rId9"/>
              </p:custDataLst>
            </p:nvPr>
          </p:nvSpPr>
          <p:spPr>
            <a:xfrm>
              <a:off x="5746" y="2344"/>
              <a:ext cx="601" cy="82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lstStyle/>
            <a:p>
              <a:r>
                <a:rPr lang="en-US" altLang="zh-CN" sz="2800" dirty="0" smtClean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lang="en-US" altLang="zh-CN" sz="28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6720" y="318770"/>
            <a:ext cx="3653056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大气透过率修正模块说明</a:t>
            </a:r>
            <a:endParaRPr lang="zh-CN" altLang="en-US" sz="2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439" y="1668413"/>
            <a:ext cx="5514975" cy="75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矩形 8"/>
          <p:cNvSpPr/>
          <p:nvPr/>
        </p:nvSpPr>
        <p:spPr>
          <a:xfrm>
            <a:off x="1061100" y="3418080"/>
            <a:ext cx="3873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en-US" altLang="zh-CN" sz="1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zh-CN" altLang="en-US" dirty="0" smtClean="0">
                <a:solidFill>
                  <a:schemeClr val="bg1"/>
                </a:solidFill>
              </a:rPr>
              <a:t>为</a:t>
            </a:r>
            <a:r>
              <a:rPr lang="zh-CN" altLang="en-US" dirty="0" smtClean="0">
                <a:solidFill>
                  <a:schemeClr val="bg1"/>
                </a:solidFill>
              </a:rPr>
              <a:t>校温标准湿度，默认为</a:t>
            </a:r>
            <a:r>
              <a:rPr lang="en-US" altLang="zh-CN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60%RH</a:t>
            </a:r>
            <a:endParaRPr lang="zh-CN" alt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61101" y="4226006"/>
            <a:ext cx="46085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altLang="zh-CN" sz="1400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e</a:t>
            </a:r>
            <a:r>
              <a:rPr lang="zh-CN" altLang="en-US" dirty="0" smtClean="0">
                <a:solidFill>
                  <a:schemeClr val="bg1"/>
                </a:solidFill>
              </a:rPr>
              <a:t>为</a:t>
            </a:r>
            <a:r>
              <a:rPr lang="zh-CN" altLang="en-US" dirty="0" smtClean="0">
                <a:solidFill>
                  <a:schemeClr val="bg1"/>
                </a:solidFill>
              </a:rPr>
              <a:t>校温标准</a:t>
            </a:r>
            <a:r>
              <a:rPr lang="zh-CN" altLang="en-US" dirty="0">
                <a:solidFill>
                  <a:schemeClr val="bg1"/>
                </a:solidFill>
              </a:rPr>
              <a:t>距离</a:t>
            </a:r>
            <a:r>
              <a:rPr lang="zh-CN" altLang="en-US" dirty="0" smtClean="0">
                <a:solidFill>
                  <a:schemeClr val="bg1"/>
                </a:solidFill>
              </a:rPr>
              <a:t>，</a:t>
            </a:r>
            <a:r>
              <a:rPr lang="zh-CN" altLang="en-US" dirty="0">
                <a:solidFill>
                  <a:schemeClr val="bg1"/>
                </a:solidFill>
              </a:rPr>
              <a:t>为</a:t>
            </a:r>
            <a:r>
              <a:rPr lang="zh-CN" altLang="en-US" dirty="0" smtClean="0">
                <a:solidFill>
                  <a:schemeClr val="bg1"/>
                </a:solidFill>
              </a:rPr>
              <a:t>设备</a:t>
            </a:r>
            <a:r>
              <a:rPr lang="zh-CN" altLang="en-US" dirty="0" smtClean="0">
                <a:solidFill>
                  <a:schemeClr val="bg1"/>
                </a:solidFill>
              </a:rPr>
              <a:t>默认</a:t>
            </a:r>
            <a:r>
              <a:rPr lang="zh-CN" altLang="en-US" dirty="0" smtClean="0">
                <a:solidFill>
                  <a:schemeClr val="bg1"/>
                </a:solidFill>
              </a:rPr>
              <a:t>距离</a:t>
            </a:r>
            <a:endParaRPr lang="zh-CN" alt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095327" y="3001870"/>
            <a:ext cx="199285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</a:t>
            </a:r>
            <a:r>
              <a:rPr lang="zh-CN" altLang="en-US" dirty="0" smtClean="0">
                <a:solidFill>
                  <a:schemeClr val="bg1"/>
                </a:solidFill>
              </a:rPr>
              <a:t>为当前环境湿度</a:t>
            </a:r>
            <a:endParaRPr lang="zh-CN" alt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074567" y="3839526"/>
            <a:ext cx="2005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i="1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</a:t>
            </a:r>
            <a:r>
              <a:rPr lang="zh-CN" altLang="en-US" dirty="0" smtClean="0">
                <a:solidFill>
                  <a:schemeClr val="bg1"/>
                </a:solidFill>
              </a:rPr>
              <a:t>为当前目标距离</a:t>
            </a:r>
            <a:endParaRPr lang="zh-CN" alt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95327" y="2631472"/>
            <a:ext cx="13388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参数说明：</a:t>
            </a:r>
            <a:endParaRPr lang="zh-CN" alt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095327" y="4941168"/>
            <a:ext cx="9033121" cy="1615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bg1"/>
                </a:solidFill>
              </a:rPr>
              <a:t>模块应用说明：</a:t>
            </a:r>
            <a:endParaRPr lang="en-US" altLang="zh-CN" b="1" dirty="0" smtClean="0"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大气透过率模块默认设置修正到校温时的标准大气温度、标准湿度和标准距离，也可以在专家菜单设置修正到任意大气</a:t>
            </a:r>
            <a:r>
              <a:rPr lang="zh-CN" alt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温度</a:t>
            </a:r>
            <a:r>
              <a:rPr lang="zh-CN" altLang="en-US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、湿度和距离。</a:t>
            </a:r>
            <a:endParaRPr lang="en-US" altLang="zh-CN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endParaRPr lang="zh-CN" alt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095327" y="1138525"/>
            <a:ext cx="27414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bg1"/>
                </a:solidFill>
              </a:rPr>
              <a:t>大气透过率值计算公式：</a:t>
            </a:r>
            <a:endParaRPr lang="zh-CN" altLang="en-US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581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6720" y="318770"/>
            <a:ext cx="2212896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测试条件说明</a:t>
            </a:r>
            <a:endParaRPr lang="zh-CN" altLang="en-US" sz="2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26720" y="1273453"/>
            <a:ext cx="903312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b="1" dirty="0" smtClean="0">
                <a:solidFill>
                  <a:srgbClr val="FFFFFF"/>
                </a:solidFill>
              </a:rPr>
              <a:t>测试设备：</a:t>
            </a:r>
            <a:r>
              <a:rPr lang="en-US" altLang="zh-CN" dirty="0" smtClean="0">
                <a:solidFill>
                  <a:srgbClr val="FFFFFF"/>
                </a:solidFill>
              </a:rPr>
              <a:t>ZC16A</a:t>
            </a:r>
          </a:p>
          <a:p>
            <a:pPr>
              <a:lnSpc>
                <a:spcPct val="200000"/>
              </a:lnSpc>
            </a:pPr>
            <a:r>
              <a:rPr lang="zh-CN" altLang="en-US" b="1" dirty="0" smtClean="0">
                <a:solidFill>
                  <a:srgbClr val="FFFFFF"/>
                </a:solidFill>
              </a:rPr>
              <a:t>测试方法：常温常湿</a:t>
            </a:r>
            <a:r>
              <a:rPr lang="en-US" altLang="zh-CN" b="1" dirty="0" smtClean="0">
                <a:solidFill>
                  <a:srgbClr val="FFFFFF"/>
                </a:solidFill>
              </a:rPr>
              <a:t>-</a:t>
            </a:r>
            <a:r>
              <a:rPr lang="zh-CN" altLang="en-US" b="1" dirty="0" smtClean="0">
                <a:solidFill>
                  <a:srgbClr val="FFFFFF"/>
                </a:solidFill>
              </a:rPr>
              <a:t>距离验证和高低温</a:t>
            </a:r>
            <a:r>
              <a:rPr lang="en-US" altLang="zh-CN" b="1" dirty="0" smtClean="0">
                <a:solidFill>
                  <a:srgbClr val="FFFFFF"/>
                </a:solidFill>
              </a:rPr>
              <a:t>-</a:t>
            </a:r>
            <a:r>
              <a:rPr lang="zh-CN" altLang="en-US" b="1" dirty="0" smtClean="0">
                <a:solidFill>
                  <a:srgbClr val="FFFFFF"/>
                </a:solidFill>
              </a:rPr>
              <a:t>湿度验证</a:t>
            </a:r>
            <a:endParaRPr lang="en-US" altLang="zh-CN" b="1" dirty="0" smtClean="0">
              <a:solidFill>
                <a:srgbClr val="FFFFFF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b="1" dirty="0" smtClean="0">
                <a:solidFill>
                  <a:srgbClr val="FFFFFF"/>
                </a:solidFill>
              </a:rPr>
              <a:t>距离设置：</a:t>
            </a:r>
            <a:r>
              <a:rPr lang="en-US" altLang="zh-CN" dirty="0">
                <a:solidFill>
                  <a:schemeClr val="bg1"/>
                </a:solidFill>
              </a:rPr>
              <a:t>2m</a:t>
            </a:r>
            <a:r>
              <a:rPr lang="zh-CN" altLang="zh-CN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3m</a:t>
            </a:r>
            <a:r>
              <a:rPr lang="zh-CN" altLang="zh-CN" dirty="0">
                <a:solidFill>
                  <a:schemeClr val="bg1"/>
                </a:solidFill>
              </a:rPr>
              <a:t>（标准距离）、</a:t>
            </a:r>
            <a:r>
              <a:rPr lang="en-US" altLang="zh-CN" dirty="0">
                <a:solidFill>
                  <a:schemeClr val="bg1"/>
                </a:solidFill>
              </a:rPr>
              <a:t>5m</a:t>
            </a:r>
            <a:r>
              <a:rPr lang="zh-CN" altLang="zh-CN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10m</a:t>
            </a:r>
            <a:r>
              <a:rPr lang="zh-CN" altLang="zh-CN" dirty="0">
                <a:solidFill>
                  <a:schemeClr val="bg1"/>
                </a:solidFill>
              </a:rPr>
              <a:t>、</a:t>
            </a:r>
            <a:r>
              <a:rPr lang="en-US" altLang="zh-CN" dirty="0">
                <a:solidFill>
                  <a:schemeClr val="bg1"/>
                </a:solidFill>
              </a:rPr>
              <a:t>15m</a:t>
            </a:r>
            <a:r>
              <a:rPr lang="zh-CN" altLang="zh-CN" dirty="0">
                <a:solidFill>
                  <a:schemeClr val="bg1"/>
                </a:solidFill>
              </a:rPr>
              <a:t>、</a:t>
            </a:r>
            <a:r>
              <a:rPr lang="en-US" altLang="zh-CN" dirty="0" smtClean="0">
                <a:solidFill>
                  <a:schemeClr val="bg1"/>
                </a:solidFill>
              </a:rPr>
              <a:t>20m</a:t>
            </a:r>
          </a:p>
          <a:p>
            <a:pPr>
              <a:lnSpc>
                <a:spcPct val="200000"/>
              </a:lnSpc>
            </a:pPr>
            <a:r>
              <a:rPr lang="zh-CN" altLang="en-US" b="1" dirty="0" smtClean="0">
                <a:solidFill>
                  <a:schemeClr val="bg1"/>
                </a:solidFill>
              </a:rPr>
              <a:t>湿度设置：</a:t>
            </a:r>
            <a:r>
              <a:rPr lang="en-US" altLang="zh-CN" dirty="0" smtClean="0">
                <a:solidFill>
                  <a:schemeClr val="bg1"/>
                </a:solidFill>
              </a:rPr>
              <a:t>30%RH~90%RH</a:t>
            </a:r>
          </a:p>
          <a:p>
            <a:pPr>
              <a:lnSpc>
                <a:spcPct val="200000"/>
              </a:lnSpc>
            </a:pPr>
            <a:r>
              <a:rPr lang="zh-CN" altLang="en-US" b="1" dirty="0" smtClean="0">
                <a:solidFill>
                  <a:schemeClr val="bg1"/>
                </a:solidFill>
              </a:rPr>
              <a:t>黑体温度设置：</a:t>
            </a:r>
            <a:r>
              <a:rPr lang="en-US" altLang="zh-CN" dirty="0" smtClean="0">
                <a:solidFill>
                  <a:schemeClr val="bg1"/>
                </a:solidFill>
              </a:rPr>
              <a:t>60</a:t>
            </a:r>
            <a:r>
              <a:rPr lang="zh-CN" altLang="en-US" dirty="0" smtClean="0">
                <a:solidFill>
                  <a:schemeClr val="bg1"/>
                </a:solidFill>
              </a:rPr>
              <a:t>℃</a:t>
            </a:r>
            <a:r>
              <a:rPr lang="en-US" altLang="zh-CN" dirty="0" smtClean="0">
                <a:solidFill>
                  <a:schemeClr val="bg1"/>
                </a:solidFill>
              </a:rPr>
              <a:t>~550</a:t>
            </a:r>
            <a:r>
              <a:rPr lang="zh-CN" altLang="en-US" dirty="0" smtClean="0">
                <a:solidFill>
                  <a:schemeClr val="bg1"/>
                </a:solidFill>
              </a:rPr>
              <a:t>℃</a:t>
            </a:r>
            <a:endParaRPr lang="en-US" altLang="zh-CN" dirty="0" smtClean="0">
              <a:solidFill>
                <a:schemeClr val="bg1"/>
              </a:solidFill>
            </a:endParaRPr>
          </a:p>
          <a:p>
            <a:pPr>
              <a:lnSpc>
                <a:spcPct val="200000"/>
              </a:lnSpc>
            </a:pPr>
            <a:r>
              <a:rPr lang="zh-CN" altLang="en-US" b="1" dirty="0" smtClean="0">
                <a:solidFill>
                  <a:schemeClr val="bg1"/>
                </a:solidFill>
              </a:rPr>
              <a:t>评价指标：</a:t>
            </a:r>
            <a:r>
              <a:rPr lang="zh-CN" altLang="en-US" dirty="0" smtClean="0">
                <a:solidFill>
                  <a:schemeClr val="bg1"/>
                </a:solidFill>
              </a:rPr>
              <a:t>以标准距离</a:t>
            </a:r>
            <a:r>
              <a:rPr lang="en-US" altLang="zh-CN" dirty="0" smtClean="0">
                <a:solidFill>
                  <a:schemeClr val="bg1"/>
                </a:solidFill>
              </a:rPr>
              <a:t>3m</a:t>
            </a:r>
            <a:r>
              <a:rPr lang="zh-CN" altLang="en-US" dirty="0" smtClean="0">
                <a:solidFill>
                  <a:schemeClr val="bg1"/>
                </a:solidFill>
              </a:rPr>
              <a:t>、标准湿度</a:t>
            </a:r>
            <a:r>
              <a:rPr lang="en-US" altLang="zh-CN" dirty="0" smtClean="0">
                <a:solidFill>
                  <a:schemeClr val="bg1"/>
                </a:solidFill>
              </a:rPr>
              <a:t>60%RH</a:t>
            </a:r>
            <a:r>
              <a:rPr lang="zh-CN" altLang="en-US" dirty="0" smtClean="0">
                <a:solidFill>
                  <a:schemeClr val="bg1"/>
                </a:solidFill>
              </a:rPr>
              <a:t>下的测温结果为目标进行修正</a:t>
            </a:r>
            <a:endParaRPr lang="en-US" altLang="zh-C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082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6720" y="318770"/>
            <a:ext cx="2644944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常温常湿验证结果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9536" y="968057"/>
            <a:ext cx="8352928" cy="54132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6720" y="318770"/>
            <a:ext cx="2644944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常温常湿验证结果</a:t>
            </a:r>
            <a:endParaRPr lang="zh-CN" altLang="en-US" sz="2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1207" y="980728"/>
            <a:ext cx="8767281" cy="52810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48475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26720" y="318770"/>
            <a:ext cx="2644944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常温常湿验证结果</a:t>
            </a:r>
            <a:endParaRPr lang="zh-CN" altLang="en-US" sz="240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8985" y="1628800"/>
            <a:ext cx="9791700" cy="359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0159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26720" y="1034414"/>
            <a:ext cx="220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</a:rPr>
              <a:t>高温验证：</a:t>
            </a:r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426720" y="318770"/>
            <a:ext cx="2428920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高低温验证结果</a:t>
            </a:r>
            <a:endParaRPr lang="zh-CN" altLang="en-US" sz="2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8405" y="1037465"/>
            <a:ext cx="8064896" cy="53020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26720" y="1034414"/>
            <a:ext cx="220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</a:rPr>
              <a:t>高温</a:t>
            </a:r>
            <a:r>
              <a:rPr lang="zh-CN" altLang="en-US" sz="2400" dirty="0" smtClean="0">
                <a:solidFill>
                  <a:srgbClr val="FFFFFF"/>
                </a:solidFill>
              </a:rPr>
              <a:t>验证：</a:t>
            </a: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426720" y="318770"/>
            <a:ext cx="2428920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高低温验证结果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7568" y="1061476"/>
            <a:ext cx="7983478" cy="5405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2372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426720" y="1034414"/>
            <a:ext cx="22047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</a:rPr>
              <a:t>低温</a:t>
            </a:r>
            <a:r>
              <a:rPr lang="zh-CN" altLang="en-US" sz="2400" dirty="0" smtClean="0">
                <a:solidFill>
                  <a:srgbClr val="FFFFFF"/>
                </a:solidFill>
              </a:rPr>
              <a:t>验证：</a:t>
            </a:r>
            <a:endParaRPr lang="zh-CN" altLang="en-US" sz="2400" dirty="0">
              <a:solidFill>
                <a:srgbClr val="FFFFFF"/>
              </a:solidFill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426720" y="318770"/>
            <a:ext cx="2428920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高低温验证结果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066800"/>
            <a:ext cx="8136904" cy="53138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757749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/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0685" y="-99060"/>
            <a:ext cx="1499235" cy="135128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58798" y="1484784"/>
            <a:ext cx="1163320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solidFill>
                  <a:srgbClr val="FFFFFF"/>
                </a:solidFill>
              </a:rPr>
              <a:t>大气透过率修正模块更新后可以保证修正后</a:t>
            </a:r>
            <a:r>
              <a:rPr lang="zh-CN" altLang="en-US" sz="2400" smtClean="0">
                <a:solidFill>
                  <a:srgbClr val="FFFFFF"/>
                </a:solidFill>
              </a:rPr>
              <a:t>的温度与在标准距离、标准湿度下的校温结果误差在</a:t>
            </a:r>
            <a:r>
              <a:rPr lang="en-US" altLang="zh-CN" sz="2400" dirty="0" smtClean="0">
                <a:solidFill>
                  <a:srgbClr val="FFFFFF"/>
                </a:solidFill>
              </a:rPr>
              <a:t>±2</a:t>
            </a:r>
            <a:r>
              <a:rPr lang="zh-CN" altLang="en-US" sz="2400" dirty="0" smtClean="0">
                <a:solidFill>
                  <a:srgbClr val="FFFFFF"/>
                </a:solidFill>
              </a:rPr>
              <a:t>℃或</a:t>
            </a:r>
            <a:r>
              <a:rPr lang="en-US" altLang="zh-CN" sz="2400" dirty="0" smtClean="0">
                <a:solidFill>
                  <a:srgbClr val="FFFFFF"/>
                </a:solidFill>
              </a:rPr>
              <a:t>±2%</a:t>
            </a:r>
            <a:r>
              <a:rPr lang="zh-CN" altLang="en-US" sz="2400" dirty="0" smtClean="0">
                <a:solidFill>
                  <a:srgbClr val="FFFFFF"/>
                </a:solidFill>
              </a:rPr>
              <a:t>以内</a:t>
            </a:r>
            <a:endParaRPr lang="en-US" altLang="zh-CN" sz="2400" dirty="0" smtClean="0">
              <a:solidFill>
                <a:srgbClr val="FFFFFF"/>
              </a:solidFill>
            </a:endParaRPr>
          </a:p>
        </p:txBody>
      </p:sp>
      <p:sp>
        <p:nvSpPr>
          <p:cNvPr id="9" name="文本框 3"/>
          <p:cNvSpPr txBox="1"/>
          <p:nvPr/>
        </p:nvSpPr>
        <p:spPr>
          <a:xfrm>
            <a:off x="426720" y="318770"/>
            <a:ext cx="988760" cy="461665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结论</a:t>
            </a:r>
          </a:p>
        </p:txBody>
      </p:sp>
    </p:spTree>
    <p:extLst>
      <p:ext uri="{BB962C8B-B14F-4D97-AF65-F5344CB8AC3E}">
        <p14:creationId xmlns:p14="http://schemas.microsoft.com/office/powerpoint/2010/main" val="209176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4000">
              <a:srgbClr val="1C1C1C">
                <a:alpha val="100000"/>
              </a:srgbClr>
            </a:gs>
            <a:gs pos="0">
              <a:srgbClr val="383838"/>
            </a:gs>
            <a:gs pos="100000">
              <a:schemeClr val="accent4"/>
            </a:gs>
          </a:gsLst>
          <a:lin ang="2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_画板 1"/>
          <p:cNvPicPr preferRelativeResize="0"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0235" y="635"/>
            <a:ext cx="6673215" cy="6857365"/>
          </a:xfrm>
          <a:prstGeom prst="rect">
            <a:avLst/>
          </a:prstGeom>
          <a:blipFill rotWithShape="1">
            <a:blip r:embed="rId2">
              <a:alphaModFix amt="51000"/>
            </a:blip>
            <a:stretch>
              <a:fillRect/>
            </a:stretch>
          </a:blipFill>
        </p:spPr>
      </p:pic>
      <p:sp>
        <p:nvSpPr>
          <p:cNvPr id="4098" name="文本框 2"/>
          <p:cNvSpPr txBox="1"/>
          <p:nvPr/>
        </p:nvSpPr>
        <p:spPr>
          <a:xfrm>
            <a:off x="1330677" y="2492375"/>
            <a:ext cx="6853555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lstStyle/>
          <a:p>
            <a:r>
              <a:rPr lang="zh-CN" altLang="en-US" sz="4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谢谢观看</a:t>
            </a:r>
            <a:endParaRPr lang="en-US" altLang="zh-CN" sz="4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99" name="文本框 3"/>
          <p:cNvSpPr txBox="1"/>
          <p:nvPr/>
        </p:nvSpPr>
        <p:spPr>
          <a:xfrm>
            <a:off x="1415480" y="3285808"/>
            <a:ext cx="1689100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pPr algn="l"/>
            <a:r>
              <a:rPr lang="en-US" altLang="zh-CN" sz="2000" dirty="0">
                <a:solidFill>
                  <a:schemeClr val="bg1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THANK YOU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100" name="文本框 4"/>
          <p:cNvSpPr txBox="1"/>
          <p:nvPr/>
        </p:nvSpPr>
        <p:spPr>
          <a:xfrm>
            <a:off x="1199515" y="5877243"/>
            <a:ext cx="2228495" cy="40011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</a:t>
            </a:r>
            <a:r>
              <a:rPr lang="zh-CN" altLang="en-US" sz="14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时间：</a:t>
            </a:r>
            <a:r>
              <a:rPr lang="en-US" altLang="zh-CN" sz="14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2024.7.29</a:t>
            </a:r>
            <a:endParaRPr lang="en-US" altLang="zh-CN" sz="14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" name="图片 2" descr="未标题33_画板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" y="188595"/>
            <a:ext cx="1499235" cy="1351280"/>
          </a:xfrm>
          <a:prstGeom prst="rect">
            <a:avLst/>
          </a:prstGeom>
        </p:spPr>
      </p:pic>
      <p:pic>
        <p:nvPicPr>
          <p:cNvPr id="9" name="图片 8" descr="日 历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1504" y="5965855"/>
            <a:ext cx="230505" cy="22288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UwMTAzNGE4YzdkYmQ1YzE0MmVjNmU2Y2U0ZDMyZDMifQ=="/>
  <p:tag name="resource_record_key" val="{&quot;29&quot;:[20458320],&quot;70&quot;:[3327744,3320071,3325286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55.6623622047245,&quot;left&quot;:191.39141732283466,&quot;top&quot;:146.8044094488189,&quot;width&quot;:457.46425196850396}"/>
</p:tagLst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urier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1265</TotalTime>
  <Words>268</Words>
  <Application>Microsoft Office PowerPoint</Application>
  <PresentationFormat>自定义</PresentationFormat>
  <Paragraphs>45</Paragraphs>
  <Slides>12</Slides>
  <Notes>11</Notes>
  <HiddenSlides>0</HiddenSlides>
  <MMClips>0</MMClips>
  <ScaleCrop>false</ScaleCrop>
  <HeadingPairs>
    <vt:vector size="4" baseType="variant">
      <vt:variant>
        <vt:lpstr>主题</vt:lpstr>
      </vt:variant>
      <vt:variant>
        <vt:i4>4</vt:i4>
      </vt:variant>
      <vt:variant>
        <vt:lpstr>幻灯片标题</vt:lpstr>
      </vt:variant>
      <vt:variant>
        <vt:i4>12</vt:i4>
      </vt:variant>
    </vt:vector>
  </HeadingPairs>
  <TitlesOfParts>
    <vt:vector size="16" baseType="lpstr">
      <vt:lpstr>默认设计模板</vt:lpstr>
      <vt:lpstr>1_默认设计模板</vt:lpstr>
      <vt:lpstr>3_默认设计模板</vt:lpstr>
      <vt:lpstr>2_默认设计模板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</dc:creator>
  <cp:lastModifiedBy>向锦-互联网</cp:lastModifiedBy>
  <cp:revision>523</cp:revision>
  <dcterms:created xsi:type="dcterms:W3CDTF">2021-07-09T03:44:00Z</dcterms:created>
  <dcterms:modified xsi:type="dcterms:W3CDTF">2024-07-26T01:02:53Z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2052-12.1.0.16729</vt:lpwstr>
  </property>
  <property fmtid="{D5CDD505-2E9C-101B-9397-08002B2CF9AE}" pid="3" name="ICV">
    <vt:lpwstr>DF5FB2ECC69D4DABB51D3338EC1278EC</vt:lpwstr>
  </property>
</Properties>
</file>