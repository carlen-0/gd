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4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5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6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8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8"/>
  </p:notesMasterIdLst>
  <p:sldIdLst>
    <p:sldId id="325" r:id="rId3"/>
    <p:sldId id="314" r:id="rId4"/>
    <p:sldId id="300" r:id="rId5"/>
    <p:sldId id="326" r:id="rId6"/>
    <p:sldId id="327" r:id="rId7"/>
    <p:sldId id="328" r:id="rId8"/>
    <p:sldId id="329" r:id="rId9"/>
    <p:sldId id="342" r:id="rId10"/>
    <p:sldId id="335" r:id="rId11"/>
    <p:sldId id="338" r:id="rId12"/>
    <p:sldId id="350" r:id="rId13"/>
    <p:sldId id="349" r:id="rId14"/>
    <p:sldId id="356" r:id="rId15"/>
    <p:sldId id="339" r:id="rId16"/>
    <p:sldId id="297" r:id="rId17"/>
    <p:sldId id="364" r:id="rId18"/>
    <p:sldId id="369" r:id="rId19"/>
    <p:sldId id="370" r:id="rId20"/>
    <p:sldId id="361" r:id="rId21"/>
    <p:sldId id="360" r:id="rId22"/>
    <p:sldId id="362" r:id="rId23"/>
    <p:sldId id="363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68" r:id="rId37"/>
  </p:sldIdLst>
  <p:sldSz cx="14365288" cy="8964613"/>
  <p:notesSz cx="6858000" cy="9144000"/>
  <p:custDataLst>
    <p:tags r:id="rId39"/>
  </p:custDataLst>
  <p:defaultTextStyle>
    <a:defPPr>
      <a:defRPr lang="zh-CN"/>
    </a:defPPr>
    <a:lvl1pPr marL="0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66750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32865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99615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65730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32480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98595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665345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31460" algn="l" defTabSz="13328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3" userDrawn="1">
          <p15:clr>
            <a:srgbClr val="A4A3A4"/>
          </p15:clr>
        </p15:guide>
        <p15:guide id="2" pos="45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8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88462" autoAdjust="0"/>
  </p:normalViewPr>
  <p:slideViewPr>
    <p:cSldViewPr showGuides="1">
      <p:cViewPr varScale="1">
        <p:scale>
          <a:sx n="72" d="100"/>
          <a:sy n="72" d="100"/>
        </p:scale>
        <p:origin x="1470" y="78"/>
      </p:cViewPr>
      <p:guideLst>
        <p:guide orient="horz" pos="2863"/>
        <p:guide pos="45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gs" Target="tags/tag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E6B87-8191-4CA4-9410-2741FC1EE82A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1038" y="685800"/>
            <a:ext cx="54959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D1B67-0DD0-43F8-AB99-EE6212A455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66750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332865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999615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665730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332480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98595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665345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331460" algn="l" defTabSz="1332865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1038" y="685800"/>
            <a:ext cx="5495925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1038" y="685800"/>
            <a:ext cx="54959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为保证计算精度，采用</a:t>
            </a:r>
            <a:r>
              <a:rPr lang="en-US" altLang="zh-CN" dirty="0"/>
              <a:t>6</a:t>
            </a:r>
            <a:r>
              <a:rPr lang="zh-CN" altLang="en-US" dirty="0"/>
              <a:t>段分段多项式的方式反算温度，计算时间从</a:t>
            </a:r>
            <a:r>
              <a:rPr lang="en-US" altLang="zh-CN" dirty="0"/>
              <a:t>60ms</a:t>
            </a:r>
            <a:r>
              <a:rPr lang="zh-CN" altLang="en-US" dirty="0"/>
              <a:t>左右提升到几</a:t>
            </a:r>
            <a:r>
              <a:rPr lang="en-US" altLang="zh-CN" dirty="0" err="1"/>
              <a:t>ms</a:t>
            </a:r>
            <a:r>
              <a:rPr lang="zh-CN" altLang="en-US" dirty="0"/>
              <a:t>内，且精度在</a:t>
            </a:r>
            <a:r>
              <a:rPr lang="en-US" altLang="zh-CN" dirty="0"/>
              <a:t>0.1</a:t>
            </a:r>
            <a:r>
              <a:rPr lang="zh-CN" altLang="en-US" dirty="0"/>
              <a:t>℃以内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4D1B67-0DD0-43F8-AB99-EE6212A4557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1038" y="685800"/>
            <a:ext cx="54959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4D1B67-0DD0-43F8-AB99-EE6212A4557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1038" y="685800"/>
            <a:ext cx="5495925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15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1038" y="685800"/>
            <a:ext cx="5495925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17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D1B67-0DD0-43F8-AB99-EE6212A4557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80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D1B67-0DD0-43F8-AB99-EE6212A4557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347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1038" y="685800"/>
            <a:ext cx="5495925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  <a:t>35</a:t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4365288" cy="89646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799" tIns="47399" rIns="94799" bIns="47399" anchor="ctr"/>
          <a:lstStyle/>
          <a:p>
            <a:pPr algn="ctr" defTabSz="1247775">
              <a:defRPr/>
            </a:pPr>
            <a:endParaRPr lang="zh-CN" altLang="en-US" sz="2400">
              <a:solidFill>
                <a:srgbClr val="F5F5F5"/>
              </a:solidFill>
            </a:endParaRPr>
          </a:p>
        </p:txBody>
      </p:sp>
      <p:pic>
        <p:nvPicPr>
          <p:cNvPr id="2053" name="图片 6" descr="未标题-1.png"/>
          <p:cNvPicPr>
            <a:picLocks noChangeAspect="1"/>
          </p:cNvPicPr>
          <p:nvPr userDrawn="1"/>
        </p:nvPicPr>
        <p:blipFill>
          <a:blip r:embed="rId2"/>
          <a:srcRect r="1054" b="2344"/>
          <a:stretch>
            <a:fillRect/>
          </a:stretch>
        </p:blipFill>
        <p:spPr>
          <a:xfrm>
            <a:off x="4597335" y="3356021"/>
            <a:ext cx="9767953" cy="560859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1900" y="1692811"/>
            <a:ext cx="6823579" cy="1921581"/>
          </a:xfrm>
          <a:prstGeom prst="rect">
            <a:avLst/>
          </a:prstGeom>
        </p:spPr>
        <p:txBody>
          <a:bodyPr lIns="94799" tIns="47399" rIns="94799" bIns="47399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1899" y="3987914"/>
            <a:ext cx="6696816" cy="2290957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 algn="l">
              <a:buNone/>
              <a:defRPr sz="3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3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70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94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8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42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66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89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75F5A221-509F-446F-897B-C1F7F2C559B4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254A8B37-6905-40B6-A6EF-4A70ADE43B78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5" descr="高德智感logo中英文常规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86391" y="8249485"/>
            <a:ext cx="1220994" cy="5007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143" y="1"/>
            <a:ext cx="12211671" cy="736408"/>
          </a:xfrm>
          <a:prstGeom prst="rect">
            <a:avLst/>
          </a:prstGeom>
        </p:spPr>
        <p:txBody>
          <a:bodyPr lIns="94799" tIns="47399" rIns="94799" bIns="47399" anchor="ctr"/>
          <a:lstStyle>
            <a:lvl1pPr algn="l">
              <a:defRPr sz="2900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9923" y="1055209"/>
            <a:ext cx="12787101" cy="6952766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buNone/>
              <a:defRPr sz="4500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9F9E0172-2FC9-467B-AAC9-3EF841F3BB93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8BAEE03A-9450-4832-B576-0897E99CA8E5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4365288" cy="89646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799" tIns="47399" rIns="94799" bIns="47399" anchor="ctr"/>
          <a:lstStyle/>
          <a:p>
            <a:pPr algn="ctr" defTabSz="1247775">
              <a:defRPr/>
            </a:pPr>
            <a:endParaRPr lang="zh-CN" altLang="en-US" sz="240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4761" y="5760597"/>
            <a:ext cx="12210495" cy="1780472"/>
          </a:xfrm>
          <a:prstGeom prst="rect">
            <a:avLst/>
          </a:prstGeom>
        </p:spPr>
        <p:txBody>
          <a:bodyPr lIns="94799" tIns="47399" rIns="94799" bIns="47399" anchor="t"/>
          <a:lstStyle>
            <a:lvl1pPr algn="l">
              <a:defRPr sz="5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4761" y="3799590"/>
            <a:ext cx="12210495" cy="1961008"/>
          </a:xfrm>
          <a:prstGeom prst="rect">
            <a:avLst/>
          </a:prstGeom>
        </p:spPr>
        <p:txBody>
          <a:bodyPr lIns="94799" tIns="47399" rIns="94799" bIns="47399"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23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4777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87071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49491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11848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7426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3662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49898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2AF4B1DA-D3C3-4BED-9C9E-2D28B7032460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1D30AB33-C4A8-4007-8B39-F6E7C7C3EFD7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66" y="359000"/>
            <a:ext cx="12928759" cy="1494102"/>
          </a:xfrm>
          <a:prstGeom prst="rect">
            <a:avLst/>
          </a:prstGeom>
        </p:spPr>
        <p:txBody>
          <a:bodyPr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8264" y="2091745"/>
            <a:ext cx="6344669" cy="5916230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3800"/>
            </a:lvl1pPr>
            <a:lvl2pPr>
              <a:defRPr sz="34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02356" y="2091745"/>
            <a:ext cx="6344669" cy="5916230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3800"/>
            </a:lvl1pPr>
            <a:lvl2pPr>
              <a:defRPr sz="34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F89338C4-ED46-4A48-9915-83B30207B62A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1BDC65E2-5B8D-4D66-8114-DB1248365299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66" y="359000"/>
            <a:ext cx="12928759" cy="1494102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8266" y="2006664"/>
            <a:ext cx="6347164" cy="836282"/>
          </a:xfrm>
          <a:prstGeom prst="rect">
            <a:avLst/>
          </a:prstGeom>
        </p:spPr>
        <p:txBody>
          <a:bodyPr lIns="94799" tIns="47399" rIns="94799" bIns="47399" anchor="b"/>
          <a:lstStyle>
            <a:lvl1pPr marL="0" indent="0">
              <a:buNone/>
              <a:defRPr sz="3400" b="1"/>
            </a:lvl1pPr>
            <a:lvl2pPr marL="623570" indent="0">
              <a:buNone/>
              <a:defRPr sz="2800" b="1"/>
            </a:lvl2pPr>
            <a:lvl3pPr marL="1247775" indent="0">
              <a:buNone/>
              <a:defRPr sz="2400" b="1"/>
            </a:lvl3pPr>
            <a:lvl4pPr marL="1870710" indent="0">
              <a:buNone/>
              <a:defRPr sz="2200" b="1"/>
            </a:lvl4pPr>
            <a:lvl5pPr marL="2494915" indent="0">
              <a:buNone/>
              <a:defRPr sz="2200" b="1"/>
            </a:lvl5pPr>
            <a:lvl6pPr marL="3118485" indent="0">
              <a:buNone/>
              <a:defRPr sz="2200" b="1"/>
            </a:lvl6pPr>
            <a:lvl7pPr marL="3742690" indent="0">
              <a:buNone/>
              <a:defRPr sz="2200" b="1"/>
            </a:lvl7pPr>
            <a:lvl8pPr marL="4366260" indent="0">
              <a:buNone/>
              <a:defRPr sz="2200" b="1"/>
            </a:lvl8pPr>
            <a:lvl9pPr marL="4989830" indent="0">
              <a:buNone/>
              <a:defRPr sz="2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18266" y="2842947"/>
            <a:ext cx="6347164" cy="5165029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3400"/>
            </a:lvl1pPr>
            <a:lvl2pPr>
              <a:defRPr sz="28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297370" y="2006664"/>
            <a:ext cx="6349656" cy="836282"/>
          </a:xfrm>
          <a:prstGeom prst="rect">
            <a:avLst/>
          </a:prstGeom>
        </p:spPr>
        <p:txBody>
          <a:bodyPr lIns="94799" tIns="47399" rIns="94799" bIns="47399" anchor="b"/>
          <a:lstStyle>
            <a:lvl1pPr marL="0" indent="0">
              <a:buNone/>
              <a:defRPr sz="3400" b="1"/>
            </a:lvl1pPr>
            <a:lvl2pPr marL="623570" indent="0">
              <a:buNone/>
              <a:defRPr sz="2800" b="1"/>
            </a:lvl2pPr>
            <a:lvl3pPr marL="1247775" indent="0">
              <a:buNone/>
              <a:defRPr sz="2400" b="1"/>
            </a:lvl3pPr>
            <a:lvl4pPr marL="1870710" indent="0">
              <a:buNone/>
              <a:defRPr sz="2200" b="1"/>
            </a:lvl4pPr>
            <a:lvl5pPr marL="2494915" indent="0">
              <a:buNone/>
              <a:defRPr sz="2200" b="1"/>
            </a:lvl5pPr>
            <a:lvl6pPr marL="3118485" indent="0">
              <a:buNone/>
              <a:defRPr sz="2200" b="1"/>
            </a:lvl6pPr>
            <a:lvl7pPr marL="3742690" indent="0">
              <a:buNone/>
              <a:defRPr sz="2200" b="1"/>
            </a:lvl7pPr>
            <a:lvl8pPr marL="4366260" indent="0">
              <a:buNone/>
              <a:defRPr sz="2200" b="1"/>
            </a:lvl8pPr>
            <a:lvl9pPr marL="4989830" indent="0">
              <a:buNone/>
              <a:defRPr sz="2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297370" y="2842947"/>
            <a:ext cx="6349656" cy="5165029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3400"/>
            </a:lvl1pPr>
            <a:lvl2pPr>
              <a:defRPr sz="2800"/>
            </a:lvl2pPr>
            <a:lvl3pPr>
              <a:defRPr sz="24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1D91F2C8-F1D7-41F7-997B-CD0D1C4B3004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BD5F6910-6877-4A92-923C-30618D17E99B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66" y="359000"/>
            <a:ext cx="12928759" cy="1494102"/>
          </a:xfrm>
          <a:prstGeom prst="rect">
            <a:avLst/>
          </a:prstGeom>
        </p:spPr>
        <p:txBody>
          <a:bodyPr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8CC33891-62B3-4187-BFA1-A5F816F7EF21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3683EB2C-3F65-44FC-86C4-7E77A1EE5B0F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571F1162-21D9-4EFC-8FDE-1E9B95AFF4E8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1A162430-B74C-4290-91FA-BB86462CB4AF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69430" y="179225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47775">
              <a:defRPr/>
            </a:pPr>
            <a:r>
              <a:rPr lang="en-US" altLang="zh-CN" sz="1300" dirty="0">
                <a:solidFill>
                  <a:srgbClr val="F5F5F5"/>
                </a:solidFill>
              </a:rPr>
              <a:t>www.guideir.cn</a:t>
            </a:r>
            <a:endParaRPr lang="zh-CN" altLang="en-US" sz="1300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69" y="356926"/>
            <a:ext cx="4726081" cy="1519004"/>
          </a:xfrm>
          <a:prstGeom prst="rect">
            <a:avLst/>
          </a:prstGeom>
        </p:spPr>
        <p:txBody>
          <a:bodyPr lIns="94799" tIns="47399" rIns="94799" bIns="47399" anchor="b"/>
          <a:lstStyle>
            <a:lvl1pPr algn="l">
              <a:defRPr sz="2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6431" y="356926"/>
            <a:ext cx="8030595" cy="7651049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4400"/>
            </a:lvl1pPr>
            <a:lvl2pPr>
              <a:defRPr sz="38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18269" y="1875930"/>
            <a:ext cx="4726081" cy="6132046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>
              <a:buNone/>
              <a:defRPr sz="2000"/>
            </a:lvl1pPr>
            <a:lvl2pPr marL="623570" indent="0">
              <a:buNone/>
              <a:defRPr sz="1600"/>
            </a:lvl2pPr>
            <a:lvl3pPr marL="1247775" indent="0">
              <a:buNone/>
              <a:defRPr sz="1500"/>
            </a:lvl3pPr>
            <a:lvl4pPr marL="1870710" indent="0">
              <a:buNone/>
              <a:defRPr sz="1300"/>
            </a:lvl4pPr>
            <a:lvl5pPr marL="2494915" indent="0">
              <a:buNone/>
              <a:defRPr sz="1300"/>
            </a:lvl5pPr>
            <a:lvl6pPr marL="3118485" indent="0">
              <a:buNone/>
              <a:defRPr sz="1300"/>
            </a:lvl6pPr>
            <a:lvl7pPr marL="3742690" indent="0">
              <a:buNone/>
              <a:defRPr sz="1300"/>
            </a:lvl7pPr>
            <a:lvl8pPr marL="4366260" indent="0">
              <a:buNone/>
              <a:defRPr sz="1300"/>
            </a:lvl8pPr>
            <a:lvl9pPr marL="498983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A900B55C-D334-4B83-9E63-2798C0216A00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F9A7A813-10EB-4DAA-B646-487C54A28694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69430" y="179225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47775">
              <a:defRPr/>
            </a:pPr>
            <a:r>
              <a:rPr lang="en-US" altLang="zh-CN" sz="1300" dirty="0">
                <a:solidFill>
                  <a:srgbClr val="F5F5F5"/>
                </a:solidFill>
              </a:rPr>
              <a:t>www.guideir.cn</a:t>
            </a:r>
            <a:endParaRPr lang="zh-CN" altLang="en-US" sz="1300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15698" y="6275229"/>
            <a:ext cx="8619173" cy="740826"/>
          </a:xfrm>
          <a:prstGeom prst="rect">
            <a:avLst/>
          </a:prstGeom>
        </p:spPr>
        <p:txBody>
          <a:bodyPr lIns="94799" tIns="47399" rIns="94799" bIns="47399" anchor="b"/>
          <a:lstStyle>
            <a:lvl1pPr algn="l">
              <a:defRPr sz="28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15698" y="801006"/>
            <a:ext cx="8619173" cy="5378768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>
              <a:buNone/>
              <a:defRPr sz="4400"/>
            </a:lvl1pPr>
            <a:lvl2pPr marL="623570" indent="0">
              <a:buNone/>
              <a:defRPr sz="3800"/>
            </a:lvl2pPr>
            <a:lvl3pPr marL="1247775" indent="0">
              <a:buNone/>
              <a:defRPr sz="3400"/>
            </a:lvl3pPr>
            <a:lvl4pPr marL="1870710" indent="0">
              <a:buNone/>
              <a:defRPr sz="2800"/>
            </a:lvl4pPr>
            <a:lvl5pPr marL="2494915" indent="0">
              <a:buNone/>
              <a:defRPr sz="2800"/>
            </a:lvl5pPr>
            <a:lvl6pPr marL="3118485" indent="0">
              <a:buNone/>
              <a:defRPr sz="2800"/>
            </a:lvl6pPr>
            <a:lvl7pPr marL="3742690" indent="0">
              <a:buNone/>
              <a:defRPr sz="2800"/>
            </a:lvl7pPr>
            <a:lvl8pPr marL="4366260" indent="0">
              <a:buNone/>
              <a:defRPr sz="2800"/>
            </a:lvl8pPr>
            <a:lvl9pPr marL="4989830" indent="0">
              <a:buNone/>
              <a:defRPr sz="2800"/>
            </a:lvl9pPr>
          </a:lstStyle>
          <a:p>
            <a:pPr marL="0" marR="0" lvl="0" indent="0" algn="l" defTabSz="124650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15698" y="7016057"/>
            <a:ext cx="8619173" cy="1052096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>
              <a:buNone/>
              <a:defRPr sz="2000"/>
            </a:lvl1pPr>
            <a:lvl2pPr marL="623570" indent="0">
              <a:buNone/>
              <a:defRPr sz="1600"/>
            </a:lvl2pPr>
            <a:lvl3pPr marL="1247775" indent="0">
              <a:buNone/>
              <a:defRPr sz="1500"/>
            </a:lvl3pPr>
            <a:lvl4pPr marL="1870710" indent="0">
              <a:buNone/>
              <a:defRPr sz="1300"/>
            </a:lvl4pPr>
            <a:lvl5pPr marL="2494915" indent="0">
              <a:buNone/>
              <a:defRPr sz="1300"/>
            </a:lvl5pPr>
            <a:lvl6pPr marL="3118485" indent="0">
              <a:buNone/>
              <a:defRPr sz="1300"/>
            </a:lvl6pPr>
            <a:lvl7pPr marL="3742690" indent="0">
              <a:buNone/>
              <a:defRPr sz="1300"/>
            </a:lvl7pPr>
            <a:lvl8pPr marL="4366260" indent="0">
              <a:buNone/>
              <a:defRPr sz="1300"/>
            </a:lvl8pPr>
            <a:lvl9pPr marL="498983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F15D4F6A-C54A-4DEE-981D-D8764C6E0D66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0081259E-B11E-49A5-85E7-4FFB0EAEA5E5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69430" y="179225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47775">
              <a:defRPr/>
            </a:pPr>
            <a:r>
              <a:rPr lang="en-US" altLang="zh-CN" sz="1300" dirty="0">
                <a:solidFill>
                  <a:srgbClr val="F5F5F5"/>
                </a:solidFill>
              </a:rPr>
              <a:t>www.guideir.cn</a:t>
            </a:r>
            <a:endParaRPr lang="zh-CN" altLang="en-US" sz="1300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66" y="359000"/>
            <a:ext cx="12928759" cy="1494102"/>
          </a:xfrm>
          <a:prstGeom prst="rect">
            <a:avLst/>
          </a:prstGeom>
        </p:spPr>
        <p:txBody>
          <a:bodyPr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18266" y="2091745"/>
            <a:ext cx="12928759" cy="5916230"/>
          </a:xfrm>
          <a:prstGeom prst="rect">
            <a:avLst/>
          </a:prstGeom>
        </p:spPr>
        <p:txBody>
          <a:bodyPr vert="eaVert" lIns="94799" tIns="47399" rIns="94799" bIns="4739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230839C7-799E-4BF3-AC8F-59C44E0B395C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59B38A68-8F7E-4155-B2A4-E2A2820EAC51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2569430" y="179225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47775">
              <a:defRPr/>
            </a:pPr>
            <a:r>
              <a:rPr lang="en-US" altLang="zh-CN" sz="1300" dirty="0">
                <a:solidFill>
                  <a:srgbClr val="F5F5F5"/>
                </a:solidFill>
              </a:rPr>
              <a:t>www.guideir.cn</a:t>
            </a:r>
            <a:endParaRPr lang="zh-CN" altLang="en-US" sz="1300" dirty="0">
              <a:solidFill>
                <a:srgbClr val="F5F5F5"/>
              </a:solidFill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14834" y="359002"/>
            <a:ext cx="3232190" cy="7648974"/>
          </a:xfrm>
          <a:prstGeom prst="rect">
            <a:avLst/>
          </a:prstGeom>
        </p:spPr>
        <p:txBody>
          <a:bodyPr vert="eaVert"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18264" y="359002"/>
            <a:ext cx="9457148" cy="7648974"/>
          </a:xfrm>
          <a:prstGeom prst="rect">
            <a:avLst/>
          </a:prstGeom>
        </p:spPr>
        <p:txBody>
          <a:bodyPr vert="eaVert" lIns="94799" tIns="47399" rIns="94799" bIns="4739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718977" y="8309226"/>
            <a:ext cx="3351003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fld id="{6C577FA2-9663-40F8-AC05-1673D2A87F01}" type="datetimeFigureOut">
              <a:rPr lang="zh-CN" altLang="en-US" smtClean="0">
                <a:solidFill>
                  <a:srgbClr val="000000"/>
                </a:solidFill>
              </a:rPr>
              <a:t>2024/3/21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907733" y="8309226"/>
            <a:ext cx="4549826" cy="476169"/>
          </a:xfrm>
          <a:prstGeom prst="rect">
            <a:avLst/>
          </a:prstGeom>
        </p:spPr>
        <p:txBody>
          <a:bodyPr lIns="94799" tIns="47399" rIns="94799" bIns="47399"/>
          <a:lstStyle>
            <a:lvl1pPr defTabSz="1247775" eaLnBrk="1" fontAlgn="auto" hangingPunct="1">
              <a:spcBef>
                <a:spcPts val="0"/>
              </a:spcBef>
              <a:spcAft>
                <a:spcPts val="0"/>
              </a:spcAft>
              <a:defRPr sz="2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95309" y="8309226"/>
            <a:ext cx="3351003" cy="476169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1246505" fontAlgn="base">
              <a:spcBef>
                <a:spcPct val="0"/>
              </a:spcBef>
              <a:spcAft>
                <a:spcPct val="0"/>
              </a:spcAft>
              <a:defRPr/>
            </a:pPr>
            <a:fld id="{8D1D2ACB-B504-4E1E-A500-1BAA03340C62}" type="slidenum">
              <a:rPr lang="zh-CN" altLang="en-US" sz="2300" smtClean="0">
                <a:solidFill>
                  <a:srgbClr val="000000"/>
                </a:solidFill>
              </a:rPr>
              <a:t>‹#›</a:t>
            </a:fld>
            <a:endParaRPr lang="zh-CN" altLang="en-US" sz="23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661" y="1467126"/>
            <a:ext cx="10773966" cy="3121013"/>
          </a:xfrm>
        </p:spPr>
        <p:txBody>
          <a:bodyPr anchor="b"/>
          <a:lstStyle>
            <a:lvl1pPr algn="ctr">
              <a:defRPr sz="73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95661" y="4708498"/>
            <a:ext cx="10773966" cy="2164372"/>
          </a:xfrm>
        </p:spPr>
        <p:txBody>
          <a:bodyPr/>
          <a:lstStyle>
            <a:lvl1pPr marL="0" indent="0" algn="ctr">
              <a:buNone/>
              <a:defRPr sz="2900"/>
            </a:lvl1pPr>
            <a:lvl2pPr marL="560070" indent="0" algn="ctr">
              <a:buNone/>
              <a:defRPr sz="2400"/>
            </a:lvl2pPr>
            <a:lvl3pPr marL="1119505" indent="0" algn="ctr">
              <a:buNone/>
              <a:defRPr sz="2200"/>
            </a:lvl3pPr>
            <a:lvl4pPr marL="1679575" indent="0" algn="ctr">
              <a:buNone/>
              <a:defRPr sz="2000"/>
            </a:lvl4pPr>
            <a:lvl5pPr marL="2239645" indent="0" algn="ctr">
              <a:buNone/>
              <a:defRPr sz="2000"/>
            </a:lvl5pPr>
            <a:lvl6pPr marL="2799715" indent="0" algn="ctr">
              <a:buNone/>
              <a:defRPr sz="2000"/>
            </a:lvl6pPr>
            <a:lvl7pPr marL="3359150" indent="0" algn="ctr">
              <a:buNone/>
              <a:defRPr sz="2000"/>
            </a:lvl7pPr>
            <a:lvl8pPr marL="3919220" indent="0" algn="ctr">
              <a:buNone/>
              <a:defRPr sz="2000"/>
            </a:lvl8pPr>
            <a:lvl9pPr marL="447929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4313" y="427480"/>
            <a:ext cx="13003578" cy="850808"/>
          </a:xfrm>
        </p:spPr>
        <p:txBody>
          <a:bodyPr>
            <a:normAutofit/>
          </a:bodyPr>
          <a:lstStyle>
            <a:lvl1pPr>
              <a:defRPr sz="39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7614" y="1444299"/>
            <a:ext cx="12390061" cy="66300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PA_矩形 9"/>
          <p:cNvSpPr/>
          <p:nvPr userDrawn="1">
            <p:custDataLst>
              <p:tags r:id="rId1"/>
            </p:custDataLst>
          </p:nvPr>
        </p:nvSpPr>
        <p:spPr>
          <a:xfrm>
            <a:off x="0" y="526047"/>
            <a:ext cx="169669" cy="611758"/>
          </a:xfrm>
          <a:prstGeom prst="rect">
            <a:avLst/>
          </a:prstGeom>
          <a:solidFill>
            <a:srgbClr val="BB0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977" tIns="55989" rIns="111977" bIns="55989" rtlCol="0" anchor="ctr"/>
          <a:lstStyle/>
          <a:p>
            <a:pPr algn="ctr" defTabSz="1119505"/>
            <a:endParaRPr lang="zh-CN" altLang="en-US" sz="22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4313" y="427480"/>
            <a:ext cx="13003578" cy="850808"/>
          </a:xfrm>
        </p:spPr>
        <p:txBody>
          <a:bodyPr>
            <a:normAutofit/>
          </a:bodyPr>
          <a:lstStyle>
            <a:lvl1pPr>
              <a:defRPr sz="39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7614" y="1444299"/>
            <a:ext cx="12390061" cy="66300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PA_矩形 9"/>
          <p:cNvSpPr/>
          <p:nvPr userDrawn="1">
            <p:custDataLst>
              <p:tags r:id="rId1"/>
            </p:custDataLst>
          </p:nvPr>
        </p:nvSpPr>
        <p:spPr>
          <a:xfrm>
            <a:off x="0" y="526047"/>
            <a:ext cx="169669" cy="611758"/>
          </a:xfrm>
          <a:prstGeom prst="rect">
            <a:avLst/>
          </a:prstGeom>
          <a:solidFill>
            <a:srgbClr val="BB0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977" tIns="55989" rIns="111977" bIns="55989" rtlCol="0" anchor="ctr"/>
          <a:lstStyle/>
          <a:p>
            <a:pPr algn="ctr" defTabSz="1119505"/>
            <a:endParaRPr lang="zh-CN" altLang="en-US" sz="220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1435998"/>
            <a:ext cx="14365288" cy="7528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977" tIns="55989" rIns="111977" bIns="55989" rtlCol="0" anchor="ctr"/>
          <a:lstStyle/>
          <a:p>
            <a:pPr algn="ctr" defTabSz="1119505"/>
            <a:endParaRPr lang="zh-CN" altLang="en-US" sz="220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0132" y="2234929"/>
            <a:ext cx="12390061" cy="3729029"/>
          </a:xfrm>
        </p:spPr>
        <p:txBody>
          <a:bodyPr anchor="b"/>
          <a:lstStyle>
            <a:lvl1pPr>
              <a:defRPr sz="73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0132" y="5999237"/>
            <a:ext cx="12390061" cy="1961008"/>
          </a:xfrm>
        </p:spPr>
        <p:txBody>
          <a:bodyPr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5600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11950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67957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23964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279971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35915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39192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447929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87614" y="2386413"/>
            <a:ext cx="6105247" cy="568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72427" y="2386413"/>
            <a:ext cx="6105247" cy="568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485" y="477283"/>
            <a:ext cx="12390061" cy="173274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9485" y="2197576"/>
            <a:ext cx="6077190" cy="1076998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60070" indent="0">
              <a:buNone/>
              <a:defRPr sz="2400" b="1"/>
            </a:lvl2pPr>
            <a:lvl3pPr marL="1119505" indent="0">
              <a:buNone/>
              <a:defRPr sz="2200" b="1"/>
            </a:lvl3pPr>
            <a:lvl4pPr marL="1679575" indent="0">
              <a:buNone/>
              <a:defRPr sz="2000" b="1"/>
            </a:lvl4pPr>
            <a:lvl5pPr marL="2239645" indent="0">
              <a:buNone/>
              <a:defRPr sz="2000" b="1"/>
            </a:lvl5pPr>
            <a:lvl6pPr marL="2799715" indent="0">
              <a:buNone/>
              <a:defRPr sz="2000" b="1"/>
            </a:lvl6pPr>
            <a:lvl7pPr marL="3359150" indent="0">
              <a:buNone/>
              <a:defRPr sz="2000" b="1"/>
            </a:lvl7pPr>
            <a:lvl8pPr marL="3919220" indent="0">
              <a:buNone/>
              <a:defRPr sz="2000" b="1"/>
            </a:lvl8pPr>
            <a:lvl9pPr marL="447929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89485" y="3274574"/>
            <a:ext cx="6077190" cy="481640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272427" y="2197576"/>
            <a:ext cx="6107118" cy="1076998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60070" indent="0">
              <a:buNone/>
              <a:defRPr sz="2400" b="1"/>
            </a:lvl2pPr>
            <a:lvl3pPr marL="1119505" indent="0">
              <a:buNone/>
              <a:defRPr sz="2200" b="1"/>
            </a:lvl3pPr>
            <a:lvl4pPr marL="1679575" indent="0">
              <a:buNone/>
              <a:defRPr sz="2000" b="1"/>
            </a:lvl4pPr>
            <a:lvl5pPr marL="2239645" indent="0">
              <a:buNone/>
              <a:defRPr sz="2000" b="1"/>
            </a:lvl5pPr>
            <a:lvl6pPr marL="2799715" indent="0">
              <a:buNone/>
              <a:defRPr sz="2000" b="1"/>
            </a:lvl6pPr>
            <a:lvl7pPr marL="3359150" indent="0">
              <a:buNone/>
              <a:defRPr sz="2000" b="1"/>
            </a:lvl7pPr>
            <a:lvl8pPr marL="3919220" indent="0">
              <a:buNone/>
              <a:defRPr sz="2000" b="1"/>
            </a:lvl8pPr>
            <a:lvl9pPr marL="447929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272427" y="3274574"/>
            <a:ext cx="6107118" cy="48164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485" y="597641"/>
            <a:ext cx="4633179" cy="2091743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7118" y="1290739"/>
            <a:ext cx="7272427" cy="6370686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9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89485" y="2689384"/>
            <a:ext cx="4633179" cy="4982416"/>
          </a:xfrm>
        </p:spPr>
        <p:txBody>
          <a:bodyPr/>
          <a:lstStyle>
            <a:lvl1pPr marL="0" indent="0">
              <a:buNone/>
              <a:defRPr sz="2000"/>
            </a:lvl1pPr>
            <a:lvl2pPr marL="560070" indent="0">
              <a:buNone/>
              <a:defRPr sz="1700"/>
            </a:lvl2pPr>
            <a:lvl3pPr marL="1119505" indent="0">
              <a:buNone/>
              <a:defRPr sz="1500"/>
            </a:lvl3pPr>
            <a:lvl4pPr marL="1679575" indent="0">
              <a:buNone/>
              <a:defRPr sz="1200"/>
            </a:lvl4pPr>
            <a:lvl5pPr marL="2239645" indent="0">
              <a:buNone/>
              <a:defRPr sz="1200"/>
            </a:lvl5pPr>
            <a:lvl6pPr marL="2799715" indent="0">
              <a:buNone/>
              <a:defRPr sz="1200"/>
            </a:lvl6pPr>
            <a:lvl7pPr marL="3359150" indent="0">
              <a:buNone/>
              <a:defRPr sz="1200"/>
            </a:lvl7pPr>
            <a:lvl8pPr marL="3919220" indent="0">
              <a:buNone/>
              <a:defRPr sz="1200"/>
            </a:lvl8pPr>
            <a:lvl9pPr marL="447929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485" y="597641"/>
            <a:ext cx="4633179" cy="2091743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107118" y="1290739"/>
            <a:ext cx="7272427" cy="6370686"/>
          </a:xfrm>
        </p:spPr>
        <p:txBody>
          <a:bodyPr/>
          <a:lstStyle>
            <a:lvl1pPr marL="0" indent="0">
              <a:buNone/>
              <a:defRPr sz="3900"/>
            </a:lvl1pPr>
            <a:lvl2pPr marL="560070" indent="0">
              <a:buNone/>
              <a:defRPr sz="3400"/>
            </a:lvl2pPr>
            <a:lvl3pPr marL="1119505" indent="0">
              <a:buNone/>
              <a:defRPr sz="2900"/>
            </a:lvl3pPr>
            <a:lvl4pPr marL="1679575" indent="0">
              <a:buNone/>
              <a:defRPr sz="2400"/>
            </a:lvl4pPr>
            <a:lvl5pPr marL="2239645" indent="0">
              <a:buNone/>
              <a:defRPr sz="2400"/>
            </a:lvl5pPr>
            <a:lvl6pPr marL="2799715" indent="0">
              <a:buNone/>
              <a:defRPr sz="2400"/>
            </a:lvl6pPr>
            <a:lvl7pPr marL="3359150" indent="0">
              <a:buNone/>
              <a:defRPr sz="2400"/>
            </a:lvl7pPr>
            <a:lvl8pPr marL="3919220" indent="0">
              <a:buNone/>
              <a:defRPr sz="2400"/>
            </a:lvl8pPr>
            <a:lvl9pPr marL="4479290" indent="0">
              <a:buNone/>
              <a:defRPr sz="24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89485" y="2689384"/>
            <a:ext cx="4633179" cy="4982416"/>
          </a:xfrm>
        </p:spPr>
        <p:txBody>
          <a:bodyPr/>
          <a:lstStyle>
            <a:lvl1pPr marL="0" indent="0">
              <a:buNone/>
              <a:defRPr sz="2000"/>
            </a:lvl1pPr>
            <a:lvl2pPr marL="560070" indent="0">
              <a:buNone/>
              <a:defRPr sz="1700"/>
            </a:lvl2pPr>
            <a:lvl3pPr marL="1119505" indent="0">
              <a:buNone/>
              <a:defRPr sz="1500"/>
            </a:lvl3pPr>
            <a:lvl4pPr marL="1679575" indent="0">
              <a:buNone/>
              <a:defRPr sz="1200"/>
            </a:lvl4pPr>
            <a:lvl5pPr marL="2239645" indent="0">
              <a:buNone/>
              <a:defRPr sz="1200"/>
            </a:lvl5pPr>
            <a:lvl6pPr marL="2799715" indent="0">
              <a:buNone/>
              <a:defRPr sz="1200"/>
            </a:lvl6pPr>
            <a:lvl7pPr marL="3359150" indent="0">
              <a:buNone/>
              <a:defRPr sz="1200"/>
            </a:lvl7pPr>
            <a:lvl8pPr marL="3919220" indent="0">
              <a:buNone/>
              <a:defRPr sz="1200"/>
            </a:lvl8pPr>
            <a:lvl9pPr marL="447929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80159" y="477283"/>
            <a:ext cx="3097515" cy="75970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87613" y="477283"/>
            <a:ext cx="9112980" cy="7597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0543" y="158055"/>
            <a:ext cx="12444929" cy="776047"/>
          </a:xfrm>
        </p:spPr>
        <p:txBody>
          <a:bodyPr/>
          <a:lstStyle>
            <a:lvl1pPr>
              <a:defRPr sz="2900" baseline="0"/>
            </a:lvl1pPr>
          </a:lstStyle>
          <a:p>
            <a:r>
              <a:rPr lang="en-US" dirty="0"/>
              <a:t>Insert Title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93319-B954-4B85-B781-C2813E41684B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yanj.cn/index.php?act=show_store&amp;id=8719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"/>
            <a:ext cx="14365288" cy="7362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799" tIns="47399" rIns="94799" bIns="47399" anchor="ctr"/>
          <a:lstStyle/>
          <a:p>
            <a:pPr algn="ctr" defTabSz="1247775">
              <a:defRPr/>
            </a:pPr>
            <a:endParaRPr lang="zh-CN" altLang="en-US" sz="2400">
              <a:solidFill>
                <a:srgbClr val="F5F5F5"/>
              </a:solidFill>
            </a:endParaRPr>
          </a:p>
        </p:txBody>
      </p:sp>
      <p:sp>
        <p:nvSpPr>
          <p:cNvPr id="5" name="页脚占位符 4"/>
          <p:cNvSpPr txBox="1"/>
          <p:nvPr/>
        </p:nvSpPr>
        <p:spPr>
          <a:xfrm>
            <a:off x="12651778" y="258293"/>
            <a:ext cx="1642246" cy="477926"/>
          </a:xfrm>
          <a:prstGeom prst="rect">
            <a:avLst/>
          </a:prstGeom>
        </p:spPr>
        <p:txBody>
          <a:bodyPr lIns="94799" tIns="47399" rIns="94799" bIns="47399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47775">
              <a:defRPr/>
            </a:pPr>
            <a:r>
              <a:rPr lang="en-US" altLang="zh-CN" sz="1300" dirty="0">
                <a:solidFill>
                  <a:srgbClr val="F5F5F5"/>
                </a:solidFill>
              </a:rPr>
              <a:t>www.guideir.com</a:t>
            </a:r>
            <a:endParaRPr lang="zh-CN" altLang="en-US" sz="1300" dirty="0">
              <a:solidFill>
                <a:srgbClr val="F5F5F5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1246505" rtl="0" eaLnBrk="0" fontAlgn="base" hangingPunct="0">
        <a:spcBef>
          <a:spcPct val="0"/>
        </a:spcBef>
        <a:spcAft>
          <a:spcPct val="0"/>
        </a:spcAft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46505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46505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46505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46505" rtl="0" eaLnBrk="0" fontAlgn="base" hangingPunct="0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73710" algn="ctr" defTabSz="1246505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48055" algn="ctr" defTabSz="1246505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421765" algn="ctr" defTabSz="1246505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96110" algn="ctr" defTabSz="1246505" rtl="0" fontAlgn="base">
        <a:spcBef>
          <a:spcPct val="0"/>
        </a:spcBef>
        <a:spcAft>
          <a:spcPct val="0"/>
        </a:spcAft>
        <a:defRPr sz="60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67360" indent="-467360" algn="l" defTabSz="12465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12825" indent="-388620" algn="l" defTabSz="12465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800" kern="1200">
          <a:solidFill>
            <a:schemeClr val="tx1"/>
          </a:solidFill>
          <a:latin typeface="+mn-lt"/>
          <a:ea typeface="+mn-ea"/>
          <a:cs typeface="+mn-cs"/>
        </a:defRPr>
      </a:lvl2pPr>
      <a:lvl3pPr marL="1558925" indent="-311150" algn="l" defTabSz="12465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82495" indent="-311150" algn="l" defTabSz="12465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806700" indent="-311150" algn="l" defTabSz="12465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430270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054475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678045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302250" indent="-311785" algn="l" defTabSz="1247775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23570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47775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70710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94915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118485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742690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366260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89830" algn="l" defTabSz="124777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87614" y="477283"/>
            <a:ext cx="12390061" cy="1732744"/>
          </a:xfrm>
          <a:prstGeom prst="rect">
            <a:avLst/>
          </a:prstGeom>
        </p:spPr>
        <p:txBody>
          <a:bodyPr vert="horz" lIns="111977" tIns="55989" rIns="111977" bIns="55989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7614" y="2386413"/>
            <a:ext cx="12390061" cy="5687965"/>
          </a:xfrm>
          <a:prstGeom prst="rect">
            <a:avLst/>
          </a:prstGeom>
        </p:spPr>
        <p:txBody>
          <a:bodyPr vert="horz" lIns="111977" tIns="55989" rIns="111977" bIns="55989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87613" y="8308869"/>
            <a:ext cx="3232190" cy="477283"/>
          </a:xfrm>
          <a:prstGeom prst="rect">
            <a:avLst/>
          </a:prstGeom>
        </p:spPr>
        <p:txBody>
          <a:bodyPr vert="horz" lIns="111977" tIns="55989" rIns="111977" bIns="55989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19505"/>
            <a:fld id="{EBCA3F91-3F47-4D82-861F-67BECC89C63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2024/3/21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758502" y="8308869"/>
            <a:ext cx="4848285" cy="477283"/>
          </a:xfrm>
          <a:prstGeom prst="rect">
            <a:avLst/>
          </a:prstGeom>
        </p:spPr>
        <p:txBody>
          <a:bodyPr vert="horz" lIns="111977" tIns="55989" rIns="111977" bIns="55989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1950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145485" y="8308869"/>
            <a:ext cx="3232190" cy="477283"/>
          </a:xfrm>
          <a:prstGeom prst="rect">
            <a:avLst/>
          </a:prstGeom>
        </p:spPr>
        <p:txBody>
          <a:bodyPr vert="horz" lIns="111977" tIns="55989" rIns="111977" bIns="55989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19505"/>
            <a:fld id="{25BB5C16-E580-4E41-9C82-C53D2373A51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>
            <a:hlinkClick r:id="rId16" highlightClick="1"/>
          </p:cNvPr>
          <p:cNvSpPr/>
          <p:nvPr userDrawn="1"/>
        </p:nvSpPr>
        <p:spPr>
          <a:xfrm>
            <a:off x="0" y="0"/>
            <a:ext cx="14365288" cy="8964613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1977" tIns="55989" rIns="111977" bIns="55989" rtlCol="0" anchor="ctr"/>
          <a:lstStyle/>
          <a:p>
            <a:pPr algn="ctr" defTabSz="1119505"/>
            <a:endParaRPr lang="zh-CN" altLang="en-US" sz="2200">
              <a:solidFill>
                <a:srgbClr val="FFFFFF"/>
              </a:solidFill>
            </a:endParaRPr>
          </a:p>
        </p:txBody>
      </p:sp>
      <p:pic>
        <p:nvPicPr>
          <p:cNvPr id="8" name="图片 7" descr="图片1.png"/>
          <p:cNvPicPr>
            <a:picLocks noChangeAspect="1"/>
          </p:cNvPicPr>
          <p:nvPr userDrawn="1"/>
        </p:nvPicPr>
        <p:blipFill>
          <a:blip r:embed="rId17" cstate="print"/>
          <a:srcRect t="1571"/>
          <a:stretch>
            <a:fillRect/>
          </a:stretch>
        </p:blipFill>
        <p:spPr>
          <a:xfrm>
            <a:off x="1" y="0"/>
            <a:ext cx="14365288" cy="8964613"/>
          </a:xfrm>
          <a:prstGeom prst="rect">
            <a:avLst/>
          </a:prstGeom>
        </p:spPr>
      </p:pic>
      <p:pic>
        <p:nvPicPr>
          <p:cNvPr id="10" name="图片 9" descr="高德智感logo中英文反白.png"/>
          <p:cNvPicPr>
            <a:picLocks noChangeAspect="1"/>
          </p:cNvPicPr>
          <p:nvPr userDrawn="1"/>
        </p:nvPicPr>
        <p:blipFill>
          <a:blip r:embed="rId18" cstate="print"/>
          <a:stretch>
            <a:fillRect/>
          </a:stretch>
        </p:blipFill>
        <p:spPr>
          <a:xfrm>
            <a:off x="12464880" y="8166305"/>
            <a:ext cx="1531922" cy="5658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l" defTabSz="1119505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0035" indent="-280035" algn="l" defTabSz="1119505" rtl="0" eaLnBrk="1" latinLnBrk="0" hangingPunct="1">
        <a:lnSpc>
          <a:spcPct val="90000"/>
        </a:lnSpc>
        <a:spcBef>
          <a:spcPts val="1225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40105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399540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610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519680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3079115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639185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4199255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759325" indent="-280035" algn="l" defTabSz="111950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60070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9505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575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39645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99715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59150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19220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79290" algn="l" defTabSz="1119505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3.emf"/><Relationship Id="rId3" Type="http://schemas.openxmlformats.org/officeDocument/2006/relationships/tags" Target="../tags/tag13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12.wmf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oleObject" Target="../embeddings/oleObject2.bin"/><Relationship Id="rId5" Type="http://schemas.openxmlformats.org/officeDocument/2006/relationships/tags" Target="../tags/tag15.xml"/><Relationship Id="rId10" Type="http://schemas.openxmlformats.org/officeDocument/2006/relationships/image" Target="../media/image11.emf"/><Relationship Id="rId4" Type="http://schemas.openxmlformats.org/officeDocument/2006/relationships/tags" Target="../tags/tag14.xml"/><Relationship Id="rId9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18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tags" Target="../tags/tag24.xml"/><Relationship Id="rId7" Type="http://schemas.openxmlformats.org/officeDocument/2006/relationships/image" Target="../media/image20.emf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19.emf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13" Type="http://schemas.openxmlformats.org/officeDocument/2006/relationships/image" Target="../media/image26.png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25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24.png"/><Relationship Id="rId5" Type="http://schemas.openxmlformats.org/officeDocument/2006/relationships/tags" Target="../tags/tag30.xml"/><Relationship Id="rId15" Type="http://schemas.openxmlformats.org/officeDocument/2006/relationships/image" Target="../media/image28.emf"/><Relationship Id="rId10" Type="http://schemas.openxmlformats.org/officeDocument/2006/relationships/image" Target="../media/image23.png"/><Relationship Id="rId4" Type="http://schemas.openxmlformats.org/officeDocument/2006/relationships/tags" Target="../tags/tag29.xml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tags" Target="../tags/tag35.xml"/><Relationship Id="rId7" Type="http://schemas.openxmlformats.org/officeDocument/2006/relationships/image" Target="../media/image29.emf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10" Type="http://schemas.openxmlformats.org/officeDocument/2006/relationships/image" Target="../media/image29.emf"/><Relationship Id="rId4" Type="http://schemas.openxmlformats.org/officeDocument/2006/relationships/tags" Target="../tags/tag41.xml"/><Relationship Id="rId9" Type="http://schemas.openxmlformats.org/officeDocument/2006/relationships/image" Target="../media/image3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image" Target="../media/image36.png"/><Relationship Id="rId3" Type="http://schemas.openxmlformats.org/officeDocument/2006/relationships/tags" Target="../tags/tag49.xml"/><Relationship Id="rId21" Type="http://schemas.openxmlformats.org/officeDocument/2006/relationships/image" Target="../media/image39.png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image" Target="../media/image38.png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10" Type="http://schemas.openxmlformats.org/officeDocument/2006/relationships/tags" Target="../tags/tag56.xml"/><Relationship Id="rId19" Type="http://schemas.openxmlformats.org/officeDocument/2006/relationships/image" Target="../media/image37.png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65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42.png"/><Relationship Id="rId4" Type="http://schemas.openxmlformats.org/officeDocument/2006/relationships/tags" Target="../tags/tag66.xml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43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tags" Target="../tags/tag77.xml"/><Relationship Id="rId7" Type="http://schemas.openxmlformats.org/officeDocument/2006/relationships/image" Target="../media/image44.emf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78.xml"/><Relationship Id="rId9" Type="http://schemas.openxmlformats.org/officeDocument/2006/relationships/image" Target="../media/image4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9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0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2.xml"/><Relationship Id="rId5" Type="http://schemas.openxmlformats.org/officeDocument/2006/relationships/image" Target="../media/image51.png"/><Relationship Id="rId4" Type="http://schemas.openxmlformats.org/officeDocument/2006/relationships/image" Target="../media/image5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3.xml"/><Relationship Id="rId5" Type="http://schemas.openxmlformats.org/officeDocument/2006/relationships/image" Target="../media/image53.emf"/><Relationship Id="rId4" Type="http://schemas.openxmlformats.org/officeDocument/2006/relationships/image" Target="../media/image52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4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5.xml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8.png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7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9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8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810"/>
            <a:ext cx="14365288" cy="8964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63" y="7180221"/>
            <a:ext cx="2381809" cy="8767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1998068" y="1958651"/>
            <a:ext cx="9791453" cy="707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0" tIns="45714" rIns="91430" bIns="45714">
            <a:spAutoFit/>
          </a:bodyPr>
          <a:lstStyle/>
          <a:p>
            <a:pPr algn="ctr" defTabSz="1203325"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j-lt"/>
                <a:ea typeface="微软雅黑 Light" panose="020B0502040204020203" pitchFamily="34" charset="-122"/>
              </a:rPr>
              <a:t>11</a:t>
            </a:r>
            <a:r>
              <a:rPr lang="zh-CN" altLang="en-US" sz="4000" b="1" dirty="0">
                <a:solidFill>
                  <a:schemeClr val="bg1"/>
                </a:solidFill>
                <a:latin typeface="+mj-lt"/>
                <a:ea typeface="微软雅黑 Light" panose="020B0502040204020203" pitchFamily="34" charset="-122"/>
              </a:rPr>
              <a:t>月工作汇报</a:t>
            </a:r>
          </a:p>
        </p:txBody>
      </p:sp>
      <p:sp>
        <p:nvSpPr>
          <p:cNvPr id="2" name="Text Box 15"/>
          <p:cNvSpPr txBox="1"/>
          <p:nvPr>
            <p:custDataLst>
              <p:tags r:id="rId1"/>
            </p:custDataLst>
          </p:nvPr>
        </p:nvSpPr>
        <p:spPr>
          <a:xfrm>
            <a:off x="5385367" y="3329672"/>
            <a:ext cx="3237438" cy="584763"/>
          </a:xfrm>
          <a:prstGeom prst="rect">
            <a:avLst/>
          </a:prstGeom>
          <a:noFill/>
          <a:ln w="9525">
            <a:noFill/>
          </a:ln>
        </p:spPr>
        <p:txBody>
          <a:bodyPr wrap="square" lIns="91430" tIns="45714" rIns="91430" bIns="45714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汇报人：王文松</a:t>
            </a:r>
            <a:endParaRPr lang="en-US" altLang="zh-CN" sz="32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Text Box 15"/>
          <p:cNvSpPr txBox="1"/>
          <p:nvPr>
            <p:custDataLst>
              <p:tags r:id="rId2"/>
            </p:custDataLst>
          </p:nvPr>
        </p:nvSpPr>
        <p:spPr>
          <a:xfrm>
            <a:off x="5616382" y="4335310"/>
            <a:ext cx="2554823" cy="705485"/>
          </a:xfrm>
          <a:prstGeom prst="rect">
            <a:avLst/>
          </a:prstGeom>
          <a:noFill/>
          <a:ln w="9525">
            <a:noFill/>
          </a:ln>
        </p:spPr>
        <p:txBody>
          <a:bodyPr wrap="square" lIns="91430" tIns="45714" rIns="91430" bIns="45714">
            <a:spAutoFit/>
          </a:bodyPr>
          <a:lstStyle/>
          <a:p>
            <a:pPr eaLnBrk="1" hangingPunct="1"/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2023.11.09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2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2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40"/>
                            </p:stCondLst>
                            <p:childTnLst>
                              <p:par>
                                <p:cTn id="2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7530" y="2753995"/>
            <a:ext cx="13209905" cy="4441825"/>
          </a:xfrm>
          <a:prstGeom prst="rect">
            <a:avLst/>
          </a:prstGeom>
        </p:spPr>
      </p:pic>
      <p:sp>
        <p:nvSpPr>
          <p:cNvPr id="16387" name="文本框 20"/>
          <p:cNvSpPr txBox="1"/>
          <p:nvPr>
            <p:custDataLst>
              <p:tags r:id="rId2"/>
            </p:custDataLst>
          </p:nvPr>
        </p:nvSpPr>
        <p:spPr>
          <a:xfrm>
            <a:off x="701675" y="1170305"/>
            <a:ext cx="4422140" cy="1133475"/>
          </a:xfrm>
          <a:prstGeom prst="rect">
            <a:avLst/>
          </a:prstGeom>
          <a:noFill/>
          <a:ln w="9525">
            <a:noFill/>
          </a:ln>
        </p:spPr>
        <p:txBody>
          <a:bodyPr wrap="square" lIns="94795" tIns="47397" rIns="94795" bIns="47397">
            <a:noAutofit/>
          </a:bodyPr>
          <a:lstStyle/>
          <a:p>
            <a:pPr defTabSz="12458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5400" b="1" dirty="0">
                <a:solidFill>
                  <a:srgbClr val="C90915"/>
                </a:solidFill>
                <a:latin typeface="Impact" panose="020B0806030902050204" pitchFamily="34" charset="0"/>
                <a:ea typeface="张海山锐谐体"/>
              </a:rPr>
              <a:t>汇报提纲</a:t>
            </a:r>
          </a:p>
        </p:txBody>
      </p:sp>
      <p:pic>
        <p:nvPicPr>
          <p:cNvPr id="16388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4246245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</a:rPr>
              <a:t>方向发射率与SSE效应</a:t>
            </a:r>
          </a:p>
        </p:txBody>
      </p:sp>
      <p:sp>
        <p:nvSpPr>
          <p:cNvPr id="7" name="TextBox 4"/>
          <p:cNvSpPr txBox="1"/>
          <p:nvPr>
            <p:custDataLst>
              <p:tags r:id="rId1"/>
            </p:custDataLst>
          </p:nvPr>
        </p:nvSpPr>
        <p:spPr>
          <a:xfrm>
            <a:off x="2861901" y="7938197"/>
            <a:ext cx="2823210" cy="490220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b="1" dirty="0"/>
              <a:t>不同角度黑体图像</a:t>
            </a:r>
          </a:p>
        </p:txBody>
      </p:sp>
      <p:pic>
        <p:nvPicPr>
          <p:cNvPr id="11" name="图片 10"/>
          <p:cNvPicPr/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89965" y="2990850"/>
            <a:ext cx="6924675" cy="4609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622665" y="4122420"/>
            <a:ext cx="4788535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/>
              <a:t>转动黑体的过程中，</a:t>
            </a:r>
            <a:r>
              <a:rPr lang="zh-CN" altLang="en-US" b="1">
                <a:solidFill>
                  <a:srgbClr val="FF0000"/>
                </a:solidFill>
              </a:rPr>
              <a:t>发射率</a:t>
            </a:r>
            <a:r>
              <a:rPr lang="zh-CN" altLang="en-US" b="1"/>
              <a:t>与</a:t>
            </a:r>
            <a:r>
              <a:rPr lang="zh-CN" altLang="en-US" b="1">
                <a:solidFill>
                  <a:srgbClr val="FF0000"/>
                </a:solidFill>
              </a:rPr>
              <a:t>成像面积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大小</a:t>
            </a:r>
            <a:r>
              <a:rPr lang="zh-CN" altLang="en-US" b="1"/>
              <a:t>均产生变化，哪个因素对测温结果造成主要影响？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2945" y="1169670"/>
            <a:ext cx="76701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方向发射率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物体在不同方向角度发射率会改变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02945" y="1889760"/>
            <a:ext cx="1149985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SSE(Size-of-Source Effect)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效应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目标物体在焦平面成像大小影响测温结果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4246245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</a:rPr>
              <a:t>方向发射率与SSE效应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05865" y="2393950"/>
          <a:ext cx="7063740" cy="79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20900" imgH="241300" progId="Equation.DSMT4">
                  <p:embed/>
                </p:oleObj>
              </mc:Choice>
              <mc:Fallback>
                <p:oleObj name="Equation" r:id="rId8" imgW="21209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865" y="2393950"/>
                        <a:ext cx="7063740" cy="7918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89965" y="881380"/>
            <a:ext cx="11422380" cy="1382395"/>
          </a:xfrm>
          <a:prstGeom prst="rect">
            <a:avLst/>
          </a:prstGeom>
        </p:spPr>
        <p:txBody>
          <a:bodyPr wrap="square" lIns="91430" tIns="45714" rIns="91430" bIns="45714">
            <a:sp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</a:rPr>
              <a:t>基于红外测温原理，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当目标物体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T0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与环境温度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Tu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相同时，测量温度等于物体表面真实温度</a:t>
            </a:r>
            <a:r>
              <a:rPr lang="en-US" altLang="zh-CN" sz="2800" b="1" baseline="30000" dirty="0">
                <a:solidFill>
                  <a:srgbClr val="FF0000"/>
                </a:solidFill>
                <a:sym typeface="+mn-ea"/>
              </a:rPr>
              <a:t>[1]</a:t>
            </a: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。</a:t>
            </a:r>
            <a:endParaRPr lang="zh-CN" altLang="en-US" sz="2800" b="1" baseline="300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5865" y="8370570"/>
            <a:ext cx="979424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张志强,王萍,于旭东等.高精度红外热成像测温技术研究[J].仪器仪表学报,2020,41(05</a:t>
            </a:r>
            <a:r>
              <a:rPr lang="zh-CN" altLang="en-US" sz="2000"/>
              <a:t>)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57530" y="3134360"/>
            <a:ext cx="5965190" cy="447421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8982710" y="2465705"/>
            <a:ext cx="1243330" cy="672465"/>
          </a:xfrm>
          <a:prstGeom prst="rightArrow">
            <a:avLst/>
          </a:prstGeom>
          <a:solidFill>
            <a:schemeClr val="accent5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/>
          <p:cNvGraphicFramePr/>
          <p:nvPr>
            <p:custDataLst>
              <p:tags r:id="rId4"/>
            </p:custDataLst>
          </p:nvPr>
        </p:nvGraphicFramePr>
        <p:xfrm>
          <a:off x="10567035" y="2571750"/>
          <a:ext cx="1122045" cy="579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508000" imgH="241300" progId="Equation.DSMT4">
                  <p:embed/>
                </p:oleObj>
              </mc:Choice>
              <mc:Fallback>
                <p:oleObj r:id="rId11" imgW="508000" imgH="2413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567035" y="2571750"/>
                        <a:ext cx="1122045" cy="579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999615" y="7650480"/>
            <a:ext cx="321564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目标物体与环温相同</a:t>
            </a: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8284845" y="7703820"/>
            <a:ext cx="34042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目标物体与环温不同</a:t>
            </a: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182485" y="3134360"/>
            <a:ext cx="6019800" cy="451548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4246245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</a:rPr>
              <a:t>方向发射率与SSE效应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5" t="4720" r="7372" b="2415"/>
          <a:stretch>
            <a:fillRect/>
          </a:stretch>
        </p:blipFill>
        <p:spPr bwMode="auto">
          <a:xfrm>
            <a:off x="8334375" y="1675765"/>
            <a:ext cx="547243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13385" y="1746250"/>
            <a:ext cx="7435215" cy="2820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5775" y="5417820"/>
            <a:ext cx="7547610" cy="189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/>
              <a:t>探讨距离、成像大小与视角引起的测量误差，测量距离和成像大小引起的测量误差近似相等。</a:t>
            </a:r>
            <a:r>
              <a:rPr lang="zh-CN" altLang="en-US" b="1">
                <a:solidFill>
                  <a:srgbClr val="FF0000"/>
                </a:solidFill>
              </a:rPr>
              <a:t>认为测量距离主要通过影响成像面积来影响测温精度</a:t>
            </a:r>
            <a:r>
              <a:rPr lang="en-US" altLang="zh-CN" b="1" baseline="30000">
                <a:solidFill>
                  <a:srgbClr val="FF0000"/>
                </a:solidFill>
              </a:rPr>
              <a:t>[2]</a:t>
            </a:r>
            <a:r>
              <a:rPr lang="zh-CN" altLang="en-US" b="1"/>
              <a:t>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1630" y="8082280"/>
            <a:ext cx="136899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Y. Li, D. Pan, "Adaptive Compensation Method for the Infrared Temperature Measurement Error Based on 3-D Thermal Imaging," in IEEE Sensors Journal, vol. 2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3, no. 10, pp.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6410" y="1026160"/>
            <a:ext cx="404368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距离、成像大小与视角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910955" y="6570345"/>
            <a:ext cx="52857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ym typeface="+mn-ea"/>
              </a:rPr>
              <a:t>距离、成像大小与视角对测温影响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4246245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</a:rPr>
              <a:t>方向发射率与SSE效应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17575" y="7938770"/>
            <a:ext cx="1184973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Pušnik, I.; Geršak, G. Evaluation of the Size-of-Source Effect in Thermal Imaging Cameras. Sensors 2021, 21, 607.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822440" y="5346700"/>
            <a:ext cx="6886575" cy="2232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/>
              <a:t>为了精确测量温度，至少要有</a:t>
            </a:r>
            <a:r>
              <a:rPr lang="zh-CN" altLang="en-US" b="1">
                <a:solidFill>
                  <a:srgbClr val="FF0000"/>
                </a:solidFill>
              </a:rPr>
              <a:t>10 × 10像素的阵列</a:t>
            </a:r>
            <a:r>
              <a:rPr lang="zh-CN" altLang="en-US" b="1"/>
              <a:t>暴露在观测目标辐射中，同时在温度计算中应包括</a:t>
            </a:r>
            <a:r>
              <a:rPr lang="zh-CN" altLang="en-US" b="1">
                <a:solidFill>
                  <a:srgbClr val="FF0000"/>
                </a:solidFill>
              </a:rPr>
              <a:t>3 × 3的中心像元区域</a:t>
            </a:r>
            <a:r>
              <a:rPr lang="en-US" altLang="zh-CN" b="1" baseline="30000">
                <a:solidFill>
                  <a:srgbClr val="FF0000"/>
                </a:solidFill>
              </a:rPr>
              <a:t>[3]</a:t>
            </a:r>
            <a:r>
              <a:rPr lang="zh-CN" altLang="en-US" b="1"/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85215" y="953770"/>
            <a:ext cx="18643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SSE效应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r="2900"/>
          <a:stretch>
            <a:fillRect/>
          </a:stretch>
        </p:blipFill>
        <p:spPr>
          <a:xfrm>
            <a:off x="6643370" y="2033905"/>
            <a:ext cx="6696710" cy="23729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62620" y="4639310"/>
            <a:ext cx="38461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不同成像大小对测温影响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 r="2901"/>
          <a:stretch>
            <a:fillRect/>
          </a:stretch>
        </p:blipFill>
        <p:spPr>
          <a:xfrm>
            <a:off x="774065" y="1472565"/>
            <a:ext cx="4824730" cy="245237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85215" y="4218305"/>
            <a:ext cx="4455160" cy="254444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189990" y="7055485"/>
            <a:ext cx="432689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不同形状工装探究</a:t>
            </a:r>
            <a:r>
              <a:rPr lang="en-US" altLang="zh-CN"/>
              <a:t>SSE</a:t>
            </a:r>
            <a:r>
              <a:rPr lang="zh-CN" altLang="en-US"/>
              <a:t>效应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5058410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</a:rPr>
              <a:t>不同条件下方向发射率验证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8165" y="862330"/>
            <a:ext cx="47885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）不同环温方向发射率计算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439650" y="2682240"/>
            <a:ext cx="195770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13±0.3环温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454650" y="2825750"/>
            <a:ext cx="205105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30</a:t>
            </a:r>
            <a:r>
              <a:rPr lang="zh-CN" altLang="en-US">
                <a:sym typeface="+mn-ea"/>
              </a:rPr>
              <a:t>±0.</a:t>
            </a:r>
            <a:r>
              <a:rPr lang="en-US" altLang="zh-CN">
                <a:sym typeface="+mn-ea"/>
              </a:rPr>
              <a:t>3</a:t>
            </a:r>
            <a:r>
              <a:rPr lang="zh-CN" altLang="en-US"/>
              <a:t>环温</a:t>
            </a: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5598160" y="7218680"/>
            <a:ext cx="1778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6</a:t>
            </a:r>
            <a:r>
              <a:rPr lang="zh-CN" altLang="en-US"/>
              <a:t>±0.</a:t>
            </a:r>
            <a:r>
              <a:rPr lang="en-US" altLang="zh-CN"/>
              <a:t>3</a:t>
            </a:r>
            <a:r>
              <a:rPr lang="zh-CN" altLang="en-US"/>
              <a:t>环温</a:t>
            </a: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8165" y="4914265"/>
            <a:ext cx="5334000" cy="40005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8165" y="1242060"/>
            <a:ext cx="5334000" cy="40005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254875" y="1026160"/>
            <a:ext cx="5807710" cy="43561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70775" y="6354445"/>
            <a:ext cx="5984875" cy="69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</a:rPr>
              <a:t>不同环温下，方向发射率表现规律一致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5058410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不同条件下方向发射率验证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7820" y="773430"/>
            <a:ext cx="47885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）不同距离方向发射率验证</a:t>
            </a:r>
          </a:p>
        </p:txBody>
      </p:sp>
      <p:pic>
        <p:nvPicPr>
          <p:cNvPr id="5" name="图片 4"/>
          <p:cNvPicPr/>
          <p:nvPr/>
        </p:nvPicPr>
        <p:blipFill>
          <a:blip r:embed="rId9"/>
          <a:stretch>
            <a:fillRect/>
          </a:stretch>
        </p:blipFill>
        <p:spPr>
          <a:xfrm>
            <a:off x="727710" y="1243330"/>
            <a:ext cx="2514600" cy="2160000"/>
          </a:xfrm>
          <a:prstGeom prst="rect">
            <a:avLst/>
          </a:prstGeom>
        </p:spPr>
      </p:pic>
      <p:pic>
        <p:nvPicPr>
          <p:cNvPr id="100" name="图片 99"/>
          <p:cNvPicPr/>
          <p:nvPr/>
        </p:nvPicPr>
        <p:blipFill>
          <a:blip r:embed="rId10"/>
          <a:stretch>
            <a:fillRect/>
          </a:stretch>
        </p:blipFill>
        <p:spPr>
          <a:xfrm>
            <a:off x="4086225" y="1257935"/>
            <a:ext cx="2514600" cy="216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11"/>
          <a:stretch>
            <a:fillRect/>
          </a:stretch>
        </p:blipFill>
        <p:spPr>
          <a:xfrm>
            <a:off x="701675" y="3819525"/>
            <a:ext cx="2514600" cy="216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/>
          <p:cNvPicPr/>
          <p:nvPr/>
        </p:nvPicPr>
        <p:blipFill>
          <a:blip r:embed="rId12"/>
          <a:stretch>
            <a:fillRect/>
          </a:stretch>
        </p:blipFill>
        <p:spPr>
          <a:xfrm>
            <a:off x="4086225" y="3841115"/>
            <a:ext cx="2514600" cy="216000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3"/>
          <a:stretch>
            <a:fillRect/>
          </a:stretch>
        </p:blipFill>
        <p:spPr>
          <a:xfrm>
            <a:off x="727710" y="6355080"/>
            <a:ext cx="2514600" cy="2160000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14"/>
          <a:stretch>
            <a:fillRect/>
          </a:stretch>
        </p:blipFill>
        <p:spPr>
          <a:xfrm>
            <a:off x="4086225" y="6336665"/>
            <a:ext cx="2514600" cy="21600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8694420" y="6858635"/>
            <a:ext cx="456628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不同距离方向发射率变化规律</a:t>
            </a: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/>
          <a:srcRect l="4048" t="5397" r="8202"/>
          <a:stretch>
            <a:fillRect/>
          </a:stretch>
        </p:blipFill>
        <p:spPr>
          <a:xfrm>
            <a:off x="7830185" y="2178050"/>
            <a:ext cx="5650865" cy="456946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393825" y="3349625"/>
            <a:ext cx="117475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(1) 1m</a:t>
            </a: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4662170" y="3402965"/>
            <a:ext cx="166941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(2) 1.5m</a:t>
            </a: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6175" y="5898515"/>
            <a:ext cx="166941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(3) 2.5m</a:t>
            </a:r>
          </a:p>
        </p:txBody>
      </p:sp>
      <p:sp>
        <p:nvSpPr>
          <p:cNvPr id="22" name="文本框 21"/>
          <p:cNvSpPr txBox="1"/>
          <p:nvPr>
            <p:custDataLst>
              <p:tags r:id="rId5"/>
            </p:custDataLst>
          </p:nvPr>
        </p:nvSpPr>
        <p:spPr>
          <a:xfrm>
            <a:off x="4589780" y="5916930"/>
            <a:ext cx="166941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(4) 3.5m</a:t>
            </a: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1205865" y="8447405"/>
            <a:ext cx="166941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(5) 4m</a:t>
            </a: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4589780" y="8443595"/>
            <a:ext cx="166941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(6) 4.5m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5058410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</a:rPr>
              <a:t>不同条件下方向发射率验证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rcRect l="2485" t="4977" r="6907"/>
          <a:stretch>
            <a:fillRect/>
          </a:stretch>
        </p:blipFill>
        <p:spPr>
          <a:xfrm>
            <a:off x="8155940" y="737870"/>
            <a:ext cx="5111115" cy="40201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rcRect l="2142" t="4979" r="8183"/>
          <a:stretch>
            <a:fillRect/>
          </a:stretch>
        </p:blipFill>
        <p:spPr>
          <a:xfrm>
            <a:off x="8118475" y="4842510"/>
            <a:ext cx="5148580" cy="40913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29920" y="1746250"/>
            <a:ext cx="6344285" cy="4496435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69875" y="1026160"/>
            <a:ext cx="47885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）与参考方向发射率对比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637665" y="6282690"/>
            <a:ext cx="47885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FLUKE4181</a:t>
            </a:r>
            <a:r>
              <a:rPr lang="zh-CN" altLang="en-US" b="1"/>
              <a:t>方向发射率参考值</a:t>
            </a:r>
          </a:p>
        </p:txBody>
      </p:sp>
      <p:sp>
        <p:nvSpPr>
          <p:cNvPr id="9" name="TextBox 4"/>
          <p:cNvSpPr txBox="1"/>
          <p:nvPr>
            <p:custDataLst>
              <p:tags r:id="rId5"/>
            </p:custDataLst>
          </p:nvPr>
        </p:nvSpPr>
        <p:spPr>
          <a:xfrm>
            <a:off x="629920" y="7002780"/>
            <a:ext cx="6022340" cy="1290320"/>
          </a:xfrm>
          <a:prstGeom prst="rect">
            <a:avLst/>
          </a:prstGeom>
          <a:noFill/>
        </p:spPr>
        <p:txBody>
          <a:bodyPr wrap="square" lIns="91430" tIns="45714" rIns="91430" bIns="45714" rtlCol="0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en-US" altLang="zh-CN" b="1" dirty="0"/>
              <a:t>0-70</a:t>
            </a:r>
            <a:r>
              <a:rPr lang="zh-CN" altLang="zh-CN" b="1" dirty="0"/>
              <a:t>°内方向发射率规律一致，在</a:t>
            </a:r>
            <a:r>
              <a:rPr lang="en-US" altLang="zh-CN" b="1" dirty="0"/>
              <a:t>0~45</a:t>
            </a:r>
            <a:r>
              <a:rPr lang="zh-CN" altLang="zh-CN" b="1" dirty="0"/>
              <a:t>°测量范围内方向发射率相差不大。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5058410" cy="582295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</a:rPr>
              <a:t>不同条件下方向发射率验证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262764" y="1909763"/>
            <a:ext cx="5334000" cy="4000500"/>
          </a:xfrm>
          <a:prstGeom prst="rect">
            <a:avLst/>
          </a:prstGeom>
        </p:spPr>
      </p:pic>
      <p:sp>
        <p:nvSpPr>
          <p:cNvPr id="7" name="右箭头 6"/>
          <p:cNvSpPr/>
          <p:nvPr>
            <p:custDataLst>
              <p:tags r:id="rId2"/>
            </p:custDataLst>
          </p:nvPr>
        </p:nvSpPr>
        <p:spPr>
          <a:xfrm>
            <a:off x="6102985" y="3559810"/>
            <a:ext cx="2003425" cy="1007745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671185" y="2983865"/>
            <a:ext cx="312293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角度在</a:t>
            </a:r>
            <a:r>
              <a:rPr lang="en-US" altLang="zh-CN" dirty="0"/>
              <a:t>5</a:t>
            </a:r>
            <a:r>
              <a:rPr lang="zh-CN" altLang="en-US" dirty="0"/>
              <a:t>°内做调整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415145" y="6440170"/>
            <a:ext cx="36074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角度调整后</a:t>
            </a:r>
            <a:r>
              <a:rPr lang="zh-CN" altLang="en-US"/>
              <a:t>方向发射率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rcRect l="2485" t="4977" r="6907"/>
          <a:stretch>
            <a:fillRect/>
          </a:stretch>
        </p:blipFill>
        <p:spPr>
          <a:xfrm>
            <a:off x="414020" y="2047875"/>
            <a:ext cx="5226685" cy="411099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414020" y="1169670"/>
            <a:ext cx="478853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）与参考方向发射率对比</a:t>
            </a: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350645" y="6366510"/>
            <a:ext cx="361251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角度调整前方向发射率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565910" y="7218680"/>
            <a:ext cx="1125791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测量过程中有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zh-CN" altLang="en-US" b="1" dirty="0">
                <a:solidFill>
                  <a:srgbClr val="FF0000"/>
                </a:solidFill>
              </a:rPr>
              <a:t>°左右的误差</a:t>
            </a:r>
            <a:r>
              <a:rPr lang="zh-CN" altLang="en-US" b="1" dirty="0"/>
              <a:t>，经过角度调整后，</a:t>
            </a:r>
            <a:r>
              <a:rPr lang="zh-CN" altLang="en-US" b="1" dirty="0">
                <a:solidFill>
                  <a:srgbClr val="FF0000"/>
                </a:solidFill>
              </a:rPr>
              <a:t>不同环温的方向发射率与参考值保持一致。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139" y="9839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23442" y="1289852"/>
            <a:ext cx="2584450" cy="490220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分段多项式拟合</a:t>
            </a: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" t="5384" r="7198"/>
          <a:stretch>
            <a:fillRect/>
          </a:stretch>
        </p:blipFill>
        <p:spPr bwMode="auto">
          <a:xfrm>
            <a:off x="7614285" y="3572510"/>
            <a:ext cx="5740400" cy="4443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990955" y="8266620"/>
            <a:ext cx="1518344" cy="492430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dirty="0"/>
              <a:t>误差分析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2133" y="8266620"/>
            <a:ext cx="2371142" cy="492430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en-US" altLang="zh-CN" dirty="0"/>
              <a:t>6</a:t>
            </a:r>
            <a:r>
              <a:rPr lang="zh-CN" altLang="en-US" dirty="0"/>
              <a:t>段多项式拟合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55927" y="925512"/>
          <a:ext cx="3439780" cy="2592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22450" imgH="1374140" progId="Equation.DSMT4">
                  <p:embed/>
                </p:oleObj>
              </mc:Choice>
              <mc:Fallback>
                <p:oleObj name="Equation" r:id="rId5" imgW="1822450" imgH="1374140" progId="Equation.DSMT4">
                  <p:embed/>
                  <p:pic>
                    <p:nvPicPr>
                      <p:cNvPr id="0" name="图片 77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55927" y="925512"/>
                        <a:ext cx="3439780" cy="2592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2" t="6292" r="7599"/>
          <a:stretch>
            <a:fillRect/>
          </a:stretch>
        </p:blipFill>
        <p:spPr bwMode="auto">
          <a:xfrm>
            <a:off x="341630" y="3618230"/>
            <a:ext cx="597662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03261" y="135065"/>
            <a:ext cx="3877964" cy="584763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温度与辐射量正反算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42684" y="1962027"/>
            <a:ext cx="6678787" cy="1290320"/>
          </a:xfrm>
          <a:prstGeom prst="rect">
            <a:avLst/>
          </a:prstGeom>
          <a:noFill/>
        </p:spPr>
        <p:txBody>
          <a:bodyPr wrap="square" lIns="91430" tIns="45714" rIns="91430" bIns="4571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大幅度提升温度与辐射量正反算的计算时间，且精确到</a:t>
            </a:r>
            <a:r>
              <a:rPr lang="zh-CN" altLang="en-US" b="1" dirty="0">
                <a:solidFill>
                  <a:srgbClr val="FF0000"/>
                </a:solidFill>
              </a:rPr>
              <a:t>两位小数</a:t>
            </a:r>
            <a:r>
              <a:rPr lang="zh-CN" altLang="en-US" b="1" dirty="0"/>
              <a:t>，误差在</a:t>
            </a:r>
            <a:r>
              <a:rPr lang="en-US" altLang="zh-CN" b="1" dirty="0">
                <a:solidFill>
                  <a:srgbClr val="FF0000"/>
                </a:solidFill>
              </a:rPr>
              <a:t>0.1</a:t>
            </a:r>
            <a:r>
              <a:rPr lang="zh-CN" altLang="en-US" b="1" dirty="0">
                <a:solidFill>
                  <a:srgbClr val="FF0000"/>
                </a:solidFill>
              </a:rPr>
              <a:t>℃以内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3057227" cy="584763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总结与后续计划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646" y="1313947"/>
            <a:ext cx="2236489" cy="584763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工作总结：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6880" y="2249048"/>
            <a:ext cx="7181850" cy="1690370"/>
          </a:xfrm>
          <a:prstGeom prst="rect">
            <a:avLst/>
          </a:prstGeom>
        </p:spPr>
        <p:txBody>
          <a:bodyPr lIns="91430" tIns="45714" rIns="91430" bIns="45714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（</a:t>
            </a:r>
            <a:r>
              <a:rPr lang="en-US" altLang="zh-CN" b="1" dirty="0">
                <a:solidFill>
                  <a:srgbClr val="0070C0"/>
                </a:solidFill>
              </a:rPr>
              <a:t>1</a:t>
            </a:r>
            <a:r>
              <a:rPr lang="zh-CN" altLang="en-US" b="1" dirty="0">
                <a:solidFill>
                  <a:srgbClr val="0070C0"/>
                </a:solidFill>
              </a:rPr>
              <a:t>）方向发射率修正方案验证</a:t>
            </a:r>
            <a:endParaRPr lang="en-US" altLang="zh-CN" b="1" dirty="0">
              <a:solidFill>
                <a:srgbClr val="0070C0"/>
              </a:solidFill>
            </a:endParaRPr>
          </a:p>
          <a:p>
            <a:pPr>
              <a:lnSpc>
                <a:spcPct val="200000"/>
              </a:lnSpc>
            </a:pPr>
            <a:endParaRPr lang="en-US" altLang="zh-CN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957242" y="3329167"/>
            <a:ext cx="9905923" cy="690245"/>
          </a:xfrm>
          <a:prstGeom prst="rect">
            <a:avLst/>
          </a:prstGeom>
          <a:noFill/>
        </p:spPr>
        <p:txBody>
          <a:bodyPr wrap="square" lIns="91430" tIns="45714" rIns="91430" bIns="4571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针对于不同环温与不同距离下发射率变化规律一致性的验证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14095" y="4409440"/>
            <a:ext cx="71882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0070C0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rgbClr val="0070C0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rgbClr val="0070C0"/>
                </a:solidFill>
                <a:sym typeface="+mn-ea"/>
              </a:rPr>
              <a:t>）方向发射率与</a:t>
            </a:r>
            <a:r>
              <a:rPr lang="en-US" altLang="zh-CN" b="1" dirty="0">
                <a:solidFill>
                  <a:srgbClr val="0070C0"/>
                </a:solidFill>
                <a:sym typeface="+mn-ea"/>
              </a:rPr>
              <a:t>SSE</a:t>
            </a:r>
            <a:r>
              <a:rPr lang="zh-CN" altLang="en-US" b="1" dirty="0">
                <a:solidFill>
                  <a:srgbClr val="0070C0"/>
                </a:solidFill>
                <a:sym typeface="+mn-ea"/>
              </a:rPr>
              <a:t>讨论</a:t>
            </a:r>
          </a:p>
        </p:txBody>
      </p:sp>
      <p:sp>
        <p:nvSpPr>
          <p:cNvPr id="2" name="TextBox 7"/>
          <p:cNvSpPr txBox="1"/>
          <p:nvPr>
            <p:custDataLst>
              <p:tags r:id="rId1"/>
            </p:custDataLst>
          </p:nvPr>
        </p:nvSpPr>
        <p:spPr>
          <a:xfrm>
            <a:off x="1957070" y="5690870"/>
            <a:ext cx="8513445" cy="690245"/>
          </a:xfrm>
          <a:prstGeom prst="rect">
            <a:avLst/>
          </a:prstGeom>
          <a:noFill/>
        </p:spPr>
        <p:txBody>
          <a:bodyPr wrap="square" lIns="91430" tIns="45714" rIns="91430" bIns="45714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相关实验及文献调研，测量视角主要受方向发射率的影响</a:t>
            </a: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014095" y="6415477"/>
            <a:ext cx="3997325" cy="890270"/>
          </a:xfrm>
          <a:prstGeom prst="rect">
            <a:avLst/>
          </a:prstGeom>
        </p:spPr>
        <p:txBody>
          <a:bodyPr wrap="none" lIns="91430" tIns="45714" rIns="91430" bIns="45714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（</a:t>
            </a:r>
            <a:r>
              <a:rPr lang="en-US" altLang="zh-CN" b="1" dirty="0">
                <a:solidFill>
                  <a:srgbClr val="0070C0"/>
                </a:solidFill>
              </a:rPr>
              <a:t>3</a:t>
            </a:r>
            <a:r>
              <a:rPr lang="zh-CN" altLang="en-US" b="1" dirty="0">
                <a:solidFill>
                  <a:srgbClr val="0070C0"/>
                </a:solidFill>
              </a:rPr>
              <a:t>）温度与辐射量正反算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997633" y="7531442"/>
            <a:ext cx="9520535" cy="492430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dirty="0"/>
              <a:t>可代替原有代码中发射率表，减少了代码体量，提升了计算速度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3261" y="135065"/>
            <a:ext cx="3057227" cy="584763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总结与后续计划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268" y="1025913"/>
            <a:ext cx="2236489" cy="584763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后续计划：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89704" y="1610227"/>
            <a:ext cx="11204817" cy="890270"/>
          </a:xfrm>
          <a:prstGeom prst="rect">
            <a:avLst/>
          </a:prstGeom>
        </p:spPr>
        <p:txBody>
          <a:bodyPr wrap="square" lIns="91430" tIns="45714" rIns="91430" bIns="45714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）对于不同材料的方向发射率进行采集，构建材料方向发射率数据库</a:t>
            </a:r>
            <a:endParaRPr lang="en-US" altLang="zh-CN" b="1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9133522" y="3228657"/>
            <a:ext cx="4801235" cy="27362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877299" y="6358255"/>
            <a:ext cx="5313680" cy="2232660"/>
          </a:xfrm>
          <a:prstGeom prst="rect">
            <a:avLst/>
          </a:prstGeom>
        </p:spPr>
      </p:pic>
      <p:sp>
        <p:nvSpPr>
          <p:cNvPr id="8" name="右箭头 7"/>
          <p:cNvSpPr/>
          <p:nvPr>
            <p:custDataLst>
              <p:tags r:id="rId3"/>
            </p:custDataLst>
          </p:nvPr>
        </p:nvSpPr>
        <p:spPr>
          <a:xfrm>
            <a:off x="5982335" y="5325745"/>
            <a:ext cx="3359150" cy="1007745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48045" y="4554220"/>
            <a:ext cx="363537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FF0000"/>
                </a:solidFill>
                <a:sym typeface="+mn-ea"/>
              </a:rPr>
              <a:t>构建方向发射率数据库</a:t>
            </a:r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88695" y="5633720"/>
            <a:ext cx="2878455" cy="2165985"/>
          </a:xfrm>
          <a:prstGeom prst="rect">
            <a:avLst/>
          </a:prstGeom>
        </p:spPr>
      </p:pic>
      <p:sp>
        <p:nvSpPr>
          <p:cNvPr id="35" name="矩形 34"/>
          <p:cNvSpPr/>
          <p:nvPr>
            <p:custDataLst>
              <p:tags r:id="rId5"/>
            </p:custDataLst>
          </p:nvPr>
        </p:nvSpPr>
        <p:spPr>
          <a:xfrm>
            <a:off x="1204595" y="5057140"/>
            <a:ext cx="647700" cy="7200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637030" y="3833495"/>
            <a:ext cx="1800225" cy="2376170"/>
            <a:chOff x="7653" y="2792"/>
            <a:chExt cx="2835" cy="3742"/>
          </a:xfrm>
        </p:grpSpPr>
        <p:sp>
          <p:nvSpPr>
            <p:cNvPr id="37" name="矩形 36"/>
            <p:cNvSpPr/>
            <p:nvPr>
              <p:custDataLst>
                <p:tags r:id="rId14"/>
              </p:custDataLst>
            </p:nvPr>
          </p:nvSpPr>
          <p:spPr>
            <a:xfrm>
              <a:off x="7653" y="2792"/>
              <a:ext cx="2608" cy="3742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rgbClr val="808080">
                  <a:lumMod val="50000"/>
                </a:srgbClr>
              </a:extrusionClr>
              <a:contourClr>
                <a:srgbClr val="808080">
                  <a:lumMod val="50000"/>
                </a:srgbClr>
              </a:contourClr>
            </a:sp3d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15"/>
              </p:custDataLst>
            </p:nvPr>
          </p:nvSpPr>
          <p:spPr>
            <a:xfrm>
              <a:off x="7880" y="2792"/>
              <a:ext cx="2608" cy="3742"/>
            </a:xfrm>
            <a:prstGeom prst="rect">
              <a:avLst/>
            </a:prstGeom>
            <a:solidFill>
              <a:srgbClr val="FFFFFF">
                <a:lumMod val="6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rgbClr val="808080">
                  <a:lumMod val="50000"/>
                </a:srgbClr>
              </a:extrusionClr>
              <a:contourClr>
                <a:srgbClr val="808080">
                  <a:lumMod val="50000"/>
                </a:srgbClr>
              </a:contourClr>
            </a:sp3d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6"/>
              </p:custDataLst>
            </p:nvPr>
          </p:nvSpPr>
          <p:spPr>
            <a:xfrm>
              <a:off x="8674" y="3926"/>
              <a:ext cx="1028" cy="1133"/>
            </a:xfrm>
            <a:prstGeom prst="rect">
              <a:avLst/>
            </a:prstGeom>
            <a:solidFill>
              <a:srgbClr val="BBE0E3"/>
            </a:solidFill>
            <a:ln w="12700" cap="flat" cmpd="sng" algn="ctr">
              <a:solidFill>
                <a:srgbClr val="BBE0E3">
                  <a:lumMod val="75000"/>
                </a:srgbClr>
              </a:solidFill>
              <a:prstDash val="solid"/>
              <a:miter lim="800000"/>
            </a:ln>
            <a:effectLst>
              <a:innerShdw blurRad="114300">
                <a:prstClr val="black"/>
              </a:innerShdw>
              <a:softEdge rad="31750"/>
            </a:effectLst>
            <a:scene3d>
              <a:camera prst="isometricOffAxis1Right"/>
              <a:lightRig rig="threePt" dir="t"/>
            </a:scene3d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40" name="直接箭头连接符 39"/>
          <p:cNvCxnSpPr/>
          <p:nvPr>
            <p:custDataLst>
              <p:tags r:id="rId6"/>
            </p:custDataLst>
          </p:nvPr>
        </p:nvCxnSpPr>
        <p:spPr>
          <a:xfrm flipV="1">
            <a:off x="2644775" y="4697095"/>
            <a:ext cx="1080770" cy="23368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arrow"/>
          </a:ln>
          <a:effectLst/>
        </p:spPr>
      </p:cxnSp>
      <p:sp>
        <p:nvSpPr>
          <p:cNvPr id="41" name="文本框 40"/>
          <p:cNvSpPr txBox="1"/>
          <p:nvPr>
            <p:custDataLst>
              <p:tags r:id="rId7"/>
            </p:custDataLst>
          </p:nvPr>
        </p:nvSpPr>
        <p:spPr>
          <a:xfrm>
            <a:off x="3578860" y="369887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样品材料</a:t>
            </a:r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/>
          <a:srcRect t="11885"/>
          <a:stretch>
            <a:fillRect/>
          </a:stretch>
        </p:blipFill>
        <p:spPr>
          <a:xfrm>
            <a:off x="4230370" y="4482465"/>
            <a:ext cx="1717675" cy="1068705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9"/>
            </p:custDataLst>
          </p:nvPr>
        </p:nvSpPr>
        <p:spPr>
          <a:xfrm>
            <a:off x="123190" y="3546475"/>
            <a:ext cx="161798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加热板</a:t>
            </a:r>
          </a:p>
        </p:txBody>
      </p:sp>
      <p:cxnSp>
        <p:nvCxnSpPr>
          <p:cNvPr id="44" name="直接箭头连接符 43"/>
          <p:cNvCxnSpPr/>
          <p:nvPr>
            <p:custDataLst>
              <p:tags r:id="rId10"/>
            </p:custDataLst>
          </p:nvPr>
        </p:nvCxnSpPr>
        <p:spPr>
          <a:xfrm flipH="1" flipV="1">
            <a:off x="1133475" y="4050665"/>
            <a:ext cx="864235" cy="54610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arrow"/>
          </a:ln>
          <a:effectLst/>
        </p:spPr>
      </p:cxnSp>
      <p:sp>
        <p:nvSpPr>
          <p:cNvPr id="45" name="左弧形箭头 44"/>
          <p:cNvSpPr/>
          <p:nvPr>
            <p:custDataLst>
              <p:tags r:id="rId11"/>
            </p:custDataLst>
          </p:nvPr>
        </p:nvSpPr>
        <p:spPr>
          <a:xfrm rot="10800000">
            <a:off x="3509645" y="6642735"/>
            <a:ext cx="431800" cy="935990"/>
          </a:xfrm>
          <a:prstGeom prst="curvedRightArrow">
            <a:avLst/>
          </a:prstGeom>
          <a:solidFill>
            <a:srgbClr val="0070C0"/>
          </a:solidFill>
          <a:ln w="12700" cap="flat" cmpd="sng" algn="ctr">
            <a:solidFill>
              <a:srgbClr val="BBE0E3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2"/>
            </p:custDataLst>
          </p:nvPr>
        </p:nvSpPr>
        <p:spPr>
          <a:xfrm>
            <a:off x="485775" y="7290435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转台</a:t>
            </a:r>
          </a:p>
        </p:txBody>
      </p:sp>
      <p:cxnSp>
        <p:nvCxnSpPr>
          <p:cNvPr id="47" name="直接箭头连接符 46"/>
          <p:cNvCxnSpPr/>
          <p:nvPr>
            <p:custDataLst>
              <p:tags r:id="rId13"/>
            </p:custDataLst>
          </p:nvPr>
        </p:nvCxnSpPr>
        <p:spPr>
          <a:xfrm flipV="1">
            <a:off x="1205865" y="6714490"/>
            <a:ext cx="932815" cy="648335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tailEnd type="arrow"/>
          </a:ln>
          <a:effectLst/>
        </p:spPr>
      </p:cxn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l="12465" t="7595" r="4468"/>
          <a:stretch>
            <a:fillRect/>
          </a:stretch>
        </p:blipFill>
        <p:spPr>
          <a:xfrm>
            <a:off x="1135380" y="5321808"/>
            <a:ext cx="4320540" cy="35077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57530" y="1146175"/>
            <a:ext cx="8076565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2</a:t>
            </a:r>
            <a:r>
              <a:rPr lang="zh-CN" altLang="en-US" b="1" dirty="0">
                <a:sym typeface="+mn-ea"/>
              </a:rPr>
              <a:t>）热成像结合深度相机，实现三维温度场重构</a:t>
            </a:r>
          </a:p>
        </p:txBody>
      </p:sp>
      <p:sp>
        <p:nvSpPr>
          <p:cNvPr id="4" name="TextBox 5"/>
          <p:cNvSpPr txBox="1"/>
          <p:nvPr>
            <p:custDataLst>
              <p:tags r:id="rId2"/>
            </p:custDataLst>
          </p:nvPr>
        </p:nvSpPr>
        <p:spPr>
          <a:xfrm>
            <a:off x="203261" y="135065"/>
            <a:ext cx="3057227" cy="584763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</a:rPr>
              <a:t>总结与后续计划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198610" y="2896235"/>
            <a:ext cx="4063365" cy="3834765"/>
          </a:xfrm>
          <a:prstGeom prst="rect">
            <a:avLst/>
          </a:prstGeom>
        </p:spPr>
      </p:pic>
      <p:sp>
        <p:nvSpPr>
          <p:cNvPr id="8" name="右箭头 7"/>
          <p:cNvSpPr/>
          <p:nvPr>
            <p:custDataLst>
              <p:tags r:id="rId4"/>
            </p:custDataLst>
          </p:nvPr>
        </p:nvSpPr>
        <p:spPr>
          <a:xfrm>
            <a:off x="5886450" y="4972685"/>
            <a:ext cx="3051810" cy="1007745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35380" y="2176780"/>
            <a:ext cx="4651375" cy="30067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793740" y="4481195"/>
            <a:ext cx="32461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热成像结合深度相机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885045" y="7001510"/>
            <a:ext cx="269113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ym typeface="+mn-ea"/>
              </a:rPr>
              <a:t>三维温度场重构</a:t>
            </a:r>
          </a:p>
        </p:txBody>
      </p:sp>
      <p:sp>
        <p:nvSpPr>
          <p:cNvPr id="11" name="TextBox 8"/>
          <p:cNvSpPr txBox="1"/>
          <p:nvPr>
            <p:custDataLst>
              <p:tags r:id="rId6"/>
            </p:custDataLst>
          </p:nvPr>
        </p:nvSpPr>
        <p:spPr>
          <a:xfrm>
            <a:off x="413123" y="810013"/>
            <a:ext cx="2236489" cy="584763"/>
          </a:xfrm>
          <a:prstGeom prst="rect">
            <a:avLst/>
          </a:prstGeom>
          <a:noFill/>
        </p:spPr>
        <p:txBody>
          <a:bodyPr wrap="none" lIns="91430" tIns="45714" rIns="91430" bIns="45714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后续计划：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4365288" cy="8964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861310" y="895810"/>
            <a:ext cx="7180267" cy="1323427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lIns="91430" tIns="45714" rIns="91430" bIns="45714">
            <a:spAutoFit/>
          </a:bodyPr>
          <a:lstStyle/>
          <a:p>
            <a:pPr defTabSz="1203325">
              <a:defRPr/>
            </a:pPr>
            <a:r>
              <a:rPr lang="en-US" altLang="zh-CN" sz="8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8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7752" y="6314941"/>
            <a:ext cx="13503782" cy="461653"/>
          </a:xfrm>
          <a:prstGeom prst="rect">
            <a:avLst/>
          </a:prstGeom>
          <a:noFill/>
          <a:ln w="9525">
            <a:noFill/>
          </a:ln>
        </p:spPr>
        <p:txBody>
          <a:bodyPr lIns="91430" tIns="45714" rIns="91430" bIns="45714">
            <a:spAutoFit/>
          </a:bodyPr>
          <a:lstStyle/>
          <a:p>
            <a:pPr eaLnBrk="1" hangingPunct="1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武汉高德智感科技有限公司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Wuhan Guide Sensmart Tech Co.,Ltd.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7752" y="6873692"/>
            <a:ext cx="13503782" cy="461653"/>
          </a:xfrm>
          <a:prstGeom prst="rect">
            <a:avLst/>
          </a:prstGeom>
          <a:noFill/>
          <a:ln w="9525">
            <a:noFill/>
          </a:ln>
        </p:spPr>
        <p:txBody>
          <a:bodyPr lIns="91430" tIns="45714" rIns="91430" bIns="45714">
            <a:spAutoFit/>
          </a:bodyPr>
          <a:lstStyle/>
          <a:p>
            <a:pPr eaLnBrk="1" hangingPunct="1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湖北省武汉市东湖开发区光谷大道黄龙山南路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号，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430205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No.6 Huanglongshan South Rd,Wuhan,430205,P.R.China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0173EE67-C227-79AD-F60A-2DEB35916ABD}"/>
              </a:ext>
            </a:extLst>
          </p:cNvPr>
          <p:cNvSpPr/>
          <p:nvPr/>
        </p:nvSpPr>
        <p:spPr>
          <a:xfrm>
            <a:off x="3366220" y="2754114"/>
            <a:ext cx="3528392" cy="3456384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E5EEA4F-D337-FE8C-F524-D4A64830B13A}"/>
              </a:ext>
            </a:extLst>
          </p:cNvPr>
          <p:cNvSpPr/>
          <p:nvPr/>
        </p:nvSpPr>
        <p:spPr>
          <a:xfrm>
            <a:off x="5094412" y="3042146"/>
            <a:ext cx="144016" cy="144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49055119-9973-F08A-6DB9-F7CA5DB6ED18}"/>
              </a:ext>
            </a:extLst>
          </p:cNvPr>
          <p:cNvSpPr/>
          <p:nvPr/>
        </p:nvSpPr>
        <p:spPr>
          <a:xfrm>
            <a:off x="5094412" y="5922466"/>
            <a:ext cx="144016" cy="144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615374E-5656-8529-6A2C-B4845C9BEB26}"/>
              </a:ext>
            </a:extLst>
          </p:cNvPr>
          <p:cNvSpPr/>
          <p:nvPr/>
        </p:nvSpPr>
        <p:spPr>
          <a:xfrm>
            <a:off x="3582244" y="4410298"/>
            <a:ext cx="144016" cy="144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9C66CDD-DA3F-C90F-7C73-4DF9F4234FEC}"/>
              </a:ext>
            </a:extLst>
          </p:cNvPr>
          <p:cNvSpPr/>
          <p:nvPr/>
        </p:nvSpPr>
        <p:spPr>
          <a:xfrm>
            <a:off x="6606580" y="4465709"/>
            <a:ext cx="144016" cy="144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D10FA39-5C4C-03ED-BA75-A2C6322E5509}"/>
              </a:ext>
            </a:extLst>
          </p:cNvPr>
          <p:cNvSpPr/>
          <p:nvPr/>
        </p:nvSpPr>
        <p:spPr>
          <a:xfrm>
            <a:off x="5106671" y="4345937"/>
            <a:ext cx="144016" cy="1440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0101C0-17EF-1628-CF50-3F0C06C86EFD}"/>
              </a:ext>
            </a:extLst>
          </p:cNvPr>
          <p:cNvSpPr txBox="1"/>
          <p:nvPr/>
        </p:nvSpPr>
        <p:spPr>
          <a:xfrm>
            <a:off x="5547788" y="2867932"/>
            <a:ext cx="10374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测点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F9976F-13A3-ED62-C866-0D2DF6596FBF}"/>
              </a:ext>
            </a:extLst>
          </p:cNvPr>
          <p:cNvSpPr txBox="1"/>
          <p:nvPr/>
        </p:nvSpPr>
        <p:spPr>
          <a:xfrm>
            <a:off x="6778577" y="4236084"/>
            <a:ext cx="10374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测点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BB0AC2-F47B-49EE-B560-EB5D89872355}"/>
              </a:ext>
            </a:extLst>
          </p:cNvPr>
          <p:cNvSpPr txBox="1"/>
          <p:nvPr/>
        </p:nvSpPr>
        <p:spPr>
          <a:xfrm>
            <a:off x="5352408" y="4236084"/>
            <a:ext cx="10374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测点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6667EC-85FF-1D80-EBF4-9B792642B01A}"/>
              </a:ext>
            </a:extLst>
          </p:cNvPr>
          <p:cNvSpPr txBox="1"/>
          <p:nvPr/>
        </p:nvSpPr>
        <p:spPr>
          <a:xfrm>
            <a:off x="5352407" y="5820260"/>
            <a:ext cx="10374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测点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BEC768-55F5-B2CD-186C-115C6DBB250F}"/>
              </a:ext>
            </a:extLst>
          </p:cNvPr>
          <p:cNvSpPr txBox="1"/>
          <p:nvPr/>
        </p:nvSpPr>
        <p:spPr>
          <a:xfrm>
            <a:off x="3582244" y="4643741"/>
            <a:ext cx="10374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测点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810"/>
            <a:ext cx="14365288" cy="8964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63" y="7180221"/>
            <a:ext cx="2381809" cy="87678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1998068" y="1958651"/>
            <a:ext cx="9791453" cy="705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0" tIns="45714" rIns="91430" bIns="45714">
            <a:spAutoFit/>
          </a:bodyPr>
          <a:lstStyle/>
          <a:p>
            <a:pPr algn="ctr" defTabSz="1203325">
              <a:defRPr/>
            </a:pPr>
            <a:r>
              <a:rPr lang="en-US" altLang="zh-CN" sz="4000" b="1" dirty="0">
                <a:solidFill>
                  <a:schemeClr val="bg1"/>
                </a:solidFill>
                <a:latin typeface="+mj-lt"/>
                <a:ea typeface="微软雅黑 Light" panose="020B0502040204020203" pitchFamily="34" charset="-122"/>
              </a:rPr>
              <a:t>11</a:t>
            </a:r>
            <a:r>
              <a:rPr lang="zh-CN" altLang="en-US" sz="4000" b="1" dirty="0">
                <a:solidFill>
                  <a:schemeClr val="bg1"/>
                </a:solidFill>
                <a:latin typeface="+mj-lt"/>
                <a:ea typeface="微软雅黑 Light" panose="020B0502040204020203" pitchFamily="34" charset="-122"/>
              </a:rPr>
              <a:t>月工作汇报</a:t>
            </a:r>
          </a:p>
        </p:txBody>
      </p:sp>
      <p:sp>
        <p:nvSpPr>
          <p:cNvPr id="2" name="Text Box 15"/>
          <p:cNvSpPr txBox="1"/>
          <p:nvPr>
            <p:custDataLst>
              <p:tags r:id="rId1"/>
            </p:custDataLst>
          </p:nvPr>
        </p:nvSpPr>
        <p:spPr>
          <a:xfrm>
            <a:off x="5385367" y="3329672"/>
            <a:ext cx="3237438" cy="584763"/>
          </a:xfrm>
          <a:prstGeom prst="rect">
            <a:avLst/>
          </a:prstGeom>
          <a:noFill/>
          <a:ln w="9525">
            <a:noFill/>
          </a:ln>
        </p:spPr>
        <p:txBody>
          <a:bodyPr wrap="square" lIns="91430" tIns="45714" rIns="91430" bIns="45714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汇报人：王文松</a:t>
            </a:r>
            <a:endParaRPr lang="en-US" altLang="zh-CN" sz="32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Text Box 15"/>
          <p:cNvSpPr txBox="1"/>
          <p:nvPr>
            <p:custDataLst>
              <p:tags r:id="rId2"/>
            </p:custDataLst>
          </p:nvPr>
        </p:nvSpPr>
        <p:spPr>
          <a:xfrm>
            <a:off x="5616382" y="4335310"/>
            <a:ext cx="2554823" cy="705485"/>
          </a:xfrm>
          <a:prstGeom prst="rect">
            <a:avLst/>
          </a:prstGeom>
          <a:noFill/>
          <a:ln w="9525">
            <a:noFill/>
          </a:ln>
        </p:spPr>
        <p:txBody>
          <a:bodyPr wrap="square" lIns="91430" tIns="45714" rIns="91430" bIns="45714">
            <a:spAutoFit/>
          </a:bodyPr>
          <a:lstStyle/>
          <a:p>
            <a:pPr eaLnBrk="1" hangingPunct="1"/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2023.11.09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19"/>
                            </p:stCondLst>
                            <p:childTnLst>
                              <p:par>
                                <p:cTn id="21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3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4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文本框 20"/>
          <p:cNvSpPr txBox="1"/>
          <p:nvPr>
            <p:custDataLst>
              <p:tags r:id="rId1"/>
            </p:custDataLst>
          </p:nvPr>
        </p:nvSpPr>
        <p:spPr>
          <a:xfrm>
            <a:off x="701675" y="1170305"/>
            <a:ext cx="4422140" cy="1133475"/>
          </a:xfrm>
          <a:prstGeom prst="rect">
            <a:avLst/>
          </a:prstGeom>
          <a:noFill/>
          <a:ln w="9525">
            <a:noFill/>
          </a:ln>
        </p:spPr>
        <p:txBody>
          <a:bodyPr wrap="square" lIns="94795" tIns="47397" rIns="94795" bIns="47397">
            <a:noAutofit/>
          </a:bodyPr>
          <a:lstStyle/>
          <a:p>
            <a:pPr defTabSz="124587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5400" b="1" dirty="0">
                <a:solidFill>
                  <a:srgbClr val="C90915"/>
                </a:solidFill>
                <a:latin typeface="Impact" panose="020B0806030902050204" pitchFamily="34" charset="0"/>
                <a:ea typeface="张海山锐谐体"/>
              </a:rPr>
              <a:t>汇报提纲</a:t>
            </a:r>
          </a:p>
        </p:txBody>
      </p:sp>
      <p:pic>
        <p:nvPicPr>
          <p:cNvPr id="16388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FD548A7-B637-F773-DBD6-38A06ED186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2084" y="2988425"/>
            <a:ext cx="10944742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47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038975" y="1241425"/>
            <a:ext cx="5334000" cy="4000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21765" y="1241425"/>
            <a:ext cx="5334000" cy="40005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141855" y="6295072"/>
            <a:ext cx="270954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大津法：</a:t>
            </a:r>
            <a:r>
              <a:rPr lang="en-US" altLang="zh-CN" dirty="0"/>
              <a:t>13844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41855" y="7073900"/>
            <a:ext cx="285369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手动阈值：</a:t>
            </a:r>
            <a:r>
              <a:rPr lang="en-US" altLang="zh-CN"/>
              <a:t>8214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 l="9770" t="28526" r="7141" b="33445"/>
          <a:stretch>
            <a:fillRect/>
          </a:stretch>
        </p:blipFill>
        <p:spPr>
          <a:xfrm>
            <a:off x="7830185" y="5922645"/>
            <a:ext cx="3672205" cy="17278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99AE984-339E-2FAB-94B9-7A2D6E9D11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672456" y="2562751"/>
            <a:ext cx="5020376" cy="38391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B97754C-DC2E-1CBE-7D43-6FEE90C94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32" y="2250058"/>
            <a:ext cx="5334000" cy="40005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49F6470-6530-A071-3D26-8D6DCE510B02}"/>
              </a:ext>
            </a:extLst>
          </p:cNvPr>
          <p:cNvSpPr txBox="1"/>
          <p:nvPr/>
        </p:nvSpPr>
        <p:spPr>
          <a:xfrm>
            <a:off x="9054852" y="6752042"/>
            <a:ext cx="21852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按像素点排列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BBDC24-032B-CF0D-0864-2975592AD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644" y="2212571"/>
            <a:ext cx="5334000" cy="4000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EC888CF-71D9-7930-6DAA-30EC0CD33627}"/>
              </a:ext>
            </a:extLst>
          </p:cNvPr>
          <p:cNvSpPr txBox="1"/>
          <p:nvPr/>
        </p:nvSpPr>
        <p:spPr>
          <a:xfrm>
            <a:off x="2502124" y="6752042"/>
            <a:ext cx="18517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按温度排列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B8539D6-F6B1-D181-0412-D95E96BD9978}"/>
              </a:ext>
            </a:extLst>
          </p:cNvPr>
          <p:cNvSpPr txBox="1"/>
          <p:nvPr/>
        </p:nvSpPr>
        <p:spPr>
          <a:xfrm>
            <a:off x="972404" y="1426945"/>
            <a:ext cx="31325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2.SSE</a:t>
            </a:r>
            <a:r>
              <a:rPr lang="zh-CN" altLang="en-US" dirty="0"/>
              <a:t>修正应用场景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390146-FE94-48E9-0A4E-ACF0047FD41E}"/>
              </a:ext>
            </a:extLst>
          </p:cNvPr>
          <p:cNvSpPr txBox="1"/>
          <p:nvPr/>
        </p:nvSpPr>
        <p:spPr>
          <a:xfrm>
            <a:off x="972404" y="2970138"/>
            <a:ext cx="246413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计量检定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E0A274-FF66-D769-70D4-07F0B1BFD34A}"/>
              </a:ext>
            </a:extLst>
          </p:cNvPr>
          <p:cNvSpPr txBox="1"/>
          <p:nvPr/>
        </p:nvSpPr>
        <p:spPr>
          <a:xfrm>
            <a:off x="972404" y="4236084"/>
            <a:ext cx="603883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）厂内黑体与客户黑体靶面大小不同</a:t>
            </a:r>
          </a:p>
        </p:txBody>
      </p:sp>
    </p:spTree>
    <p:extLst>
      <p:ext uri="{BB962C8B-B14F-4D97-AF65-F5344CB8AC3E}">
        <p14:creationId xmlns:p14="http://schemas.microsoft.com/office/powerpoint/2010/main" val="1789010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9C234A7-7803-11C7-F358-BB90CA7F8D71}"/>
              </a:ext>
            </a:extLst>
          </p:cNvPr>
          <p:cNvGrpSpPr/>
          <p:nvPr/>
        </p:nvGrpSpPr>
        <p:grpSpPr>
          <a:xfrm>
            <a:off x="947555" y="1008135"/>
            <a:ext cx="4938945" cy="3424107"/>
            <a:chOff x="557908" y="1169938"/>
            <a:chExt cx="5314950" cy="364807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419255AA-0C09-5FDE-4D74-F223D70C5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908" y="1169938"/>
              <a:ext cx="5314950" cy="3648075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43A5517-672A-5F43-B5F0-381DBF39EEB9}"/>
                </a:ext>
              </a:extLst>
            </p:cNvPr>
            <p:cNvSpPr/>
            <p:nvPr/>
          </p:nvSpPr>
          <p:spPr>
            <a:xfrm>
              <a:off x="1782044" y="1457970"/>
              <a:ext cx="2664296" cy="2664296"/>
            </a:xfrm>
            <a:prstGeom prst="ellipse">
              <a:avLst/>
            </a:prstGeom>
            <a:noFill/>
            <a:ln w="7620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83025C7-A7B0-C895-BEE6-1D9ABEC0A200}"/>
              </a:ext>
            </a:extLst>
          </p:cNvPr>
          <p:cNvSpPr txBox="1"/>
          <p:nvPr/>
        </p:nvSpPr>
        <p:spPr>
          <a:xfrm>
            <a:off x="6287354" y="2720188"/>
            <a:ext cx="259558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圆形区域：</a:t>
            </a:r>
            <a:r>
              <a:rPr lang="en-US" altLang="zh-CN" dirty="0"/>
              <a:t>4083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D8A0084-1EFF-67A3-FBA5-E8D2A5EB8F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65" t="8557" r="14854" b="12290"/>
          <a:stretch/>
        </p:blipFill>
        <p:spPr>
          <a:xfrm>
            <a:off x="1679963" y="5077940"/>
            <a:ext cx="3286063" cy="31371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30EE6D0-0013-9635-9D2F-BE3B4DCE3F7A}"/>
              </a:ext>
            </a:extLst>
          </p:cNvPr>
          <p:cNvSpPr txBox="1"/>
          <p:nvPr/>
        </p:nvSpPr>
        <p:spPr>
          <a:xfrm>
            <a:off x="6174532" y="6154074"/>
            <a:ext cx="35221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OTSU</a:t>
            </a:r>
            <a:r>
              <a:rPr lang="zh-CN" altLang="en-US" dirty="0"/>
              <a:t>阈值分割：</a:t>
            </a:r>
            <a:r>
              <a:rPr lang="en-US" altLang="zh-CN" dirty="0"/>
              <a:t>4106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A6789A-DF30-D8BA-CFC3-DC3B8EAD28D5}"/>
              </a:ext>
            </a:extLst>
          </p:cNvPr>
          <p:cNvSpPr txBox="1"/>
          <p:nvPr/>
        </p:nvSpPr>
        <p:spPr>
          <a:xfrm>
            <a:off x="6287354" y="8298730"/>
            <a:ext cx="42139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手动设置阈值：2036</a:t>
            </a:r>
          </a:p>
        </p:txBody>
      </p:sp>
    </p:spTree>
    <p:extLst>
      <p:ext uri="{BB962C8B-B14F-4D97-AF65-F5344CB8AC3E}">
        <p14:creationId xmlns:p14="http://schemas.microsoft.com/office/powerpoint/2010/main" val="2451294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8AC5FAB-3DC0-91B1-FDEA-D9EF5B9EE5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20" t="5698" r="7265" b="3134"/>
          <a:stretch/>
        </p:blipFill>
        <p:spPr>
          <a:xfrm>
            <a:off x="341884" y="1885836"/>
            <a:ext cx="6426264" cy="51929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29E146-3078-0D43-FB6C-337A864D5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220" y="1599895"/>
            <a:ext cx="7686429" cy="576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74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D5FC7EA-CF16-F6A7-590F-9D01EA796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42" y="1781758"/>
            <a:ext cx="7201460" cy="540109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29F4402-7B3B-46B3-EE7F-C3BDAB2364E6}"/>
              </a:ext>
            </a:extLst>
          </p:cNvPr>
          <p:cNvSpPr/>
          <p:nvPr/>
        </p:nvSpPr>
        <p:spPr>
          <a:xfrm>
            <a:off x="1133972" y="2322066"/>
            <a:ext cx="1584176" cy="41764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2D8898C-9017-71D5-B9EC-11B406D42110}"/>
              </a:ext>
            </a:extLst>
          </p:cNvPr>
          <p:cNvCxnSpPr/>
          <p:nvPr/>
        </p:nvCxnSpPr>
        <p:spPr>
          <a:xfrm>
            <a:off x="2754482" y="4122266"/>
            <a:ext cx="4680520" cy="79208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BC92ABB7-586D-B7BC-07F2-684F355C4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287" y="1785414"/>
            <a:ext cx="7201459" cy="5401094"/>
          </a:xfrm>
          <a:prstGeom prst="rect">
            <a:avLst/>
          </a:prstGeom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C167894-190A-3741-19A6-7431461C7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855359"/>
              </p:ext>
            </p:extLst>
          </p:nvPr>
        </p:nvGraphicFramePr>
        <p:xfrm>
          <a:off x="2358108" y="7254862"/>
          <a:ext cx="390366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92160" imgH="419040" progId="Equation.DSMT4">
                  <p:embed/>
                </p:oleObj>
              </mc:Choice>
              <mc:Fallback>
                <p:oleObj name="Equation" r:id="rId7" imgW="18921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8108" y="7254862"/>
                        <a:ext cx="3903662" cy="865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0082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E56DDE9-630D-42FF-336A-F9BDDF803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600" y="1746002"/>
            <a:ext cx="19050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91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CC08E56-F24E-3B49-04C2-289C6C124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949" y="5761877"/>
            <a:ext cx="4267200" cy="19431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68BC875-6B61-9015-2506-3F595917F5A4}"/>
              </a:ext>
            </a:extLst>
          </p:cNvPr>
          <p:cNvSpPr txBox="1"/>
          <p:nvPr/>
        </p:nvSpPr>
        <p:spPr>
          <a:xfrm>
            <a:off x="10134972" y="8082706"/>
            <a:ext cx="129715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150mm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381760-E945-5B26-304C-C00B8DA2ABF5}"/>
              </a:ext>
            </a:extLst>
          </p:cNvPr>
          <p:cNvSpPr txBox="1"/>
          <p:nvPr/>
        </p:nvSpPr>
        <p:spPr>
          <a:xfrm>
            <a:off x="4734372" y="7950348"/>
            <a:ext cx="129715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120mm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479864-8938-C4E3-9572-3A0C438DDA26}"/>
              </a:ext>
            </a:extLst>
          </p:cNvPr>
          <p:cNvSpPr txBox="1"/>
          <p:nvPr/>
        </p:nvSpPr>
        <p:spPr>
          <a:xfrm>
            <a:off x="10783547" y="4236084"/>
            <a:ext cx="11112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80mm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4BAD73-E796-C825-9320-66E7A4AEB705}"/>
              </a:ext>
            </a:extLst>
          </p:cNvPr>
          <p:cNvSpPr txBox="1"/>
          <p:nvPr/>
        </p:nvSpPr>
        <p:spPr>
          <a:xfrm>
            <a:off x="907823" y="8089974"/>
            <a:ext cx="129715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100mm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E14A25B-E6C7-D099-BEC3-5455A6B44BF9}"/>
              </a:ext>
            </a:extLst>
          </p:cNvPr>
          <p:cNvSpPr txBox="1"/>
          <p:nvPr/>
        </p:nvSpPr>
        <p:spPr>
          <a:xfrm>
            <a:off x="5475921" y="4236083"/>
            <a:ext cx="11112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60mm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D2D540-4DE1-379B-E79E-2773F72E94CD}"/>
              </a:ext>
            </a:extLst>
          </p:cNvPr>
          <p:cNvSpPr txBox="1"/>
          <p:nvPr/>
        </p:nvSpPr>
        <p:spPr>
          <a:xfrm>
            <a:off x="1359337" y="4431037"/>
            <a:ext cx="111120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50mm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1772B5-9FDB-0994-6D08-E072FF412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5642" y="5566615"/>
            <a:ext cx="4362450" cy="23336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AE9AA0E-A411-AB37-4BB8-ED1F7C49B5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026" y="5566615"/>
            <a:ext cx="4391025" cy="2286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1752EE-2093-0C17-B253-283673F96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4949" y="1765395"/>
            <a:ext cx="4419600" cy="22288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1DFC91D-BEEC-E28E-88E8-0C205718FC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397" y="1825199"/>
            <a:ext cx="4352925" cy="20955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B5BBE8A-A2E2-9E58-A6FD-3228590F1A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225" y="1803495"/>
            <a:ext cx="43243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24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155B665E-DA04-9644-6602-5986EAE65685}"/>
              </a:ext>
            </a:extLst>
          </p:cNvPr>
          <p:cNvGrpSpPr/>
          <p:nvPr/>
        </p:nvGrpSpPr>
        <p:grpSpPr>
          <a:xfrm>
            <a:off x="683328" y="2252440"/>
            <a:ext cx="5856651" cy="4392488"/>
            <a:chOff x="683328" y="2252440"/>
            <a:chExt cx="5856651" cy="4392488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2A0AACF4-ED5B-5C61-6A0E-FCC30E0A2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328" y="2252440"/>
              <a:ext cx="5856651" cy="4392488"/>
            </a:xfrm>
            <a:prstGeom prst="rect">
              <a:avLst/>
            </a:prstGeom>
          </p:spPr>
        </p:pic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FE90284-4DFF-1CBB-F337-C1923FCA6029}"/>
                </a:ext>
              </a:extLst>
            </p:cNvPr>
            <p:cNvCxnSpPr>
              <a:cxnSpLocks/>
            </p:cNvCxnSpPr>
            <p:nvPr/>
          </p:nvCxnSpPr>
          <p:spPr>
            <a:xfrm>
              <a:off x="1349996" y="4338290"/>
              <a:ext cx="4104456" cy="0"/>
            </a:xfrm>
            <a:prstGeom prst="line">
              <a:avLst/>
            </a:prstGeom>
            <a:ln w="5715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DA1A988D-781F-9D27-CD12-4879B650B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8668" y="2482056"/>
            <a:ext cx="547260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04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5B7FCA-730B-D4EA-B7A4-F6155CD8F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644" y="1362095"/>
            <a:ext cx="2540229" cy="37750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B60616-791E-530A-9972-1BC93BA09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735" y="1362840"/>
            <a:ext cx="2447127" cy="39115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468FBF-D6CB-ED53-BB5D-ECBBC2E3C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0214" y="4925725"/>
            <a:ext cx="2852063" cy="4000500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469447A2-ED1F-FE13-3270-165076002180}"/>
              </a:ext>
            </a:extLst>
          </p:cNvPr>
          <p:cNvSpPr/>
          <p:nvPr/>
        </p:nvSpPr>
        <p:spPr>
          <a:xfrm>
            <a:off x="5112833" y="2958540"/>
            <a:ext cx="2607861" cy="576064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86E5D0-61BE-B7EE-E337-9651992EA984}"/>
              </a:ext>
            </a:extLst>
          </p:cNvPr>
          <p:cNvSpPr txBox="1"/>
          <p:nvPr/>
        </p:nvSpPr>
        <p:spPr>
          <a:xfrm>
            <a:off x="5181889" y="2322066"/>
            <a:ext cx="28520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方向发射率修正后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20B884F-DD0D-D451-9CC1-A29F3913B05C}"/>
              </a:ext>
            </a:extLst>
          </p:cNvPr>
          <p:cNvSpPr txBox="1"/>
          <p:nvPr/>
        </p:nvSpPr>
        <p:spPr>
          <a:xfrm>
            <a:off x="610684" y="748132"/>
            <a:ext cx="251863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塑料杯温度修正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2488E61-F4BC-8DED-6230-1DB9ECE4A3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2313" y="4859050"/>
            <a:ext cx="51244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16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70F3C6F-F194-618A-5E01-B7DD3E6D13B6}"/>
              </a:ext>
            </a:extLst>
          </p:cNvPr>
          <p:cNvSpPr txBox="1"/>
          <p:nvPr/>
        </p:nvSpPr>
        <p:spPr>
          <a:xfrm>
            <a:off x="1349996" y="1529978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不同角度</a:t>
            </a:r>
          </a:p>
        </p:txBody>
      </p:sp>
    </p:spTree>
    <p:extLst>
      <p:ext uri="{BB962C8B-B14F-4D97-AF65-F5344CB8AC3E}">
        <p14:creationId xmlns:p14="http://schemas.microsoft.com/office/powerpoint/2010/main" val="1884186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103135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363887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7208" y="89506"/>
            <a:ext cx="1550392" cy="56578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156192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4365288" cy="8964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861310" y="895810"/>
            <a:ext cx="7180267" cy="1323427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 lIns="91430" tIns="45714" rIns="91430" bIns="45714">
            <a:spAutoFit/>
          </a:bodyPr>
          <a:lstStyle/>
          <a:p>
            <a:pPr defTabSz="1203325">
              <a:defRPr/>
            </a:pPr>
            <a:r>
              <a:rPr lang="en-US" altLang="zh-CN" sz="8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8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7752" y="6314941"/>
            <a:ext cx="13503782" cy="461653"/>
          </a:xfrm>
          <a:prstGeom prst="rect">
            <a:avLst/>
          </a:prstGeom>
          <a:noFill/>
          <a:ln w="9525">
            <a:noFill/>
          </a:ln>
        </p:spPr>
        <p:txBody>
          <a:bodyPr lIns="91430" tIns="45714" rIns="91430" bIns="45714">
            <a:spAutoFit/>
          </a:bodyPr>
          <a:lstStyle/>
          <a:p>
            <a:pPr eaLnBrk="1" hangingPunct="1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武汉高德智感科技有限公司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Wuhan Guide Sensmart Tech Co.,Ltd.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7752" y="6873692"/>
            <a:ext cx="13503782" cy="461653"/>
          </a:xfrm>
          <a:prstGeom prst="rect">
            <a:avLst/>
          </a:prstGeom>
          <a:noFill/>
          <a:ln w="9525">
            <a:noFill/>
          </a:ln>
        </p:spPr>
        <p:txBody>
          <a:bodyPr lIns="91430" tIns="45714" rIns="91430" bIns="45714">
            <a:spAutoFit/>
          </a:bodyPr>
          <a:lstStyle/>
          <a:p>
            <a:pPr eaLnBrk="1" hangingPunct="1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湖北省武汉市东湖开发区光谷大道黄龙山南路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号，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430205</a:t>
            </a:r>
          </a:p>
          <a:p>
            <a:pPr eaLnBrk="1" hangingPunct="1"/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No.6 Huanglongshan South Rd,Wuhan,430205,P.R.China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E1YmYzYWE0MDE2MTVhZDJkYWNmMjRlOWFkNGQ4Y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高德红外">
      <a:dk1>
        <a:sysClr val="windowText" lastClr="000000"/>
      </a:dk1>
      <a:lt1>
        <a:srgbClr val="FFFFFF"/>
      </a:lt1>
      <a:dk2>
        <a:srgbClr val="004687"/>
      </a:dk2>
      <a:lt2>
        <a:srgbClr val="BEA064"/>
      </a:lt2>
      <a:accent1>
        <a:srgbClr val="CA0915"/>
      </a:accent1>
      <a:accent2>
        <a:srgbClr val="0096C8"/>
      </a:accent2>
      <a:accent3>
        <a:srgbClr val="FAB914"/>
      </a:accent3>
      <a:accent4>
        <a:srgbClr val="A0C814"/>
      </a:accent4>
      <a:accent5>
        <a:srgbClr val="8D5AAA"/>
      </a:accent5>
      <a:accent6>
        <a:srgbClr val="F0501E"/>
      </a:accent6>
      <a:hlink>
        <a:srgbClr val="0000FF"/>
      </a:hlink>
      <a:folHlink>
        <a:srgbClr val="800080"/>
      </a:folHlink>
    </a:clrScheme>
    <a:fontScheme name="高德红外">
      <a:majorFont>
        <a:latin typeface="Cambria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4000" smtClean="0">
            <a:solidFill>
              <a:srgbClr val="404040"/>
            </a:solidFill>
            <a:latin typeface="冬青黑体简体中文 W3" panose="020B0300000000000000" pitchFamily="34" charset="-122"/>
            <a:ea typeface="冬青黑体简体中文 W3" panose="020B03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7649</TotalTime>
  <Words>937</Words>
  <Application>Microsoft Office PowerPoint</Application>
  <PresentationFormat>自定义</PresentationFormat>
  <Paragraphs>122</Paragraphs>
  <Slides>35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等线</vt:lpstr>
      <vt:lpstr>宋体</vt:lpstr>
      <vt:lpstr>微软雅黑</vt:lpstr>
      <vt:lpstr>微软雅黑 Light</vt:lpstr>
      <vt:lpstr>Arial</vt:lpstr>
      <vt:lpstr>Calibri</vt:lpstr>
      <vt:lpstr>Cambria</vt:lpstr>
      <vt:lpstr>Impact</vt:lpstr>
      <vt:lpstr>Times New Roman</vt:lpstr>
      <vt:lpstr>1_Office 主题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王文松-互联网</dc:creator>
  <cp:lastModifiedBy>文松 王</cp:lastModifiedBy>
  <cp:revision>653</cp:revision>
  <dcterms:created xsi:type="dcterms:W3CDTF">2023-11-06T01:54:00Z</dcterms:created>
  <dcterms:modified xsi:type="dcterms:W3CDTF">2024-03-21T05:56:29Z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2F7233AADA804BC9BE10B1E6C0B4B551_13</vt:lpwstr>
  </property>
  <property fmtid="{D5CDD505-2E9C-101B-9397-08002B2CF9AE}" pid="3" name="KSOProductBuildVer">
    <vt:lpwstr>2052-12.1.0.15990</vt:lpwstr>
  </property>
</Properties>
</file>