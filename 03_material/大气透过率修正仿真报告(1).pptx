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7" r:id="rId3"/>
    <p:sldId id="262" r:id="rId4"/>
    <p:sldId id="267" r:id="rId5"/>
    <p:sldId id="269" r:id="rId6"/>
    <p:sldId id="275" r:id="rId7"/>
    <p:sldId id="276" r:id="rId8"/>
    <p:sldId id="277" r:id="rId9"/>
    <p:sldId id="272" r:id="rId10"/>
  </p:sldIdLst>
  <p:sldSz cx="9144000" cy="6858000" type="screen4x3"/>
  <p:notesSz cx="6858000" cy="9144000"/>
  <p:defaultTextStyle>
    <a:defPPr>
      <a:defRPr lang="zh-CN"/>
    </a:defPPr>
    <a:lvl1pPr marL="0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8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9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1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07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83" autoAdjust="0"/>
  </p:normalViewPr>
  <p:slideViewPr>
    <p:cSldViewPr>
      <p:cViewPr>
        <p:scale>
          <a:sx n="100" d="100"/>
          <a:sy n="100" d="100"/>
        </p:scale>
        <p:origin x="-194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30B88-B45C-4FA9-BDE5-D45BF24073D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CDF0B-7795-414C-87E4-152708ABE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59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8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9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07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1" indent="0">
              <a:buNone/>
              <a:defRPr sz="1800" b="1"/>
            </a:lvl3pPr>
            <a:lvl4pPr marL="1371528" indent="0">
              <a:buNone/>
              <a:defRPr sz="1600" b="1"/>
            </a:lvl4pPr>
            <a:lvl5pPr marL="1828704" indent="0">
              <a:buNone/>
              <a:defRPr sz="1600" b="1"/>
            </a:lvl5pPr>
            <a:lvl6pPr marL="2285879" indent="0">
              <a:buNone/>
              <a:defRPr sz="1600" b="1"/>
            </a:lvl6pPr>
            <a:lvl7pPr marL="2743055" indent="0">
              <a:buNone/>
              <a:defRPr sz="1600" b="1"/>
            </a:lvl7pPr>
            <a:lvl8pPr marL="3200231" indent="0">
              <a:buNone/>
              <a:defRPr sz="1600" b="1"/>
            </a:lvl8pPr>
            <a:lvl9pPr marL="3657407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1" indent="0">
              <a:buNone/>
              <a:defRPr sz="1800" b="1"/>
            </a:lvl3pPr>
            <a:lvl4pPr marL="1371528" indent="0">
              <a:buNone/>
              <a:defRPr sz="1600" b="1"/>
            </a:lvl4pPr>
            <a:lvl5pPr marL="1828704" indent="0">
              <a:buNone/>
              <a:defRPr sz="1600" b="1"/>
            </a:lvl5pPr>
            <a:lvl6pPr marL="2285879" indent="0">
              <a:buNone/>
              <a:defRPr sz="1600" b="1"/>
            </a:lvl6pPr>
            <a:lvl7pPr marL="2743055" indent="0">
              <a:buNone/>
              <a:defRPr sz="1600" b="1"/>
            </a:lvl7pPr>
            <a:lvl8pPr marL="3200231" indent="0">
              <a:buNone/>
              <a:defRPr sz="1600" b="1"/>
            </a:lvl8pPr>
            <a:lvl9pPr marL="3657407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6" indent="0">
              <a:buNone/>
              <a:defRPr sz="1200"/>
            </a:lvl2pPr>
            <a:lvl3pPr marL="914351" indent="0">
              <a:buNone/>
              <a:defRPr sz="1000"/>
            </a:lvl3pPr>
            <a:lvl4pPr marL="1371528" indent="0">
              <a:buNone/>
              <a:defRPr sz="900"/>
            </a:lvl4pPr>
            <a:lvl5pPr marL="1828704" indent="0">
              <a:buNone/>
              <a:defRPr sz="900"/>
            </a:lvl5pPr>
            <a:lvl6pPr marL="2285879" indent="0">
              <a:buNone/>
              <a:defRPr sz="900"/>
            </a:lvl6pPr>
            <a:lvl7pPr marL="2743055" indent="0">
              <a:buNone/>
              <a:defRPr sz="900"/>
            </a:lvl7pPr>
            <a:lvl8pPr marL="3200231" indent="0">
              <a:buNone/>
              <a:defRPr sz="900"/>
            </a:lvl8pPr>
            <a:lvl9pPr marL="3657407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6" indent="0">
              <a:buNone/>
              <a:defRPr sz="2800"/>
            </a:lvl2pPr>
            <a:lvl3pPr marL="914351" indent="0">
              <a:buNone/>
              <a:defRPr sz="2400"/>
            </a:lvl3pPr>
            <a:lvl4pPr marL="1371528" indent="0">
              <a:buNone/>
              <a:defRPr sz="2000"/>
            </a:lvl4pPr>
            <a:lvl5pPr marL="1828704" indent="0">
              <a:buNone/>
              <a:defRPr sz="2000"/>
            </a:lvl5pPr>
            <a:lvl6pPr marL="2285879" indent="0">
              <a:buNone/>
              <a:defRPr sz="2000"/>
            </a:lvl6pPr>
            <a:lvl7pPr marL="2743055" indent="0">
              <a:buNone/>
              <a:defRPr sz="2000"/>
            </a:lvl7pPr>
            <a:lvl8pPr marL="3200231" indent="0">
              <a:buNone/>
              <a:defRPr sz="2000"/>
            </a:lvl8pPr>
            <a:lvl9pPr marL="3657407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6" indent="0">
              <a:buNone/>
              <a:defRPr sz="1200"/>
            </a:lvl2pPr>
            <a:lvl3pPr marL="914351" indent="0">
              <a:buNone/>
              <a:defRPr sz="1000"/>
            </a:lvl3pPr>
            <a:lvl4pPr marL="1371528" indent="0">
              <a:buNone/>
              <a:defRPr sz="900"/>
            </a:lvl4pPr>
            <a:lvl5pPr marL="1828704" indent="0">
              <a:buNone/>
              <a:defRPr sz="900"/>
            </a:lvl5pPr>
            <a:lvl6pPr marL="2285879" indent="0">
              <a:buNone/>
              <a:defRPr sz="900"/>
            </a:lvl6pPr>
            <a:lvl7pPr marL="2743055" indent="0">
              <a:buNone/>
              <a:defRPr sz="900"/>
            </a:lvl7pPr>
            <a:lvl8pPr marL="3200231" indent="0">
              <a:buNone/>
              <a:defRPr sz="900"/>
            </a:lvl8pPr>
            <a:lvl9pPr marL="3657407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defTabSz="855805">
              <a:defRPr/>
            </a:pPr>
            <a:endParaRPr lang="zh-CN" altLang="en-US" sz="1700">
              <a:solidFill>
                <a:srgbClr val="F5F5F5"/>
              </a:solidFill>
            </a:endParaRPr>
          </a:p>
        </p:txBody>
      </p:sp>
      <p:pic>
        <p:nvPicPr>
          <p:cNvPr id="2053" name="图片 6" descr="未标题-1.png"/>
          <p:cNvPicPr>
            <a:picLocks noChangeAspect="1"/>
          </p:cNvPicPr>
          <p:nvPr userDrawn="1"/>
        </p:nvPicPr>
        <p:blipFill>
          <a:blip r:embed="rId2"/>
          <a:srcRect r="1054" b="2344"/>
          <a:stretch>
            <a:fillRect/>
          </a:stretch>
        </p:blipFill>
        <p:spPr>
          <a:xfrm>
            <a:off x="2926362" y="2567381"/>
            <a:ext cx="6217638" cy="42906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48628" y="1295012"/>
            <a:ext cx="4343443" cy="1470025"/>
          </a:xfrm>
          <a:prstGeom prst="rect">
            <a:avLst/>
          </a:prstGeom>
        </p:spPr>
        <p:txBody>
          <a:bodyPr lIns="65032" tIns="32516" rIns="65032" bIns="32516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48628" y="3050786"/>
            <a:ext cx="4262754" cy="1752600"/>
          </a:xfrm>
          <a:prstGeom prst="rect">
            <a:avLst/>
          </a:prstGeom>
        </p:spPr>
        <p:txBody>
          <a:bodyPr lIns="65032" tIns="32516" rIns="65032" bIns="32516"/>
          <a:lstStyle>
            <a:lvl1pPr marL="0" indent="0" algn="l">
              <a:buNone/>
              <a:defRPr sz="2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7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5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3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1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9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7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5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23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75F5A221-509F-446F-897B-C1F7F2C559B4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254A8B37-6905-40B6-A6EF-4A70ADE43B78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288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5" descr="高德智感logo中英文常规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8977" y="6310920"/>
            <a:ext cx="777205" cy="3830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630" y="1"/>
            <a:ext cx="7773149" cy="563358"/>
          </a:xfrm>
          <a:prstGeom prst="rect">
            <a:avLst/>
          </a:prstGeom>
        </p:spPr>
        <p:txBody>
          <a:bodyPr lIns="65032" tIns="32516" rIns="65032" bIns="32516" anchor="ctr"/>
          <a:lstStyle>
            <a:lvl1pPr algn="l">
              <a:defRPr sz="200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7370" y="807242"/>
            <a:ext cx="8139430" cy="5318921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buNone/>
              <a:defRPr sz="31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9F9E0172-2FC9-467B-AAC9-3EF841F3BB93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8BAEE03A-9450-4832-B576-0897E99CA8E5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748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defTabSz="855805">
              <a:defRPr/>
            </a:pPr>
            <a:endParaRPr lang="zh-CN" altLang="en-US" sz="170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  <a:prstGeom prst="rect">
            <a:avLst/>
          </a:prstGeom>
        </p:spPr>
        <p:txBody>
          <a:bodyPr lIns="65032" tIns="32516" rIns="65032" bIns="32516" anchor="t"/>
          <a:lstStyle>
            <a:lvl1pPr algn="l">
              <a:defRPr sz="37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5"/>
            <a:ext cx="7772400" cy="1500187"/>
          </a:xfrm>
          <a:prstGeom prst="rect">
            <a:avLst/>
          </a:prstGeom>
        </p:spPr>
        <p:txBody>
          <a:bodyPr lIns="65032" tIns="32516" rIns="65032" bIns="32516"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2767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5580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348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1160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3928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6741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9509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2321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2AF4B1DA-D3C3-4BED-9C9E-2D28B7032460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1D30AB33-C4A8-4007-8B39-F6E7C7C3EFD7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358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65032" tIns="32516" rIns="65032" bIns="325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F89338C4-ED46-4A48-9915-83B30207B62A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1BDC65E2-5B8D-4D66-8114-DB1248365299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14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4"/>
            <a:ext cx="4040188" cy="639762"/>
          </a:xfrm>
          <a:prstGeom prst="rect">
            <a:avLst/>
          </a:prstGeom>
        </p:spPr>
        <p:txBody>
          <a:bodyPr lIns="65032" tIns="32516" rIns="65032" bIns="32516" anchor="b"/>
          <a:lstStyle>
            <a:lvl1pPr marL="0" indent="0">
              <a:buNone/>
              <a:defRPr sz="2300" b="1"/>
            </a:lvl1pPr>
            <a:lvl2pPr marL="427677" indent="0">
              <a:buNone/>
              <a:defRPr sz="1900" b="1"/>
            </a:lvl2pPr>
            <a:lvl3pPr marL="855805" indent="0">
              <a:buNone/>
              <a:defRPr sz="1700" b="1"/>
            </a:lvl3pPr>
            <a:lvl4pPr marL="1283481" indent="0">
              <a:buNone/>
              <a:defRPr sz="1500" b="1"/>
            </a:lvl4pPr>
            <a:lvl5pPr marL="1711609" indent="0">
              <a:buNone/>
              <a:defRPr sz="1500" b="1"/>
            </a:lvl5pPr>
            <a:lvl6pPr marL="2139286" indent="0">
              <a:buNone/>
              <a:defRPr sz="1500" b="1"/>
            </a:lvl6pPr>
            <a:lvl7pPr marL="2567414" indent="0">
              <a:buNone/>
              <a:defRPr sz="1500" b="1"/>
            </a:lvl7pPr>
            <a:lvl8pPr marL="2995091" indent="0">
              <a:buNone/>
              <a:defRPr sz="1500" b="1"/>
            </a:lvl8pPr>
            <a:lvl9pPr marL="3423219" indent="0">
              <a:buNone/>
              <a:defRPr sz="15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6"/>
            <a:ext cx="4040188" cy="3951288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  <a:prstGeom prst="rect">
            <a:avLst/>
          </a:prstGeom>
        </p:spPr>
        <p:txBody>
          <a:bodyPr lIns="65032" tIns="32516" rIns="65032" bIns="32516" anchor="b"/>
          <a:lstStyle>
            <a:lvl1pPr marL="0" indent="0">
              <a:buNone/>
              <a:defRPr sz="2300" b="1"/>
            </a:lvl1pPr>
            <a:lvl2pPr marL="427677" indent="0">
              <a:buNone/>
              <a:defRPr sz="1900" b="1"/>
            </a:lvl2pPr>
            <a:lvl3pPr marL="855805" indent="0">
              <a:buNone/>
              <a:defRPr sz="1700" b="1"/>
            </a:lvl3pPr>
            <a:lvl4pPr marL="1283481" indent="0">
              <a:buNone/>
              <a:defRPr sz="1500" b="1"/>
            </a:lvl4pPr>
            <a:lvl5pPr marL="1711609" indent="0">
              <a:buNone/>
              <a:defRPr sz="1500" b="1"/>
            </a:lvl5pPr>
            <a:lvl6pPr marL="2139286" indent="0">
              <a:buNone/>
              <a:defRPr sz="1500" b="1"/>
            </a:lvl6pPr>
            <a:lvl7pPr marL="2567414" indent="0">
              <a:buNone/>
              <a:defRPr sz="1500" b="1"/>
            </a:lvl7pPr>
            <a:lvl8pPr marL="2995091" indent="0">
              <a:buNone/>
              <a:defRPr sz="1500" b="1"/>
            </a:lvl8pPr>
            <a:lvl9pPr marL="3423219" indent="0">
              <a:buNone/>
              <a:defRPr sz="15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3951288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1D91F2C8-F1D7-41F7-997B-CD0D1C4B3004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BD5F6910-6877-4A92-923C-30618D17E99B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38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65032" tIns="32516" rIns="65032" bIns="325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8CC33891-62B3-4187-BFA1-A5F816F7EF21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3683EB2C-3F65-44FC-86C4-7E77A1EE5B0F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940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571F1162-21D9-4EFC-8FDE-1E9B95AFF4E8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1A162430-B74C-4290-91FA-BB86462CB4AF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12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8000874" y="137107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5805">
              <a:defRPr/>
            </a:pPr>
            <a:r>
              <a:rPr lang="en-US" altLang="zh-CN" sz="900" dirty="0">
                <a:solidFill>
                  <a:srgbClr val="F5F5F5"/>
                </a:solidFill>
              </a:rPr>
              <a:t>www.guideir.cn</a:t>
            </a:r>
            <a:endParaRPr lang="zh-CN" altLang="en-US" sz="9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  <a:prstGeom prst="rect">
            <a:avLst/>
          </a:prstGeom>
        </p:spPr>
        <p:txBody>
          <a:bodyPr lIns="65032" tIns="32516" rIns="65032" bIns="32516" anchor="b"/>
          <a:lstStyle>
            <a:lvl1pPr algn="l">
              <a:defRPr sz="19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1" y="273050"/>
            <a:ext cx="5111750" cy="5853113"/>
          </a:xfrm>
          <a:prstGeom prst="rect">
            <a:avLst/>
          </a:prstGeom>
        </p:spPr>
        <p:txBody>
          <a:bodyPr lIns="65032" tIns="32516" rIns="65032" bIns="32516"/>
          <a:lstStyle>
            <a:lvl1pPr>
              <a:defRPr sz="3000"/>
            </a:lvl1pPr>
            <a:lvl2pPr>
              <a:defRPr sz="26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4"/>
          </a:xfrm>
          <a:prstGeom prst="rect">
            <a:avLst/>
          </a:prstGeom>
        </p:spPr>
        <p:txBody>
          <a:bodyPr lIns="65032" tIns="32516" rIns="65032" bIns="32516"/>
          <a:lstStyle>
            <a:lvl1pPr marL="0" indent="0">
              <a:buNone/>
              <a:defRPr sz="1300"/>
            </a:lvl1pPr>
            <a:lvl2pPr marL="427677" indent="0">
              <a:buNone/>
              <a:defRPr sz="1100"/>
            </a:lvl2pPr>
            <a:lvl3pPr marL="855805" indent="0">
              <a:buNone/>
              <a:defRPr sz="1000"/>
            </a:lvl3pPr>
            <a:lvl4pPr marL="1283481" indent="0">
              <a:buNone/>
              <a:defRPr sz="900"/>
            </a:lvl4pPr>
            <a:lvl5pPr marL="1711609" indent="0">
              <a:buNone/>
              <a:defRPr sz="900"/>
            </a:lvl5pPr>
            <a:lvl6pPr marL="2139286" indent="0">
              <a:buNone/>
              <a:defRPr sz="900"/>
            </a:lvl6pPr>
            <a:lvl7pPr marL="2567414" indent="0">
              <a:buNone/>
              <a:defRPr sz="900"/>
            </a:lvl7pPr>
            <a:lvl8pPr marL="2995091" indent="0">
              <a:buNone/>
              <a:defRPr sz="900"/>
            </a:lvl8pPr>
            <a:lvl9pPr marL="342321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A900B55C-D334-4B83-9E63-2798C0216A00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F9A7A813-10EB-4DAA-B646-487C54A28694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406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8000874" y="137107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5805">
              <a:defRPr/>
            </a:pPr>
            <a:r>
              <a:rPr lang="en-US" altLang="zh-CN" sz="900" dirty="0">
                <a:solidFill>
                  <a:srgbClr val="F5F5F5"/>
                </a:solidFill>
              </a:rPr>
              <a:t>www.guideir.cn</a:t>
            </a:r>
            <a:endParaRPr lang="zh-CN" altLang="en-US" sz="9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lIns="65032" tIns="32516" rIns="65032" bIns="32516" anchor="b"/>
          <a:lstStyle>
            <a:lvl1pPr algn="l">
              <a:defRPr sz="19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  <a:prstGeom prst="rect">
            <a:avLst/>
          </a:prstGeom>
        </p:spPr>
        <p:txBody>
          <a:bodyPr lIns="65032" tIns="32516" rIns="65032" bIns="32516"/>
          <a:lstStyle>
            <a:lvl1pPr marL="0" indent="0">
              <a:buNone/>
              <a:defRPr sz="3000"/>
            </a:lvl1pPr>
            <a:lvl2pPr marL="427677" indent="0">
              <a:buNone/>
              <a:defRPr sz="2600"/>
            </a:lvl2pPr>
            <a:lvl3pPr marL="855805" indent="0">
              <a:buNone/>
              <a:defRPr sz="2300"/>
            </a:lvl3pPr>
            <a:lvl4pPr marL="1283481" indent="0">
              <a:buNone/>
              <a:defRPr sz="1900"/>
            </a:lvl4pPr>
            <a:lvl5pPr marL="1711609" indent="0">
              <a:buNone/>
              <a:defRPr sz="1900"/>
            </a:lvl5pPr>
            <a:lvl6pPr marL="2139286" indent="0">
              <a:buNone/>
              <a:defRPr sz="1900"/>
            </a:lvl6pPr>
            <a:lvl7pPr marL="2567414" indent="0">
              <a:buNone/>
              <a:defRPr sz="1900"/>
            </a:lvl7pPr>
            <a:lvl8pPr marL="2995091" indent="0">
              <a:buNone/>
              <a:defRPr sz="1900"/>
            </a:lvl8pPr>
            <a:lvl9pPr marL="3423219" indent="0">
              <a:buNone/>
              <a:defRPr sz="1900"/>
            </a:lvl9pPr>
          </a:lstStyle>
          <a:p>
            <a:pPr marL="0" marR="0" lvl="0" indent="0" algn="l" defTabSz="8549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</p:spPr>
        <p:txBody>
          <a:bodyPr lIns="65032" tIns="32516" rIns="65032" bIns="32516"/>
          <a:lstStyle>
            <a:lvl1pPr marL="0" indent="0">
              <a:buNone/>
              <a:defRPr sz="1300"/>
            </a:lvl1pPr>
            <a:lvl2pPr marL="427677" indent="0">
              <a:buNone/>
              <a:defRPr sz="1100"/>
            </a:lvl2pPr>
            <a:lvl3pPr marL="855805" indent="0">
              <a:buNone/>
              <a:defRPr sz="1000"/>
            </a:lvl3pPr>
            <a:lvl4pPr marL="1283481" indent="0">
              <a:buNone/>
              <a:defRPr sz="900"/>
            </a:lvl4pPr>
            <a:lvl5pPr marL="1711609" indent="0">
              <a:buNone/>
              <a:defRPr sz="900"/>
            </a:lvl5pPr>
            <a:lvl6pPr marL="2139286" indent="0">
              <a:buNone/>
              <a:defRPr sz="900"/>
            </a:lvl6pPr>
            <a:lvl7pPr marL="2567414" indent="0">
              <a:buNone/>
              <a:defRPr sz="900"/>
            </a:lvl7pPr>
            <a:lvl8pPr marL="2995091" indent="0">
              <a:buNone/>
              <a:defRPr sz="900"/>
            </a:lvl8pPr>
            <a:lvl9pPr marL="342321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F15D4F6A-C54A-4DEE-981D-D8764C6E0D66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0081259E-B11E-49A5-85E7-4FFB0EAEA5E5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858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8000874" y="137107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5805">
              <a:defRPr/>
            </a:pPr>
            <a:r>
              <a:rPr lang="en-US" altLang="zh-CN" sz="900" dirty="0">
                <a:solidFill>
                  <a:srgbClr val="F5F5F5"/>
                </a:solidFill>
              </a:rPr>
              <a:t>www.guideir.cn</a:t>
            </a:r>
            <a:endParaRPr lang="zh-CN" altLang="en-US" sz="9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65032" tIns="32516" rIns="65032" bIns="325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 lIns="65032" tIns="32516" rIns="65032" bIns="3251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230839C7-799E-4BF3-AC8F-59C44E0B395C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59B38A68-8F7E-4155-B2A4-E2A2820EAC51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952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8000874" y="137107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5805">
              <a:defRPr/>
            </a:pPr>
            <a:r>
              <a:rPr lang="en-US" altLang="zh-CN" sz="900" dirty="0">
                <a:solidFill>
                  <a:srgbClr val="F5F5F5"/>
                </a:solidFill>
              </a:rPr>
              <a:t>www.guideir.cn</a:t>
            </a:r>
            <a:endParaRPr lang="zh-CN" altLang="en-US" sz="900" dirty="0">
              <a:solidFill>
                <a:srgbClr val="F5F5F5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6"/>
          </a:xfrm>
          <a:prstGeom prst="rect">
            <a:avLst/>
          </a:prstGeom>
        </p:spPr>
        <p:txBody>
          <a:bodyPr vert="eaVert" lIns="65032" tIns="32516" rIns="65032" bIns="325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6"/>
          </a:xfrm>
          <a:prstGeom prst="rect">
            <a:avLst/>
          </a:prstGeom>
        </p:spPr>
        <p:txBody>
          <a:bodyPr vert="eaVert" lIns="65032" tIns="32516" rIns="65032" bIns="3251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653" y="6356622"/>
            <a:ext cx="2133029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6C577FA2-9663-40F8-AC05-1673D2A87F01}" type="datetimeFigureOut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2024/5/20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3940" y="6356622"/>
            <a:ext cx="2896121" cy="364273"/>
          </a:xfrm>
          <a:prstGeom prst="rect">
            <a:avLst/>
          </a:prstGeom>
        </p:spPr>
        <p:txBody>
          <a:bodyPr lIns="65032" tIns="32516" rIns="65032" bIns="32516"/>
          <a:lstStyle>
            <a:lvl1pPr defTabSz="855805" eaLnBrk="1" fontAlgn="auto" hangingPunct="1">
              <a:spcBef>
                <a:spcPts val="0"/>
              </a:spcBef>
              <a:spcAft>
                <a:spcPts val="0"/>
              </a:spcAft>
              <a:defRPr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18" y="6356622"/>
            <a:ext cx="2133029" cy="364273"/>
          </a:xfrm>
          <a:prstGeom prst="rect">
            <a:avLst/>
          </a:prstGeom>
        </p:spPr>
        <p:txBody>
          <a:bodyPr vert="horz" wrap="square" lIns="65032" tIns="32516" rIns="65032" bIns="32516" numCol="1" anchor="t" anchorCtr="0" compatLnSpc="1"/>
          <a:lstStyle>
            <a:lvl1pPr eaLnBrk="1" hangingPunct="1">
              <a:defRPr/>
            </a:lvl1pPr>
          </a:lstStyle>
          <a:p>
            <a:pPr defTabSz="854902" fontAlgn="base">
              <a:spcBef>
                <a:spcPct val="0"/>
              </a:spcBef>
              <a:spcAft>
                <a:spcPct val="0"/>
              </a:spcAft>
              <a:defRPr/>
            </a:pPr>
            <a:fld id="{8D1D2ACB-B504-4E1E-A500-1BAA03340C62}" type="slidenum">
              <a:rPr lang="zh-CN" altLang="en-US" sz="1600" smtClean="0">
                <a:solidFill>
                  <a:srgbClr val="000000"/>
                </a:solidFill>
              </a:rPr>
              <a:pPr defTabSz="85490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4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35" tIns="45717" rIns="91435" bIns="45717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35" tIns="45717" rIns="91435" bIns="4571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35" tIns="45717" rIns="91435" bIns="4571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35" tIns="45717" rIns="91435" bIns="4571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1" indent="-285735" algn="l" defTabSz="9143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0" indent="-228588" algn="l" defTabSz="9143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5" indent="-228588" algn="l" defTabSz="9143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1" indent="-228588" algn="l" defTabSz="9143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8" indent="-228588" algn="l" defTabSz="9143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3" indent="-228588" algn="l" defTabSz="9143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19" indent="-228588" algn="l" defTabSz="9143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95" indent="-228588" algn="l" defTabSz="9143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6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1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8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4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9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55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1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07" algn="l" defTabSz="9143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"/>
            <a:ext cx="9144000" cy="5632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defTabSz="855805">
              <a:defRPr/>
            </a:pPr>
            <a:endParaRPr lang="zh-CN" altLang="en-US" sz="1700">
              <a:solidFill>
                <a:srgbClr val="F5F5F5"/>
              </a:solidFill>
            </a:endParaRPr>
          </a:p>
        </p:txBody>
      </p:sp>
      <p:sp>
        <p:nvSpPr>
          <p:cNvPr id="5" name="页脚占位符 4"/>
          <p:cNvSpPr txBox="1"/>
          <p:nvPr/>
        </p:nvSpPr>
        <p:spPr>
          <a:xfrm>
            <a:off x="8053292" y="197595"/>
            <a:ext cx="1045346" cy="365617"/>
          </a:xfrm>
          <a:prstGeom prst="rect">
            <a:avLst/>
          </a:prstGeom>
        </p:spPr>
        <p:txBody>
          <a:bodyPr lIns="65032" tIns="32516" rIns="65032" bIns="32516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5805">
              <a:defRPr/>
            </a:pPr>
            <a:r>
              <a:rPr lang="en-US" altLang="zh-CN" sz="900" dirty="0">
                <a:solidFill>
                  <a:srgbClr val="F5F5F5"/>
                </a:solidFill>
              </a:rPr>
              <a:t>www.guideir.com</a:t>
            </a:r>
            <a:endParaRPr lang="zh-CN" altLang="en-US" sz="900" dirty="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70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854902" rtl="0" eaLnBrk="0" fontAlgn="base" hangingPunct="0">
        <a:spcBef>
          <a:spcPct val="0"/>
        </a:spcBef>
        <a:spcAft>
          <a:spcPct val="0"/>
        </a:spcAft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854902" rtl="0" eaLnBrk="0" fontAlgn="base" hangingPunct="0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854902" rtl="0" eaLnBrk="0" fontAlgn="base" hangingPunct="0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854902" rtl="0" eaLnBrk="0" fontAlgn="base" hangingPunct="0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854902" rtl="0" eaLnBrk="0" fontAlgn="base" hangingPunct="0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25161" algn="ctr" defTabSz="854902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50321" algn="ctr" defTabSz="854902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975482" algn="ctr" defTabSz="854902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00643" algn="ctr" defTabSz="854902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20645" indent="-320645" algn="l" defTabSz="854902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4579" indent="-266451" algn="l" defTabSz="854902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69417" indent="-213612" algn="l" defTabSz="854902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97094" indent="-213612" algn="l" defTabSz="854902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25222" indent="-213612" algn="l" defTabSz="854902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53350" indent="-214064" algn="l" defTabSz="85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81478" indent="-214064" algn="l" defTabSz="85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9155" indent="-214064" algn="l" defTabSz="85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37283" indent="-214064" algn="l" defTabSz="85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7677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55805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83481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1609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39286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67414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95091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23219" algn="l" defTabSz="85580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8.png"/><Relationship Id="rId10" Type="http://schemas.openxmlformats.org/officeDocument/2006/relationships/image" Target="../media/image4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Word___1.docx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1"/>
          <p:cNvSpPr txBox="1"/>
          <p:nvPr/>
        </p:nvSpPr>
        <p:spPr>
          <a:xfrm>
            <a:off x="467544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大气衰减理论模型</a:t>
            </a:r>
            <a:endParaRPr lang="zh-CN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474" y="3324680"/>
            <a:ext cx="1853860" cy="48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982" y="2854803"/>
            <a:ext cx="4199616" cy="446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971600" y="1340768"/>
            <a:ext cx="71111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红外辐射在大气中传播的影响因素主要有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个： 一是大气中某些气体分子（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11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CO</a:t>
            </a:r>
            <a:r>
              <a:rPr lang="en-US" altLang="zh-CN" sz="11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等）的</a:t>
            </a:r>
            <a:r>
              <a:rPr lang="zh-CN" altLang="en-US" dirty="0">
                <a:solidFill>
                  <a:schemeClr val="tx2"/>
                </a:solidFill>
                <a:latin typeface="+mn-ea"/>
              </a:rPr>
              <a:t>吸收</a:t>
            </a:r>
            <a:r>
              <a:rPr lang="zh-CN" altLang="en-US" dirty="0">
                <a:latin typeface="+mn-ea"/>
              </a:rPr>
              <a:t>， 二是大气分子、气溶胶的</a:t>
            </a:r>
            <a:r>
              <a:rPr lang="zh-CN" altLang="en-US" dirty="0">
                <a:solidFill>
                  <a:schemeClr val="tx2"/>
                </a:solidFill>
                <a:latin typeface="+mn-ea"/>
              </a:rPr>
              <a:t>散射</a:t>
            </a:r>
            <a:r>
              <a:rPr lang="zh-CN" altLang="en-US" dirty="0">
                <a:latin typeface="+mn-ea"/>
              </a:rPr>
              <a:t>，三是</a:t>
            </a:r>
            <a:r>
              <a:rPr lang="zh-CN" altLang="en-US" dirty="0" smtClean="0">
                <a:latin typeface="+mn-ea"/>
              </a:rPr>
              <a:t>由云</a:t>
            </a:r>
            <a:r>
              <a:rPr lang="zh-CN" altLang="en-US" dirty="0">
                <a:latin typeface="+mn-ea"/>
              </a:rPr>
              <a:t>、 雾、雨、</a:t>
            </a:r>
            <a:r>
              <a:rPr lang="zh-CN" altLang="en-US" dirty="0" smtClean="0">
                <a:latin typeface="+mn-ea"/>
              </a:rPr>
              <a:t>雪造成的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</a:rPr>
              <a:t>气象衰减</a:t>
            </a:r>
            <a:r>
              <a:rPr lang="zh-CN" altLang="en-US" dirty="0" smtClean="0">
                <a:latin typeface="+mn-ea"/>
              </a:rPr>
              <a:t>。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457423"/>
              </p:ext>
            </p:extLst>
          </p:nvPr>
        </p:nvGraphicFramePr>
        <p:xfrm>
          <a:off x="2826118" y="4224073"/>
          <a:ext cx="56292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7" imgW="3848040" imgH="419040" progId="Equation.DSMT4">
                  <p:embed/>
                </p:oleObj>
              </mc:Choice>
              <mc:Fallback>
                <p:oleObj name="Equation" r:id="rId7" imgW="3848040" imgH="4190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6118" y="4224073"/>
                        <a:ext cx="56292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002686" y="28548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消光系数的组成：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02686" y="338394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综合</a:t>
            </a:r>
            <a:r>
              <a:rPr lang="zh-CN" altLang="en-US" dirty="0" smtClean="0"/>
              <a:t>大气透过率：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09185" y="3926749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大气透过率理论计算模型：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471929"/>
              </p:ext>
            </p:extLst>
          </p:nvPr>
        </p:nvGraphicFramePr>
        <p:xfrm>
          <a:off x="2825399" y="5189546"/>
          <a:ext cx="52689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9" imgW="3454200" imgH="241200" progId="Equation.DSMT4">
                  <p:embed/>
                </p:oleObj>
              </mc:Choice>
              <mc:Fallback>
                <p:oleObj name="Equation" r:id="rId9" imgW="3454200" imgH="241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399" y="5189546"/>
                        <a:ext cx="526891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033990" y="483684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理论建模：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007675"/>
              </p:ext>
            </p:extLst>
          </p:nvPr>
        </p:nvGraphicFramePr>
        <p:xfrm>
          <a:off x="3466781" y="5700943"/>
          <a:ext cx="342648" cy="41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66781" y="5700943"/>
                        <a:ext cx="342648" cy="411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762222" y="5700944"/>
            <a:ext cx="3531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为校温标准湿度，默认为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60%RH;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93581"/>
              </p:ext>
            </p:extLst>
          </p:nvPr>
        </p:nvGraphicFramePr>
        <p:xfrm>
          <a:off x="3497010" y="6168656"/>
          <a:ext cx="277424" cy="35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13" imgW="177480" imgH="228600" progId="Equation.DSMT4">
                  <p:embed/>
                </p:oleObj>
              </mc:Choice>
              <mc:Fallback>
                <p:oleObj name="Equation" r:id="rId13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7010" y="6168656"/>
                        <a:ext cx="277424" cy="356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3762222" y="6132992"/>
            <a:ext cx="4608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为校温标准</a:t>
            </a:r>
            <a:r>
              <a:rPr lang="zh-CN" altLang="en-US" dirty="0"/>
              <a:t>距离</a:t>
            </a:r>
            <a:r>
              <a:rPr lang="zh-CN" altLang="en-US" dirty="0" smtClean="0"/>
              <a:t>，设备默认距离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9010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1"/>
          <p:cNvSpPr txBox="1"/>
          <p:nvPr/>
        </p:nvSpPr>
        <p:spPr>
          <a:xfrm>
            <a:off x="408274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仿真模型说明</a:t>
            </a:r>
            <a:endParaRPr lang="zh-CN" altLang="en-US" sz="16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7282"/>
              </p:ext>
            </p:extLst>
          </p:nvPr>
        </p:nvGraphicFramePr>
        <p:xfrm>
          <a:off x="4355976" y="1340768"/>
          <a:ext cx="4553640" cy="484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文档" r:id="rId6" imgW="5897163" imgH="6270774" progId="Word.Document.12">
                  <p:embed/>
                </p:oleObj>
              </mc:Choice>
              <mc:Fallback>
                <p:oleObj name="文档" r:id="rId6" imgW="5897163" imgH="62707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55976" y="1340768"/>
                        <a:ext cx="4553640" cy="4841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08275" y="1628800"/>
            <a:ext cx="36596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水蒸气的吸收衰减是红外辐射在大气传输过程中最主要的衰减方式，由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饱和空气中水蒸气含量</a:t>
            </a:r>
            <a:r>
              <a:rPr lang="zh-CN" altLang="en-US" sz="1600" dirty="0" smtClean="0">
                <a:latin typeface="+mn-ea"/>
              </a:rPr>
              <a:t>和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大气传输距离</a:t>
            </a:r>
            <a:r>
              <a:rPr lang="zh-CN" altLang="en-US" sz="1600" dirty="0" smtClean="0">
                <a:latin typeface="+mn-ea"/>
              </a:rPr>
              <a:t>决定，衰减系数</a:t>
            </a:r>
            <a:r>
              <a:rPr lang="en-US" altLang="zh-CN" sz="16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zh-CN" altLang="en-US" sz="1600" dirty="0" smtClean="0">
                <a:latin typeface="+mn-ea"/>
              </a:rPr>
              <a:t>通过数据拟合获取。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408274" y="3318083"/>
            <a:ext cx="36596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二氧化碳的吸收衰减由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大气传输距离</a:t>
            </a:r>
            <a:r>
              <a:rPr lang="zh-CN" altLang="en-US" sz="1600" dirty="0" smtClean="0">
                <a:latin typeface="+mn-ea"/>
              </a:rPr>
              <a:t>决定，通过查表获得。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408274" y="4581128"/>
            <a:ext cx="36596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大气散射衰减主要作用于远距离（</a:t>
            </a:r>
            <a:r>
              <a:rPr lang="zh-CN" altLang="en-US" sz="1600" dirty="0" smtClean="0">
                <a:latin typeface="Times New Roman" pitchFamily="18" charset="0"/>
                <a:cs typeface="Times New Roman" pitchFamily="18" charset="0"/>
              </a:rPr>
              <a:t>大于</a:t>
            </a:r>
            <a:r>
              <a:rPr lang="en-US" altLang="zh-CN" sz="1600" dirty="0" smtClean="0">
                <a:latin typeface="Times New Roman" pitchFamily="18" charset="0"/>
                <a:cs typeface="Times New Roman" pitchFamily="18" charset="0"/>
              </a:rPr>
              <a:t>10km</a:t>
            </a:r>
            <a:r>
              <a:rPr lang="zh-CN" altLang="en-US" sz="1600" dirty="0" smtClean="0">
                <a:latin typeface="+mn-ea"/>
              </a:rPr>
              <a:t>），暂不考虑加入。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862915" y="1056499"/>
            <a:ext cx="18774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饱和空气中水蒸气含量表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898107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理论模型仿真结果</a:t>
            </a:r>
            <a:r>
              <a:rPr lang="en-US" altLang="zh-CN" sz="1600" b="1" dirty="0" smtClean="0">
                <a:latin typeface="微软雅黑"/>
                <a:sym typeface="+mn-ea"/>
              </a:rPr>
              <a:t>-</a:t>
            </a:r>
            <a:r>
              <a:rPr lang="zh-CN" altLang="en-US" sz="1600" b="1" dirty="0" smtClean="0">
                <a:latin typeface="微软雅黑"/>
                <a:sym typeface="+mn-ea"/>
              </a:rPr>
              <a:t>常温环境</a:t>
            </a:r>
            <a:endParaRPr lang="zh-CN" altLang="en-US" sz="16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5431"/>
            <a:ext cx="8568952" cy="579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81693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27" y="1210686"/>
            <a:ext cx="8475368" cy="5671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理论模型仿真结果</a:t>
            </a:r>
            <a:r>
              <a:rPr lang="en-US" altLang="zh-CN" sz="1600" b="1" dirty="0" smtClean="0">
                <a:latin typeface="微软雅黑"/>
                <a:sym typeface="+mn-ea"/>
              </a:rPr>
              <a:t>-</a:t>
            </a:r>
            <a:r>
              <a:rPr lang="zh-CN" altLang="en-US" sz="1600" b="1" dirty="0" smtClean="0">
                <a:latin typeface="微软雅黑"/>
                <a:sym typeface="+mn-ea"/>
              </a:rPr>
              <a:t>常温环境</a:t>
            </a: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4788024" y="4437112"/>
            <a:ext cx="39104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与发射率修正类似，大气透过衰减对低温目标的影响较小。在近距离下，湿度对低温目标测温的影响可能小于设备自身的随机误差波动。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93897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理论模型仿真结果</a:t>
            </a:r>
            <a:r>
              <a:rPr lang="en-US" altLang="zh-CN" sz="1600" b="1" dirty="0" smtClean="0">
                <a:latin typeface="微软雅黑"/>
                <a:sym typeface="+mn-ea"/>
              </a:rPr>
              <a:t>-</a:t>
            </a:r>
            <a:r>
              <a:rPr lang="zh-CN" altLang="en-US" sz="1600" b="1" dirty="0">
                <a:latin typeface="微软雅黑"/>
                <a:sym typeface="+mn-ea"/>
              </a:rPr>
              <a:t>高温</a:t>
            </a:r>
            <a:r>
              <a:rPr lang="zh-CN" altLang="en-US" sz="1600" b="1" dirty="0" smtClean="0">
                <a:latin typeface="微软雅黑"/>
                <a:sym typeface="+mn-ea"/>
              </a:rPr>
              <a:t>环境</a:t>
            </a:r>
            <a:endParaRPr lang="zh-CN" altLang="en-US" sz="1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9261"/>
            <a:ext cx="8676456" cy="52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49339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理论模型仿真结果</a:t>
            </a:r>
            <a:r>
              <a:rPr lang="en-US" altLang="zh-CN" sz="1600" b="1" dirty="0" smtClean="0">
                <a:latin typeface="微软雅黑"/>
                <a:sym typeface="+mn-ea"/>
              </a:rPr>
              <a:t>-</a:t>
            </a:r>
            <a:r>
              <a:rPr lang="zh-CN" altLang="en-US" sz="1600" b="1" dirty="0">
                <a:latin typeface="微软雅黑"/>
                <a:sym typeface="+mn-ea"/>
              </a:rPr>
              <a:t>低温</a:t>
            </a:r>
            <a:r>
              <a:rPr lang="zh-CN" altLang="en-US" sz="1600" b="1" dirty="0" smtClean="0">
                <a:latin typeface="微软雅黑"/>
                <a:sym typeface="+mn-ea"/>
              </a:rPr>
              <a:t>环境</a:t>
            </a:r>
            <a:endParaRPr lang="zh-CN" altLang="en-US" sz="1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340768"/>
            <a:ext cx="8635587" cy="507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50101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893072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距离</a:t>
            </a:r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  <a:sym typeface="+mn-ea"/>
              </a:rPr>
              <a:t>5m</a:t>
            </a:r>
            <a:r>
              <a:rPr lang="zh-CN" altLang="en-US" sz="1600" b="1" dirty="0">
                <a:latin typeface="微软雅黑"/>
                <a:sym typeface="+mn-ea"/>
              </a:rPr>
              <a:t>处</a:t>
            </a:r>
            <a:r>
              <a:rPr lang="zh-CN" altLang="en-US" sz="1600" b="1" dirty="0" smtClean="0">
                <a:latin typeface="微软雅黑"/>
                <a:sym typeface="+mn-ea"/>
              </a:rPr>
              <a:t>大气透过率理论补充量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2555776" y="3696443"/>
            <a:ext cx="360040" cy="17725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55776" y="6537543"/>
            <a:ext cx="360040" cy="17725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08204" y="3720062"/>
            <a:ext cx="360040" cy="17725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03" y="1280200"/>
            <a:ext cx="4084289" cy="272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72" y="1264826"/>
            <a:ext cx="4130376" cy="27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50" y="4152596"/>
            <a:ext cx="4087622" cy="272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43636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8" y="75274"/>
            <a:ext cx="986878" cy="43282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211691" y="2489121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仿真结论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2555776" y="6537543"/>
            <a:ext cx="360040" cy="17725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08204" y="2294708"/>
            <a:ext cx="360040" cy="17725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0546" y="2993177"/>
            <a:ext cx="73198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基于目前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5m</a:t>
            </a:r>
            <a:r>
              <a:rPr lang="zh-CN" altLang="en-US" dirty="0" smtClean="0"/>
              <a:t>采集的</a:t>
            </a:r>
            <a:r>
              <a:rPr lang="zh-CN" altLang="en-US" dirty="0"/>
              <a:t>实验</a:t>
            </a:r>
            <a:r>
              <a:rPr lang="zh-CN" altLang="en-US" dirty="0" smtClean="0"/>
              <a:t>数据，大气透过率修正后的误差均在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℃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以内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14" name="文本框 1"/>
          <p:cNvSpPr txBox="1"/>
          <p:nvPr/>
        </p:nvSpPr>
        <p:spPr>
          <a:xfrm>
            <a:off x="211691" y="867166"/>
            <a:ext cx="4451758" cy="311884"/>
          </a:xfrm>
          <a:prstGeom prst="rect">
            <a:avLst/>
          </a:prstGeom>
          <a:noFill/>
        </p:spPr>
        <p:txBody>
          <a:bodyPr wrap="square" lIns="65029" tIns="32514" rIns="65029" bIns="32514" rtlCol="0">
            <a:spAutoFit/>
          </a:bodyPr>
          <a:lstStyle/>
          <a:p>
            <a:pPr defTabSz="85485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微软雅黑"/>
                <a:sym typeface="+mn-ea"/>
              </a:rPr>
              <a:t>代码实现方案</a:t>
            </a: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780546" y="1299214"/>
            <a:ext cx="70567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修正方案基于标准湿度</a:t>
            </a:r>
            <a:r>
              <a:rPr lang="zh-CN" altLang="en-US" dirty="0"/>
              <a:t>状态</a:t>
            </a:r>
            <a:r>
              <a:rPr lang="zh-CN" altLang="en-US" dirty="0" smtClean="0"/>
              <a:t>（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60%RH</a:t>
            </a:r>
            <a:r>
              <a:rPr lang="zh-CN" altLang="en-US" dirty="0"/>
              <a:t>）和标准距离（采曲线、校温距离）来修正。</a:t>
            </a:r>
          </a:p>
        </p:txBody>
      </p:sp>
    </p:spTree>
    <p:extLst>
      <p:ext uri="{BB962C8B-B14F-4D97-AF65-F5344CB8AC3E}">
        <p14:creationId xmlns:p14="http://schemas.microsoft.com/office/powerpoint/2010/main" val="6217111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20991</TotalTime>
  <Words>268</Words>
  <Application>Microsoft Office PowerPoint</Application>
  <PresentationFormat>全屏显示(4:3)</PresentationFormat>
  <Paragraphs>23</Paragraphs>
  <Slides>8</Slides>
  <Notes>8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Office 主题</vt:lpstr>
      <vt:lpstr>1_Office 主题</vt:lpstr>
      <vt:lpstr>Equation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向锦-互联网</dc:creator>
  <cp:lastModifiedBy>向锦-互联网</cp:lastModifiedBy>
  <cp:revision>49</cp:revision>
  <dcterms:created xsi:type="dcterms:W3CDTF">2024-03-19T07:05:43Z</dcterms:created>
  <dcterms:modified xsi:type="dcterms:W3CDTF">2024-05-20T09:24:24Z</dcterms:modified>
</cp:coreProperties>
</file>