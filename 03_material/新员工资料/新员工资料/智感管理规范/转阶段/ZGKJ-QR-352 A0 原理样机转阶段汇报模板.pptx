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3.xml" ContentType="application/vnd.openxmlformats-officedocument.themeOverr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4.xml" ContentType="application/vnd.openxmlformats-officedocument.themeOverr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heme/themeOverride5.xml" ContentType="application/vnd.openxmlformats-officedocument.themeOverr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heme/themeOverride6.xml" ContentType="application/vnd.openxmlformats-officedocument.themeOverr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67" r:id="rId2"/>
    <p:sldId id="312" r:id="rId3"/>
    <p:sldId id="314" r:id="rId4"/>
    <p:sldId id="397" r:id="rId5"/>
    <p:sldId id="342" r:id="rId6"/>
    <p:sldId id="424" r:id="rId7"/>
    <p:sldId id="398" r:id="rId8"/>
    <p:sldId id="376" r:id="rId9"/>
    <p:sldId id="331" r:id="rId10"/>
    <p:sldId id="364" r:id="rId11"/>
    <p:sldId id="363" r:id="rId12"/>
    <p:sldId id="362" r:id="rId13"/>
    <p:sldId id="329" r:id="rId14"/>
    <p:sldId id="389" r:id="rId15"/>
    <p:sldId id="321" r:id="rId16"/>
    <p:sldId id="344" r:id="rId17"/>
    <p:sldId id="414" r:id="rId18"/>
    <p:sldId id="345" r:id="rId19"/>
    <p:sldId id="346" r:id="rId20"/>
    <p:sldId id="420" r:id="rId21"/>
    <p:sldId id="327" r:id="rId22"/>
    <p:sldId id="308" r:id="rId23"/>
  </p:sldIdLst>
  <p:sldSz cx="14400213" cy="8099425"/>
  <p:notesSz cx="6858000" cy="9144000"/>
  <p:defaultTextStyle>
    <a:defPPr>
      <a:defRPr lang="zh-CN"/>
    </a:defPPr>
    <a:lvl1pPr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601980" indent="-14478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1203325" indent="-28892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805305" indent="-433705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2406650" indent="-577850" algn="l" defTabSz="1203325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F9EEFC"/>
    <a:srgbClr val="0098D8"/>
    <a:srgbClr val="007DC2"/>
    <a:srgbClr val="FFFFFF"/>
    <a:srgbClr val="A5002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704" autoAdjust="0"/>
  </p:normalViewPr>
  <p:slideViewPr>
    <p:cSldViewPr>
      <p:cViewPr>
        <p:scale>
          <a:sx n="82" d="100"/>
          <a:sy n="82" d="100"/>
        </p:scale>
        <p:origin x="-1302" y="-174"/>
      </p:cViewPr>
      <p:guideLst>
        <p:guide orient="horz" pos="3306"/>
        <p:guide pos="4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05FD78-5E21-4986-84DA-A8052C630C57}" type="datetimeFigureOut">
              <a:rPr lang="zh-CN" altLang="en-US"/>
              <a:t>2021/6/25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53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B725D2C4-7552-4621-9CDB-47DCA4137C29}" type="slidenum">
              <a:rPr altLang="en-US"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245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2355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3E91D1F7-A836-451F-958A-3743625962AD}" type="slidenum">
              <a:rPr altLang="en-US" sz="1200">
                <a:latin typeface="等线" panose="02010600030101010101" pitchFamily="2" charset="-122"/>
                <a:ea typeface="等线" panose="02010600030101010101" pitchFamily="2" charset="-122"/>
              </a:rPr>
              <a:t>1</a:t>
            </a:fld>
            <a:endParaRPr lang="zh-CN" altLang="en-US" sz="1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19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25D2C4-7552-4621-9CDB-47DCA4137C29}" type="slidenum">
              <a:rPr lang="en-US" altLang="zh-CN" smtClean="0"/>
              <a:t>21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pic>
        <p:nvPicPr>
          <p:cNvPr id="5" name="图片 7" descr="未标题-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" b="2344"/>
          <a:stretch>
            <a:fillRect/>
          </a:stretch>
        </p:blipFill>
        <p:spPr bwMode="auto">
          <a:xfrm>
            <a:off x="4608513" y="3032125"/>
            <a:ext cx="9791700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B6CEFA5-A0AC-42C7-BA46-3644487E257A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7FDB9562-F3E2-47B0-ABB5-6A4E7730D1E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高德智感logo中英文常规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475" y="7453313"/>
            <a:ext cx="1223963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15225" y="7611340"/>
            <a:ext cx="14329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ZGKJ-QR-352 A/0</a:t>
            </a:r>
            <a:endParaRPr lang="en-US" alt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5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1pPr>
            <a:lvl2pPr marL="60134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2pPr>
            <a:lvl3pPr marL="120332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80467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4pPr>
            <a:lvl5pPr marL="240665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5pPr>
            <a:lvl6pPr marL="300799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6pPr>
            <a:lvl7pPr marL="360997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7pPr>
            <a:lvl8pPr marL="421132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8pPr>
            <a:lvl9pPr marL="48133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99BC1BC3-3E60-4995-B61B-FAF4C10E7CBF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B9CF13B-C3F4-4B7D-961A-1638CAABBF09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8029F4C-2C56-40F7-9E73-26079F4EC6E6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1C5011A8-9897-4712-AF9F-F3AC6E309F31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64FFDA02-750E-466E-B69F-5260DFB5D8EA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3FF433-E653-4B15-9AFA-98DBEAF6D53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8F111103-965A-4336-AB56-5764EF6CEDBD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260E3F5C-F6E2-460B-A44B-5F9BF232787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D90FDB88-6EE8-414B-B3EB-9BB9A8481453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32CE8C10-E46F-4658-8717-0110E03057C8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5"/>
            </a:lvl2pPr>
            <a:lvl3pPr>
              <a:defRPr sz="3190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752A8C0-75C2-4C51-A995-B23B3068F641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DFCABC6-A655-4EFA-A030-B7606A6DD65A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345" indent="0">
              <a:buNone/>
              <a:defRPr sz="3685"/>
            </a:lvl2pPr>
            <a:lvl3pPr marL="1203325" indent="0">
              <a:buNone/>
              <a:defRPr sz="3190"/>
            </a:lvl3pPr>
            <a:lvl4pPr marL="1804670" indent="0">
              <a:buNone/>
              <a:defRPr sz="2620"/>
            </a:lvl4pPr>
            <a:lvl5pPr marL="2406650" indent="0">
              <a:buNone/>
              <a:defRPr sz="2620"/>
            </a:lvl5pPr>
            <a:lvl6pPr marL="3007995" indent="0">
              <a:buNone/>
              <a:defRPr sz="2620"/>
            </a:lvl6pPr>
            <a:lvl7pPr marL="3609975" indent="0">
              <a:buNone/>
              <a:defRPr sz="2620"/>
            </a:lvl7pPr>
            <a:lvl8pPr marL="4211320" indent="0">
              <a:buNone/>
              <a:defRPr sz="2620"/>
            </a:lvl8pPr>
            <a:lvl9pPr marL="4813300" indent="0">
              <a:buNone/>
              <a:defRPr sz="262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A3D123BF-264B-459F-A681-8B901F77A46E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D0480BD4-C8DB-488C-8022-7541442E23D4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F00B65A8-B16E-4C85-BFDE-3BB186B37437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0D23DD91-D2B2-4B3B-BDD3-8919D4DB40E2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 noChangeArrowheads="1"/>
          </p:cNvSpPr>
          <p:nvPr userDrawn="1"/>
        </p:nvSpPr>
        <p:spPr bwMode="auto">
          <a:xfrm>
            <a:off x="12599988" y="161925"/>
            <a:ext cx="45608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www.guideir.cn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720725" y="7507288"/>
            <a:ext cx="3359150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sz="234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38606325-978E-462A-A964-2D2686D005C8}" type="datetimeFigureOut">
              <a:rPr lang="zh-CN" altLang="en-US"/>
              <a:t>2021/6/25</a:t>
            </a:fld>
            <a:endParaRPr lang="zh-CN" altLang="en-US" sz="230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19663" y="7507288"/>
            <a:ext cx="4560887" cy="430212"/>
          </a:xfrm>
          <a:prstGeom prst="rect">
            <a:avLst/>
          </a:prstGeom>
        </p:spPr>
        <p:txBody>
          <a:bodyPr/>
          <a:lstStyle>
            <a:lvl1pPr eaLnBrk="1" fontAlgn="auto" hangingPunct="1">
              <a:defRPr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338" y="7507288"/>
            <a:ext cx="3359150" cy="4302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noProof="1"/>
            </a:lvl1pPr>
          </a:lstStyle>
          <a:p>
            <a:fld id="{8192C754-638A-4F98-AC69-AAF80FAEBBEC}" type="slidenum">
              <a:rPr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4400213" cy="665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27" name="页脚占位符 4"/>
          <p:cNvSpPr txBox="1">
            <a:spLocks noChangeArrowheads="1"/>
          </p:cNvSpPr>
          <p:nvPr userDrawn="1"/>
        </p:nvSpPr>
        <p:spPr bwMode="auto">
          <a:xfrm>
            <a:off x="12893066" y="152339"/>
            <a:ext cx="143014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www.guideir.com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03325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0332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0332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0850" indent="-450850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77900" indent="-3765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04950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05025" indent="-30035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08275" indent="-301625" algn="l" defTabSz="120332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898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6pPr>
      <a:lvl7pPr marL="391096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7pPr>
      <a:lvl8pPr marL="451231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8pPr>
      <a:lvl9pPr marL="511429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80467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40665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00799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7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21132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81330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___1.xlsx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7" y="-1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2" y="5777856"/>
            <a:ext cx="23876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9182371" y="4148138"/>
            <a:ext cx="51831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项目经理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endParaRPr lang="en-US" altLang="zh-CN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  <a:r>
              <a:rPr lang="zh-CN" altLang="en-US" sz="2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zh-CN" altLang="en-US" sz="2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3135165" y="1541930"/>
            <a:ext cx="853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4400" b="1" dirty="0" smtClean="0">
                <a:solidFill>
                  <a:schemeClr val="bg1"/>
                </a:solidFill>
              </a:rPr>
              <a:t>XXXX 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项目原理样机转阶段评审会</a:t>
            </a:r>
            <a:endParaRPr lang="zh-CN" altLang="en-US" sz="4400" b="1" dirty="0">
              <a:solidFill>
                <a:schemeClr val="bg1"/>
              </a:solidFill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9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副标题 33"/>
          <p:cNvSpPr>
            <a:spLocks noGrp="1"/>
          </p:cNvSpPr>
          <p:nvPr>
            <p:ph type="subTitle" idx="1"/>
          </p:nvPr>
        </p:nvSpPr>
        <p:spPr>
          <a:xfrm>
            <a:off x="1150938" y="2522538"/>
            <a:ext cx="4833937" cy="4911456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项目背景简介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项目完成状况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领域质量评审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buClr>
                <a:schemeClr val="tx2"/>
              </a:buClr>
              <a:buSzPct val="100000"/>
              <a:buFont typeface="+mj-lt"/>
              <a:buAutoNum type="arabicPeriod"/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+mn-ea"/>
              </a:rPr>
              <a:t>评审结论</a:t>
            </a:r>
            <a:endParaRPr lang="en-US" altLang="zh-CN" sz="28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4344" name="文本框 20"/>
          <p:cNvSpPr txBox="1">
            <a:spLocks noChangeArrowheads="1"/>
          </p:cNvSpPr>
          <p:nvPr/>
        </p:nvSpPr>
        <p:spPr bwMode="auto">
          <a:xfrm>
            <a:off x="935038" y="1096963"/>
            <a:ext cx="4121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tx2"/>
                </a:solidFill>
                <a:latin typeface="Impact" panose="020B0806030902050204" pitchFamily="34" charset="0"/>
                <a:ea typeface="张海山锐谐体"/>
                <a:cs typeface="张海山锐谐体"/>
              </a:rPr>
              <a:t>目   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1.</a:t>
            </a:r>
            <a:r>
              <a:rPr lang="zh-CN" altLang="en-US" sz="4000" b="1" dirty="0" smtClean="0"/>
              <a:t>项目背景简介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553" y="766094"/>
            <a:ext cx="13321109" cy="29533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项目背景：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lang="en-US" altLang="zh-CN" sz="2400" dirty="0" smtClean="0"/>
              <a:t>        </a:t>
            </a: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sz="2400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75552" y="4841778"/>
            <a:ext cx="13321109" cy="25228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项目亮点</a:t>
            </a:r>
            <a:r>
              <a:rPr lang="en-US" altLang="zh-CN" sz="2000" b="1" dirty="0" smtClean="0">
                <a:solidFill>
                  <a:schemeClr val="bg1">
                    <a:lumMod val="25000"/>
                  </a:schemeClr>
                </a:solidFill>
              </a:rPr>
              <a:t>/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产品</a:t>
            </a:r>
            <a:r>
              <a:rPr lang="zh-CN" altLang="en-US" sz="2000" b="1" dirty="0">
                <a:solidFill>
                  <a:schemeClr val="bg1">
                    <a:lumMod val="25000"/>
                  </a:schemeClr>
                </a:solidFill>
              </a:rPr>
              <a:t>卖</a:t>
            </a: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点：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endParaRPr lang="en-US" altLang="zh-CN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575553" y="4049712"/>
            <a:ext cx="13321109" cy="3987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项目类型：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A类：全新产品开发项目/B类：升级迭代的改制项目/平台项目/纯软件项目/定制项目/临时任务等</a:t>
            </a:r>
            <a:endParaRPr lang="en-US" altLang="zh-CN" sz="2000" i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2.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5" name="TextBox 3"/>
          <p:cNvSpPr txBox="1"/>
          <p:nvPr/>
        </p:nvSpPr>
        <p:spPr>
          <a:xfrm>
            <a:off x="575310" y="737235"/>
            <a:ext cx="13265785" cy="11387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chemeClr val="bg1">
                    <a:lumMod val="25000"/>
                  </a:schemeClr>
                </a:solidFill>
              </a:rPr>
              <a:t>本阶段目标：</a:t>
            </a:r>
            <a:endParaRPr lang="en-US" altLang="zh-CN" sz="2000" b="1" dirty="0" smtClean="0">
              <a:solidFill>
                <a:schemeClr val="bg1">
                  <a:lumMod val="25000"/>
                </a:schemeClr>
              </a:solidFill>
            </a:endParaRPr>
          </a:p>
          <a:p>
            <a:pPr>
              <a:defRPr/>
            </a:pPr>
            <a:r>
              <a:rPr lang="zh-CN" altLang="en-US" sz="1600" i="1" dirty="0">
                <a:solidFill>
                  <a:srgbClr val="0000FF"/>
                </a:solidFill>
              </a:rPr>
              <a:t>硬件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--</a:t>
            </a:r>
            <a:r>
              <a:rPr lang="en-US" altLang="zh-CN" sz="1600" i="1" dirty="0" smtClean="0">
                <a:solidFill>
                  <a:srgbClr val="0000FF"/>
                </a:solidFill>
              </a:rPr>
              <a:t>-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方案</a:t>
            </a:r>
            <a:r>
              <a:rPr lang="zh-CN" altLang="en-US" sz="1600" i="1" dirty="0">
                <a:solidFill>
                  <a:srgbClr val="0000FF"/>
                </a:solidFill>
              </a:rPr>
              <a:t>确定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，基本功</a:t>
            </a:r>
            <a:r>
              <a:rPr lang="zh-CN" altLang="en-US" sz="1600" i="1" dirty="0">
                <a:solidFill>
                  <a:srgbClr val="0000FF"/>
                </a:solidFill>
              </a:rPr>
              <a:t>能实现，关键器件确定，关键指标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满足</a:t>
            </a:r>
            <a:r>
              <a:rPr lang="en-US" altLang="zh-CN" sz="1600" i="1" dirty="0" smtClean="0">
                <a:solidFill>
                  <a:srgbClr val="0000FF"/>
                </a:solidFill>
              </a:rPr>
              <a:t>(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如</a:t>
            </a:r>
            <a:r>
              <a:rPr lang="zh-CN" altLang="en-US" sz="1600" i="1" dirty="0">
                <a:solidFill>
                  <a:srgbClr val="0000FF"/>
                </a:solidFill>
              </a:rPr>
              <a:t>不满足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的有</a:t>
            </a:r>
            <a:r>
              <a:rPr lang="zh-CN" altLang="en-US" sz="1600" i="1" dirty="0">
                <a:solidFill>
                  <a:srgbClr val="0000FF"/>
                </a:solidFill>
              </a:rPr>
              <a:t>明确的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改</a:t>
            </a:r>
            <a:r>
              <a:rPr lang="zh-CN" altLang="en-US" sz="1600" i="1" dirty="0">
                <a:solidFill>
                  <a:srgbClr val="0000FF"/>
                </a:solidFill>
              </a:rPr>
              <a:t>板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方案）；</a:t>
            </a:r>
            <a:endParaRPr lang="zh-CN" altLang="en-US" sz="1600" i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en-US" altLang="zh-CN" sz="1600" i="1" dirty="0" err="1" smtClean="0">
                <a:solidFill>
                  <a:srgbClr val="0000FF"/>
                </a:solidFill>
              </a:rPr>
              <a:t>软件</a:t>
            </a:r>
            <a:r>
              <a:rPr lang="en-US" altLang="zh-CN" sz="1600" i="1" dirty="0" smtClean="0">
                <a:solidFill>
                  <a:srgbClr val="0000FF"/>
                </a:solidFill>
              </a:rPr>
              <a:t>—-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原理样机阶段规划的功能</a:t>
            </a:r>
            <a:r>
              <a:rPr lang="en-US" altLang="zh-CN" sz="1600" i="1" dirty="0" smtClean="0">
                <a:solidFill>
                  <a:srgbClr val="0000FF"/>
                </a:solidFill>
              </a:rPr>
              <a:t>10</a:t>
            </a:r>
            <a:r>
              <a:rPr lang="en-US" altLang="zh-CN" sz="1600" i="1" dirty="0">
                <a:solidFill>
                  <a:srgbClr val="0000FF"/>
                </a:solidFill>
              </a:rPr>
              <a:t>0%</a:t>
            </a:r>
            <a:r>
              <a:rPr lang="zh-CN" altLang="en-US" sz="1600" i="1" dirty="0">
                <a:solidFill>
                  <a:srgbClr val="0000FF"/>
                </a:solidFill>
              </a:rPr>
              <a:t>实现</a:t>
            </a:r>
            <a:r>
              <a:rPr lang="en-US" altLang="zh-CN" sz="1600" i="1" dirty="0">
                <a:solidFill>
                  <a:srgbClr val="0000FF"/>
                </a:solidFill>
              </a:rPr>
              <a:t>,</a:t>
            </a:r>
            <a:r>
              <a:rPr lang="en-US" altLang="zh-CN" sz="1600" i="1" dirty="0" err="1">
                <a:solidFill>
                  <a:srgbClr val="0000FF"/>
                </a:solidFill>
              </a:rPr>
              <a:t>关键性能</a:t>
            </a:r>
            <a:r>
              <a:rPr lang="zh-CN" altLang="en-US" sz="1600" i="1" dirty="0">
                <a:solidFill>
                  <a:srgbClr val="0000FF"/>
                </a:solidFill>
              </a:rPr>
              <a:t>指标</a:t>
            </a:r>
            <a:r>
              <a:rPr lang="en-US" altLang="zh-CN" sz="1600" i="1" dirty="0" err="1">
                <a:solidFill>
                  <a:srgbClr val="0000FF"/>
                </a:solidFill>
              </a:rPr>
              <a:t>达成</a:t>
            </a:r>
            <a:r>
              <a:rPr lang="en-US" altLang="zh-CN" sz="1600" i="1" dirty="0">
                <a:solidFill>
                  <a:srgbClr val="0000FF"/>
                </a:solidFill>
              </a:rPr>
              <a:t>(</a:t>
            </a:r>
            <a:r>
              <a:rPr lang="en-US" altLang="zh-CN" sz="1600" i="1" dirty="0" err="1">
                <a:solidFill>
                  <a:srgbClr val="0000FF"/>
                </a:solidFill>
              </a:rPr>
              <a:t>如不能达成不能遗留</a:t>
            </a:r>
            <a:r>
              <a:rPr lang="zh-CN" altLang="en-US" sz="1600" i="1" dirty="0">
                <a:solidFill>
                  <a:srgbClr val="0000FF"/>
                </a:solidFill>
              </a:rPr>
              <a:t>影响试制的</a:t>
            </a:r>
            <a:r>
              <a:rPr lang="en-US" altLang="zh-CN" sz="1600" i="1" dirty="0" err="1">
                <a:solidFill>
                  <a:srgbClr val="0000FF"/>
                </a:solidFill>
              </a:rPr>
              <a:t>致命Bug</a:t>
            </a:r>
            <a:r>
              <a:rPr lang="en-US" altLang="zh-CN" sz="1600" i="1" dirty="0">
                <a:solidFill>
                  <a:srgbClr val="0000FF"/>
                </a:solidFill>
              </a:rPr>
              <a:t>)</a:t>
            </a:r>
            <a:r>
              <a:rPr lang="zh-CN" altLang="en-US" sz="1600" i="1" dirty="0">
                <a:solidFill>
                  <a:srgbClr val="0000FF"/>
                </a:solidFill>
              </a:rPr>
              <a:t>；</a:t>
            </a:r>
            <a:endParaRPr lang="en-US" altLang="zh-CN" sz="1600" i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zh-CN" altLang="en-US" sz="1600" i="1" dirty="0">
                <a:solidFill>
                  <a:srgbClr val="0000FF"/>
                </a:solidFill>
              </a:rPr>
              <a:t>结构</a:t>
            </a:r>
            <a:r>
              <a:rPr lang="en-US" altLang="zh-CN" sz="1600" i="1" dirty="0">
                <a:solidFill>
                  <a:srgbClr val="0000FF"/>
                </a:solidFill>
              </a:rPr>
              <a:t>---</a:t>
            </a:r>
            <a:r>
              <a:rPr lang="zh-CN" altLang="en-US" sz="1600" i="1" dirty="0">
                <a:solidFill>
                  <a:srgbClr val="0000FF"/>
                </a:solidFill>
              </a:rPr>
              <a:t>关键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指标实现，</a:t>
            </a:r>
            <a:r>
              <a:rPr lang="en-US" altLang="zh-CN" sz="1600" i="1" dirty="0" err="1" smtClean="0">
                <a:solidFill>
                  <a:srgbClr val="0000FF"/>
                </a:solidFill>
              </a:rPr>
              <a:t>影响装机的关键问题已解决或有明确的解决方案</a:t>
            </a:r>
            <a:r>
              <a:rPr lang="zh-CN" altLang="en-US" sz="1600" i="1" dirty="0" smtClean="0">
                <a:solidFill>
                  <a:srgbClr val="0000FF"/>
                </a:solidFill>
              </a:rPr>
              <a:t>。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各领域负责人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8165" y="1905000"/>
          <a:ext cx="13282930" cy="621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50"/>
                <a:gridCol w="8209280"/>
                <a:gridCol w="3530600"/>
              </a:tblGrid>
              <a:tr h="701040">
                <a:tc gridSpan="3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2000" b="1" dirty="0" smtClean="0"/>
                        <a:t>转阶段要素评审</a:t>
                      </a:r>
                      <a:r>
                        <a:rPr lang="zh-CN" altLang="en-US" sz="2000" dirty="0" smtClean="0"/>
                        <a:t>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各领域自检，结论/问题如下：</a:t>
                      </a:r>
                    </a:p>
                    <a:p>
                      <a:pPr algn="l"/>
                      <a:r>
                        <a:rPr lang="zh-CN" altLang="en-US" sz="2000" b="1" dirty="0" smtClean="0"/>
                        <a:t>（含设计方案，图纸，评审记录，自测报告，测试报告，文件下发等）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状态（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一句话总结</a:t>
                      </a:r>
                      <a:r>
                        <a:rPr lang="zh-CN" altLang="en-US" sz="1800" b="1" dirty="0" smtClean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/>
                        <a:t>自检结论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此行用一句话描述完成状态或问题</a:t>
                      </a: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Go/No GO/ Go with risk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系统工程师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u="none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3380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2745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交付件及过程动作核查已完成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  <a:tr h="372745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《生产技术资料》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需求达成情况评价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产品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经理、系统工程师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304" y="1673514"/>
          <a:ext cx="13295630" cy="271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本阶段需要实现需求已经分解完成并与各领域进行澄清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分解后的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软件需求说明书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》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本阶段新增修改需求已经下发传递</a:t>
                      </a:r>
                      <a:endParaRPr lang="en-US" altLang="zh-C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本阶段需求是否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实现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系统工程师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 smtClean="0"/>
              <a:t>项目完成状况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项目目标达成情况说明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项目经理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1040" y="1457325"/>
            <a:ext cx="12616180" cy="113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fontAlgn="auto" latinLnBrk="0" hangingPunct="1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latin typeface="+mn-lt"/>
                <a:ea typeface="+mn-ea"/>
              </a:rPr>
              <a:t>本阶段交付件（产品</a:t>
            </a:r>
            <a:r>
              <a:rPr lang="en-US" altLang="zh-CN" sz="2000" b="1" dirty="0" smtClean="0">
                <a:latin typeface="+mn-lt"/>
                <a:ea typeface="+mn-ea"/>
              </a:rPr>
              <a:t>+</a:t>
            </a:r>
            <a:r>
              <a:rPr lang="zh-CN" altLang="en-US" sz="2000" b="1" dirty="0" smtClean="0">
                <a:latin typeface="+mn-lt"/>
                <a:ea typeface="+mn-ea"/>
              </a:rPr>
              <a:t>交付资料）完成情况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示例：本阶段要求完成**件样品，实际完成***件，其中***件已完成客户送样。当前阶段交付资料完成情况详见附件（《交付件清单》）。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</a:t>
            </a:r>
            <a:r>
              <a:rPr lang="zh-CN" altLang="en-US" sz="1600" i="1" dirty="0" smtClean="0">
                <a:solidFill>
                  <a:srgbClr val="0070C0"/>
                </a:solidFill>
                <a:sym typeface="+mn-ea"/>
              </a:rPr>
              <a:t>《交付件清单》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应在项目计划阶段由项目经理与项目组确认，形成过程文档资料基线。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9455" y="2753360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项目进度计划执行情况</a:t>
            </a: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说明：主要描述当前阶段实际进度与计划进度之间的对比，包括在过程中识别到的问题和风险以及对应的解决措施。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91210" y="4121785"/>
            <a:ext cx="12256135" cy="8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sz="2000" b="1" dirty="0" smtClean="0">
                <a:latin typeface="+mn-lt"/>
                <a:ea typeface="+mn-ea"/>
              </a:rPr>
              <a:t>本阶段遗留问题描述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（此处不列举具体问题，仅对遗留问题状态进行描述）</a:t>
            </a:r>
            <a:endParaRPr lang="zh-CN" sz="2000" b="1" dirty="0" smtClean="0">
              <a:latin typeface="+mn-lt"/>
              <a:ea typeface="+mn-ea"/>
            </a:endParaRPr>
          </a:p>
          <a:p>
            <a:pPr algn="l" latinLnBrk="0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600" i="1" dirty="0" smtClean="0">
                <a:solidFill>
                  <a:srgbClr val="0070C0"/>
                </a:solidFill>
              </a:rPr>
              <a:t>示例：目前遗留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个问题暂未关闭（详见禅道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BUG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列表），其中有</a:t>
            </a:r>
            <a:r>
              <a:rPr lang="en-US" altLang="zh-CN" sz="1600" i="1" dirty="0" smtClean="0">
                <a:solidFill>
                  <a:srgbClr val="0070C0"/>
                </a:solidFill>
              </a:rPr>
              <a:t>**</a:t>
            </a:r>
            <a:r>
              <a:rPr lang="zh-CN" altLang="en-US" sz="1600" i="1" dirty="0" smtClean="0">
                <a:solidFill>
                  <a:srgbClr val="0070C0"/>
                </a:solidFill>
              </a:rPr>
              <a:t>个问题在当前阶段难以解决但已决策完成。</a:t>
            </a:r>
            <a:endParaRPr lang="en-US" sz="1600" i="1" dirty="0" smtClean="0">
              <a:solidFill>
                <a:srgbClr val="0070C0"/>
              </a:solidFill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80215" y="95313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showAsIcon="1" r:id="rId6" imgW="971550" imgH="666750" progId="Excel.Sheet.12">
                  <p:embed/>
                </p:oleObj>
              </mc:Choice>
              <mc:Fallback>
                <p:oleObj showAsIcon="1" r:id="rId6" imgW="971550" imgH="66675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80215" y="95313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结构达成情况审视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9449" y="18176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规格实现评估</a:t>
            </a:r>
            <a:endParaRPr lang="zh-CN" altLang="en-US" sz="2400" dirty="0"/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9455" y="2407920"/>
          <a:ext cx="12775565" cy="2101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7365"/>
                <a:gridCol w="3846830"/>
                <a:gridCol w="7151370"/>
              </a:tblGrid>
              <a:tr h="4749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000" dirty="0" smtClean="0"/>
                        <a:t>关键指标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 smtClean="0"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完成情况</a:t>
                      </a:r>
                    </a:p>
                  </a:txBody>
                  <a:tcPr/>
                </a:tc>
              </a:tr>
              <a:tr h="4699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功能实现性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《技术规格说明书》中功能指标要求实现情况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6863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可装配性</a:t>
                      </a:r>
                      <a:r>
                        <a:rPr lang="en-US" altLang="zh-CN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DFA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依据系统结构设计对产品进行装配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08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可靠性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《技术规格说明书》中对于安全规格，环境试验等指标要求实现情况</a:t>
                      </a: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目前暂未进行该项指标验证测试，计划在工程样机阶段进行验证。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7065" y="1332230"/>
            <a:ext cx="12470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标准：关键指标实现，</a:t>
            </a:r>
            <a:r>
              <a:rPr lang="en-US" altLang="zh-CN" sz="2000" i="1" dirty="0" err="1">
                <a:solidFill>
                  <a:srgbClr val="0000FF"/>
                </a:solidFill>
              </a:rPr>
              <a:t>影响装机的关键问题已解决或有明确的解决方案</a:t>
            </a:r>
            <a:r>
              <a:rPr lang="zh-CN" altLang="en-US" sz="2000" i="1" dirty="0">
                <a:solidFill>
                  <a:srgbClr val="0000FF"/>
                </a:solidFill>
              </a:rPr>
              <a:t>。</a:t>
            </a:r>
            <a:endParaRPr lang="en-US" altLang="zh-CN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结构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5304" y="80880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结构达成情况审视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75304" y="13324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过程评估</a:t>
            </a:r>
            <a:endParaRPr lang="zh-CN" altLang="en-US" sz="24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5310" y="1817370"/>
          <a:ext cx="12663805" cy="2302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67650"/>
                <a:gridCol w="479615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状态描述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设计阶段遗留问题是否均已关闭？未关闭问题是否有明确解决方案？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图纸是否齐套？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物料准备是否齐全？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2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是否输出《</a:t>
                      </a: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原理样机装机问题报告》？</a:t>
                      </a: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装机发现问题是否已关闭？遗留问题是否已有明确解决方案？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结构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结构遗留问题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57325"/>
          <a:ext cx="13350240" cy="313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标注 12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结构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硬件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硬件达成</a:t>
            </a:r>
            <a:r>
              <a:rPr lang="zh-CN" altLang="en-US" sz="2800" b="1" dirty="0">
                <a:solidFill>
                  <a:srgbClr val="FF0000"/>
                </a:solidFill>
              </a:rPr>
              <a:t>情况审视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硬件工程师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7065" y="1332230"/>
            <a:ext cx="13260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标准：方案确定，基本功能实现，关键器件确定，关键指标满足</a:t>
            </a:r>
            <a:r>
              <a:rPr lang="en-US" altLang="zh-CN" sz="2000" i="1" dirty="0">
                <a:solidFill>
                  <a:srgbClr val="0000FF"/>
                </a:solidFill>
              </a:rPr>
              <a:t>(</a:t>
            </a:r>
            <a:r>
              <a:rPr lang="zh-CN" altLang="en-US" sz="2000" i="1" dirty="0">
                <a:solidFill>
                  <a:srgbClr val="0000FF"/>
                </a:solidFill>
              </a:rPr>
              <a:t>如不满足的有明确的改板方案）</a:t>
            </a:r>
            <a:r>
              <a:rPr lang="zh-CN" altLang="en-US" sz="2400" i="1" dirty="0">
                <a:solidFill>
                  <a:srgbClr val="0000FF"/>
                </a:solidFill>
              </a:rPr>
              <a:t>；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29285" y="2349500"/>
          <a:ext cx="13295630" cy="3065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1275"/>
                <a:gridCol w="4886325"/>
                <a:gridCol w="4558030"/>
              </a:tblGrid>
              <a:tr h="48387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>
                          <a:sym typeface="+mn-ea"/>
                        </a:rPr>
                        <a:t>状态描述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产出物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原理图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PCB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等设计阶段评审遗留问题是否已解决或有明确解决方案？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《设计评审报告》、评审问题跟踪记录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是否编写单元测试用例并进行评审？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《单元测试用例》、《硬件测试用例评审报告》</a:t>
                      </a:r>
                    </a:p>
                  </a:txBody>
                  <a:tcPr/>
                </a:tc>
              </a:tr>
              <a:tr h="4019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是否进行自测？测试用例覆盖率是否为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《测试用例执行记录》</a:t>
                      </a:r>
                    </a:p>
                  </a:txBody>
                  <a:tcPr/>
                </a:tc>
              </a:tr>
              <a:tr h="40132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自测发现问题是否均已解决或有明确解决方案？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测试问题跟踪记录</a:t>
                      </a: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是否存在改板？改板方案是否进行评审？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改板方案评审记录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6"/>
          <p:cNvSpPr txBox="1"/>
          <p:nvPr/>
        </p:nvSpPr>
        <p:spPr>
          <a:xfrm>
            <a:off x="647694" y="1889367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 smtClean="0">
                <a:sym typeface="+mn-ea"/>
              </a:rPr>
              <a:t>规格实现</a:t>
            </a:r>
            <a:r>
              <a:rPr lang="en-US" altLang="zh-CN" sz="2400" dirty="0" smtClean="0">
                <a:sym typeface="+mn-ea"/>
              </a:rPr>
              <a:t>/</a:t>
            </a:r>
            <a:r>
              <a:rPr lang="zh-CN" altLang="en-US" sz="2400" dirty="0" smtClean="0">
                <a:sym typeface="+mn-ea"/>
              </a:rPr>
              <a:t>过程评估</a:t>
            </a:r>
            <a:endParaRPr lang="zh-CN" altLang="en-US" sz="2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硬件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硬件遗留问题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硬件工程师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00406" y="692995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如此页不够填写，复制新建页续</a:t>
            </a:r>
            <a:endParaRPr lang="zh-CN" altLang="en-US" sz="1800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57325"/>
          <a:ext cx="13350240" cy="31360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2000" dirty="0"/>
                        <a:t>责任人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关键器件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关键器件验证情况审视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物料认证工程师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655" y="1359535"/>
            <a:ext cx="13320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标准：关键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器件已确定，有明确的验证计划，替代料有明确的导入计划。</a:t>
            </a:r>
            <a:endParaRPr lang="zh-CN" altLang="en-US" sz="2000" i="1" dirty="0">
              <a:solidFill>
                <a:srgbClr val="0000FF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68655" y="1889125"/>
          <a:ext cx="13067747" cy="4132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5125"/>
                <a:gridCol w="1296108"/>
                <a:gridCol w="2232186"/>
                <a:gridCol w="2026015"/>
                <a:gridCol w="2982418"/>
                <a:gridCol w="1834401"/>
                <a:gridCol w="1061494"/>
              </a:tblGrid>
              <a:tr h="432443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关键器件</a:t>
                      </a:r>
                      <a:endParaRPr 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验证状态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文件齐</a:t>
                      </a:r>
                      <a:r>
                        <a:rPr lang="zh-CN" altLang="en-US" sz="2000" dirty="0" smtClean="0"/>
                        <a:t>套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sym typeface="+mn-ea"/>
                        </a:rPr>
                        <a:t>遗留问题</a:t>
                      </a:r>
                      <a:endParaRPr lang="zh-CN" altLang="en-US" sz="2000" dirty="0"/>
                    </a:p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责任人</a:t>
                      </a:r>
                    </a:p>
                  </a:txBody>
                  <a:tcPr/>
                </a:tc>
              </a:tr>
              <a:tr h="4889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器件1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sym typeface="+mn-ea"/>
                        </a:rPr>
                        <a:t>datasheet/选型报告等</a:t>
                      </a:r>
                      <a:endParaRPr lang="zh-CN" altLang="en-US" sz="16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暂无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器件2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71310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替代料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软件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8479" y="210526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软件规格实现评估</a:t>
            </a:r>
            <a:endParaRPr lang="zh-CN" altLang="en-US" sz="24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责任人：对应领域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309" y="1496695"/>
            <a:ext cx="12515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标准：原理样机阶段规划的功能</a:t>
            </a:r>
            <a:r>
              <a:rPr lang="en-US" altLang="zh-CN" sz="2000" i="1" dirty="0">
                <a:solidFill>
                  <a:srgbClr val="0000FF"/>
                </a:solidFill>
              </a:rPr>
              <a:t>100%</a:t>
            </a:r>
            <a:r>
              <a:rPr lang="zh-CN" altLang="en-US" sz="2000" i="1" dirty="0">
                <a:solidFill>
                  <a:srgbClr val="0000FF"/>
                </a:solidFill>
              </a:rPr>
              <a:t>实现</a:t>
            </a:r>
            <a:r>
              <a:rPr lang="en-US" altLang="zh-CN" sz="2000" i="1" dirty="0">
                <a:solidFill>
                  <a:srgbClr val="0000FF"/>
                </a:solidFill>
              </a:rPr>
              <a:t>,</a:t>
            </a:r>
            <a:r>
              <a:rPr lang="en-US" altLang="zh-CN" sz="2000" i="1" dirty="0" err="1">
                <a:solidFill>
                  <a:srgbClr val="0000FF"/>
                </a:solidFill>
              </a:rPr>
              <a:t>关键性能</a:t>
            </a:r>
            <a:r>
              <a:rPr lang="zh-CN" altLang="en-US" sz="2000" i="1" dirty="0">
                <a:solidFill>
                  <a:srgbClr val="0000FF"/>
                </a:solidFill>
              </a:rPr>
              <a:t>指标</a:t>
            </a:r>
            <a:r>
              <a:rPr lang="en-US" altLang="zh-CN" sz="2000" i="1" dirty="0" err="1">
                <a:solidFill>
                  <a:srgbClr val="0000FF"/>
                </a:solidFill>
              </a:rPr>
              <a:t>达成</a:t>
            </a:r>
            <a:r>
              <a:rPr lang="en-US" altLang="zh-CN" sz="2000" i="1" dirty="0">
                <a:solidFill>
                  <a:srgbClr val="0000FF"/>
                </a:solidFill>
              </a:rPr>
              <a:t>(</a:t>
            </a:r>
            <a:r>
              <a:rPr lang="en-US" altLang="zh-CN" sz="2000" i="1" dirty="0" err="1">
                <a:solidFill>
                  <a:srgbClr val="0000FF"/>
                </a:solidFill>
              </a:rPr>
              <a:t>如不能达成不能遗留</a:t>
            </a:r>
            <a:r>
              <a:rPr lang="zh-CN" altLang="en-US" sz="2000" i="1" dirty="0">
                <a:solidFill>
                  <a:srgbClr val="0000FF"/>
                </a:solidFill>
              </a:rPr>
              <a:t>影响试制的</a:t>
            </a:r>
            <a:r>
              <a:rPr lang="en-US" altLang="zh-CN" sz="2000" i="1" dirty="0" err="1">
                <a:solidFill>
                  <a:srgbClr val="0000FF"/>
                </a:solidFill>
              </a:rPr>
              <a:t>致命Bug</a:t>
            </a:r>
            <a:r>
              <a:rPr lang="en-US" altLang="zh-CN" sz="2000" i="1" dirty="0">
                <a:solidFill>
                  <a:srgbClr val="0000FF"/>
                </a:solidFill>
              </a:rPr>
              <a:t>)</a:t>
            </a:r>
            <a:r>
              <a:rPr lang="zh-CN" altLang="en-US" sz="2000" i="1" dirty="0">
                <a:solidFill>
                  <a:srgbClr val="0000FF"/>
                </a:solidFill>
              </a:rPr>
              <a:t>；</a:t>
            </a:r>
            <a:endParaRPr lang="en-US" altLang="zh-CN" sz="2000" i="1" dirty="0">
              <a:solidFill>
                <a:srgbClr val="0000FF"/>
              </a:solidFill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719455" y="2681288"/>
          <a:ext cx="12371388" cy="471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305"/>
                <a:gridCol w="1746885"/>
                <a:gridCol w="6404610"/>
                <a:gridCol w="1179830"/>
                <a:gridCol w="1270000"/>
                <a:gridCol w="1107758"/>
              </a:tblGrid>
              <a:tr h="342900">
                <a:tc grid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软件需求完成计划</a:t>
                      </a:r>
                      <a:endParaRPr lang="en-US" altLang="en-US" sz="14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序号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需求名称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需求描述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原理样机阶段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已完成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未完成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01开关机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02充放电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03实时界面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04主菜单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05菜单-图库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06菜单-测温档位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07菜单-发射率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08菜单-调色板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09菜单-中心点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10菜单-温度单位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软件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6688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694" y="145728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软件过程评估</a:t>
            </a:r>
            <a:endParaRPr lang="zh-CN" altLang="en-US" sz="2400" dirty="0"/>
          </a:p>
        </p:txBody>
      </p:sp>
      <p:sp>
        <p:nvSpPr>
          <p:cNvPr id="13" name="矩形标注 12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</a:t>
            </a:r>
            <a:r>
              <a:rPr lang="zh-CN" altLang="en-US" sz="1800" dirty="0">
                <a:solidFill>
                  <a:schemeClr val="tx1"/>
                </a:solidFill>
              </a:rPr>
              <a:t>：对应领域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700" y="2033270"/>
          <a:ext cx="13007975" cy="2449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9750"/>
                <a:gridCol w="4848225"/>
              </a:tblGrid>
              <a:tr h="47561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状态描述</a:t>
                      </a: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软件设计方案评审遗留问题是否均已关闭？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3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是否制定版本提测计划并按照计划执行？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sym typeface="+mn-ea"/>
                        </a:rPr>
                        <a:t>提测前是否进行自测？自测发现问题是否均已关闭？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3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是否按照规范要求进行提测？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497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本阶段遗留问题是否均已关闭？未关闭问题是否有明确解决方案？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</a:t>
            </a:r>
            <a:r>
              <a:rPr lang="zh-CN" altLang="en-US" sz="4000" b="1" dirty="0"/>
              <a:t>软件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4" name="TextBox 3"/>
          <p:cNvSpPr txBox="1"/>
          <p:nvPr/>
        </p:nvSpPr>
        <p:spPr>
          <a:xfrm>
            <a:off x="578479" y="809442"/>
            <a:ext cx="114820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软件预审（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ARM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FPGA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APP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、算法</a:t>
            </a:r>
            <a:r>
              <a:rPr lang="zh-CN" altLang="en-US" sz="2800" b="1" dirty="0">
                <a:solidFill>
                  <a:srgbClr val="FF0000"/>
                </a:solidFill>
              </a:rPr>
              <a:t>遗留问题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）（仅记录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级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BUG)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10440376" y="29518"/>
            <a:ext cx="2160180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</a:t>
            </a:r>
            <a:r>
              <a:rPr lang="zh-CN" altLang="en-US" sz="1800" dirty="0">
                <a:solidFill>
                  <a:schemeClr val="tx1"/>
                </a:solidFill>
              </a:rPr>
              <a:t>：对应领域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软件工程师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560" y="1457496"/>
          <a:ext cx="13321112" cy="3419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1925"/>
                <a:gridCol w="1499870"/>
                <a:gridCol w="1453515"/>
                <a:gridCol w="2670810"/>
                <a:gridCol w="3090819"/>
                <a:gridCol w="2066685"/>
                <a:gridCol w="1107488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禅道问题编号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严重等级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影响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风险分析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</a:p>
                  </a:txBody>
                  <a:tcPr/>
                </a:tc>
              </a:tr>
              <a:tr h="50863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无法下载帮助文档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735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ESD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花屏不可恢复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7700" y="5489575"/>
            <a:ext cx="4710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600" i="1" dirty="0" smtClean="0">
                <a:solidFill>
                  <a:srgbClr val="0070C0"/>
                </a:solidFill>
              </a:rPr>
              <a:t>附件：《禅道未关闭BUG列表》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测试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8479" y="80944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测试充分性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5" name="TextBox 25"/>
          <p:cNvSpPr txBox="1"/>
          <p:nvPr/>
        </p:nvSpPr>
        <p:spPr>
          <a:xfrm>
            <a:off x="647059" y="196153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产品测试规格实现评估（软件）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78485" y="2473812"/>
          <a:ext cx="12948285" cy="2604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52695"/>
                <a:gridCol w="4553585"/>
                <a:gridCol w="334200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提测版本</a:t>
                      </a:r>
                      <a:r>
                        <a:rPr lang="en-US" altLang="zh-CN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按领域）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关闭率</a:t>
                      </a:r>
                    </a:p>
                  </a:txBody>
                  <a:tcPr/>
                </a:tc>
              </a:tr>
              <a:tr h="42418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ARM_固件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说明：用例执行率不分领域进行统计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关闭率可根据版本进行统计</a:t>
                      </a: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FPGA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481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MCU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481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Android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2481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iOS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25"/>
          <p:cNvSpPr txBox="1"/>
          <p:nvPr/>
        </p:nvSpPr>
        <p:spPr>
          <a:xfrm>
            <a:off x="647059" y="5210198"/>
            <a:ext cx="4450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产品测试规格实现评估（硬件）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56895" y="5777717"/>
          <a:ext cx="12988290" cy="877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8110"/>
                <a:gridCol w="5711825"/>
                <a:gridCol w="3348355"/>
              </a:tblGrid>
              <a:tr h="46545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迭代次数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用例执行率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BUG</a:t>
                      </a:r>
                      <a:r>
                        <a:rPr lang="zh-CN" altLang="en-US" sz="2000" dirty="0"/>
                        <a:t>关闭率</a:t>
                      </a:r>
                    </a:p>
                  </a:txBody>
                  <a:tcPr/>
                </a:tc>
              </a:tr>
              <a:tr h="41211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说明：硬件按照整机提交测试的次数计算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  <a:buNone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buClrTx/>
                        <a:buSzTx/>
                        <a:buFontTx/>
                      </a:pPr>
                      <a:endParaRPr lang="zh-CN" altLang="en-US" sz="2000" i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75309" y="1496695"/>
            <a:ext cx="12515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i="1" dirty="0">
                <a:solidFill>
                  <a:srgbClr val="0000FF"/>
                </a:solidFill>
              </a:rPr>
              <a:t>标准</a:t>
            </a:r>
            <a:r>
              <a:rPr lang="zh-CN" altLang="en-US" sz="2000" i="1" dirty="0" smtClean="0">
                <a:solidFill>
                  <a:srgbClr val="0000FF"/>
                </a:solidFill>
              </a:rPr>
              <a:t>：全量测试完成，相关问题录入禅道跟踪，认证测试计划输出</a:t>
            </a:r>
            <a:endParaRPr lang="en-US" altLang="zh-CN" sz="2000" i="1" dirty="0">
              <a:solidFill>
                <a:srgbClr val="0000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/>
              <a:t>测试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>
                <a:solidFill>
                  <a:schemeClr val="accent5">
                    <a:lumMod val="75000"/>
                  </a:schemeClr>
                </a:solidFill>
              </a:rPr>
              <a:t>测试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工程师</a:t>
            </a:r>
            <a:endParaRPr lang="zh-CN" altLang="en-US" sz="18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059" y="148670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测试过程评估</a:t>
            </a:r>
            <a:endParaRPr lang="zh-CN" alt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578479" y="80944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测试充分性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47065" y="2033270"/>
          <a:ext cx="13115290" cy="242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8375"/>
                <a:gridCol w="452691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sz="2000" dirty="0" smtClean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状态描述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《测试用例》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i="1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含认证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评审问题是否均已关闭？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对应版本提测计划是否制定测试工作计划？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测试用例执行情况及问题跟踪记录？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是否输出《测试报告》？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r>
                        <a:rPr lang="zh-CN" altLang="en-US" sz="2000" i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—CFT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sz="1800" i="1" dirty="0">
                <a:solidFill>
                  <a:schemeClr val="accent5">
                    <a:lumMod val="75000"/>
                  </a:schemeClr>
                </a:solidFill>
              </a:rPr>
              <a:t>结构工程师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479" y="8094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样机装机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8490" y="1461135"/>
            <a:ext cx="4709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rgbClr val="0000FF"/>
                </a:solidFill>
              </a:rPr>
              <a:t>标准：无影响装机严重问题遗留。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065" y="2033270"/>
          <a:ext cx="13350240" cy="31360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6650"/>
                <a:gridCol w="3919855"/>
                <a:gridCol w="2778760"/>
                <a:gridCol w="17049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遗留问题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应对措施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计划完成时间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责任人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 smtClean="0"/>
              <a:t>—</a:t>
            </a:r>
            <a:r>
              <a:rPr lang="zh-CN" altLang="en-US" sz="4000" b="1" dirty="0" smtClean="0"/>
              <a:t>物料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zh-CN" altLang="en-US" sz="1800" i="1" dirty="0" smtClean="0">
                <a:solidFill>
                  <a:schemeClr val="accent5">
                    <a:lumMod val="75000"/>
                  </a:schemeClr>
                </a:solidFill>
              </a:rPr>
              <a:t>采购工程师</a:t>
            </a:r>
            <a:endParaRPr lang="en-US" altLang="zh-CN" sz="1800" i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8479" y="1457496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dirty="0" smtClean="0"/>
              <a:t>物料</a:t>
            </a:r>
            <a:r>
              <a:rPr lang="zh-CN" altLang="en-US" sz="2400" dirty="0"/>
              <a:t>供应情况</a:t>
            </a:r>
            <a:endParaRPr lang="zh-CN" altLang="en-US" sz="2000" i="1">
              <a:solidFill>
                <a:schemeClr val="accent5">
                  <a:lumMod val="60000"/>
                  <a:lumOff val="4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67369" y="2033376"/>
            <a:ext cx="1281706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altLang="zh-CN" sz="2400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物料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3555" y="2033270"/>
          <a:ext cx="12919075" cy="3166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7145"/>
                <a:gridCol w="1666240"/>
                <a:gridCol w="880110"/>
                <a:gridCol w="1162685"/>
                <a:gridCol w="887095"/>
                <a:gridCol w="1172210"/>
                <a:gridCol w="1243965"/>
                <a:gridCol w="1101725"/>
                <a:gridCol w="1264285"/>
                <a:gridCol w="1209040"/>
                <a:gridCol w="10445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物料编码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单价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总价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供应商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/>
                        <a:t>物料状态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交期</a:t>
                      </a:r>
                      <a:r>
                        <a:rPr lang="en-US" altLang="zh-CN" sz="2000" dirty="0"/>
                        <a:t>(LT)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库存数量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在途数量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dirty="0"/>
                        <a:t>备注</a:t>
                      </a:r>
                    </a:p>
                  </a:txBody>
                  <a:tcPr/>
                </a:tc>
              </a:tr>
              <a:tr h="478790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长交期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/>
                    </a:p>
                  </a:txBody>
                  <a:tcPr/>
                </a:tc>
              </a:tr>
              <a:tr h="448310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高风险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已停产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替代物料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8310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i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/>
              <a:t>3</a:t>
            </a:r>
            <a:r>
              <a:rPr lang="en-US" altLang="zh-CN" sz="4000" b="1" dirty="0" smtClean="0"/>
              <a:t>.</a:t>
            </a:r>
            <a:r>
              <a:rPr lang="zh-CN" altLang="en-US" sz="4000" b="1" dirty="0"/>
              <a:t>领域质量</a:t>
            </a:r>
            <a:r>
              <a:rPr lang="zh-CN" altLang="en-US" sz="4000" b="1" dirty="0" smtClean="0"/>
              <a:t>评审</a:t>
            </a:r>
            <a:r>
              <a:rPr lang="en-US" altLang="zh-CN" sz="4000" b="1" dirty="0"/>
              <a:t>—</a:t>
            </a:r>
            <a:r>
              <a:rPr lang="zh-CN" altLang="en-US" sz="4000" b="1" dirty="0"/>
              <a:t>质量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14" name="矩形标注 13"/>
          <p:cNvSpPr/>
          <p:nvPr/>
        </p:nvSpPr>
        <p:spPr>
          <a:xfrm>
            <a:off x="10440376" y="29518"/>
            <a:ext cx="2304192" cy="612648"/>
          </a:xfrm>
          <a:prstGeom prst="wedgeRectCallout">
            <a:avLst>
              <a:gd name="adj1" fmla="val -83333"/>
              <a:gd name="adj2" fmla="val 421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solidFill>
                  <a:schemeClr val="tx1"/>
                </a:solidFill>
              </a:rPr>
              <a:t>责任人：</a:t>
            </a:r>
            <a:r>
              <a:rPr lang="en-US" altLang="zh-CN" sz="1800" i="1" dirty="0">
                <a:solidFill>
                  <a:schemeClr val="accent5">
                    <a:lumMod val="75000"/>
                  </a:schemeClr>
                </a:solidFill>
              </a:rPr>
              <a:t>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479" y="80944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质量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47700" y="1485265"/>
          <a:ext cx="13294995" cy="485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3095"/>
                <a:gridCol w="885190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状态描述</a:t>
                      </a:r>
                      <a:endParaRPr lang="en-US" altLang="zh-CN" sz="2000" dirty="0"/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质量策划评审完成，当前阶段新增风险闭环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03325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项目质量策划于**（日期）发起评审，**评审通过，共识别**个新增风险问题，已关闭**个，其中**已制定解决方案并达成一致，**个存在风险</a:t>
                      </a: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历史经验教训关闭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质量策划阶段共识别**个问题，已关闭**个，其中**已制定解决方案并达成一致，**个存在风险</a:t>
                      </a: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过程规范性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（软、硬件、结构、测试）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示例：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硬件：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、设计阶段遗留问题有解决方案；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、单元测试用例评审完成，单元测试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完成，遗留问题有跟踪；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、改版过程规范经过评审；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、交付件输出及质量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按照软件版本管理规范执行，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软件版本命名、提测流程规范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i="1" kern="120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、自测试规范完成</a:t>
                      </a:r>
                      <a:endParaRPr lang="en-US" altLang="zh-CN" sz="1600" i="1" kern="120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结构：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、设计按规则执行情况 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、交付件修改及评审完成，意见闭环 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、装机问题解决，不遗留严重问题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测试：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、测试用例评审 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、用例执行情况</a:t>
                      </a:r>
                      <a:r>
                        <a:rPr lang="en-US" altLang="zh-CN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100%,</a:t>
                      </a: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完成全量测试 </a:t>
                      </a:r>
                      <a:endParaRPr lang="en-US" altLang="zh-CN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r>
                        <a:rPr lang="en-US" altLang="zh-CN" sz="20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endParaRPr lang="zh-CN" altLang="en-US" sz="2000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endParaRPr lang="zh-CN" altLang="en-US" sz="2000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endParaRPr lang="zh-CN" altLang="en-US" sz="2000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endParaRPr lang="zh-CN" altLang="en-US" sz="2000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</a:pPr>
                      <a:endParaRPr lang="zh-CN" altLang="en-US" sz="2000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490" y="0"/>
            <a:ext cx="10058400" cy="7543800"/>
          </a:xfrm>
          <a:prstGeom prst="rect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03238" y="0"/>
            <a:ext cx="12241212" cy="655638"/>
          </a:xfrm>
        </p:spPr>
        <p:txBody>
          <a:bodyPr/>
          <a:lstStyle/>
          <a:p>
            <a:pPr>
              <a:defRPr/>
            </a:pPr>
            <a:r>
              <a:rPr lang="en-US" altLang="zh-CN" sz="4000" b="1" dirty="0" smtClean="0"/>
              <a:t>4.</a:t>
            </a:r>
            <a:r>
              <a:rPr lang="zh-CN" altLang="en-US" sz="4000" b="1" dirty="0" smtClean="0"/>
              <a:t>评审结论</a:t>
            </a:r>
            <a:endParaRPr lang="zh-CN" altLang="en-US" sz="4000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1542" y="775345"/>
          <a:ext cx="13321110" cy="7021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20"/>
                <a:gridCol w="2664222"/>
                <a:gridCol w="9216768"/>
              </a:tblGrid>
              <a:tr h="3999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评审结论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评审意见 </a:t>
                      </a: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3561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系统工程师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lvl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光学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硬件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99944">
                <a:tc>
                  <a:txBody>
                    <a:bodyPr/>
                    <a:lstStyle/>
                    <a:p>
                      <a:pPr marL="0" marR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55332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70293">
                <a:tc>
                  <a:txBody>
                    <a:bodyPr/>
                    <a:lstStyle/>
                    <a:p>
                      <a:pPr marL="0" marR="0" indent="0" algn="l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整体结论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GO/</a:t>
                      </a: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No</a:t>
                      </a:r>
                      <a:r>
                        <a:rPr lang="zh-CN" altLang="en-US" sz="1600" i="1" baseline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Go/</a:t>
                      </a:r>
                    </a:p>
                    <a:p>
                      <a:pPr algn="l" eaLnBrk="0" fontAlgn="base" hangingPunct="0">
                        <a:buClrTx/>
                        <a:buSzTx/>
                        <a:buFontTx/>
                        <a:defRPr/>
                      </a:pPr>
                      <a:r>
                        <a:rPr lang="zh-CN" altLang="en-US" sz="1600" i="1" baseline="0" dirty="0" smtClean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Go with risk</a:t>
                      </a:r>
                      <a:endParaRPr lang="zh-CN" altLang="en-US" sz="1600" i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09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pPr eaLnBrk="1" fontAlgn="auto" hangingPunct="1">
              <a:defRPr/>
            </a:pPr>
            <a:r>
              <a:rPr lang="en-US" altLang="zh-CN" sz="8000" noProof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noProof="1">
              <a:solidFill>
                <a:schemeClr val="bg1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39788" y="5705475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武汉高德智感科技有限公司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Wuhan Guide Sensmart Tech Co.,Ltd.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39788" y="6713538"/>
            <a:ext cx="2400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T  +86-27-81298783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F  +86-27-81298345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879725" y="6713538"/>
            <a:ext cx="345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E   Mei@guide-infrared.com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</a:rPr>
              <a:t>W  www.guideir.com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39788" y="6210300"/>
            <a:ext cx="13536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0332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湖北省武汉市东湖开发区光谷大道黄龙山南路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</a:rPr>
              <a:t>号，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430205</a:t>
            </a:r>
          </a:p>
          <a:p>
            <a:pPr eaLnBrk="1" hangingPunct="1"/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</a:rPr>
              <a:t>No.6 Huanglongshan South Rd,Wuhan,430205,P.R.China</a:t>
            </a:r>
            <a:endParaRPr lang="zh-CN" altLang="en-US" sz="120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9736" y="2464985"/>
          <a:ext cx="12984870" cy="255117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26540"/>
                <a:gridCol w="7130040"/>
                <a:gridCol w="4328290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版本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修订内容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时间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V0.5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初版试行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20201124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203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smtClean="0"/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正式发布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20201230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ym typeface="+mn-ea"/>
                        </a:rPr>
                        <a:t>V2.0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/>
                        <a:t>1</a:t>
                      </a:r>
                      <a:r>
                        <a:rPr lang="zh-CN" altLang="en-US" sz="2000" dirty="0"/>
                        <a:t>、基于原模板按阶段进行拆分；</a:t>
                      </a:r>
                    </a:p>
                    <a:p>
                      <a:pPr algn="l"/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、增加各转阶段整体目标描述；</a:t>
                      </a:r>
                    </a:p>
                    <a:p>
                      <a:pPr algn="l"/>
                      <a:r>
                        <a:rPr lang="en-US" altLang="zh-CN" sz="2000" dirty="0"/>
                        <a:t>3</a:t>
                      </a:r>
                      <a:r>
                        <a:rPr lang="zh-CN" altLang="en-US" sz="2000" dirty="0"/>
                        <a:t>、结合各领域工作场景，从</a:t>
                      </a:r>
                      <a:r>
                        <a:rPr lang="en-US" altLang="zh-CN" sz="2000" dirty="0"/>
                        <a:t>“</a:t>
                      </a:r>
                      <a:r>
                        <a:rPr lang="zh-CN" altLang="en-US" sz="2000" dirty="0"/>
                        <a:t>规格实现</a:t>
                      </a:r>
                      <a:r>
                        <a:rPr lang="en-US" altLang="zh-CN" sz="2000" dirty="0"/>
                        <a:t>”</a:t>
                      </a:r>
                      <a:r>
                        <a:rPr lang="zh-CN" altLang="en-US" sz="2000" dirty="0"/>
                        <a:t>、</a:t>
                      </a:r>
                      <a:r>
                        <a:rPr lang="en-US" altLang="zh-CN" sz="2000" dirty="0"/>
                        <a:t>“</a:t>
                      </a:r>
                      <a:r>
                        <a:rPr lang="zh-CN" altLang="en-US" sz="2000" dirty="0"/>
                        <a:t>过程规范性</a:t>
                      </a:r>
                      <a:r>
                        <a:rPr lang="en-US" altLang="zh-CN" sz="2000" dirty="0"/>
                        <a:t>”</a:t>
                      </a:r>
                      <a:r>
                        <a:rPr lang="zh-CN" altLang="en-US" sz="2000" dirty="0"/>
                        <a:t>、</a:t>
                      </a:r>
                      <a:r>
                        <a:rPr lang="en-US" altLang="zh-CN" sz="2000" dirty="0"/>
                        <a:t>“</a:t>
                      </a:r>
                      <a:r>
                        <a:rPr lang="zh-CN" altLang="en-US" sz="2000" dirty="0"/>
                        <a:t>遗留问题</a:t>
                      </a:r>
                      <a:r>
                        <a:rPr lang="en-US" altLang="zh-CN" sz="2000" dirty="0"/>
                        <a:t>”</a:t>
                      </a:r>
                      <a:r>
                        <a:rPr lang="zh-CN" altLang="en-US" sz="2000" dirty="0"/>
                        <a:t>三个方面对当前阶段工作完成情况进行描述。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20210617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138" y="203327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本文档版本记录：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12d2252-53d0-452a-a24f-9c0086f0e20c}"/>
  <p:tag name="TABLE_ENDDRAG_ORIGIN_RECT" val="1045*485"/>
  <p:tag name="TABLE_ENDDRAG_RECT" val="43*150*1045*4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05*227"/>
  <p:tag name="TABLE_ENDDRAG_RECT" val="50*175*1005*22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997*181"/>
  <p:tag name="TABLE_ENDDRAG_RECT" val="45*143*997*1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46*196"/>
  <p:tag name="TABLE_ENDDRAG_RECT" val="48*375*1046*19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1880,&quot;width&quot;:15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8*272"/>
  <p:tag name="TABLE_ENDDRAG_RECT" val="52*148*1028*27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d99f4d9-55f2-450e-a943-0fb75825f6f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24*192"/>
  <p:tag name="TABLE_ENDDRAG_RECT" val="51*160*1024*19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7dec9c-7dcd-49d3-8c62-bbb8dc48c675}"/>
  <p:tag name="TABLE_ENDDRAG_ORIGIN_RECT" val="1019*205"/>
  <p:tag name="TABLE_ENDDRAG_RECT" val="45*143*1019*20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b7dec9c-7dcd-49d3-8c62-bbb8dc48c675}"/>
  <p:tag name="TABLE_ENDDRAG_ORIGIN_RECT" val="1022*69"/>
  <p:tag name="TABLE_ENDDRAG_RECT" val="43*403*1022*6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4750a58-6df6-410d-bb4d-6454d7aaa5de}"/>
  <p:tag name="TABLE_ENDDRAG_ORIGIN_RECT" val="1032*186"/>
  <p:tag name="TABLE_ENDDRAG_RECT" val="50*171*1032*18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51*244"/>
  <p:tag name="TABLE_ENDDRAG_RECT" val="51*114*1051*2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17*292"/>
  <p:tag name="TABLE_ENDDRAG_RECT" val="39*160*1017*29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2cfea87-8450-4879-a7f5-df8201cb66ec}"/>
  <p:tag name="TABLE_ENDDRAG_ORIGIN_RECT" val="1046*245"/>
  <p:tag name="TABLE_ENDDRAG_RECT" val="51*116*1046*24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b0de9e5-e611-4911-b7e6-3d8b23efdca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02c0824-8677-4ba7-a6e3-dfcfc32ad64f}"/>
</p:tagLst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2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3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4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5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ppt/theme/themeOverride6.xml><?xml version="1.0" encoding="utf-8"?>
<a:themeOverride xmlns:a="http://schemas.openxmlformats.org/drawingml/2006/main">
  <a:clrScheme name="高德智感">
    <a:dk1>
      <a:srgbClr val="000000"/>
    </a:dk1>
    <a:lt1>
      <a:srgbClr val="F5F5F5"/>
    </a:lt1>
    <a:dk2>
      <a:srgbClr val="C90915"/>
    </a:dk2>
    <a:lt2>
      <a:srgbClr val="B4B4B4"/>
    </a:lt2>
    <a:accent1>
      <a:srgbClr val="FFF100"/>
    </a:accent1>
    <a:accent2>
      <a:srgbClr val="6A258A"/>
    </a:accent2>
    <a:accent3>
      <a:srgbClr val="3D9740"/>
    </a:accent3>
    <a:accent4>
      <a:srgbClr val="E62E8B"/>
    </a:accent4>
    <a:accent5>
      <a:srgbClr val="1D50A2"/>
    </a:accent5>
    <a:accent6>
      <a:srgbClr val="FFFFFF"/>
    </a:accent6>
    <a:hlink>
      <a:srgbClr val="000099"/>
    </a:hlink>
    <a:folHlink>
      <a:srgbClr val="5F5F5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1795</Words>
  <Application>Microsoft Office PowerPoint</Application>
  <PresentationFormat>自定义</PresentationFormat>
  <Paragraphs>385</Paragraphs>
  <Slides>22</Slides>
  <Notes>20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Office 主题</vt:lpstr>
      <vt:lpstr>Microsoft Excel 工作表</vt:lpstr>
      <vt:lpstr>PowerPoint 演示文稿</vt:lpstr>
      <vt:lpstr>PowerPoint 演示文稿</vt:lpstr>
      <vt:lpstr>1.项目背景简介</vt:lpstr>
      <vt:lpstr>2.项目完成状况</vt:lpstr>
      <vt:lpstr>3.项目完成状况</vt:lpstr>
      <vt:lpstr>3.项目完成状况</vt:lpstr>
      <vt:lpstr>3.领域质量评审—结构</vt:lpstr>
      <vt:lpstr>3.领域质量评审—结构</vt:lpstr>
      <vt:lpstr>3.领域质量评审—结构</vt:lpstr>
      <vt:lpstr>3.领域质量评审—硬件</vt:lpstr>
      <vt:lpstr>3.领域质量评审—硬件</vt:lpstr>
      <vt:lpstr>3.领域质量评审—关键器件</vt:lpstr>
      <vt:lpstr>3.领域质量评审—软件</vt:lpstr>
      <vt:lpstr>3.领域质量评审—软件</vt:lpstr>
      <vt:lpstr>3.领域质量评审—软件</vt:lpstr>
      <vt:lpstr>3.领域质量评审—测试</vt:lpstr>
      <vt:lpstr>3.领域质量评审—测试</vt:lpstr>
      <vt:lpstr>3.领域质量评审—CFT</vt:lpstr>
      <vt:lpstr>3.领域质量评审—物料</vt:lpstr>
      <vt:lpstr>3.领域质量评审—质量</vt:lpstr>
      <vt:lpstr>4.评审结论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USER-</cp:lastModifiedBy>
  <cp:revision>1234</cp:revision>
  <dcterms:created xsi:type="dcterms:W3CDTF">2015-07-01T09:37:00Z</dcterms:created>
  <dcterms:modified xsi:type="dcterms:W3CDTF">2021-06-25T02:20:23Z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AE6F33E53E454287B507DDF3C54603BD</vt:lpwstr>
  </property>
</Properties>
</file>