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heme/themeOverride2.xml" ContentType="application/vnd.openxmlformats-officedocument.themeOverr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heme/themeOverride3.xml" ContentType="application/vnd.openxmlformats-officedocument.themeOverr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heme/themeOverride4.xml" ContentType="application/vnd.openxmlformats-officedocument.themeOverr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heme/themeOverride5.xml" ContentType="application/vnd.openxmlformats-officedocument.themeOverride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ppt/theme/themeOverride6.xml" ContentType="application/vnd.openxmlformats-officedocument.themeOverr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7.xml" ContentType="application/vnd.openxmlformats-officedocument.presentationml.notesSlide+xml"/>
  <Override PartName="/ppt/theme/themeOverride7.xml" ContentType="application/vnd.openxmlformats-officedocument.themeOverride+xml"/>
  <Override PartName="/ppt/tags/tag16.xml" ContentType="application/vnd.openxmlformats-officedocument.presentationml.tags+xml"/>
  <Override PartName="/ppt/notesSlides/notesSlide18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22.xml" ContentType="application/vnd.openxmlformats-officedocument.presentationml.tags+xml"/>
  <Override PartName="/ppt/notesSlides/notesSlide24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25.xml" ContentType="application/vnd.openxmlformats-officedocument.presentationml.notesSlide+xml"/>
  <Override PartName="/ppt/tags/tag26.xml" ContentType="application/vnd.openxmlformats-officedocument.presentationml.tags+xml"/>
  <Override PartName="/ppt/notesSlides/notesSlide26.xml" ContentType="application/vnd.openxmlformats-officedocument.presentationml.notesSlide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67" r:id="rId2"/>
    <p:sldId id="312" r:id="rId3"/>
    <p:sldId id="314" r:id="rId4"/>
    <p:sldId id="397" r:id="rId5"/>
    <p:sldId id="342" r:id="rId6"/>
    <p:sldId id="490" r:id="rId7"/>
    <p:sldId id="452" r:id="rId8"/>
    <p:sldId id="398" r:id="rId9"/>
    <p:sldId id="376" r:id="rId10"/>
    <p:sldId id="331" r:id="rId11"/>
    <p:sldId id="364" r:id="rId12"/>
    <p:sldId id="363" r:id="rId13"/>
    <p:sldId id="362" r:id="rId14"/>
    <p:sldId id="475" r:id="rId15"/>
    <p:sldId id="329" r:id="rId16"/>
    <p:sldId id="389" r:id="rId17"/>
    <p:sldId id="321" r:id="rId18"/>
    <p:sldId id="344" r:id="rId19"/>
    <p:sldId id="414" r:id="rId20"/>
    <p:sldId id="442" r:id="rId21"/>
    <p:sldId id="443" r:id="rId22"/>
    <p:sldId id="346" r:id="rId23"/>
    <p:sldId id="491" r:id="rId24"/>
    <p:sldId id="420" r:id="rId25"/>
    <p:sldId id="453" r:id="rId26"/>
    <p:sldId id="454" r:id="rId27"/>
    <p:sldId id="327" r:id="rId28"/>
    <p:sldId id="308" r:id="rId29"/>
  </p:sldIdLst>
  <p:sldSz cx="14400213" cy="8099425"/>
  <p:notesSz cx="6858000" cy="9144000"/>
  <p:defaultTextStyle>
    <a:defPPr>
      <a:defRPr lang="zh-CN"/>
    </a:defPPr>
    <a:lvl1pPr algn="l" defTabSz="1203325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601980" indent="-144780" algn="l" defTabSz="1203325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1203325" indent="-288925" algn="l" defTabSz="1203325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805305" indent="-433705" algn="l" defTabSz="1203325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2406650" indent="-577850" algn="l" defTabSz="1203325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00FF"/>
    <a:srgbClr val="F9EEFC"/>
    <a:srgbClr val="0098D8"/>
    <a:srgbClr val="007DC2"/>
    <a:srgbClr val="FFFFFF"/>
    <a:srgbClr val="A50021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4704" autoAdjust="0"/>
  </p:normalViewPr>
  <p:slideViewPr>
    <p:cSldViewPr>
      <p:cViewPr varScale="1">
        <p:scale>
          <a:sx n="85" d="100"/>
          <a:sy n="85" d="100"/>
        </p:scale>
        <p:origin x="-1164" y="-138"/>
      </p:cViewPr>
      <p:guideLst>
        <p:guide orient="horz" pos="3275"/>
        <p:guide pos="46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3805FD78-5E21-4986-84DA-A8052C630C57}" type="datetimeFigureOut">
              <a:rPr lang="zh-CN" altLang="en-US"/>
              <a:t>2021/7/2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53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B725D2C4-7552-4621-9CDB-47DCA4137C29}" type="slidenum">
              <a:rPr altLang="en-US"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57783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23555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2355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fld id="{3E91D1F7-A836-451F-958A-3743625962AD}" type="slidenum">
              <a:rPr altLang="en-US" sz="1200">
                <a:latin typeface="等线" panose="02010600030101010101" pitchFamily="2" charset="-122"/>
                <a:ea typeface="等线" panose="02010600030101010101" pitchFamily="2" charset="-122"/>
              </a:rPr>
              <a:t>1</a:t>
            </a:fld>
            <a:endParaRPr lang="zh-CN" altLang="en-US" sz="1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3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4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5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6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8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9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10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11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12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13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14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15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16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18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19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20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21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22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23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24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25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26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4400213" cy="80994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pic>
        <p:nvPicPr>
          <p:cNvPr id="5" name="图片 7" descr="未标题-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4" b="2344"/>
          <a:stretch>
            <a:fillRect/>
          </a:stretch>
        </p:blipFill>
        <p:spPr bwMode="auto">
          <a:xfrm>
            <a:off x="4608513" y="3032125"/>
            <a:ext cx="9791700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993" y="1529432"/>
            <a:ext cx="6840169" cy="1736127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63993" y="3603034"/>
            <a:ext cx="6713097" cy="206985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13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03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04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06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07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09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13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DB6CEFA5-A0AC-42C7-BA46-3644487E257A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7FDB9562-F3E2-47B0-ABB5-6A4E7730D1E8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8" descr="高德智感logo中英文常规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7475" y="7453313"/>
            <a:ext cx="1223963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362" y="1"/>
            <a:ext cx="12241360" cy="665336"/>
          </a:xfrm>
          <a:prstGeom prst="rect">
            <a:avLst/>
          </a:prstGeo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2013" y="953368"/>
            <a:ext cx="12818190" cy="6281744"/>
          </a:xfrm>
          <a:prstGeom prst="rect">
            <a:avLst/>
          </a:prstGeom>
        </p:spPr>
        <p:txBody>
          <a:bodyPr/>
          <a:lstStyle>
            <a:lvl1pPr>
              <a:buNone/>
              <a:defRPr sz="4400" b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A178F329-785F-43EB-8ECE-6605EFA0E163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1180269" y="7525642"/>
            <a:ext cx="16383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/>
              <a:t>ZGKJ-QR-352 A0 </a:t>
            </a:r>
            <a:endParaRPr lang="zh-CN" alt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4400213" cy="80994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519" y="5204631"/>
            <a:ext cx="12240181" cy="1608636"/>
          </a:xfrm>
          <a:prstGeom prst="rect">
            <a:avLst/>
          </a:prstGeom>
        </p:spPr>
        <p:txBody>
          <a:bodyPr anchor="t"/>
          <a:lstStyle>
            <a:lvl1pPr algn="l">
              <a:defRPr sz="5245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37519" y="3432884"/>
            <a:ext cx="12240181" cy="17717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20">
                <a:solidFill>
                  <a:schemeClr val="tx1">
                    <a:tint val="75000"/>
                  </a:schemeClr>
                </a:solidFill>
              </a:defRPr>
            </a:lvl1pPr>
            <a:lvl2pPr marL="601345" indent="0">
              <a:buNone/>
              <a:defRPr sz="2340">
                <a:solidFill>
                  <a:schemeClr val="tx1">
                    <a:tint val="75000"/>
                  </a:schemeClr>
                </a:solidFill>
              </a:defRPr>
            </a:lvl2pPr>
            <a:lvl3pPr marL="1203325" indent="0">
              <a:buNone/>
              <a:defRPr sz="2125">
                <a:solidFill>
                  <a:schemeClr val="tx1">
                    <a:tint val="75000"/>
                  </a:schemeClr>
                </a:solidFill>
              </a:defRPr>
            </a:lvl3pPr>
            <a:lvl4pPr marL="180467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4pPr>
            <a:lvl5pPr marL="240665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5pPr>
            <a:lvl6pPr marL="3007995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6pPr>
            <a:lvl7pPr marL="3609975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7pPr>
            <a:lvl8pPr marL="421132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8pPr>
            <a:lvl9pPr marL="481330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99BC1BC3-3E60-4995-B61B-FAF4C10E7CBF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DB9CF13B-C3F4-4B7D-961A-1638CAABBF09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20011" y="1889866"/>
            <a:ext cx="6360094" cy="5345246"/>
          </a:xfrm>
          <a:prstGeom prst="rect">
            <a:avLst/>
          </a:prstGeom>
        </p:spPr>
        <p:txBody>
          <a:bodyPr/>
          <a:lstStyle>
            <a:lvl1pPr>
              <a:defRPr sz="3685"/>
            </a:lvl1pPr>
            <a:lvl2pPr>
              <a:defRPr sz="3190"/>
            </a:lvl2pPr>
            <a:lvl3pPr>
              <a:defRPr sz="2620"/>
            </a:lvl3pPr>
            <a:lvl4pPr>
              <a:defRPr sz="2340"/>
            </a:lvl4pPr>
            <a:lvl5pPr>
              <a:defRPr sz="2340"/>
            </a:lvl5pPr>
            <a:lvl6pPr>
              <a:defRPr sz="2340"/>
            </a:lvl6pPr>
            <a:lvl7pPr>
              <a:defRPr sz="2340"/>
            </a:lvl7pPr>
            <a:lvl8pPr>
              <a:defRPr sz="2340"/>
            </a:lvl8pPr>
            <a:lvl9pPr>
              <a:defRPr sz="234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20108" y="1889866"/>
            <a:ext cx="6360094" cy="5345246"/>
          </a:xfrm>
          <a:prstGeom prst="rect">
            <a:avLst/>
          </a:prstGeom>
        </p:spPr>
        <p:txBody>
          <a:bodyPr/>
          <a:lstStyle>
            <a:lvl1pPr>
              <a:defRPr sz="3685"/>
            </a:lvl1pPr>
            <a:lvl2pPr>
              <a:defRPr sz="3190"/>
            </a:lvl2pPr>
            <a:lvl3pPr>
              <a:defRPr sz="2620"/>
            </a:lvl3pPr>
            <a:lvl4pPr>
              <a:defRPr sz="2340"/>
            </a:lvl4pPr>
            <a:lvl5pPr>
              <a:defRPr sz="2340"/>
            </a:lvl5pPr>
            <a:lvl6pPr>
              <a:defRPr sz="2340"/>
            </a:lvl6pPr>
            <a:lvl7pPr>
              <a:defRPr sz="2340"/>
            </a:lvl7pPr>
            <a:lvl8pPr>
              <a:defRPr sz="2340"/>
            </a:lvl8pPr>
            <a:lvl9pPr>
              <a:defRPr sz="234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D8029F4C-2C56-40F7-9E73-26079F4EC6E6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1C5011A8-9897-4712-AF9F-F3AC6E309F31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0011" y="1812997"/>
            <a:ext cx="6362595" cy="7555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190" b="1"/>
            </a:lvl1pPr>
            <a:lvl2pPr marL="601345" indent="0">
              <a:buNone/>
              <a:defRPr sz="2620" b="1"/>
            </a:lvl2pPr>
            <a:lvl3pPr marL="1203325" indent="0">
              <a:buNone/>
              <a:defRPr sz="2340" b="1"/>
            </a:lvl3pPr>
            <a:lvl4pPr marL="1804670" indent="0">
              <a:buNone/>
              <a:defRPr sz="2125" b="1"/>
            </a:lvl4pPr>
            <a:lvl5pPr marL="2406650" indent="0">
              <a:buNone/>
              <a:defRPr sz="2125" b="1"/>
            </a:lvl5pPr>
            <a:lvl6pPr marL="3007995" indent="0">
              <a:buNone/>
              <a:defRPr sz="2125" b="1"/>
            </a:lvl6pPr>
            <a:lvl7pPr marL="3609975" indent="0">
              <a:buNone/>
              <a:defRPr sz="2125" b="1"/>
            </a:lvl7pPr>
            <a:lvl8pPr marL="4211320" indent="0">
              <a:buNone/>
              <a:defRPr sz="2125" b="1"/>
            </a:lvl8pPr>
            <a:lvl9pPr marL="4813300" indent="0">
              <a:buNone/>
              <a:defRPr sz="2125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20011" y="2568569"/>
            <a:ext cx="6362595" cy="4666544"/>
          </a:xfrm>
          <a:prstGeom prst="rect">
            <a:avLst/>
          </a:prstGeom>
        </p:spPr>
        <p:txBody>
          <a:bodyPr/>
          <a:lstStyle>
            <a:lvl1pPr>
              <a:defRPr sz="3190"/>
            </a:lvl1pPr>
            <a:lvl2pPr>
              <a:defRPr sz="2620"/>
            </a:lvl2pPr>
            <a:lvl3pPr>
              <a:defRPr sz="2340"/>
            </a:lvl3pPr>
            <a:lvl4pPr>
              <a:defRPr sz="2125"/>
            </a:lvl4pPr>
            <a:lvl5pPr>
              <a:defRPr sz="2125"/>
            </a:lvl5pPr>
            <a:lvl6pPr>
              <a:defRPr sz="2125"/>
            </a:lvl6pPr>
            <a:lvl7pPr>
              <a:defRPr sz="2125"/>
            </a:lvl7pPr>
            <a:lvl8pPr>
              <a:defRPr sz="2125"/>
            </a:lvl8pPr>
            <a:lvl9pPr>
              <a:defRPr sz="212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315110" y="1812997"/>
            <a:ext cx="6365094" cy="7555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190" b="1"/>
            </a:lvl1pPr>
            <a:lvl2pPr marL="601345" indent="0">
              <a:buNone/>
              <a:defRPr sz="2620" b="1"/>
            </a:lvl2pPr>
            <a:lvl3pPr marL="1203325" indent="0">
              <a:buNone/>
              <a:defRPr sz="2340" b="1"/>
            </a:lvl3pPr>
            <a:lvl4pPr marL="1804670" indent="0">
              <a:buNone/>
              <a:defRPr sz="2125" b="1"/>
            </a:lvl4pPr>
            <a:lvl5pPr marL="2406650" indent="0">
              <a:buNone/>
              <a:defRPr sz="2125" b="1"/>
            </a:lvl5pPr>
            <a:lvl6pPr marL="3007995" indent="0">
              <a:buNone/>
              <a:defRPr sz="2125" b="1"/>
            </a:lvl6pPr>
            <a:lvl7pPr marL="3609975" indent="0">
              <a:buNone/>
              <a:defRPr sz="2125" b="1"/>
            </a:lvl7pPr>
            <a:lvl8pPr marL="4211320" indent="0">
              <a:buNone/>
              <a:defRPr sz="2125" b="1"/>
            </a:lvl8pPr>
            <a:lvl9pPr marL="4813300" indent="0">
              <a:buNone/>
              <a:defRPr sz="2125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315110" y="2568569"/>
            <a:ext cx="6365094" cy="4666544"/>
          </a:xfrm>
          <a:prstGeom prst="rect">
            <a:avLst/>
          </a:prstGeom>
        </p:spPr>
        <p:txBody>
          <a:bodyPr/>
          <a:lstStyle>
            <a:lvl1pPr>
              <a:defRPr sz="3190"/>
            </a:lvl1pPr>
            <a:lvl2pPr>
              <a:defRPr sz="2620"/>
            </a:lvl2pPr>
            <a:lvl3pPr>
              <a:defRPr sz="2340"/>
            </a:lvl3pPr>
            <a:lvl4pPr>
              <a:defRPr sz="2125"/>
            </a:lvl4pPr>
            <a:lvl5pPr>
              <a:defRPr sz="2125"/>
            </a:lvl5pPr>
            <a:lvl6pPr>
              <a:defRPr sz="2125"/>
            </a:lvl6pPr>
            <a:lvl7pPr>
              <a:defRPr sz="2125"/>
            </a:lvl7pPr>
            <a:lvl8pPr>
              <a:defRPr sz="2125"/>
            </a:lvl8pPr>
            <a:lvl9pPr>
              <a:defRPr sz="212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64FFDA02-750E-466E-B69F-5260DFB5D8EA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DD3FF433-E653-4B15-9AFA-98DBEAF6D53A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8F111103-965A-4336-AB56-5764EF6CEDBD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260E3F5C-F6E2-460B-A44B-5F9BF232787C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D90FDB88-6EE8-414B-B3EB-9BB9A8481453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32CE8C10-E46F-4658-8717-0110E03057C8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 txBox="1">
            <a:spLocks noChangeArrowheads="1"/>
          </p:cNvSpPr>
          <p:nvPr userDrawn="1"/>
        </p:nvSpPr>
        <p:spPr bwMode="auto">
          <a:xfrm>
            <a:off x="12599988" y="161925"/>
            <a:ext cx="45608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www.guideir.cn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3" y="322478"/>
            <a:ext cx="4737571" cy="1372403"/>
          </a:xfrm>
          <a:prstGeom prst="rect">
            <a:avLst/>
          </a:prstGeom>
        </p:spPr>
        <p:txBody>
          <a:bodyPr anchor="b"/>
          <a:lstStyle>
            <a:lvl1pPr algn="l">
              <a:defRPr sz="262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30084" y="322477"/>
            <a:ext cx="8050119" cy="6912635"/>
          </a:xfrm>
          <a:prstGeom prst="rect">
            <a:avLst/>
          </a:prstGeom>
        </p:spPr>
        <p:txBody>
          <a:bodyPr/>
          <a:lstStyle>
            <a:lvl1pPr>
              <a:defRPr sz="4180"/>
            </a:lvl1pPr>
            <a:lvl2pPr>
              <a:defRPr sz="3685"/>
            </a:lvl2pPr>
            <a:lvl3pPr>
              <a:defRPr sz="3190"/>
            </a:lvl3pPr>
            <a:lvl4pPr>
              <a:defRPr sz="2620"/>
            </a:lvl4pPr>
            <a:lvl5pPr>
              <a:defRPr sz="2620"/>
            </a:lvl5pPr>
            <a:lvl6pPr>
              <a:defRPr sz="2620"/>
            </a:lvl6pPr>
            <a:lvl7pPr>
              <a:defRPr sz="2620"/>
            </a:lvl7pPr>
            <a:lvl8pPr>
              <a:defRPr sz="2620"/>
            </a:lvl8pPr>
            <a:lvl9pPr>
              <a:defRPr sz="262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20013" y="1694881"/>
            <a:ext cx="4737571" cy="55402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40"/>
            </a:lvl1pPr>
            <a:lvl2pPr marL="601345" indent="0">
              <a:buNone/>
              <a:defRPr sz="1560"/>
            </a:lvl2pPr>
            <a:lvl3pPr marL="1203325" indent="0">
              <a:buNone/>
              <a:defRPr sz="1345"/>
            </a:lvl3pPr>
            <a:lvl4pPr marL="1804670" indent="0">
              <a:buNone/>
              <a:defRPr sz="1205"/>
            </a:lvl4pPr>
            <a:lvl5pPr marL="2406650" indent="0">
              <a:buNone/>
              <a:defRPr sz="1205"/>
            </a:lvl5pPr>
            <a:lvl6pPr marL="3007995" indent="0">
              <a:buNone/>
              <a:defRPr sz="1205"/>
            </a:lvl6pPr>
            <a:lvl7pPr marL="3609975" indent="0">
              <a:buNone/>
              <a:defRPr sz="1205"/>
            </a:lvl7pPr>
            <a:lvl8pPr marL="4211320" indent="0">
              <a:buNone/>
              <a:defRPr sz="1205"/>
            </a:lvl8pPr>
            <a:lvl9pPr marL="4813300" indent="0">
              <a:buNone/>
              <a:defRPr sz="120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0752A8C0-75C2-4C51-A995-B23B3068F641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DDFCABC6-A655-4EFA-A030-B7606A6DD65A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 txBox="1">
            <a:spLocks noChangeArrowheads="1"/>
          </p:cNvSpPr>
          <p:nvPr userDrawn="1"/>
        </p:nvSpPr>
        <p:spPr bwMode="auto">
          <a:xfrm>
            <a:off x="12599988" y="161925"/>
            <a:ext cx="45608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www.guideir.cn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2543" y="5669598"/>
            <a:ext cx="8640128" cy="669328"/>
          </a:xfrm>
          <a:prstGeom prst="rect">
            <a:avLst/>
          </a:prstGeom>
        </p:spPr>
        <p:txBody>
          <a:bodyPr anchor="b"/>
          <a:lstStyle>
            <a:lvl1pPr algn="l">
              <a:defRPr sz="262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822543" y="723699"/>
            <a:ext cx="8640128" cy="48596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180"/>
            </a:lvl1pPr>
            <a:lvl2pPr marL="601345" indent="0">
              <a:buNone/>
              <a:defRPr sz="3685"/>
            </a:lvl2pPr>
            <a:lvl3pPr marL="1203325" indent="0">
              <a:buNone/>
              <a:defRPr sz="3190"/>
            </a:lvl3pPr>
            <a:lvl4pPr marL="1804670" indent="0">
              <a:buNone/>
              <a:defRPr sz="2620"/>
            </a:lvl4pPr>
            <a:lvl5pPr marL="2406650" indent="0">
              <a:buNone/>
              <a:defRPr sz="2620"/>
            </a:lvl5pPr>
            <a:lvl6pPr marL="3007995" indent="0">
              <a:buNone/>
              <a:defRPr sz="2620"/>
            </a:lvl6pPr>
            <a:lvl7pPr marL="3609975" indent="0">
              <a:buNone/>
              <a:defRPr sz="2620"/>
            </a:lvl7pPr>
            <a:lvl8pPr marL="4211320" indent="0">
              <a:buNone/>
              <a:defRPr sz="2620"/>
            </a:lvl8pPr>
            <a:lvl9pPr marL="4813300" indent="0">
              <a:buNone/>
              <a:defRPr sz="262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822543" y="6338926"/>
            <a:ext cx="8640128" cy="950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40"/>
            </a:lvl1pPr>
            <a:lvl2pPr marL="601345" indent="0">
              <a:buNone/>
              <a:defRPr sz="1560"/>
            </a:lvl2pPr>
            <a:lvl3pPr marL="1203325" indent="0">
              <a:buNone/>
              <a:defRPr sz="1345"/>
            </a:lvl3pPr>
            <a:lvl4pPr marL="1804670" indent="0">
              <a:buNone/>
              <a:defRPr sz="1205"/>
            </a:lvl4pPr>
            <a:lvl5pPr marL="2406650" indent="0">
              <a:buNone/>
              <a:defRPr sz="1205"/>
            </a:lvl5pPr>
            <a:lvl6pPr marL="3007995" indent="0">
              <a:buNone/>
              <a:defRPr sz="1205"/>
            </a:lvl6pPr>
            <a:lvl7pPr marL="3609975" indent="0">
              <a:buNone/>
              <a:defRPr sz="1205"/>
            </a:lvl7pPr>
            <a:lvl8pPr marL="4211320" indent="0">
              <a:buNone/>
              <a:defRPr sz="1205"/>
            </a:lvl8pPr>
            <a:lvl9pPr marL="4813300" indent="0">
              <a:buNone/>
              <a:defRPr sz="120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A3D123BF-264B-459F-A681-8B901F77A46E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D0480BD4-C8DB-488C-8022-7541442E23D4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>
            <a:spLocks noChangeArrowheads="1"/>
          </p:cNvSpPr>
          <p:nvPr userDrawn="1"/>
        </p:nvSpPr>
        <p:spPr bwMode="auto">
          <a:xfrm>
            <a:off x="12599988" y="161925"/>
            <a:ext cx="45608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www.guideir.cn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20011" y="1889866"/>
            <a:ext cx="12960192" cy="534524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F00B65A8-B16E-4C85-BFDE-3BB186B37437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0D23DD91-D2B2-4B3B-BDD3-8919D4DB40E2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>
            <a:spLocks noChangeArrowheads="1"/>
          </p:cNvSpPr>
          <p:nvPr userDrawn="1"/>
        </p:nvSpPr>
        <p:spPr bwMode="auto">
          <a:xfrm>
            <a:off x="12599988" y="161925"/>
            <a:ext cx="45608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www.guideir.cn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440154" y="324354"/>
            <a:ext cx="3240048" cy="691076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20011" y="324354"/>
            <a:ext cx="9480140" cy="691076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38606325-978E-462A-A964-2D2686D005C8}" type="datetimeFigureOut">
              <a:rPr lang="zh-CN" altLang="en-US"/>
              <a:t>2021/7/2</a:t>
            </a:fld>
            <a:endParaRPr lang="zh-CN" altLang="en-US" sz="230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8192C754-638A-4F98-AC69-AAF80FAEBBEC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4400213" cy="6651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27" name="页脚占位符 4"/>
          <p:cNvSpPr txBox="1">
            <a:spLocks noChangeArrowheads="1"/>
          </p:cNvSpPr>
          <p:nvPr userDrawn="1"/>
        </p:nvSpPr>
        <p:spPr bwMode="auto">
          <a:xfrm>
            <a:off x="12682538" y="233363"/>
            <a:ext cx="16462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www.guideir.com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03325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20332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defTabSz="120332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defTabSz="120332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defTabSz="120332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defTabSz="120332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defTabSz="120332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defTabSz="120332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defTabSz="120332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450850" indent="-450850" algn="l" defTabSz="12033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100" kern="1200">
          <a:solidFill>
            <a:schemeClr val="tx1"/>
          </a:solidFill>
          <a:latin typeface="+mn-lt"/>
          <a:ea typeface="+mn-ea"/>
          <a:cs typeface="+mn-cs"/>
        </a:defRPr>
      </a:lvl1pPr>
      <a:lvl2pPr marL="977900" indent="-376555" algn="l" defTabSz="12033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504950" indent="-301625" algn="l" defTabSz="12033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105025" indent="-300355" algn="l" defTabSz="12033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708275" indent="-301625" algn="l" defTabSz="12033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8985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6pPr>
      <a:lvl7pPr marL="3910965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7pPr>
      <a:lvl8pPr marL="4512310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8pPr>
      <a:lvl9pPr marL="5114290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60134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20332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80467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40665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00799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60997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21132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81330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___1.xlsx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5.jpeg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7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slideLayout" Target="../slideLayouts/slideLayout2.xml"/><Relationship Id="rId7" Type="http://schemas.openxmlformats.org/officeDocument/2006/relationships/package" Target="../embeddings/Microsoft_Excel____2.xlsx"/><Relationship Id="rId2" Type="http://schemas.openxmlformats.org/officeDocument/2006/relationships/tags" Target="../tags/tag2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5.jpeg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5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76" y="0"/>
            <a:ext cx="14400213" cy="809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388" y="6497638"/>
            <a:ext cx="23876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9182371" y="4148138"/>
            <a:ext cx="518318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项目经理</a:t>
            </a:r>
            <a:r>
              <a:rPr lang="zh-CN" altLang="en-US" sz="28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2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/>
            <a:endParaRPr lang="en-US" altLang="zh-CN" sz="2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时间</a:t>
            </a:r>
            <a:r>
              <a:rPr lang="zh-CN" altLang="en-US" sz="28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zh-CN" altLang="en-US" sz="2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3135165" y="1541930"/>
            <a:ext cx="8534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en-US" altLang="zh-CN" sz="4400" b="1" dirty="0" smtClean="0">
                <a:solidFill>
                  <a:schemeClr val="bg1"/>
                </a:solidFill>
              </a:rPr>
              <a:t>XXXX </a:t>
            </a:r>
            <a:r>
              <a:rPr lang="zh-CN" altLang="en-US" sz="4400" b="1" dirty="0" smtClean="0">
                <a:solidFill>
                  <a:schemeClr val="bg1"/>
                </a:solidFill>
              </a:rPr>
              <a:t>项目工程样机转阶段评审会</a:t>
            </a:r>
            <a:endParaRPr lang="zh-CN" altLang="en-US" sz="4400" b="1" dirty="0">
              <a:solidFill>
                <a:schemeClr val="bg1"/>
              </a:solidFill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9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副标题 33"/>
          <p:cNvSpPr>
            <a:spLocks noGrp="1"/>
          </p:cNvSpPr>
          <p:nvPr>
            <p:ph type="subTitle" idx="1"/>
          </p:nvPr>
        </p:nvSpPr>
        <p:spPr>
          <a:xfrm>
            <a:off x="1150938" y="2522538"/>
            <a:ext cx="4833937" cy="4911456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Clr>
                <a:schemeClr val="tx2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+mn-ea"/>
              </a:rPr>
              <a:t>项目背景简介</a:t>
            </a:r>
            <a:endParaRPr lang="en-US" altLang="zh-CN" sz="2800" b="1" dirty="0" smtClean="0">
              <a:solidFill>
                <a:schemeClr val="tx2"/>
              </a:solidFill>
              <a:latin typeface="+mn-ea"/>
            </a:endParaRPr>
          </a:p>
          <a:p>
            <a:pPr marL="514350" indent="-514350">
              <a:lnSpc>
                <a:spcPct val="150000"/>
              </a:lnSpc>
              <a:buClr>
                <a:schemeClr val="tx2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+mn-ea"/>
              </a:rPr>
              <a:t>项目完成状况</a:t>
            </a:r>
            <a:endParaRPr lang="en-US" altLang="zh-CN" sz="2800" b="1" dirty="0" smtClean="0">
              <a:solidFill>
                <a:schemeClr val="tx2"/>
              </a:solidFill>
              <a:latin typeface="+mn-ea"/>
            </a:endParaRPr>
          </a:p>
          <a:p>
            <a:pPr marL="514350" indent="-514350">
              <a:lnSpc>
                <a:spcPct val="150000"/>
              </a:lnSpc>
              <a:buClr>
                <a:schemeClr val="tx2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+mn-ea"/>
              </a:rPr>
              <a:t>领域质量评审</a:t>
            </a:r>
            <a:endParaRPr lang="en-US" altLang="zh-CN" sz="2800" b="1" dirty="0" smtClean="0">
              <a:solidFill>
                <a:schemeClr val="tx2"/>
              </a:solidFill>
              <a:latin typeface="+mn-ea"/>
            </a:endParaRPr>
          </a:p>
          <a:p>
            <a:pPr marL="514350" indent="-514350">
              <a:lnSpc>
                <a:spcPct val="150000"/>
              </a:lnSpc>
              <a:buClr>
                <a:schemeClr val="tx2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+mn-ea"/>
              </a:rPr>
              <a:t>评审结论</a:t>
            </a:r>
            <a:endParaRPr lang="en-US" altLang="zh-CN" sz="2800" b="1" dirty="0" smtClean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4344" name="文本框 20"/>
          <p:cNvSpPr txBox="1">
            <a:spLocks noChangeArrowheads="1"/>
          </p:cNvSpPr>
          <p:nvPr/>
        </p:nvSpPr>
        <p:spPr bwMode="auto">
          <a:xfrm>
            <a:off x="935038" y="1096963"/>
            <a:ext cx="41211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7200">
                <a:solidFill>
                  <a:schemeClr val="tx2"/>
                </a:solidFill>
                <a:latin typeface="Impact" panose="020B0806030902050204" pitchFamily="34" charset="0"/>
                <a:ea typeface="张海山锐谐体"/>
                <a:cs typeface="张海山锐谐体"/>
              </a:rPr>
              <a:t>目   录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 smtClean="0"/>
              <a:t>1.</a:t>
            </a:r>
            <a:r>
              <a:rPr lang="zh-CN" altLang="en-US" sz="4000" b="1" dirty="0" smtClean="0"/>
              <a:t>项目背景简介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5" name="TextBox 3"/>
          <p:cNvSpPr txBox="1"/>
          <p:nvPr/>
        </p:nvSpPr>
        <p:spPr>
          <a:xfrm>
            <a:off x="575553" y="766094"/>
            <a:ext cx="13321109" cy="295338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项目背景：</a:t>
            </a:r>
            <a:endParaRPr lang="en-US" altLang="zh-CN" sz="2000" b="1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r>
              <a:rPr lang="en-US" altLang="zh-CN" sz="2400" dirty="0" smtClean="0"/>
              <a:t>        </a:t>
            </a:r>
          </a:p>
          <a:p>
            <a:pPr>
              <a:defRPr/>
            </a:pPr>
            <a:endParaRPr lang="en-US" altLang="zh-CN" sz="2400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sz="2400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sz="2400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sz="2400" dirty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575552" y="4841778"/>
            <a:ext cx="13321109" cy="252285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项目亮点</a:t>
            </a:r>
            <a:r>
              <a:rPr lang="en-US" altLang="zh-CN" sz="2000" b="1" dirty="0" smtClean="0">
                <a:solidFill>
                  <a:schemeClr val="bg1">
                    <a:lumMod val="25000"/>
                  </a:schemeClr>
                </a:solidFill>
              </a:rPr>
              <a:t>/</a:t>
            </a: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产品</a:t>
            </a:r>
            <a:r>
              <a:rPr lang="zh-CN" altLang="en-US" sz="2000" b="1" dirty="0">
                <a:solidFill>
                  <a:schemeClr val="bg1">
                    <a:lumMod val="25000"/>
                  </a:schemeClr>
                </a:solidFill>
              </a:rPr>
              <a:t>卖</a:t>
            </a: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点：</a:t>
            </a:r>
            <a:endParaRPr lang="en-US" altLang="zh-CN" sz="2000" b="1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10440376" y="29518"/>
            <a:ext cx="2160180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项目经理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575553" y="4049712"/>
            <a:ext cx="13321109" cy="3987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项目类型：</a:t>
            </a:r>
            <a:r>
              <a:rPr lang="en-US" altLang="zh-CN" sz="1600" i="1" dirty="0" smtClean="0">
                <a:solidFill>
                  <a:srgbClr val="0070C0"/>
                </a:solidFill>
              </a:rPr>
              <a:t>A类：全新产品开发项目/B类：升级迭代的改制项目/平台项目/纯软件项目/定制项目/临时任务等</a:t>
            </a:r>
            <a:endParaRPr lang="en-US" altLang="zh-CN" sz="2000" i="1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 algn="l">
              <a:buClrTx/>
              <a:buSzTx/>
              <a:buFontTx/>
              <a:defRPr/>
            </a:pPr>
            <a:r>
              <a:rPr lang="en-US" altLang="zh-CN" sz="4000" b="1" dirty="0" smtClean="0"/>
              <a:t>2.</a:t>
            </a:r>
            <a:r>
              <a:rPr lang="zh-CN" altLang="en-US" sz="4000" b="1" dirty="0" smtClean="0"/>
              <a:t>项目完成状况</a:t>
            </a:r>
            <a:endParaRPr lang="zh-CN" altLang="en-US" sz="4000" b="1" i="1" dirty="0" smtClean="0">
              <a:solidFill>
                <a:srgbClr val="FFFF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5" name="TextBox 3"/>
          <p:cNvSpPr txBox="1"/>
          <p:nvPr/>
        </p:nvSpPr>
        <p:spPr>
          <a:xfrm>
            <a:off x="575310" y="737235"/>
            <a:ext cx="13265785" cy="15532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本阶段目标：</a:t>
            </a:r>
            <a:endParaRPr lang="en-US" altLang="zh-CN" sz="2000" b="1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r>
              <a:rPr lang="zh-CN" altLang="en-US" sz="1500" i="1" dirty="0">
                <a:solidFill>
                  <a:srgbClr val="0000FF"/>
                </a:solidFill>
              </a:rPr>
              <a:t>硬件</a:t>
            </a:r>
            <a:r>
              <a:rPr lang="zh-CN" altLang="en-US" sz="1500" i="1" dirty="0" smtClean="0">
                <a:solidFill>
                  <a:srgbClr val="0000FF"/>
                </a:solidFill>
              </a:rPr>
              <a:t>--</a:t>
            </a:r>
            <a:r>
              <a:rPr lang="en-US" altLang="zh-CN" sz="1500" i="1" dirty="0" smtClean="0">
                <a:solidFill>
                  <a:srgbClr val="0000FF"/>
                </a:solidFill>
              </a:rPr>
              <a:t>-硬件所有指标已完成，无严重问题遗留(</a:t>
            </a:r>
            <a:r>
              <a:rPr lang="zh-CN" altLang="en-US" sz="1500" i="1" dirty="0" smtClean="0">
                <a:solidFill>
                  <a:srgbClr val="0000FF"/>
                </a:solidFill>
              </a:rPr>
              <a:t>如</a:t>
            </a:r>
            <a:r>
              <a:rPr lang="zh-CN" altLang="en-US" sz="1500" i="1" dirty="0">
                <a:solidFill>
                  <a:srgbClr val="0000FF"/>
                </a:solidFill>
              </a:rPr>
              <a:t>不满足</a:t>
            </a:r>
            <a:r>
              <a:rPr lang="zh-CN" altLang="en-US" sz="1500" i="1" dirty="0" smtClean="0">
                <a:solidFill>
                  <a:srgbClr val="0000FF"/>
                </a:solidFill>
              </a:rPr>
              <a:t>的有</a:t>
            </a:r>
            <a:r>
              <a:rPr lang="zh-CN" altLang="en-US" sz="1500" i="1" dirty="0">
                <a:solidFill>
                  <a:srgbClr val="0000FF"/>
                </a:solidFill>
              </a:rPr>
              <a:t>明确的</a:t>
            </a:r>
            <a:r>
              <a:rPr lang="zh-CN" altLang="en-US" sz="1500" i="1" dirty="0" smtClean="0">
                <a:solidFill>
                  <a:srgbClr val="0000FF"/>
                </a:solidFill>
              </a:rPr>
              <a:t>改</a:t>
            </a:r>
            <a:r>
              <a:rPr lang="zh-CN" altLang="en-US" sz="1500" i="1" dirty="0">
                <a:solidFill>
                  <a:srgbClr val="0000FF"/>
                </a:solidFill>
              </a:rPr>
              <a:t>板</a:t>
            </a:r>
            <a:r>
              <a:rPr lang="zh-CN" altLang="en-US" sz="1500" i="1" dirty="0" smtClean="0">
                <a:solidFill>
                  <a:srgbClr val="0000FF"/>
                </a:solidFill>
              </a:rPr>
              <a:t>方案）；</a:t>
            </a:r>
            <a:endParaRPr lang="zh-CN" altLang="en-US" sz="1500" i="1" dirty="0">
              <a:solidFill>
                <a:srgbClr val="0000FF"/>
              </a:solidFill>
            </a:endParaRPr>
          </a:p>
          <a:p>
            <a:pPr>
              <a:defRPr/>
            </a:pPr>
            <a:r>
              <a:rPr lang="en-US" altLang="zh-CN" sz="1500" i="1" dirty="0" err="1" smtClean="0">
                <a:solidFill>
                  <a:srgbClr val="0000FF"/>
                </a:solidFill>
              </a:rPr>
              <a:t>软件</a:t>
            </a:r>
            <a:r>
              <a:rPr lang="en-US" altLang="zh-CN" sz="1500" i="1" dirty="0" smtClean="0">
                <a:solidFill>
                  <a:srgbClr val="0000FF"/>
                </a:solidFill>
              </a:rPr>
              <a:t>—-</a:t>
            </a:r>
            <a:r>
              <a:rPr lang="zh-CN" sz="1500" i="1">
                <a:solidFill>
                  <a:srgbClr val="0000FF"/>
                </a:solidFill>
              </a:rPr>
              <a:t>工程样机</a:t>
            </a:r>
            <a:r>
              <a:rPr sz="1500" i="1">
                <a:solidFill>
                  <a:srgbClr val="0000FF"/>
                </a:solidFill>
              </a:rPr>
              <a:t>阶段规划的功能实现，关键指标达成</a:t>
            </a:r>
            <a:r>
              <a:rPr lang="en-US" altLang="zh-CN" sz="1500" i="1" dirty="0">
                <a:solidFill>
                  <a:srgbClr val="0000FF"/>
                </a:solidFill>
              </a:rPr>
              <a:t>(</a:t>
            </a:r>
            <a:r>
              <a:rPr lang="en-US" altLang="zh-CN" sz="1500" i="1" dirty="0" err="1">
                <a:solidFill>
                  <a:srgbClr val="0000FF"/>
                </a:solidFill>
              </a:rPr>
              <a:t>如不能达成不能遗留</a:t>
            </a:r>
            <a:r>
              <a:rPr lang="zh-CN" altLang="en-US" sz="1500" i="1" dirty="0">
                <a:solidFill>
                  <a:srgbClr val="0000FF"/>
                </a:solidFill>
              </a:rPr>
              <a:t>影响试制的</a:t>
            </a:r>
            <a:r>
              <a:rPr lang="en-US" altLang="zh-CN" sz="1500" i="1" dirty="0" err="1">
                <a:solidFill>
                  <a:srgbClr val="0000FF"/>
                </a:solidFill>
              </a:rPr>
              <a:t>致命Bug</a:t>
            </a:r>
            <a:r>
              <a:rPr lang="en-US" altLang="zh-CN" sz="1500" i="1" dirty="0">
                <a:solidFill>
                  <a:srgbClr val="0000FF"/>
                </a:solidFill>
              </a:rPr>
              <a:t>)</a:t>
            </a:r>
            <a:r>
              <a:rPr lang="zh-CN" altLang="en-US" sz="1500" i="1" dirty="0">
                <a:solidFill>
                  <a:srgbClr val="0000FF"/>
                </a:solidFill>
              </a:rPr>
              <a:t>；</a:t>
            </a:r>
            <a:endParaRPr lang="en-US" altLang="zh-CN" sz="1500" i="1" dirty="0">
              <a:solidFill>
                <a:srgbClr val="0000FF"/>
              </a:solidFill>
            </a:endParaRPr>
          </a:p>
          <a:p>
            <a:pPr>
              <a:defRPr/>
            </a:pPr>
            <a:r>
              <a:rPr lang="zh-CN" altLang="en-US" sz="1500" i="1" dirty="0">
                <a:solidFill>
                  <a:srgbClr val="0000FF"/>
                </a:solidFill>
              </a:rPr>
              <a:t>结构</a:t>
            </a:r>
            <a:r>
              <a:rPr lang="en-US" altLang="zh-CN" sz="1500" i="1" dirty="0">
                <a:solidFill>
                  <a:srgbClr val="0000FF"/>
                </a:solidFill>
              </a:rPr>
              <a:t>---</a:t>
            </a:r>
            <a:r>
              <a:rPr sz="1500" i="1">
                <a:solidFill>
                  <a:srgbClr val="0000FF"/>
                </a:solidFill>
              </a:rPr>
              <a:t>影响装配的问题已经得到解决，无严重问题</a:t>
            </a:r>
            <a:r>
              <a:rPr sz="1500" i="1">
                <a:solidFill>
                  <a:srgbClr val="0000FF"/>
                </a:solidFill>
                <a:sym typeface="+mn-ea"/>
              </a:rPr>
              <a:t>遗留</a:t>
            </a:r>
            <a:r>
              <a:rPr lang="zh-CN" sz="1500" i="1">
                <a:solidFill>
                  <a:srgbClr val="0000FF"/>
                </a:solidFill>
                <a:sym typeface="+mn-ea"/>
              </a:rPr>
              <a:t>且</a:t>
            </a:r>
            <a:r>
              <a:rPr sz="1500" i="1">
                <a:solidFill>
                  <a:srgbClr val="0000FF"/>
                </a:solidFill>
              </a:rPr>
              <a:t>遗留问题有明确的解决方案(不能遗留影响试制的严重问题，小的修改讨论让步接受</a:t>
            </a:r>
            <a:r>
              <a:rPr lang="zh-CN" sz="1500" i="1">
                <a:solidFill>
                  <a:srgbClr val="0000FF"/>
                </a:solidFill>
              </a:rPr>
              <a:t>）</a:t>
            </a:r>
            <a:r>
              <a:rPr sz="1500" i="1">
                <a:solidFill>
                  <a:srgbClr val="0000FF"/>
                </a:solidFill>
              </a:rPr>
              <a:t>，开模和机加件前期确定</a:t>
            </a:r>
            <a:r>
              <a:rPr lang="zh-CN" sz="1500" i="1">
                <a:solidFill>
                  <a:srgbClr val="0000FF"/>
                </a:solidFill>
              </a:rPr>
              <a:t>；</a:t>
            </a:r>
          </a:p>
          <a:p>
            <a:pPr>
              <a:defRPr/>
            </a:pPr>
            <a:r>
              <a:rPr lang="zh-CN" sz="1500" i="1">
                <a:solidFill>
                  <a:srgbClr val="0000FF"/>
                </a:solidFill>
              </a:rPr>
              <a:t>工程</a:t>
            </a:r>
            <a:r>
              <a:rPr lang="en-US" altLang="zh-CN" sz="1500" i="1">
                <a:solidFill>
                  <a:srgbClr val="0000FF"/>
                </a:solidFill>
              </a:rPr>
              <a:t>--影响装配及试制效率的问题得到解决或有明确的改善方案，能够在下个阶段试制时验证</a:t>
            </a:r>
            <a:r>
              <a:rPr lang="zh-CN" altLang="en-US" sz="1500" i="1">
                <a:solidFill>
                  <a:srgbClr val="0000FF"/>
                </a:solidFill>
              </a:rPr>
              <a:t>。</a:t>
            </a:r>
          </a:p>
        </p:txBody>
      </p:sp>
      <p:sp>
        <p:nvSpPr>
          <p:cNvPr id="9" name="矩形标注 8"/>
          <p:cNvSpPr/>
          <p:nvPr/>
        </p:nvSpPr>
        <p:spPr>
          <a:xfrm>
            <a:off x="10440376" y="29518"/>
            <a:ext cx="2160180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各领域负责人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7055" y="2321560"/>
          <a:ext cx="13282930" cy="57956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8679"/>
                <a:gridCol w="7583651"/>
                <a:gridCol w="3530600"/>
              </a:tblGrid>
              <a:tr h="701040">
                <a:tc gridSpan="3"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2000" b="1" dirty="0" smtClean="0"/>
                        <a:t>转阶段要素评审</a:t>
                      </a:r>
                      <a:r>
                        <a:rPr lang="zh-CN" altLang="en-US" sz="2000" dirty="0" smtClean="0"/>
                        <a:t>：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各领域自检，结论/问题如下：</a:t>
                      </a:r>
                    </a:p>
                    <a:p>
                      <a:pPr algn="l"/>
                      <a:r>
                        <a:rPr lang="zh-CN" altLang="en-US" sz="2000" b="1" dirty="0" smtClean="0"/>
                        <a:t>（含设计方案，图纸，评审记录，自测报告，测试报告，文件下发等）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/>
                        <a:t>领域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/>
                        <a:t>状态（</a:t>
                      </a: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</a:rPr>
                        <a:t>一句话总结</a:t>
                      </a:r>
                      <a:r>
                        <a:rPr lang="zh-CN" altLang="en-US" sz="1800" b="1" dirty="0" smtClean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/>
                        <a:t>自检结论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产品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经理</a:t>
                      </a: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系统工程师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此行用一句话描述完成状态或问题</a:t>
                      </a:r>
                      <a:endParaRPr lang="en-US" altLang="zh-CN" sz="1600" i="1" u="none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Go/No GO/ Go with risk</a:t>
                      </a:r>
                    </a:p>
                  </a:txBody>
                  <a:tcPr/>
                </a:tc>
              </a:tr>
              <a:tr h="294640">
                <a:tc>
                  <a:txBody>
                    <a:bodyPr/>
                    <a:lstStyle/>
                    <a:p>
                      <a:pPr marL="0" marR="0" lvl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u="none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光学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u="none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硬件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算法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工程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采购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120332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 smtClean="0">
                          <a:solidFill>
                            <a:schemeClr val="tx1"/>
                          </a:solidFill>
                        </a:rPr>
                        <a:t>PMC</a:t>
                      </a:r>
                      <a:endParaRPr lang="zh-CN" altLang="en-US" sz="1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120332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120332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交付件及过程动作核查已完成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Go</a:t>
                      </a:r>
                    </a:p>
                  </a:txBody>
                  <a:tcPr/>
                </a:tc>
              </a:tr>
              <a:tr h="370205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dirty="0" smtClean="0">
                          <a:solidFill>
                            <a:schemeClr val="tx1"/>
                          </a:solidFill>
                        </a:rPr>
                        <a:t>项目经理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120332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产品交付；进度计划执行</a:t>
                      </a: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 smtClean="0"/>
              <a:t>项目完成状况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3383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上阶段遗留问题跟踪</a:t>
            </a: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项目经理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5310" y="1673225"/>
          <a:ext cx="12813665" cy="2542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11640"/>
                <a:gridCol w="3502025"/>
              </a:tblGrid>
              <a:tr h="48323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遗留问题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2000" dirty="0">
                          <a:sym typeface="+mn-ea"/>
                        </a:rPr>
                        <a:t>问题状态</a:t>
                      </a:r>
                      <a:endParaRPr lang="zh-CN" altLang="en-US" sz="2000" dirty="0"/>
                    </a:p>
                  </a:txBody>
                  <a:tcPr/>
                </a:tc>
              </a:tr>
              <a:tr h="41529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示例：探测器对着均匀面AD值跳动在50-100LSB（概率为1/15)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已关闭</a:t>
                      </a:r>
                    </a:p>
                  </a:txBody>
                  <a:tcPr/>
                </a:tc>
              </a:tr>
              <a:tr h="40068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示例：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调焦卡顿现象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未关闭</a:t>
                      </a:r>
                    </a:p>
                  </a:txBody>
                  <a:tcPr/>
                </a:tc>
              </a:tr>
              <a:tr h="40068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示例：切换测温范围时，概率性出现Y16波动问题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已关闭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0068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 smtClean="0"/>
              <a:t>项目完成状况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3027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需求达成情况评价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产品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经理、系统工程师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5304" y="1673514"/>
          <a:ext cx="13295630" cy="2710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1275"/>
                <a:gridCol w="4886325"/>
                <a:gridCol w="4558030"/>
              </a:tblGrid>
              <a:tr h="48387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2000" dirty="0">
                          <a:sym typeface="+mn-ea"/>
                        </a:rPr>
                        <a:t>状态描述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产出物</a:t>
                      </a:r>
                    </a:p>
                  </a:txBody>
                  <a:tcPr/>
                </a:tc>
              </a:tr>
              <a:tr h="401955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本阶段需要实现需求已经分解完成并与各领域进行澄清</a:t>
                      </a:r>
                      <a:endParaRPr lang="en-US" altLang="zh-CN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分解后的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软件需求说明书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》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本阶段新增修改需求已经下发传递</a:t>
                      </a:r>
                      <a:endParaRPr lang="en-US" altLang="zh-CN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40195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600" dirty="0" smtClean="0"/>
                        <a:t>产品认证及第三方测试验证计划已经确认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认证计划</a:t>
                      </a:r>
                    </a:p>
                  </a:txBody>
                  <a:tcPr/>
                </a:tc>
              </a:tr>
              <a:tr h="40132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本阶段需求是否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100%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实现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(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系统工程师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)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259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 smtClean="0"/>
              <a:t>项目完成状况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3738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项目目标达成情况说明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项目经理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01040" y="1457325"/>
            <a:ext cx="12616180" cy="113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fontAlgn="auto" latinLnBrk="0" hangingPunct="1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latin typeface="+mn-lt"/>
                <a:ea typeface="+mn-ea"/>
              </a:rPr>
              <a:t>本阶段交付件（产品</a:t>
            </a:r>
            <a:r>
              <a:rPr lang="en-US" altLang="zh-CN" sz="2000" b="1" dirty="0" smtClean="0">
                <a:latin typeface="+mn-lt"/>
                <a:ea typeface="+mn-ea"/>
              </a:rPr>
              <a:t>+</a:t>
            </a:r>
            <a:r>
              <a:rPr lang="zh-CN" altLang="en-US" sz="2000" b="1" dirty="0" smtClean="0">
                <a:latin typeface="+mn-lt"/>
                <a:ea typeface="+mn-ea"/>
              </a:rPr>
              <a:t>交付资料）完成情况</a:t>
            </a:r>
          </a:p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sz="1600" i="1" dirty="0" smtClean="0">
                <a:solidFill>
                  <a:srgbClr val="0070C0"/>
                </a:solidFill>
              </a:rPr>
              <a:t>示例：本阶段要求完成**件样品，实际完成***件，其中***件已完成客户送样。当前阶段交付资料完成情况详见附件（《交付件清单》）。</a:t>
            </a:r>
          </a:p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sz="1600" i="1" dirty="0" smtClean="0">
                <a:solidFill>
                  <a:srgbClr val="0070C0"/>
                </a:solidFill>
              </a:rPr>
              <a:t>说明：</a:t>
            </a:r>
            <a:r>
              <a:rPr lang="zh-CN" altLang="en-US" sz="1600" i="1" dirty="0" smtClean="0">
                <a:solidFill>
                  <a:srgbClr val="0070C0"/>
                </a:solidFill>
                <a:sym typeface="+mn-ea"/>
              </a:rPr>
              <a:t>《交付件清单》</a:t>
            </a:r>
            <a:r>
              <a:rPr lang="zh-CN" altLang="en-US" sz="1600" i="1" dirty="0" smtClean="0">
                <a:solidFill>
                  <a:srgbClr val="0070C0"/>
                </a:solidFill>
              </a:rPr>
              <a:t>应在项目计划阶段由项目经理与项目组确认，形成过程文档资料基线。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19455" y="2753360"/>
            <a:ext cx="12256135" cy="8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sz="2000" b="1" dirty="0" smtClean="0">
                <a:latin typeface="+mn-lt"/>
                <a:ea typeface="+mn-ea"/>
              </a:rPr>
              <a:t>项目进度计划执行情况</a:t>
            </a:r>
          </a:p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sz="1600" i="1" dirty="0" smtClean="0">
                <a:solidFill>
                  <a:srgbClr val="0070C0"/>
                </a:solidFill>
              </a:rPr>
              <a:t>说明：主要描述当前阶段实际进度与计划进度之间的对比，包括在过程中识别到的问题和风险以及对应的解决措施。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91210" y="4121785"/>
            <a:ext cx="12256135" cy="8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sz="2000" b="1" dirty="0" smtClean="0">
                <a:latin typeface="+mn-lt"/>
                <a:ea typeface="+mn-ea"/>
              </a:rPr>
              <a:t>本阶段遗留问题描述</a:t>
            </a:r>
            <a:r>
              <a:rPr lang="zh-CN" altLang="en-US" sz="1600" i="1" dirty="0" smtClean="0">
                <a:solidFill>
                  <a:srgbClr val="0070C0"/>
                </a:solidFill>
              </a:rPr>
              <a:t>（此处不列举具体问题，仅对遗留问题状态进行描述）</a:t>
            </a:r>
            <a:endParaRPr lang="zh-CN" sz="2000" b="1" dirty="0" smtClean="0">
              <a:latin typeface="+mn-lt"/>
              <a:ea typeface="+mn-ea"/>
            </a:endParaRPr>
          </a:p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sz="1600" i="1" dirty="0" smtClean="0">
                <a:solidFill>
                  <a:srgbClr val="0070C0"/>
                </a:solidFill>
              </a:rPr>
              <a:t>示例：目前遗留</a:t>
            </a:r>
            <a:r>
              <a:rPr lang="en-US" altLang="zh-CN" sz="1600" i="1" dirty="0" smtClean="0">
                <a:solidFill>
                  <a:srgbClr val="0070C0"/>
                </a:solidFill>
              </a:rPr>
              <a:t>**</a:t>
            </a:r>
            <a:r>
              <a:rPr lang="zh-CN" altLang="en-US" sz="1600" i="1" dirty="0" smtClean="0">
                <a:solidFill>
                  <a:srgbClr val="0070C0"/>
                </a:solidFill>
              </a:rPr>
              <a:t>个问题暂未关闭（详见禅道</a:t>
            </a:r>
            <a:r>
              <a:rPr lang="en-US" altLang="zh-CN" sz="1600" i="1" dirty="0" smtClean="0">
                <a:solidFill>
                  <a:srgbClr val="0070C0"/>
                </a:solidFill>
              </a:rPr>
              <a:t>BUG</a:t>
            </a:r>
            <a:r>
              <a:rPr lang="zh-CN" altLang="en-US" sz="1600" i="1" dirty="0" smtClean="0">
                <a:solidFill>
                  <a:srgbClr val="0070C0"/>
                </a:solidFill>
              </a:rPr>
              <a:t>列表），其中有</a:t>
            </a:r>
            <a:r>
              <a:rPr lang="en-US" altLang="zh-CN" sz="1600" i="1" dirty="0" smtClean="0">
                <a:solidFill>
                  <a:srgbClr val="0070C0"/>
                </a:solidFill>
              </a:rPr>
              <a:t>**</a:t>
            </a:r>
            <a:r>
              <a:rPr lang="zh-CN" altLang="en-US" sz="1600" i="1" dirty="0" smtClean="0">
                <a:solidFill>
                  <a:srgbClr val="0070C0"/>
                </a:solidFill>
              </a:rPr>
              <a:t>个问题在当前阶段难以解决但已决策完成。</a:t>
            </a:r>
            <a:endParaRPr lang="en-US" sz="1600" i="1" dirty="0" smtClean="0">
              <a:solidFill>
                <a:srgbClr val="0070C0"/>
              </a:solidFill>
            </a:endParaRP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1880215" y="95313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" name="工作表" showAsIcon="1" r:id="rId6" imgW="971550" imgH="666750" progId="Excel.Sheet.12">
                  <p:embed/>
                </p:oleObj>
              </mc:Choice>
              <mc:Fallback>
                <p:oleObj name="工作表" showAsIcon="1" r:id="rId6" imgW="971550" imgH="666750" progId="Excel.Sheet.12">
                  <p:embed/>
                  <p:pic>
                    <p:nvPicPr>
                      <p:cNvPr id="0" name="图片 109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880215" y="95313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/>
              <a:t>结构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结构达成情况审视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1204" y="217765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规格实现评估</a:t>
            </a:r>
            <a:endParaRPr lang="zh-CN" altLang="en-US" sz="2400" dirty="0"/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结构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91210" y="2825115"/>
          <a:ext cx="12775565" cy="2632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3605"/>
                <a:gridCol w="3917950"/>
                <a:gridCol w="6684010"/>
              </a:tblGrid>
              <a:tr h="47498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 smtClean="0"/>
                        <a:t>关键指标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 smtClean="0"/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完成情况</a:t>
                      </a:r>
                    </a:p>
                  </a:txBody>
                  <a:tcPr/>
                </a:tc>
              </a:tr>
              <a:tr h="4699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功能实现性（100%）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《技术规格说明书》中功能指标要求实现情况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6863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可装配性（100%）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依据系统结构设计对产品进行装配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308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可靠性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《技术规格说明书》中对于安全规格，环境试验等指标要求实现情况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308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可制造性（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DFM)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设计结果符合产品工程化生产要求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19455" y="1379855"/>
            <a:ext cx="124707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i="1" dirty="0">
                <a:solidFill>
                  <a:srgbClr val="0000FF"/>
                </a:solidFill>
              </a:rPr>
              <a:t>标准：</a:t>
            </a:r>
            <a:r>
              <a:rPr sz="2000" i="1">
                <a:solidFill>
                  <a:srgbClr val="0000FF"/>
                </a:solidFill>
                <a:sym typeface="+mn-ea"/>
              </a:rPr>
              <a:t>影响装配的问题已经得到解决，</a:t>
            </a:r>
            <a:r>
              <a:rPr lang="zh-CN" sz="2000" i="1">
                <a:solidFill>
                  <a:srgbClr val="0000FF"/>
                </a:solidFill>
                <a:sym typeface="+mn-ea"/>
              </a:rPr>
              <a:t>无严重问题遗留且</a:t>
            </a:r>
            <a:r>
              <a:rPr sz="2000" i="1">
                <a:solidFill>
                  <a:srgbClr val="0000FF"/>
                </a:solidFill>
                <a:sym typeface="+mn-ea"/>
              </a:rPr>
              <a:t>遗留问题有明确的解决方案(不能遗留影响试制的严重问题，小的修改讨论让步接受)，开模和机加件前期确定</a:t>
            </a:r>
            <a:r>
              <a:rPr lang="zh-CN" sz="2000" i="1">
                <a:solidFill>
                  <a:srgbClr val="0000FF"/>
                </a:solidFill>
                <a:sym typeface="+mn-ea"/>
              </a:rPr>
              <a:t>。</a:t>
            </a:r>
            <a:endParaRPr lang="zh-CN" sz="2000" i="1" dirty="0">
              <a:solidFill>
                <a:srgbClr val="0000FF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/>
              <a:t>结构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结构达成情况审视</a:t>
            </a: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结构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575304" y="133247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过程评估</a:t>
            </a:r>
            <a:endParaRPr lang="zh-CN" altLang="en-US" sz="2400" dirty="0" smtClean="0">
              <a:solidFill>
                <a:srgbClr val="FF0000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75310" y="1817370"/>
          <a:ext cx="12663805" cy="1931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67650"/>
                <a:gridCol w="4796155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/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状态描述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上阶段遗留问题是否均已关闭？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是否进行功能性测试？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影响试制的严重问题是否均已关闭并验证通过？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147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本阶段遗留问题是否有明确解决方案？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结构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结构遗留问题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7700" y="1457325"/>
          <a:ext cx="13350240" cy="313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6650"/>
                <a:gridCol w="3919855"/>
                <a:gridCol w="2778760"/>
                <a:gridCol w="1704975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遗留问题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计划完成时间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责任人</a:t>
                      </a:r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矩形标注 12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结构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硬件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硬件达成</a:t>
            </a:r>
            <a:r>
              <a:rPr lang="zh-CN" altLang="en-US" sz="2800" b="1" dirty="0">
                <a:solidFill>
                  <a:srgbClr val="FF0000"/>
                </a:solidFill>
              </a:rPr>
              <a:t>情况审视</a:t>
            </a: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硬件工程师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7065" y="1332230"/>
            <a:ext cx="132607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i="1" dirty="0">
                <a:solidFill>
                  <a:srgbClr val="0000FF"/>
                </a:solidFill>
              </a:rPr>
              <a:t>标准：</a:t>
            </a:r>
            <a:r>
              <a:rPr lang="en-US" altLang="zh-CN" sz="2000" i="1" dirty="0" smtClean="0">
                <a:solidFill>
                  <a:srgbClr val="0000FF"/>
                </a:solidFill>
                <a:sym typeface="+mn-ea"/>
              </a:rPr>
              <a:t>硬件所有指标已完成，无严重问题遗留(</a:t>
            </a:r>
            <a:r>
              <a:rPr lang="zh-CN" altLang="en-US" sz="2000" i="1" dirty="0" smtClean="0">
                <a:solidFill>
                  <a:srgbClr val="0000FF"/>
                </a:solidFill>
                <a:sym typeface="+mn-ea"/>
              </a:rPr>
              <a:t>如</a:t>
            </a:r>
            <a:r>
              <a:rPr lang="zh-CN" altLang="en-US" sz="2000" i="1" dirty="0">
                <a:solidFill>
                  <a:srgbClr val="0000FF"/>
                </a:solidFill>
                <a:sym typeface="+mn-ea"/>
              </a:rPr>
              <a:t>不满足</a:t>
            </a:r>
            <a:r>
              <a:rPr lang="zh-CN" altLang="en-US" sz="2000" i="1" dirty="0" smtClean="0">
                <a:solidFill>
                  <a:srgbClr val="0000FF"/>
                </a:solidFill>
                <a:sym typeface="+mn-ea"/>
              </a:rPr>
              <a:t>的有</a:t>
            </a:r>
            <a:r>
              <a:rPr lang="zh-CN" altLang="en-US" sz="2000" i="1" dirty="0">
                <a:solidFill>
                  <a:srgbClr val="0000FF"/>
                </a:solidFill>
                <a:sym typeface="+mn-ea"/>
              </a:rPr>
              <a:t>明确的</a:t>
            </a:r>
            <a:r>
              <a:rPr lang="zh-CN" altLang="en-US" sz="2000" i="1" dirty="0" smtClean="0">
                <a:solidFill>
                  <a:srgbClr val="0000FF"/>
                </a:solidFill>
                <a:sym typeface="+mn-ea"/>
              </a:rPr>
              <a:t>改</a:t>
            </a:r>
            <a:r>
              <a:rPr lang="zh-CN" altLang="en-US" sz="2000" i="1" dirty="0">
                <a:solidFill>
                  <a:srgbClr val="0000FF"/>
                </a:solidFill>
                <a:sym typeface="+mn-ea"/>
              </a:rPr>
              <a:t>板</a:t>
            </a:r>
            <a:r>
              <a:rPr lang="zh-CN" altLang="en-US" sz="2000" i="1" dirty="0" smtClean="0">
                <a:solidFill>
                  <a:srgbClr val="0000FF"/>
                </a:solidFill>
                <a:sym typeface="+mn-ea"/>
              </a:rPr>
              <a:t>方案）</a:t>
            </a:r>
            <a:r>
              <a:rPr lang="zh-CN" altLang="en-US" sz="2400" i="1" dirty="0">
                <a:solidFill>
                  <a:srgbClr val="0000FF"/>
                </a:solidFill>
              </a:rPr>
              <a:t>；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29285" y="2349500"/>
          <a:ext cx="13295630" cy="3016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1275"/>
                <a:gridCol w="4886325"/>
                <a:gridCol w="4558030"/>
              </a:tblGrid>
              <a:tr h="48387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2000" dirty="0">
                          <a:sym typeface="+mn-ea"/>
                        </a:rPr>
                        <a:t>状态描述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产出物</a:t>
                      </a:r>
                    </a:p>
                  </a:txBody>
                  <a:tcPr/>
                </a:tc>
              </a:tr>
              <a:tr h="40195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上阶段遗留问题是否均已关闭？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0132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是否完成硬件定型评审？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layout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图</a:t>
                      </a:r>
                    </a:p>
                  </a:txBody>
                  <a:tcPr/>
                </a:tc>
              </a:tr>
              <a:tr h="40132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改板方案是否进行评审？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评审报告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259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是否进行自测？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checklist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更新</a:t>
                      </a:r>
                    </a:p>
                  </a:txBody>
                  <a:tcPr/>
                </a:tc>
              </a:tr>
              <a:tr h="44259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自测问题是否均已关闭？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259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本阶段遗留问题是否有明确解决方案？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问题清单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6"/>
          <p:cNvSpPr txBox="1"/>
          <p:nvPr/>
        </p:nvSpPr>
        <p:spPr>
          <a:xfrm>
            <a:off x="647694" y="1889367"/>
            <a:ext cx="2731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 smtClean="0">
                <a:sym typeface="+mn-ea"/>
              </a:rPr>
              <a:t>规格实现</a:t>
            </a:r>
            <a:r>
              <a:rPr lang="en-US" altLang="zh-CN" sz="2400" dirty="0" smtClean="0">
                <a:sym typeface="+mn-ea"/>
              </a:rPr>
              <a:t>/</a:t>
            </a:r>
            <a:r>
              <a:rPr lang="zh-CN" altLang="en-US" sz="2400" dirty="0" smtClean="0">
                <a:sym typeface="+mn-ea"/>
              </a:rPr>
              <a:t>过程评估</a:t>
            </a:r>
            <a:endParaRPr lang="zh-CN" altLang="en-US" sz="24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硬件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硬件遗留问题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硬件工程师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7700" y="1457325"/>
          <a:ext cx="13350240" cy="31360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6650"/>
                <a:gridCol w="3919855"/>
                <a:gridCol w="2778760"/>
                <a:gridCol w="1704975"/>
              </a:tblGrid>
              <a:tr h="44767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遗留问题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2000" dirty="0"/>
                        <a:t>计划完成时间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责任人</a:t>
                      </a:r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关键器件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5161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关键器件和替代料验证情况审视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物料认证工程师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68655" y="1889125"/>
          <a:ext cx="13067747" cy="2706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5125"/>
                <a:gridCol w="1296108"/>
                <a:gridCol w="2232186"/>
                <a:gridCol w="2026015"/>
                <a:gridCol w="2982418"/>
                <a:gridCol w="1834401"/>
                <a:gridCol w="1061494"/>
              </a:tblGrid>
              <a:tr h="432443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 smtClean="0"/>
                        <a:t>关键器件</a:t>
                      </a:r>
                      <a:endParaRPr 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验证结论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文件齐</a:t>
                      </a:r>
                      <a:r>
                        <a:rPr lang="zh-CN" altLang="en-US" sz="2000" dirty="0" smtClean="0"/>
                        <a:t>套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sym typeface="+mn-ea"/>
                        </a:rPr>
                        <a:t>遗留问题</a:t>
                      </a:r>
                      <a:endParaRPr lang="zh-CN" altLang="en-US" sz="2000" dirty="0"/>
                    </a:p>
                    <a:p>
                      <a:pPr algn="ctr">
                        <a:buNone/>
                      </a:pP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计划完成时间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责任人</a:t>
                      </a:r>
                    </a:p>
                  </a:txBody>
                  <a:tcPr/>
                </a:tc>
              </a:tr>
              <a:tr h="48895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器件1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sym typeface="+mn-ea"/>
                        </a:rPr>
                        <a:t>datasheet/选型报告等</a:t>
                      </a:r>
                      <a:endParaRPr lang="zh-CN" altLang="en-US" sz="1600" i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暂无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/>
                </a:tc>
              </a:tr>
              <a:tr h="7131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器件2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不通过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7131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68655" y="1359535"/>
            <a:ext cx="13320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i="1" dirty="0">
                <a:solidFill>
                  <a:srgbClr val="0000FF"/>
                </a:solidFill>
              </a:rPr>
              <a:t>标准：关键</a:t>
            </a:r>
            <a:r>
              <a:rPr lang="zh-CN" altLang="en-US" sz="2000" i="1" dirty="0" smtClean="0">
                <a:solidFill>
                  <a:srgbClr val="0000FF"/>
                </a:solidFill>
              </a:rPr>
              <a:t>器件按计划进行验证，关键或长周期物料有明确替代方案。</a:t>
            </a:r>
            <a:endParaRPr lang="zh-CN" altLang="en-US" sz="2000" i="1" dirty="0">
              <a:solidFill>
                <a:srgbClr val="0000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关键器件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5161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关键器件和替代料验证情况审视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物料认证工程师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68655" y="1889125"/>
          <a:ext cx="13330978" cy="29502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6195"/>
                <a:gridCol w="1042266"/>
                <a:gridCol w="1298875"/>
                <a:gridCol w="1298875"/>
                <a:gridCol w="1788444"/>
                <a:gridCol w="1623260"/>
                <a:gridCol w="2146300"/>
                <a:gridCol w="1712973"/>
                <a:gridCol w="1113790"/>
              </a:tblGrid>
              <a:tr h="680720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 smtClean="0"/>
                        <a:t>关键器件</a:t>
                      </a:r>
                      <a:endParaRPr 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替代料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替代原因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验证结论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文件齐</a:t>
                      </a:r>
                      <a:r>
                        <a:rPr lang="zh-CN" altLang="en-US" sz="2000" dirty="0" smtClean="0"/>
                        <a:t>套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sym typeface="+mn-ea"/>
                        </a:rPr>
                        <a:t>遗留问题</a:t>
                      </a:r>
                      <a:endParaRPr lang="zh-CN" altLang="en-US" sz="2000" dirty="0"/>
                    </a:p>
                    <a:p>
                      <a:pPr algn="ctr">
                        <a:buNone/>
                      </a:pP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计划完成时间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责任人</a:t>
                      </a:r>
                    </a:p>
                  </a:txBody>
                  <a:tcPr/>
                </a:tc>
              </a:tr>
              <a:tr h="48895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器件1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替代料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由于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***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目前已停产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sym typeface="+mn-ea"/>
                        </a:rPr>
                        <a:t>datasheet/选型报告等</a:t>
                      </a:r>
                      <a:endParaRPr lang="zh-CN" altLang="en-US" sz="1600" i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暂无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7131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器件2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替代料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不通过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7131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68655" y="1359535"/>
            <a:ext cx="13320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i="1" dirty="0">
                <a:solidFill>
                  <a:srgbClr val="0000FF"/>
                </a:solidFill>
              </a:rPr>
              <a:t>标准：关键</a:t>
            </a:r>
            <a:r>
              <a:rPr lang="zh-CN" altLang="en-US" sz="2000" i="1" dirty="0" smtClean="0">
                <a:solidFill>
                  <a:srgbClr val="0000FF"/>
                </a:solidFill>
              </a:rPr>
              <a:t>器件按计划进行验证，关键或长周期物料有明确替代方案。</a:t>
            </a:r>
            <a:endParaRPr lang="zh-CN" altLang="en-US" sz="2000" i="1" dirty="0">
              <a:solidFill>
                <a:srgbClr val="0000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软件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6688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软件预审（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ARM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FPGA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APP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、算法）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7059" y="1961757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软件规格实现评估</a:t>
            </a:r>
            <a:endParaRPr lang="zh-CN" altLang="en-US" sz="2400" i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10440376" y="29518"/>
            <a:ext cx="2160180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责任人：对应领域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软件工程师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1499" y="1486535"/>
            <a:ext cx="1251553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i="1" dirty="0">
                <a:solidFill>
                  <a:srgbClr val="0000FF"/>
                </a:solidFill>
              </a:rPr>
              <a:t>标准：</a:t>
            </a:r>
            <a:r>
              <a:rPr lang="zh-CN" sz="2000" i="1">
                <a:solidFill>
                  <a:srgbClr val="0000FF"/>
                </a:solidFill>
                <a:sym typeface="+mn-ea"/>
              </a:rPr>
              <a:t>工程样机</a:t>
            </a:r>
            <a:r>
              <a:rPr sz="2000" i="1">
                <a:solidFill>
                  <a:srgbClr val="0000FF"/>
                </a:solidFill>
                <a:sym typeface="+mn-ea"/>
              </a:rPr>
              <a:t>阶段规划的功能实现，关键指标达成</a:t>
            </a:r>
            <a:r>
              <a:rPr lang="en-US" altLang="zh-CN" sz="2000" i="1" dirty="0">
                <a:solidFill>
                  <a:srgbClr val="0000FF"/>
                </a:solidFill>
                <a:sym typeface="+mn-ea"/>
              </a:rPr>
              <a:t>(</a:t>
            </a:r>
            <a:r>
              <a:rPr lang="en-US" altLang="zh-CN" sz="2000" i="1" dirty="0" err="1">
                <a:solidFill>
                  <a:srgbClr val="0000FF"/>
                </a:solidFill>
                <a:sym typeface="+mn-ea"/>
              </a:rPr>
              <a:t>如不能达成不能遗留</a:t>
            </a:r>
            <a:r>
              <a:rPr lang="zh-CN" altLang="en-US" sz="2000" i="1" dirty="0">
                <a:solidFill>
                  <a:srgbClr val="0000FF"/>
                </a:solidFill>
                <a:sym typeface="+mn-ea"/>
              </a:rPr>
              <a:t>影响试制的</a:t>
            </a:r>
            <a:r>
              <a:rPr lang="en-US" altLang="zh-CN" sz="2000" i="1" dirty="0" err="1">
                <a:solidFill>
                  <a:srgbClr val="0000FF"/>
                </a:solidFill>
                <a:sym typeface="+mn-ea"/>
              </a:rPr>
              <a:t>致命Bug</a:t>
            </a:r>
            <a:r>
              <a:rPr lang="en-US" altLang="zh-CN" sz="2000" i="1" dirty="0">
                <a:solidFill>
                  <a:srgbClr val="0000FF"/>
                </a:solidFill>
                <a:sym typeface="+mn-ea"/>
              </a:rPr>
              <a:t>)</a:t>
            </a:r>
            <a:r>
              <a:rPr lang="zh-CN" altLang="en-US" sz="2000" i="1" dirty="0">
                <a:solidFill>
                  <a:srgbClr val="0000FF"/>
                </a:solidFill>
              </a:rPr>
              <a:t>；</a:t>
            </a:r>
            <a:endParaRPr lang="en-US" altLang="zh-CN" sz="2000" i="1" dirty="0">
              <a:solidFill>
                <a:srgbClr val="0000FF"/>
              </a:solidFill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647065" y="2447608"/>
          <a:ext cx="12371388" cy="4716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305"/>
                <a:gridCol w="1746885"/>
                <a:gridCol w="6404610"/>
                <a:gridCol w="1179830"/>
                <a:gridCol w="1270000"/>
                <a:gridCol w="1107758"/>
              </a:tblGrid>
              <a:tr h="342900">
                <a:tc gridSpan="6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软件需求完成计划</a:t>
                      </a:r>
                      <a:endParaRPr lang="en-US" altLang="en-US" sz="14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5D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序号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需求名称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需求描述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工程样机阶段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已完成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未完成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01开关机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0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02充放电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03实时界面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04主菜单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05菜单-图库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06菜单-测温档位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0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07菜单-发射率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08菜单-调色板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09菜单-中心点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0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10菜单-温度单位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47064" y="7361555"/>
            <a:ext cx="1251553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1600" i="1" dirty="0" smtClean="0">
                <a:solidFill>
                  <a:srgbClr val="0070C0"/>
                </a:solidFill>
              </a:rPr>
              <a:t>说明：如需求列表较长，建议上传附件，表中仅呈现未完成需求信息。</a:t>
            </a:r>
            <a:endParaRPr lang="zh-CN" sz="2000" i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软件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6688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软件预审（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ARM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FPGA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APP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、算法）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694" y="145728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软件过程评估</a:t>
            </a:r>
            <a:endParaRPr lang="zh-CN" altLang="en-US" sz="2400" dirty="0"/>
          </a:p>
        </p:txBody>
      </p:sp>
      <p:sp>
        <p:nvSpPr>
          <p:cNvPr id="13" name="矩形标注 12"/>
          <p:cNvSpPr/>
          <p:nvPr/>
        </p:nvSpPr>
        <p:spPr>
          <a:xfrm>
            <a:off x="10440376" y="29518"/>
            <a:ext cx="2160180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</a:t>
            </a:r>
            <a:r>
              <a:rPr lang="zh-CN" altLang="en-US" sz="1800" dirty="0">
                <a:solidFill>
                  <a:schemeClr val="tx1"/>
                </a:solidFill>
              </a:rPr>
              <a:t>：对应领域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软件工程师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47700" y="2033270"/>
          <a:ext cx="13007975" cy="24491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0"/>
                <a:gridCol w="4848225"/>
              </a:tblGrid>
              <a:tr h="475615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/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状态描述</a:t>
                      </a:r>
                    </a:p>
                  </a:txBody>
                  <a:tcPr/>
                </a:tc>
              </a:tr>
              <a:tr h="39497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上阶段遗留问题是否均已关闭？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433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是否制定版本提测计划并按照计划执行？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497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提测前是否进行自测？自测发现问题是否均已关闭？</a:t>
                      </a: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433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是否按照规范要求进行提测？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497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本阶段遗留问题是否均已关闭？未关闭问题是否有明确解决方案？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/>
              <a:t>—</a:t>
            </a:r>
            <a:r>
              <a:rPr lang="zh-CN" altLang="en-US" sz="4000" b="1" dirty="0"/>
              <a:t>软件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114820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软件预审（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ARM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FPGA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APP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、算法</a:t>
            </a:r>
            <a:r>
              <a:rPr lang="zh-CN" altLang="en-US" sz="2800" b="1" dirty="0">
                <a:solidFill>
                  <a:srgbClr val="FF0000"/>
                </a:solidFill>
              </a:rPr>
              <a:t>遗留问题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）（仅记录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2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级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BUG)</a:t>
            </a:r>
          </a:p>
        </p:txBody>
      </p:sp>
      <p:sp>
        <p:nvSpPr>
          <p:cNvPr id="9" name="矩形标注 8"/>
          <p:cNvSpPr/>
          <p:nvPr/>
        </p:nvSpPr>
        <p:spPr>
          <a:xfrm>
            <a:off x="10440376" y="29518"/>
            <a:ext cx="2160180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</a:t>
            </a:r>
            <a:r>
              <a:rPr lang="zh-CN" altLang="en-US" sz="1800" dirty="0">
                <a:solidFill>
                  <a:schemeClr val="tx1"/>
                </a:solidFill>
              </a:rPr>
              <a:t>：对应领域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软件工程师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7560" y="1457496"/>
          <a:ext cx="13321112" cy="3419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1925"/>
                <a:gridCol w="1499870"/>
                <a:gridCol w="1453515"/>
                <a:gridCol w="2670810"/>
                <a:gridCol w="3090819"/>
                <a:gridCol w="2066685"/>
                <a:gridCol w="1107488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禅道问题编号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严重等级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影响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风险分析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责任人</a:t>
                      </a:r>
                    </a:p>
                  </a:txBody>
                  <a:tcPr/>
                </a:tc>
              </a:tr>
              <a:tr h="50863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6592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无法下载帮助文档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2735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6371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ESD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花屏不可恢复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47700" y="5489575"/>
            <a:ext cx="47104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600" i="1" dirty="0" smtClean="0">
                <a:solidFill>
                  <a:srgbClr val="0070C0"/>
                </a:solidFill>
              </a:rPr>
              <a:t>附件：《禅道未关闭BUG列表》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/>
              <a:t>测试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测试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8479" y="80944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测试充分性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5" name="TextBox 25"/>
          <p:cNvSpPr txBox="1"/>
          <p:nvPr/>
        </p:nvSpPr>
        <p:spPr>
          <a:xfrm>
            <a:off x="647059" y="1961538"/>
            <a:ext cx="4450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产品测试规格实现评估（软件）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78485" y="2473960"/>
          <a:ext cx="12928600" cy="2733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5075"/>
                <a:gridCol w="4545965"/>
                <a:gridCol w="3337560"/>
              </a:tblGrid>
              <a:tr h="475615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提测版本</a:t>
                      </a:r>
                      <a:r>
                        <a:rPr lang="en-US" altLang="zh-CN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按领域）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用例执行率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BUG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关闭率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ARM_固件</a:t>
                      </a: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说明：用例执行率不分领域进行统计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BUG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关闭率可根据版本进行统计</a:t>
                      </a:r>
                    </a:p>
                  </a:txBody>
                  <a:tcPr/>
                </a:tc>
              </a:tr>
              <a:tr h="4210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FPGA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210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MCU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210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Android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210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iOS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25"/>
          <p:cNvSpPr txBox="1"/>
          <p:nvPr/>
        </p:nvSpPr>
        <p:spPr>
          <a:xfrm>
            <a:off x="647059" y="5210198"/>
            <a:ext cx="4450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产品测试规格实现评估（硬件）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56895" y="5777865"/>
          <a:ext cx="12932410" cy="1061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8730"/>
                <a:gridCol w="4519930"/>
                <a:gridCol w="3333750"/>
              </a:tblGrid>
              <a:tr h="473075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 smtClean="0"/>
                        <a:t>迭代次数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用例执行率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BUG</a:t>
                      </a:r>
                      <a:r>
                        <a:rPr lang="zh-CN" altLang="en-US" sz="2000" dirty="0"/>
                        <a:t>关闭率</a:t>
                      </a:r>
                    </a:p>
                  </a:txBody>
                  <a:tcPr/>
                </a:tc>
              </a:tr>
              <a:tr h="58864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说明：硬件按照整机提交测试的次数计算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  <a:buNone/>
                      </a:pPr>
                      <a:endParaRPr lang="zh-CN" altLang="en-US" sz="2000" i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endParaRPr lang="zh-CN" altLang="en-US" sz="2000" i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75309" y="1496695"/>
            <a:ext cx="12515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i="1" dirty="0">
                <a:solidFill>
                  <a:srgbClr val="0000FF"/>
                </a:solidFill>
              </a:rPr>
              <a:t>标准</a:t>
            </a:r>
            <a:r>
              <a:rPr lang="zh-CN" altLang="en-US" sz="2000" i="1" dirty="0" smtClean="0">
                <a:solidFill>
                  <a:srgbClr val="0000FF"/>
                </a:solidFill>
              </a:rPr>
              <a:t>：全量测试完成，相关问题录入禅道跟踪，认证测试计划输出</a:t>
            </a:r>
            <a:endParaRPr lang="en-US" altLang="zh-CN" sz="2000" i="1" dirty="0">
              <a:solidFill>
                <a:srgbClr val="0000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/>
              <a:t>测试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测试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7059" y="1486706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测试过程评估</a:t>
            </a:r>
            <a:endParaRPr lang="zh-CN" altLang="en-US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578479" y="80944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测试充分性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47065" y="2033270"/>
          <a:ext cx="13115290" cy="2428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8375"/>
                <a:gridCol w="4526915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 smtClean="0"/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状态描述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《测试用例》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 i="1" dirty="0" smtClean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含认证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评审问题是否均已关闭？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对应版本提测计划是否制定测试工作计划？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测试用例执行情况及问题跟踪记录？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是否输出《测试报告》？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</a:pPr>
                      <a:r>
                        <a:rPr lang="zh-CN" altLang="en-US" sz="2000" i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—CFT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4094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装配及试制达成情况审视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1204" y="174585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规格实现评估</a:t>
            </a:r>
            <a:endParaRPr lang="zh-CN" altLang="en-US" sz="2400" dirty="0"/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工艺工程师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12165" y="2249170"/>
          <a:ext cx="12775565" cy="1944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3605"/>
                <a:gridCol w="3917950"/>
                <a:gridCol w="6684010"/>
              </a:tblGrid>
              <a:tr h="47498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 smtClean="0"/>
                        <a:t>关键指标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 smtClean="0"/>
                        <a:t>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完成情况</a:t>
                      </a:r>
                    </a:p>
                  </a:txBody>
                  <a:tcPr/>
                </a:tc>
              </a:tr>
              <a:tr h="4699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工艺文件资料准备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提供的工艺文件资料完整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6863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工装夹具，设备提供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首次批量生产前提供完整设备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308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工程试制生产良率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生产良率摸底评审通过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47065" y="1330960"/>
            <a:ext cx="124707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i="1" dirty="0">
                <a:solidFill>
                  <a:srgbClr val="0000FF"/>
                </a:solidFill>
              </a:rPr>
              <a:t>标准：</a:t>
            </a:r>
            <a:r>
              <a:rPr lang="en-US" altLang="zh-CN" sz="2000" i="1">
                <a:solidFill>
                  <a:srgbClr val="0000FF"/>
                </a:solidFill>
                <a:sym typeface="+mn-ea"/>
              </a:rPr>
              <a:t>影响装配及试制效率的问题得到解决或有明确的改善方案，能够在下个阶段试制时验证</a:t>
            </a:r>
            <a:r>
              <a:rPr lang="zh-CN" altLang="en-US" sz="2000" i="1">
                <a:solidFill>
                  <a:srgbClr val="0000FF"/>
                </a:solidFill>
                <a:sym typeface="+mn-ea"/>
              </a:rPr>
              <a:t>。</a:t>
            </a:r>
            <a:endParaRPr lang="zh-CN" sz="2000" i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812159" y="4911967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工程过程评估</a:t>
            </a:r>
            <a:endParaRPr lang="zh-CN" altLang="en-US" sz="24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12165" y="5372100"/>
          <a:ext cx="13295630" cy="20904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1275"/>
                <a:gridCol w="4886325"/>
                <a:gridCol w="4558030"/>
              </a:tblGrid>
              <a:tr h="48387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2000" dirty="0">
                          <a:sym typeface="+mn-ea"/>
                        </a:rPr>
                        <a:t>状态描述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产出物</a:t>
                      </a:r>
                    </a:p>
                  </a:txBody>
                  <a:tcPr/>
                </a:tc>
              </a:tr>
              <a:tr h="40195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上阶段遗留问题是否均已关闭？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遗留问题跟踪记录</a:t>
                      </a:r>
                    </a:p>
                  </a:txBody>
                  <a:tcPr/>
                </a:tc>
              </a:tr>
              <a:tr h="40132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是否进行自检？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工程过程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checklist</a:t>
                      </a:r>
                    </a:p>
                  </a:txBody>
                  <a:tcPr/>
                </a:tc>
              </a:tr>
              <a:tr h="40195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本阶段遗留问题是否有明确解决方案？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遗留问题跟踪记录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0132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—CFT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3027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工程阶段遗留问题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10439741" y="2189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  <a:sym typeface="+mn-ea"/>
              </a:rPr>
              <a:t>工艺工程师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7700" y="1457325"/>
          <a:ext cx="13350240" cy="31360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6650"/>
                <a:gridCol w="3919855"/>
                <a:gridCol w="2778760"/>
                <a:gridCol w="1704975"/>
              </a:tblGrid>
              <a:tr h="44767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遗留问题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2000" dirty="0"/>
                        <a:t>计划完成时间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责任人</a:t>
                      </a:r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>
                <a:sym typeface="+mn-ea"/>
              </a:rPr>
              <a:t>采购</a:t>
            </a:r>
            <a:endParaRPr lang="en-US" altLang="zh-CN" sz="4000" b="1" dirty="0" smtClean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14" name="矩形标注 13"/>
          <p:cNvSpPr/>
          <p:nvPr/>
        </p:nvSpPr>
        <p:spPr>
          <a:xfrm>
            <a:off x="9723120" y="29210"/>
            <a:ext cx="3021965" cy="612775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采购工程师</a:t>
            </a:r>
            <a:endParaRPr lang="en-US" altLang="zh-CN" sz="1800" i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67369" y="2033376"/>
            <a:ext cx="1281706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altLang="zh-CN" sz="24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8479" y="809442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采购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4" name="TextBox 25"/>
          <p:cNvSpPr txBox="1"/>
          <p:nvPr/>
        </p:nvSpPr>
        <p:spPr>
          <a:xfrm>
            <a:off x="503549" y="1385741"/>
            <a:ext cx="20961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 </a:t>
            </a:r>
            <a:r>
              <a:rPr lang="zh-CN" altLang="en-US" sz="2400" dirty="0" smtClean="0"/>
              <a:t>物料</a:t>
            </a:r>
            <a:r>
              <a:rPr lang="zh-CN" altLang="en-US" sz="2400" dirty="0"/>
              <a:t>供应</a:t>
            </a:r>
            <a:r>
              <a:rPr lang="zh-CN" altLang="en-US" sz="2400" dirty="0" smtClean="0"/>
              <a:t>情况</a:t>
            </a:r>
            <a:endParaRPr lang="zh-CN" altLang="en-US" sz="24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0185" y="2033270"/>
          <a:ext cx="13768705" cy="38347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7255"/>
                <a:gridCol w="1299210"/>
                <a:gridCol w="859790"/>
                <a:gridCol w="1835150"/>
                <a:gridCol w="1040765"/>
                <a:gridCol w="873125"/>
                <a:gridCol w="828040"/>
                <a:gridCol w="2550795"/>
                <a:gridCol w="2314575"/>
              </a:tblGrid>
              <a:tr h="10001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物料状态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供应商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/>
                        <a:t>交期</a:t>
                      </a:r>
                      <a:r>
                        <a:rPr lang="en-US" altLang="zh-CN" sz="2000" dirty="0"/>
                        <a:t>(LT)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/>
                        <a:t>库存数量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/>
                        <a:t>在途数量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/>
                        <a:t>问题</a:t>
                      </a:r>
                      <a:r>
                        <a:rPr lang="en-US" altLang="zh-CN" sz="2000" dirty="0"/>
                        <a:t>/</a:t>
                      </a:r>
                      <a:r>
                        <a:rPr lang="zh-CN" altLang="en-US" sz="2000" dirty="0"/>
                        <a:t>风险描述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/>
                        <a:t>应对措施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长交期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</a:tr>
              <a:tr h="446405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高风险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</a:tr>
              <a:tr h="444500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已停产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</a:tr>
              <a:tr h="575945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替代物料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</a:tr>
              <a:tr h="446405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</a:tr>
              <a:tr h="445135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en-US" altLang="zh-CN" sz="4000" b="1" dirty="0" smtClean="0">
                <a:sym typeface="+mn-ea"/>
              </a:rPr>
              <a:t>PMC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14" name="矩形标注 13"/>
          <p:cNvSpPr/>
          <p:nvPr/>
        </p:nvSpPr>
        <p:spPr>
          <a:xfrm>
            <a:off x="9723120" y="29210"/>
            <a:ext cx="3021965" cy="612775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en-US" altLang="zh-CN" sz="1800" i="1" dirty="0" smtClean="0">
                <a:solidFill>
                  <a:schemeClr val="accent5">
                    <a:lumMod val="75000"/>
                  </a:schemeClr>
                </a:solidFill>
              </a:rPr>
              <a:t>PMC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工程师</a:t>
            </a:r>
            <a:endParaRPr lang="en-US" altLang="zh-CN" sz="1800" i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67369" y="2033376"/>
            <a:ext cx="1281706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altLang="zh-CN" sz="24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8479" y="809442"/>
            <a:ext cx="9728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PMC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420" y="1391285"/>
          <a:ext cx="14302105" cy="36137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6165"/>
                <a:gridCol w="1756410"/>
                <a:gridCol w="1133475"/>
                <a:gridCol w="1023620"/>
                <a:gridCol w="1038860"/>
                <a:gridCol w="937895"/>
                <a:gridCol w="899795"/>
                <a:gridCol w="1029970"/>
                <a:gridCol w="1584960"/>
                <a:gridCol w="1512570"/>
                <a:gridCol w="1249045"/>
                <a:gridCol w="1069340"/>
              </a:tblGrid>
              <a:tr h="33528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物料编码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物料名称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申购原因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计划调度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采购员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申购日期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收到申购日期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订单号码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交付日期</a:t>
                      </a:r>
                    </a:p>
                  </a:txBody>
                  <a:tcPr/>
                </a:tc>
              </a:tr>
              <a:tr h="3683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所用项目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申购数量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申购人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BA0000024341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低压差线性稳压器(SGM2211-1.2XTDI6G/TR)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ZX01D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2021/3/15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2021/2/24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2021/3/1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新晔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4120052893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2021/3/30</a:t>
                      </a:r>
                    </a:p>
                  </a:txBody>
                  <a:tcPr anchor="ctr"/>
                </a:tc>
              </a:tr>
              <a:tr h="589915"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MA8000001204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内衬（1装10）下盖(BZ-ZX01D-01)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ZX01D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2021/4/2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***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***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2021/3/22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2021/3/22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汉海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4120053441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eaLnBrk="0" fontAlgn="base" latinLnBrk="0" hangingPunct="0">
                        <a:buClrTx/>
                        <a:buSzTx/>
                        <a:buFontTx/>
                        <a:defRPr/>
                      </a:pPr>
                      <a:r>
                        <a:rPr lang="zh-CN" sz="14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2021/4/6</a:t>
                      </a:r>
                    </a:p>
                  </a:txBody>
                  <a:tcPr anchor="ctr"/>
                </a:tc>
              </a:tr>
              <a:tr h="37782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84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5529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/>
              <a:t>—</a:t>
            </a:r>
            <a:r>
              <a:rPr lang="zh-CN" altLang="en-US" sz="4000" b="1" dirty="0"/>
              <a:t>质量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14" name="矩形标注 13"/>
          <p:cNvSpPr/>
          <p:nvPr/>
        </p:nvSpPr>
        <p:spPr>
          <a:xfrm>
            <a:off x="10224135" y="21590"/>
            <a:ext cx="2509520" cy="557530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en-US" altLang="zh-CN" sz="1800" i="1" dirty="0" smtClean="0">
                <a:solidFill>
                  <a:schemeClr val="accent5">
                    <a:lumMod val="75000"/>
                  </a:schemeClr>
                </a:solidFill>
              </a:rPr>
              <a:t>QA&amp;PQE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479" y="809442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质量</a:t>
            </a:r>
            <a:endParaRPr lang="en-US" altLang="zh-CN" sz="2800" b="1" dirty="0" smtClean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7065" y="1457325"/>
            <a:ext cx="99333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1" dirty="0" smtClean="0">
                <a:solidFill>
                  <a:srgbClr val="0070C0"/>
                </a:solidFill>
              </a:rPr>
              <a:t>说明：QA和PQE对当前阶段项目质量情况进行描述，形成评审意见。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endParaRPr lang="zh-CN" altLang="en-US" sz="18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包材、标贴、栈板、辅料等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47560" y="1837226"/>
          <a:ext cx="13321110" cy="515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2111"/>
                <a:gridCol w="1332111"/>
                <a:gridCol w="1332111"/>
                <a:gridCol w="1332111"/>
                <a:gridCol w="1332111"/>
                <a:gridCol w="1332111"/>
                <a:gridCol w="1332111"/>
                <a:gridCol w="1332111"/>
                <a:gridCol w="1332111"/>
                <a:gridCol w="1332111"/>
              </a:tblGrid>
              <a:tr h="370840"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分类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Items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编码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用量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责任人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测试结果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单盒测试</a:t>
                      </a: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签样状态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en-US" altLang="zh-CN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Logo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国内版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>
                        <a:buClrTx/>
                        <a:buSzTx/>
                        <a:buFontTx/>
                      </a:pPr>
                      <a:r>
                        <a:rPr lang="zh-CN" alt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海外版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彩盒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pass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已签样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是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否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手册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镭雕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中箱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标签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栈板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03325" rtl="0" eaLnBrk="1" latinLnBrk="0" hangingPunct="1"/>
                      <a:r>
                        <a:rPr lang="en-US" altLang="zh-CN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CCC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03325" rtl="0" eaLnBrk="1" latinLnBrk="0" hangingPunct="1"/>
                      <a:r>
                        <a:rPr lang="en-US" altLang="zh-CN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FCC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1203325" rtl="0" eaLnBrk="1" latinLnBrk="0" hangingPunct="1"/>
                      <a:r>
                        <a:rPr lang="zh-CN" altLang="en-US" sz="1600" b="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垃圾桶</a:t>
                      </a:r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b="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标注 5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产品经理</a:t>
            </a: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255895" y="73787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showAsIcon="1" r:id="rId7" imgW="971550" imgH="666750" progId="Excel.Sheet.12">
                  <p:embed/>
                </p:oleObj>
              </mc:Choice>
              <mc:Fallback>
                <p:oleObj showAsIcon="1" r:id="rId7" imgW="971550" imgH="66675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55895" y="73787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47700" y="1385570"/>
            <a:ext cx="124707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i="1" dirty="0">
                <a:solidFill>
                  <a:srgbClr val="0000FF"/>
                </a:solidFill>
              </a:rPr>
              <a:t>标准：</a:t>
            </a:r>
            <a:r>
              <a:rPr lang="zh-CN" altLang="en-US" sz="2000" i="1">
                <a:solidFill>
                  <a:srgbClr val="0000FF"/>
                </a:solidFill>
                <a:sym typeface="+mn-ea"/>
              </a:rPr>
              <a:t>配件、包材、标贴等设计验证定型。</a:t>
            </a:r>
            <a:endParaRPr lang="zh-CN" sz="2000" i="1" dirty="0">
              <a:solidFill>
                <a:srgbClr val="0000FF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endParaRPr lang="zh-CN" altLang="en-US" sz="18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73832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环保</a:t>
            </a:r>
            <a:r>
              <a:rPr lang="zh-CN" altLang="en-US" sz="2800" b="1" dirty="0">
                <a:solidFill>
                  <a:srgbClr val="FF0000"/>
                </a:solidFill>
              </a:rPr>
              <a:t>与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认证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91279" y="4094014"/>
          <a:ext cx="12191501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7029"/>
                <a:gridCol w="2667000"/>
                <a:gridCol w="4611977"/>
                <a:gridCol w="2835495"/>
              </a:tblGrid>
              <a:tr h="370840"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区域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认证类型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状态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计划完成时间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中国区</a:t>
                      </a: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3C</a:t>
                      </a: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已取证</a:t>
                      </a: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BT</a:t>
                      </a: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月</a:t>
                      </a: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21</a:t>
                      </a: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日已出测试报告，计划</a:t>
                      </a: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4.24-25</a:t>
                      </a: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号安排厂验</a:t>
                      </a: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2020.4.29</a:t>
                      </a: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UN38.3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已取证</a:t>
                      </a: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...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8479" y="1673396"/>
            <a:ext cx="1494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1. </a:t>
            </a:r>
            <a:r>
              <a:rPr lang="zh-CN" altLang="en-US" sz="2000" b="1" dirty="0" smtClean="0"/>
              <a:t>环保要求</a:t>
            </a:r>
            <a:endParaRPr lang="zh-CN" alt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08490" y="2096366"/>
            <a:ext cx="1220406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/>
            <a:r>
              <a:rPr lang="zh-CN" altLang="en-US" sz="1600" i="1" dirty="0">
                <a:solidFill>
                  <a:srgbClr val="0070C0"/>
                </a:solidFill>
              </a:rPr>
              <a:t>示例：</a:t>
            </a:r>
            <a:r>
              <a:rPr lang="en-US" altLang="zh-CN" sz="1600" i="1" dirty="0">
                <a:solidFill>
                  <a:srgbClr val="0070C0"/>
                </a:solidFill>
              </a:rPr>
              <a:t>DFE</a:t>
            </a:r>
            <a:r>
              <a:rPr lang="zh-CN" altLang="en-US" sz="1600" i="1" dirty="0">
                <a:solidFill>
                  <a:srgbClr val="0070C0"/>
                </a:solidFill>
              </a:rPr>
              <a:t>环保设计要求已落实，</a:t>
            </a:r>
            <a:r>
              <a:rPr lang="en-US" altLang="zh-CN" sz="1600" i="1" dirty="0" err="1">
                <a:solidFill>
                  <a:srgbClr val="0070C0"/>
                </a:solidFill>
              </a:rPr>
              <a:t>RoHS</a:t>
            </a:r>
            <a:r>
              <a:rPr lang="zh-CN" altLang="en-US" sz="1600" i="1" dirty="0">
                <a:solidFill>
                  <a:srgbClr val="0070C0"/>
                </a:solidFill>
              </a:rPr>
              <a:t>、</a:t>
            </a:r>
            <a:r>
              <a:rPr lang="en-US" altLang="zh-CN" sz="1600" i="1" dirty="0">
                <a:solidFill>
                  <a:srgbClr val="0070C0"/>
                </a:solidFill>
              </a:rPr>
              <a:t>REACH</a:t>
            </a:r>
            <a:r>
              <a:rPr lang="zh-CN" altLang="en-US" sz="1600" i="1" dirty="0">
                <a:solidFill>
                  <a:srgbClr val="0070C0"/>
                </a:solidFill>
              </a:rPr>
              <a:t>交付件已完成验证。</a:t>
            </a:r>
            <a:r>
              <a:rPr lang="zh-CN" altLang="en-US" sz="1600" i="1" dirty="0">
                <a:solidFill>
                  <a:srgbClr val="FF0000"/>
                </a:solidFill>
              </a:rPr>
              <a:t>（说明：具体环保要求详见《需求说明书》，此处仅列举示例）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91277" y="2485046"/>
          <a:ext cx="12191503" cy="110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4990"/>
                <a:gridCol w="4018915"/>
                <a:gridCol w="6347598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序号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交付件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证据（如报告）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i="1" kern="1200" dirty="0" err="1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RoHS</a:t>
                      </a: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 DOC</a:t>
                      </a: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REACH DOC</a:t>
                      </a:r>
                      <a:endParaRPr lang="zh-CN" altLang="en-US" sz="1600" i="1" kern="120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7059" y="3643341"/>
            <a:ext cx="65919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b="1" dirty="0" smtClean="0"/>
              <a:t>2.</a:t>
            </a:r>
            <a:r>
              <a:rPr lang="zh-CN" altLang="en-US" sz="2000" b="1" dirty="0" smtClean="0"/>
              <a:t>认证</a:t>
            </a:r>
            <a:r>
              <a:rPr lang="zh-CN" altLang="en-US" sz="1600" i="1" dirty="0">
                <a:solidFill>
                  <a:srgbClr val="FF0000"/>
                </a:solidFill>
              </a:rPr>
              <a:t>（说明：</a:t>
            </a:r>
            <a:r>
              <a:rPr lang="zh-CN" altLang="en-US" sz="1600" i="1" dirty="0">
                <a:solidFill>
                  <a:srgbClr val="FF0000"/>
                </a:solidFill>
                <a:sym typeface="+mn-ea"/>
              </a:rPr>
              <a:t>具体认证要求详见《需求说明书》，此处仅列举示例）</a:t>
            </a:r>
            <a:endParaRPr lang="zh-CN" altLang="en-US" sz="2000" b="1" dirty="0"/>
          </a:p>
        </p:txBody>
      </p:sp>
      <p:sp>
        <p:nvSpPr>
          <p:cNvPr id="12" name="矩形标注 11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认证工程师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310" y="1251585"/>
            <a:ext cx="124707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i="1" dirty="0">
                <a:solidFill>
                  <a:srgbClr val="0000FF"/>
                </a:solidFill>
              </a:rPr>
              <a:t>标准：</a:t>
            </a:r>
            <a:r>
              <a:rPr lang="zh-CN" altLang="en-US" sz="2000" i="1">
                <a:solidFill>
                  <a:srgbClr val="0000FF"/>
                </a:solidFill>
                <a:sym typeface="+mn-ea"/>
              </a:rPr>
              <a:t>产品认证按计划进行。</a:t>
            </a:r>
            <a:endParaRPr lang="zh-CN" sz="2000" i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8" name="TextBox 10"/>
          <p:cNvSpPr txBox="1"/>
          <p:nvPr/>
        </p:nvSpPr>
        <p:spPr>
          <a:xfrm>
            <a:off x="719449" y="5999191"/>
            <a:ext cx="73539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b="1" dirty="0" smtClean="0"/>
              <a:t>3.</a:t>
            </a:r>
            <a:r>
              <a:rPr lang="zh-CN" altLang="en-US" sz="2000" b="1" dirty="0" smtClean="0"/>
              <a:t>第三方检测</a:t>
            </a:r>
            <a:r>
              <a:rPr lang="zh-CN" altLang="en-US" sz="1600" i="1" dirty="0">
                <a:solidFill>
                  <a:srgbClr val="FF0000"/>
                </a:solidFill>
              </a:rPr>
              <a:t>（说明：</a:t>
            </a:r>
            <a:r>
              <a:rPr lang="zh-CN" altLang="en-US" sz="1600" i="1" dirty="0">
                <a:solidFill>
                  <a:srgbClr val="FF0000"/>
                </a:solidFill>
                <a:sym typeface="+mn-ea"/>
              </a:rPr>
              <a:t>具体认证要求详见《需求说明书》，此处仅列举示例）</a:t>
            </a:r>
            <a:endParaRPr lang="zh-CN" altLang="en-US" sz="2000" b="1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91210" y="6497955"/>
          <a:ext cx="12216130" cy="14497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1355"/>
                <a:gridCol w="5570220"/>
                <a:gridCol w="3424555"/>
              </a:tblGrid>
              <a:tr h="365760"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检测类型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状态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203325" rtl="0" eaLnBrk="1" latinLnBrk="0" hangingPunct="1"/>
                      <a:r>
                        <a:rPr lang="zh-CN" alt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计划完成时间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61315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kern="12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检测中，</a:t>
                      </a:r>
                      <a:r>
                        <a:rPr lang="en-US" altLang="zh-CN" sz="1600" i="1" kern="12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5.18</a:t>
                      </a:r>
                      <a:r>
                        <a:rPr lang="zh-CN" altLang="en-US" sz="1600" i="1" kern="12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出检测报告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kern="12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2021.5.18</a:t>
                      </a:r>
                    </a:p>
                  </a:txBody>
                  <a:tcPr/>
                </a:tc>
              </a:tr>
              <a:tr h="361315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kern="12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 smtClean="0"/>
              <a:t>4.</a:t>
            </a:r>
            <a:r>
              <a:rPr lang="zh-CN" altLang="en-US" sz="4000" b="1" dirty="0" smtClean="0"/>
              <a:t>评审结论</a:t>
            </a:r>
            <a:endParaRPr lang="zh-CN" altLang="en-US" sz="4000" b="1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9536" y="809442"/>
          <a:ext cx="13321110" cy="72351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20"/>
                <a:gridCol w="2664222"/>
                <a:gridCol w="9216768"/>
              </a:tblGrid>
              <a:tr h="3999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评审结论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评审意见 </a:t>
                      </a: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产品经理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3561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系统工程师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 marL="0" marR="0" lvl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光学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硬件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算法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工程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制造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采购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PMC</a:t>
                      </a:r>
                      <a:endParaRPr lang="zh-CN" altLang="en-US" sz="1800" dirty="0" smtClean="0">
                        <a:solidFill>
                          <a:schemeClr val="bg1">
                            <a:lumMod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291465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项目经理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24259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整体结论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GO/No</a:t>
                      </a:r>
                      <a:r>
                        <a:rPr lang="zh-CN" altLang="en-US" sz="1600" i="1" baseline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Go/Go with risk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09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63402" y="809352"/>
            <a:ext cx="7197725" cy="1323439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  <p:txBody>
          <a:bodyPr>
            <a:spAutoFit/>
          </a:bodyPr>
          <a:lstStyle/>
          <a:p>
            <a:pPr eaLnBrk="1" fontAlgn="auto" hangingPunct="1">
              <a:defRPr/>
            </a:pPr>
            <a:r>
              <a:rPr lang="en-US" altLang="zh-CN" sz="8000" noProof="1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Thanks!</a:t>
            </a:r>
            <a:endParaRPr lang="zh-CN" altLang="en-US" sz="8000" noProof="1">
              <a:solidFill>
                <a:schemeClr val="bg1"/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839788" y="5705475"/>
            <a:ext cx="13536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武汉高德智感科技有限公司</a:t>
            </a:r>
          </a:p>
          <a:p>
            <a:pPr eaLnBrk="1" hangingPunct="1"/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Wuhan Guide Sensmart Tech Co.,Ltd.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839788" y="6713538"/>
            <a:ext cx="2400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en-US" altLang="zh-CN" sz="1200">
                <a:solidFill>
                  <a:schemeClr val="bg1"/>
                </a:solidFill>
              </a:rPr>
              <a:t>T  +86-27-81298783</a:t>
            </a:r>
          </a:p>
          <a:p>
            <a:pPr eaLnBrk="1" hangingPunct="1"/>
            <a:r>
              <a:rPr lang="en-US" altLang="zh-CN" sz="1200">
                <a:solidFill>
                  <a:schemeClr val="bg1"/>
                </a:solidFill>
              </a:rPr>
              <a:t>F  +86-27-81298345</a:t>
            </a:r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879725" y="6713538"/>
            <a:ext cx="3455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en-US" altLang="zh-CN" sz="1200">
                <a:solidFill>
                  <a:schemeClr val="bg1"/>
                </a:solidFill>
              </a:rPr>
              <a:t>E   Mei@guide-infrared.com</a:t>
            </a:r>
          </a:p>
          <a:p>
            <a:pPr eaLnBrk="1" hangingPunct="1"/>
            <a:r>
              <a:rPr lang="en-US" altLang="zh-CN" sz="1200">
                <a:solidFill>
                  <a:schemeClr val="bg1"/>
                </a:solidFill>
              </a:rPr>
              <a:t>W  www.guideir.com</a:t>
            </a:r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839788" y="6210300"/>
            <a:ext cx="13536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湖北省武汉市东湖开发区光谷大道黄龙山南路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6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号，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430205</a:t>
            </a:r>
          </a:p>
          <a:p>
            <a:pPr eaLnBrk="1" hangingPunct="1"/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No.6 Huanglongshan South Rd,Wuhan,430205,P.R.China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07671" y="2761530"/>
          <a:ext cx="12984870" cy="179222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328290"/>
                <a:gridCol w="4328290"/>
                <a:gridCol w="432829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版本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修订内容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时间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新增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2021/6/23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9788" y="2321568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本文档版本记录：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12d2252-53d0-452a-a24f-9c0086f0e20c}"/>
  <p:tag name="TABLE_ENDDRAG_ORIGIN_RECT" val="1045*453"/>
  <p:tag name="TABLE_ENDDRAG_RECT" val="44*182*1045*45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08*212"/>
  <p:tag name="TABLE_ENDDRAG_RECT" val="45*131*1008*2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46*196"/>
  <p:tag name="TABLE_ENDDRAG_RECT" val="48*375*1046*19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05*227"/>
  <p:tag name="TABLE_ENDDRAG_RECT" val="50*175*1005*22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997*181"/>
  <p:tag name="TABLE_ENDDRAG_RECT" val="45*143*997*18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51*244"/>
  <p:tag name="TABLE_ENDDRAG_RECT" val="51*114*1051*24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46*196"/>
  <p:tag name="TABLE_ENDDRAG_RECT" val="48*375*1046*19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51*244"/>
  <p:tag name="TABLE_ENDDRAG_RECT" val="51*114*1051*24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28*272"/>
  <p:tag name="TABLE_ENDDRAG_RECT" val="52*148*1028*27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28*272"/>
  <p:tag name="TABLE_ENDDRAG_RECT" val="52*148*1028*27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d99f4d9-55f2-450e-a943-0fb75825f6f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24*192"/>
  <p:tag name="TABLE_ENDDRAG_RECT" val="51*160*1024*19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6025982-ba30-4e80-ade3-d53169bf571c}"/>
  <p:tag name="TABLE_ENDDRAG_ORIGIN_RECT" val="1018*215"/>
  <p:tag name="TABLE_ENDDRAG_RECT" val="45*194*1018*21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b7dec9c-7dcd-49d3-8c62-bbb8dc48c675}"/>
  <p:tag name="TABLE_ENDDRAG_ORIGIN_RECT" val="1018*83"/>
  <p:tag name="TABLE_ENDDRAG_RECT" val="43*454*1018*8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32*186"/>
  <p:tag name="TABLE_ENDDRAG_RECT" val="50*171*1032*18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05*227"/>
  <p:tag name="TABLE_ENDDRAG_RECT" val="50*175*1005*22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46*196"/>
  <p:tag name="TABLE_ENDDRAG_RECT" val="48*375*1046*19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51*244"/>
  <p:tag name="TABLE_ENDDRAG_RECT" val="51*114*1051*24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84*301"/>
  <p:tag name="TABLE_ENDDRAG_RECT" val="16*160*1084*30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126*305"/>
  <p:tag name="TABLE_ENDDRAG_RECT" val="4*245*1126*30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dc3f4d7-e086-458c-806a-697ce6aa970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1289327-282a-4d42-877a-3d2fb7740b9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24dba87-39f8-4c52-880d-76892aaae64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1289327-282a-4d42-877a-3d2fb7740b97}"/>
  <p:tag name="TABLE_ENDDRAG_ORIGIN_RECT" val="961*113"/>
  <p:tag name="TABLE_ENDDRAG_RECT" val="62*511*961*11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b0de9e5-e611-4911-b7e6-3d8b23efdca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02c0824-8677-4ba7-a6e3-dfcfc32ad64f}"/>
</p:tagLst>
</file>

<file path=ppt/theme/theme1.xml><?xml version="1.0" encoding="utf-8"?>
<a:theme xmlns:a="http://schemas.openxmlformats.org/drawingml/2006/main" name="Office 主题">
  <a:themeElements>
    <a:clrScheme name="高德智感">
      <a:dk1>
        <a:srgbClr val="000000"/>
      </a:dk1>
      <a:lt1>
        <a:srgbClr val="F5F5F5"/>
      </a:lt1>
      <a:dk2>
        <a:srgbClr val="C90915"/>
      </a:dk2>
      <a:lt2>
        <a:srgbClr val="B4B4B4"/>
      </a:lt2>
      <a:accent1>
        <a:srgbClr val="FFF100"/>
      </a:accent1>
      <a:accent2>
        <a:srgbClr val="6A258A"/>
      </a:accent2>
      <a:accent3>
        <a:srgbClr val="3D9740"/>
      </a:accent3>
      <a:accent4>
        <a:srgbClr val="E62E8B"/>
      </a:accent4>
      <a:accent5>
        <a:srgbClr val="1D50A2"/>
      </a:accent5>
      <a:accent6>
        <a:srgbClr val="FFFFFF"/>
      </a:accent6>
      <a:hlink>
        <a:srgbClr val="000099"/>
      </a:hlink>
      <a:folHlink>
        <a:srgbClr val="5F5F5F"/>
      </a:folHlink>
    </a:clrScheme>
    <a:fontScheme name="高德红外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ppt/theme/themeOverride2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ppt/theme/themeOverride3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ppt/theme/themeOverride4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ppt/theme/themeOverride5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ppt/theme/themeOverride6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ppt/theme/themeOverride7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2087</Words>
  <Application>Microsoft Office PowerPoint</Application>
  <PresentationFormat>自定义</PresentationFormat>
  <Paragraphs>529</Paragraphs>
  <Slides>28</Slides>
  <Notes>26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1" baseType="lpstr">
      <vt:lpstr>Office 主题</vt:lpstr>
      <vt:lpstr>工作表</vt:lpstr>
      <vt:lpstr>Microsoft Excel 工作表</vt:lpstr>
      <vt:lpstr>PowerPoint 演示文稿</vt:lpstr>
      <vt:lpstr>PowerPoint 演示文稿</vt:lpstr>
      <vt:lpstr>1.项目背景简介</vt:lpstr>
      <vt:lpstr>2.项目完成状况</vt:lpstr>
      <vt:lpstr>3.项目完成状况</vt:lpstr>
      <vt:lpstr>3.项目完成状况</vt:lpstr>
      <vt:lpstr>3.项目完成状况</vt:lpstr>
      <vt:lpstr>3.领域质量评审—结构</vt:lpstr>
      <vt:lpstr>3.领域质量评审—结构</vt:lpstr>
      <vt:lpstr>3.领域质量评审—结构</vt:lpstr>
      <vt:lpstr>3.领域质量评审—硬件</vt:lpstr>
      <vt:lpstr>3.领域质量评审—硬件</vt:lpstr>
      <vt:lpstr>3.领域质量评审—关键器件</vt:lpstr>
      <vt:lpstr>3.领域质量评审—关键器件</vt:lpstr>
      <vt:lpstr>3.领域质量评审—软件</vt:lpstr>
      <vt:lpstr>3.领域质量评审—软件</vt:lpstr>
      <vt:lpstr>3.领域质量评审—软件</vt:lpstr>
      <vt:lpstr>3.领域质量评审—测试</vt:lpstr>
      <vt:lpstr>3.领域质量评审—测试</vt:lpstr>
      <vt:lpstr>3.领域质量评审—CFT</vt:lpstr>
      <vt:lpstr>3.领域质量评审—CFT</vt:lpstr>
      <vt:lpstr>3.领域质量评审—采购</vt:lpstr>
      <vt:lpstr>3.领域质量评审—PMC</vt:lpstr>
      <vt:lpstr>3.领域质量评审—质量</vt:lpstr>
      <vt:lpstr>3.领域质量评审</vt:lpstr>
      <vt:lpstr>3.领域质量评审</vt:lpstr>
      <vt:lpstr>4.评审结论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USER-</cp:lastModifiedBy>
  <cp:revision>1361</cp:revision>
  <dcterms:created xsi:type="dcterms:W3CDTF">2015-07-01T09:37:00Z</dcterms:created>
  <dcterms:modified xsi:type="dcterms:W3CDTF">2021-07-02T09:40:06Z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2052-11.1.0.10578</vt:lpwstr>
  </property>
  <property fmtid="{D5CDD505-2E9C-101B-9397-08002B2CF9AE}" pid="3" name="ICV">
    <vt:lpwstr>AE6F33E53E454287B507DDF3C54603BD</vt:lpwstr>
  </property>
</Properties>
</file>