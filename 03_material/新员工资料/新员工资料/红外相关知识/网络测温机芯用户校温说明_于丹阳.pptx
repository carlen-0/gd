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65" r:id="rId2"/>
    <p:sldId id="463" r:id="rId3"/>
    <p:sldId id="465" r:id="rId4"/>
    <p:sldId id="466" r:id="rId5"/>
    <p:sldId id="472" r:id="rId6"/>
    <p:sldId id="473" r:id="rId7"/>
    <p:sldId id="474" r:id="rId8"/>
    <p:sldId id="475" r:id="rId9"/>
    <p:sldId id="476" r:id="rId10"/>
    <p:sldId id="477" r:id="rId11"/>
    <p:sldId id="478" r:id="rId12"/>
    <p:sldId id="479" r:id="rId13"/>
    <p:sldId id="482" r:id="rId14"/>
    <p:sldId id="480" r:id="rId15"/>
    <p:sldId id="481" r:id="rId16"/>
    <p:sldId id="442" r:id="rId1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0">
          <p15:clr>
            <a:srgbClr val="A4A3A4"/>
          </p15:clr>
        </p15:guide>
        <p15:guide id="2" pos="389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于丹阳" initials="于丹阳" lastIdx="1" clrIdx="0">
    <p:extLst>
      <p:ext uri="{19B8F6BF-5375-455C-9EA6-DF929625EA0E}">
        <p15:presenceInfo xmlns:p15="http://schemas.microsoft.com/office/powerpoint/2012/main" userId="S-1-5-21-1977774315-1158214558-706363748-34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74309F"/>
    <a:srgbClr val="F0E7E7"/>
    <a:srgbClr val="A92376"/>
    <a:srgbClr val="BF030A"/>
    <a:srgbClr val="A92375"/>
    <a:srgbClr val="962A8E"/>
    <a:srgbClr val="752F9E"/>
    <a:srgbClr val="762F9D"/>
    <a:srgbClr val="B21B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20" autoAdjust="0"/>
  </p:normalViewPr>
  <p:slideViewPr>
    <p:cSldViewPr showGuides="1">
      <p:cViewPr varScale="1">
        <p:scale>
          <a:sx n="73" d="100"/>
          <a:sy n="73" d="100"/>
        </p:scale>
        <p:origin x="1146" y="96"/>
      </p:cViewPr>
      <p:guideLst>
        <p:guide orient="horz" pos="2260"/>
        <p:guide pos="38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2022/7/13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012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2022/7/13</a:t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40517293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718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26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007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477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521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525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674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162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3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010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848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461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682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585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76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165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41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18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18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20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89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5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5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88" y="0"/>
            <a:ext cx="6673215" cy="6857365"/>
          </a:xfrm>
          <a:prstGeom prst="rect">
            <a:avLst/>
          </a:prstGeom>
          <a:blipFill rotWithShape="1">
            <a:blip r:embed="rId3">
              <a:alphaModFix amt="51000"/>
            </a:blip>
            <a:stretch>
              <a:fillRect/>
            </a:stretch>
          </a:blipFill>
        </p:spPr>
      </p:pic>
      <p:sp>
        <p:nvSpPr>
          <p:cNvPr id="4098" name="文本框 2"/>
          <p:cNvSpPr txBox="1"/>
          <p:nvPr/>
        </p:nvSpPr>
        <p:spPr>
          <a:xfrm>
            <a:off x="840104" y="2486506"/>
            <a:ext cx="7200112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网络测温机芯用户校温说明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0" name="文本框 4"/>
          <p:cNvSpPr txBox="1"/>
          <p:nvPr/>
        </p:nvSpPr>
        <p:spPr>
          <a:xfrm>
            <a:off x="839416" y="5877243"/>
            <a:ext cx="1898277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2022.7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  <p:pic>
        <p:nvPicPr>
          <p:cNvPr id="9" name="图片 8" descr="日 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48" y="6006813"/>
            <a:ext cx="230505" cy="222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sp>
        <p:nvSpPr>
          <p:cNvPr id="5123" name="文本框 3"/>
          <p:cNvSpPr txBox="1"/>
          <p:nvPr/>
        </p:nvSpPr>
        <p:spPr>
          <a:xfrm>
            <a:off x="552098" y="171450"/>
            <a:ext cx="1820862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4321416" y="2912755"/>
            <a:ext cx="2315845" cy="671830"/>
            <a:chOff x="5639" y="5556"/>
            <a:chExt cx="3647" cy="1058"/>
          </a:xfrm>
          <a:effectLst/>
        </p:grpSpPr>
        <p:sp>
          <p:nvSpPr>
            <p:cNvPr id="12" name="文本框 11"/>
            <p:cNvSpPr txBox="1"/>
            <p:nvPr/>
          </p:nvSpPr>
          <p:spPr>
            <a:xfrm>
              <a:off x="6733" y="5650"/>
              <a:ext cx="255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</a:lstStyle>
            <a:p>
              <a:r>
                <a:rPr lang="zh-CN" altLang="en-US" sz="2800" noProof="1" smtClean="0">
                  <a:sym typeface="+mn-ea"/>
                </a:rPr>
                <a:t>连接设备</a:t>
              </a:r>
              <a:endParaRPr lang="en-US" altLang="zh-CN" sz="2800" noProof="1">
                <a:sym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639" y="5556"/>
              <a:ext cx="1058" cy="1058"/>
              <a:chOff x="6427" y="3272"/>
              <a:chExt cx="1058" cy="105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6427" y="3272"/>
                <a:ext cx="1058" cy="1058"/>
              </a:xfrm>
              <a:prstGeom prst="ellipse">
                <a:avLst/>
              </a:prstGeom>
              <a:gradFill>
                <a:gsLst>
                  <a:gs pos="0">
                    <a:srgbClr val="C00000"/>
                  </a:gs>
                  <a:gs pos="100000">
                    <a:srgbClr val="7030A0"/>
                  </a:gs>
                </a:gsLst>
                <a:lin ang="11700000" scaled="0"/>
              </a:gradFill>
              <a:ln w="19050"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/>
              </a:p>
            </p:txBody>
          </p:sp>
          <p:sp>
            <p:nvSpPr>
              <p:cNvPr id="19" name="文本框 3"/>
              <p:cNvSpPr txBox="1"/>
              <p:nvPr/>
            </p:nvSpPr>
            <p:spPr>
              <a:xfrm>
                <a:off x="6655" y="3390"/>
                <a:ext cx="601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en-US" altLang="zh-CN" sz="28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4982862" y="3860438"/>
            <a:ext cx="1617345" cy="671830"/>
            <a:chOff x="5639" y="5556"/>
            <a:chExt cx="2547" cy="1058"/>
          </a:xfrm>
          <a:effectLst/>
        </p:grpSpPr>
        <p:sp>
          <p:nvSpPr>
            <p:cNvPr id="22" name="文本框 11"/>
            <p:cNvSpPr txBox="1"/>
            <p:nvPr/>
          </p:nvSpPr>
          <p:spPr>
            <a:xfrm>
              <a:off x="6764" y="5640"/>
              <a:ext cx="1422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</a:lstStyle>
            <a:p>
              <a:r>
                <a:rPr lang="zh-CN" altLang="en-US" sz="2800" noProof="1" smtClean="0">
                  <a:sym typeface="+mn-ea"/>
                </a:rPr>
                <a:t>校温</a:t>
              </a:r>
              <a:endParaRPr lang="en-US" altLang="zh-CN" sz="2800" noProof="1">
                <a:sym typeface="+mn-ea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639" y="5556"/>
              <a:ext cx="1058" cy="1058"/>
              <a:chOff x="6427" y="3272"/>
              <a:chExt cx="1058" cy="1058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6427" y="3272"/>
                <a:ext cx="1058" cy="1058"/>
              </a:xfrm>
              <a:prstGeom prst="ellipse">
                <a:avLst/>
              </a:prstGeom>
              <a:gradFill>
                <a:gsLst>
                  <a:gs pos="0">
                    <a:srgbClr val="C00000"/>
                  </a:gs>
                  <a:gs pos="100000">
                    <a:srgbClr val="7030A0"/>
                  </a:gs>
                </a:gsLst>
                <a:lin ang="11700000" scaled="0"/>
              </a:gradFill>
              <a:ln w="19050"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/>
              </a:p>
            </p:txBody>
          </p:sp>
          <p:sp>
            <p:nvSpPr>
              <p:cNvPr id="25" name="文本框 3"/>
              <p:cNvSpPr txBox="1"/>
              <p:nvPr/>
            </p:nvSpPr>
            <p:spPr>
              <a:xfrm>
                <a:off x="6655" y="3390"/>
                <a:ext cx="601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6326522" y="5755802"/>
            <a:ext cx="2289810" cy="671830"/>
            <a:chOff x="5639" y="5556"/>
            <a:chExt cx="3606" cy="1058"/>
          </a:xfrm>
          <a:effectLst/>
        </p:grpSpPr>
        <p:sp>
          <p:nvSpPr>
            <p:cNvPr id="39" name="文本框 11"/>
            <p:cNvSpPr txBox="1"/>
            <p:nvPr/>
          </p:nvSpPr>
          <p:spPr>
            <a:xfrm>
              <a:off x="6692" y="5634"/>
              <a:ext cx="255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</a:lstStyle>
            <a:p>
              <a:r>
                <a:rPr lang="zh-CN" altLang="en-US" sz="2800" noProof="1" smtClean="0">
                  <a:sym typeface="+mn-ea"/>
                </a:rPr>
                <a:t>注意事项</a:t>
              </a:r>
              <a:endParaRPr lang="en-US" altLang="zh-CN" sz="2800" noProof="1">
                <a:sym typeface="+mn-ea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5639" y="5556"/>
              <a:ext cx="1058" cy="1058"/>
              <a:chOff x="6427" y="3272"/>
              <a:chExt cx="1058" cy="1058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6427" y="3272"/>
                <a:ext cx="1058" cy="1058"/>
              </a:xfrm>
              <a:prstGeom prst="ellipse">
                <a:avLst/>
              </a:prstGeom>
              <a:gradFill>
                <a:gsLst>
                  <a:gs pos="0">
                    <a:srgbClr val="C00000"/>
                  </a:gs>
                  <a:gs pos="100000">
                    <a:srgbClr val="7030A0"/>
                  </a:gs>
                </a:gsLst>
                <a:lin ang="11700000" scaled="0"/>
              </a:gradFill>
              <a:ln w="19050"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/>
              </a:p>
            </p:txBody>
          </p:sp>
          <p:sp>
            <p:nvSpPr>
              <p:cNvPr id="42" name="文本框 3"/>
              <p:cNvSpPr txBox="1"/>
              <p:nvPr/>
            </p:nvSpPr>
            <p:spPr>
              <a:xfrm>
                <a:off x="6655" y="3390"/>
                <a:ext cx="601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6</a:t>
                </a:r>
                <a:endPara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5654692" y="4808121"/>
            <a:ext cx="2278380" cy="671830"/>
            <a:chOff x="5639" y="5556"/>
            <a:chExt cx="3588" cy="1058"/>
          </a:xfrm>
          <a:effectLst/>
        </p:grpSpPr>
        <p:sp>
          <p:nvSpPr>
            <p:cNvPr id="44" name="文本框 11"/>
            <p:cNvSpPr txBox="1"/>
            <p:nvPr/>
          </p:nvSpPr>
          <p:spPr>
            <a:xfrm>
              <a:off x="6674" y="5652"/>
              <a:ext cx="255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</a:lstStyle>
            <a:p>
              <a:r>
                <a:rPr lang="zh-CN" altLang="en-US" sz="2800" noProof="1" smtClean="0">
                  <a:sym typeface="+mn-ea"/>
                </a:rPr>
                <a:t>测温复核</a:t>
              </a:r>
              <a:endParaRPr lang="en-US" altLang="zh-CN" sz="2800" noProof="1">
                <a:sym typeface="+mn-ea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5639" y="5556"/>
              <a:ext cx="1058" cy="1058"/>
              <a:chOff x="6427" y="3272"/>
              <a:chExt cx="1058" cy="1058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6427" y="3272"/>
                <a:ext cx="1058" cy="1058"/>
              </a:xfrm>
              <a:prstGeom prst="ellipse">
                <a:avLst/>
              </a:prstGeom>
              <a:gradFill>
                <a:gsLst>
                  <a:gs pos="0">
                    <a:srgbClr val="C00000"/>
                  </a:gs>
                  <a:gs pos="100000">
                    <a:srgbClr val="7030A0"/>
                  </a:gs>
                </a:gsLst>
                <a:lin ang="11700000" scaled="0"/>
              </a:gradFill>
              <a:ln w="19050"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/>
              </a:p>
            </p:txBody>
          </p:sp>
          <p:sp>
            <p:nvSpPr>
              <p:cNvPr id="47" name="文本框 3"/>
              <p:cNvSpPr txBox="1"/>
              <p:nvPr/>
            </p:nvSpPr>
            <p:spPr>
              <a:xfrm>
                <a:off x="6655" y="3390"/>
                <a:ext cx="601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5</a:t>
                </a:r>
                <a:endPara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2854590" y="1017389"/>
            <a:ext cx="3025386" cy="671830"/>
            <a:chOff x="2854590" y="1017389"/>
            <a:chExt cx="3025386" cy="671830"/>
          </a:xfrm>
        </p:grpSpPr>
        <p:grpSp>
          <p:nvGrpSpPr>
            <p:cNvPr id="35" name="组合 34"/>
            <p:cNvGrpSpPr/>
            <p:nvPr/>
          </p:nvGrpSpPr>
          <p:grpSpPr>
            <a:xfrm>
              <a:off x="2854590" y="1017389"/>
              <a:ext cx="1108075" cy="671830"/>
              <a:chOff x="3606" y="3064"/>
              <a:chExt cx="1745" cy="1058"/>
            </a:xfrm>
            <a:effectLst/>
          </p:grpSpPr>
          <p:grpSp>
            <p:nvGrpSpPr>
              <p:cNvPr id="31" name="组合 30"/>
              <p:cNvGrpSpPr/>
              <p:nvPr/>
            </p:nvGrpSpPr>
            <p:grpSpPr>
              <a:xfrm>
                <a:off x="3606" y="3064"/>
                <a:ext cx="1058" cy="1058"/>
                <a:chOff x="4089" y="1181"/>
                <a:chExt cx="1058" cy="1058"/>
              </a:xfrm>
            </p:grpSpPr>
            <p:sp>
              <p:nvSpPr>
                <p:cNvPr id="3" name="椭圆 2"/>
                <p:cNvSpPr/>
                <p:nvPr/>
              </p:nvSpPr>
              <p:spPr>
                <a:xfrm>
                  <a:off x="4089" y="1181"/>
                  <a:ext cx="1058" cy="1058"/>
                </a:xfrm>
                <a:prstGeom prst="ellipse">
                  <a:avLst/>
                </a:prstGeom>
                <a:gradFill>
                  <a:gsLst>
                    <a:gs pos="0">
                      <a:srgbClr val="C00000"/>
                    </a:gs>
                    <a:gs pos="100000">
                      <a:srgbClr val="7030A0"/>
                    </a:gs>
                  </a:gsLst>
                  <a:lin ang="11700000" scaled="0"/>
                </a:gradFill>
                <a:ln w="19050"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/>
                  <a:endParaRPr lang="zh-CN" altLang="en-US" strike="noStrike" noProof="1"/>
                </a:p>
              </p:txBody>
            </p:sp>
            <p:sp>
              <p:nvSpPr>
                <p:cNvPr id="5126" name="文本框 3"/>
                <p:cNvSpPr txBox="1"/>
                <p:nvPr/>
              </p:nvSpPr>
              <p:spPr>
                <a:xfrm>
                  <a:off x="4317" y="1299"/>
                  <a:ext cx="601" cy="8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lstStyle/>
                <a:p>
                  <a:r>
                    <a:rPr lang="en-US" altLang="zh-CN" sz="28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1</a:t>
                  </a:r>
                </a:p>
              </p:txBody>
            </p:sp>
          </p:grpSp>
          <p:sp>
            <p:nvSpPr>
              <p:cNvPr id="9" name="文本框 8"/>
              <p:cNvSpPr txBox="1"/>
              <p:nvPr/>
            </p:nvSpPr>
            <p:spPr>
              <a:xfrm>
                <a:off x="5060" y="3261"/>
                <a:ext cx="291" cy="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22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</a:lstStyle>
              <a:p>
                <a:endParaRPr lang="en-US" altLang="zh-CN" noProof="1">
                  <a:sym typeface="+mn-ea"/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3540874" y="1062990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确认技术规格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49586" y="1965072"/>
            <a:ext cx="3057324" cy="671830"/>
            <a:chOff x="3649586" y="1798134"/>
            <a:chExt cx="3057324" cy="671830"/>
          </a:xfrm>
        </p:grpSpPr>
        <p:grpSp>
          <p:nvGrpSpPr>
            <p:cNvPr id="36" name="组合 35"/>
            <p:cNvGrpSpPr/>
            <p:nvPr/>
          </p:nvGrpSpPr>
          <p:grpSpPr>
            <a:xfrm>
              <a:off x="3649586" y="1798134"/>
              <a:ext cx="1109345" cy="671830"/>
              <a:chOff x="4837" y="4251"/>
              <a:chExt cx="1747" cy="1058"/>
            </a:xfrm>
            <a:effectLst/>
          </p:grpSpPr>
          <p:sp>
            <p:nvSpPr>
              <p:cNvPr id="11" name="文本框 10"/>
              <p:cNvSpPr txBox="1"/>
              <p:nvPr/>
            </p:nvSpPr>
            <p:spPr>
              <a:xfrm>
                <a:off x="6293" y="4459"/>
                <a:ext cx="291" cy="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altLang="zh-CN" sz="2200" noProof="1">
                  <a:solidFill>
                    <a:schemeClr val="bg1">
                      <a:alpha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30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4837" y="4251"/>
                <a:ext cx="1058" cy="1058"/>
                <a:chOff x="5518" y="2211"/>
                <a:chExt cx="1058" cy="1058"/>
              </a:xfrm>
            </p:grpSpPr>
            <p:sp>
              <p:nvSpPr>
                <p:cNvPr id="16" name="椭圆 15"/>
                <p:cNvSpPr/>
                <p:nvPr/>
              </p:nvSpPr>
              <p:spPr>
                <a:xfrm>
                  <a:off x="5518" y="2211"/>
                  <a:ext cx="1058" cy="1058"/>
                </a:xfrm>
                <a:prstGeom prst="ellipse">
                  <a:avLst/>
                </a:prstGeom>
                <a:gradFill>
                  <a:gsLst>
                    <a:gs pos="0">
                      <a:srgbClr val="C00000"/>
                    </a:gs>
                    <a:gs pos="100000">
                      <a:srgbClr val="7030A0"/>
                    </a:gs>
                  </a:gsLst>
                  <a:lin ang="11700000" scaled="0"/>
                </a:gradFill>
                <a:ln w="19050"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/>
                  <a:endParaRPr lang="zh-CN" altLang="en-US" strike="noStrike" noProof="1"/>
                </a:p>
              </p:txBody>
            </p:sp>
            <p:sp>
              <p:nvSpPr>
                <p:cNvPr id="17" name="文本框 3"/>
                <p:cNvSpPr txBox="1"/>
                <p:nvPr/>
              </p:nvSpPr>
              <p:spPr>
                <a:xfrm>
                  <a:off x="5746" y="2344"/>
                  <a:ext cx="601" cy="82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lstStyle/>
                <a:p>
                  <a:r>
                    <a:rPr lang="en-US" altLang="zh-CN" sz="28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2</a:t>
                  </a:r>
                </a:p>
              </p:txBody>
            </p:sp>
          </p:grpSp>
        </p:grpSp>
        <p:sp>
          <p:nvSpPr>
            <p:cNvPr id="4" name="文本框 3"/>
            <p:cNvSpPr txBox="1"/>
            <p:nvPr/>
          </p:nvSpPr>
          <p:spPr>
            <a:xfrm>
              <a:off x="4367808" y="1850779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确认测试环境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633599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、确认技术规格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27448" y="1260901"/>
            <a:ext cx="9793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镜头类型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镜头的焦距是多少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。一般焦距越大，视场角越小，测温距离越远；焦距越小，视场角越大，测温距离越近。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563" y="2904350"/>
            <a:ext cx="6142857" cy="2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7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、确认技术规格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●测温范围</a:t>
            </a:r>
            <a:endParaRPr lang="en-US" altLang="zh-CN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测温范围划分哪几个区间，例如工业测温一般分为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-20~150℃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100~350℃</a:t>
            </a:r>
            <a:r>
              <a:rPr lang="zh-CN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等，人体测温为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20~50℃</a:t>
            </a:r>
            <a:r>
              <a:rPr lang="zh-CN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●环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保证测温精度的环温范围。一般工业测温支持低温、常温、高温环境测温；人体测温支持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25℃±3℃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环温测温。常温环境测温精度要求比高低温环境下更高。</a:t>
            </a: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829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、确认技术规格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设备支持的测温距离。远距离测温目标在图像上可能会变小，导致中心光标难以对准，测温结果偏低。应保证目标靶面有效像素大小在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5*5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校温、复核的时间点。例如在开机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分钟校温，开机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分钟复核。</a:t>
            </a: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45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、确认技术规格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设备型号在对应镜头类型、环温、测温范围、距离下的精度要求。例如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ZU08D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的精度要求如下：</a:t>
            </a: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C:\Users\gd07976\AppData\Local\Temp\企业微信截图_16449725486214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82" y="2455544"/>
            <a:ext cx="10225136" cy="3925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608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、确认测试环境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前需要确认环温是否在对应范围内，且需要稳定、无风，环境内避免出现高温物体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黑体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参考测温方案中使用的黑体型号，如果用户测试环境有限，则尽量使用靶面大小接近的。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测温精度要求极高，必须使用有降温功能的低温黑体，否则黑体自身温度波动较大，会导致测温结果精度超出。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的测试环境中，需要使用点温枪对黑体进行校准，黑体真实温度以点温枪示数为准。</a:t>
            </a: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016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、确认测试环境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温枪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温枪型号为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KT19.82-II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，需要在对应环温下关机保温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分钟，并开机工作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分钟后开始点温，改变环温后，点温枪需重新断电保温后开机预热。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温枪需要按照测温方案的要求设置发射率，一般为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0.95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激光十字光标聚焦到黑体靶面最清晰时读数，距离一般在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0.5m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73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、确认测试环境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调焦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保证测温时，目标能清晰成像。</a:t>
            </a:r>
          </a:p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保温时间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需要在对应环温下冷机保温一定时间，具体参考测温方案，一般为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小时或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小时。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开机后按测温方案中定义的时间点测试，例如工业测温在开机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分钟测温，人体测温一般需要开机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分钟以上开始测温。</a:t>
            </a: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551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、连接设备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等均可，不支持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地址栏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192.168.1.168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进入登录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页面（默认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192.168.1.168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登录账号为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，密码为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guide123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7927" y="2564904"/>
            <a:ext cx="7035246" cy="395821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4996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、连接设备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进入后，选择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系统管理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高级设置界面，然后确认镜头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测温范围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档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位正确。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7098" y="2083217"/>
            <a:ext cx="8136904" cy="457281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622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校温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工业测温一般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分钟开始校温，人体测温一般在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分钟或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分钟校温，具体时间参考测温方案，通过调节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KF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sY16Offset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的值满足各档位校温的温度值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技术指标和测试环境都满足要求后，再开始进行校温。用户实际使用环温和距离可能在规格书要求内的某段范围内，则可以在用户需要的环温中间值校温，例如规格书上支持环温为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20~35℃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，用户实际使用场景为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25~32℃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28℃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校温。</a:t>
            </a:r>
          </a:p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的焦温档位和不同的测温范围都需要分别校温。</a:t>
            </a:r>
          </a:p>
          <a:p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846" y="4676797"/>
            <a:ext cx="8127407" cy="150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6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校温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 smtClean="0">
                <a:solidFill>
                  <a:schemeClr val="bg1"/>
                </a:solidFill>
              </a:rPr>
              <a:t>具体</a:t>
            </a:r>
            <a:r>
              <a:rPr lang="zh-CN" altLang="zh-CN" sz="2000" dirty="0">
                <a:solidFill>
                  <a:schemeClr val="bg1"/>
                </a:solidFill>
              </a:rPr>
              <a:t>校温步骤如下：</a:t>
            </a:r>
          </a:p>
          <a:p>
            <a:pPr lvl="0"/>
            <a:r>
              <a:rPr lang="en-US" altLang="zh-CN" sz="2000" dirty="0" smtClean="0">
                <a:solidFill>
                  <a:schemeClr val="bg1"/>
                </a:solidFill>
              </a:rPr>
              <a:t>	A.</a:t>
            </a:r>
            <a:r>
              <a:rPr lang="zh-CN" altLang="zh-CN" sz="2000" dirty="0" smtClean="0">
                <a:solidFill>
                  <a:schemeClr val="bg1"/>
                </a:solidFill>
              </a:rPr>
              <a:t>不</a:t>
            </a:r>
            <a:r>
              <a:rPr lang="zh-CN" altLang="zh-CN" sz="2000" dirty="0">
                <a:solidFill>
                  <a:schemeClr val="bg1"/>
                </a:solidFill>
              </a:rPr>
              <a:t>调整任何参数，对所有的测试温度点测试一遍数据并记录下来。</a:t>
            </a:r>
          </a:p>
          <a:p>
            <a:pPr lvl="0"/>
            <a:r>
              <a:rPr lang="en-US" altLang="zh-CN" sz="2000" dirty="0" smtClean="0">
                <a:solidFill>
                  <a:schemeClr val="bg1"/>
                </a:solidFill>
              </a:rPr>
              <a:t>	B.</a:t>
            </a:r>
            <a:r>
              <a:rPr lang="zh-CN" altLang="zh-CN" sz="2000" dirty="0" smtClean="0">
                <a:solidFill>
                  <a:schemeClr val="bg1"/>
                </a:solidFill>
              </a:rPr>
              <a:t>优先</a:t>
            </a:r>
            <a:r>
              <a:rPr lang="zh-CN" altLang="zh-CN" sz="2000" dirty="0">
                <a:solidFill>
                  <a:schemeClr val="bg1"/>
                </a:solidFill>
              </a:rPr>
              <a:t>调整</a:t>
            </a:r>
            <a:r>
              <a:rPr lang="en-US" altLang="zh-CN" sz="2000" dirty="0">
                <a:solidFill>
                  <a:schemeClr val="bg1"/>
                </a:solidFill>
              </a:rPr>
              <a:t>KF</a:t>
            </a:r>
            <a:r>
              <a:rPr lang="zh-CN" altLang="zh-CN" sz="2000" dirty="0">
                <a:solidFill>
                  <a:schemeClr val="bg1"/>
                </a:solidFill>
              </a:rPr>
              <a:t>（其调整的影响为：针对被测温度高于实时快</a:t>
            </a:r>
          </a:p>
          <a:p>
            <a:r>
              <a:rPr lang="zh-CN" altLang="zh-CN" sz="2000" dirty="0">
                <a:solidFill>
                  <a:schemeClr val="bg1"/>
                </a:solidFill>
              </a:rPr>
              <a:t>门温度的物体，其温度的变化与</a:t>
            </a:r>
            <a:r>
              <a:rPr lang="en-US" altLang="zh-CN" sz="2000" dirty="0">
                <a:solidFill>
                  <a:schemeClr val="bg1"/>
                </a:solidFill>
              </a:rPr>
              <a:t>KF</a:t>
            </a:r>
            <a:r>
              <a:rPr lang="zh-CN" altLang="zh-CN" sz="2000" dirty="0">
                <a:solidFill>
                  <a:schemeClr val="bg1"/>
                </a:solidFill>
              </a:rPr>
              <a:t>呈正相关，即</a:t>
            </a:r>
            <a:r>
              <a:rPr lang="en-US" altLang="zh-CN" sz="2000" dirty="0">
                <a:solidFill>
                  <a:schemeClr val="bg1"/>
                </a:solidFill>
              </a:rPr>
              <a:t>KF</a:t>
            </a:r>
            <a:r>
              <a:rPr lang="zh-CN" altLang="zh-CN" sz="2000" dirty="0">
                <a:solidFill>
                  <a:schemeClr val="bg1"/>
                </a:solidFill>
              </a:rPr>
              <a:t>增大，目标温度增大，反之亦然，且与实时快门温度相差越远，影响越大；针对被测温度低于实时快门温度的物体，其温度的变化与</a:t>
            </a:r>
            <a:r>
              <a:rPr lang="en-US" altLang="zh-CN" sz="2000" dirty="0">
                <a:solidFill>
                  <a:schemeClr val="bg1"/>
                </a:solidFill>
              </a:rPr>
              <a:t>KF</a:t>
            </a:r>
            <a:r>
              <a:rPr lang="zh-CN" altLang="zh-CN" sz="2000" dirty="0">
                <a:solidFill>
                  <a:schemeClr val="bg1"/>
                </a:solidFill>
              </a:rPr>
              <a:t>呈负相关，即</a:t>
            </a:r>
            <a:r>
              <a:rPr lang="en-US" altLang="zh-CN" sz="2000" dirty="0">
                <a:solidFill>
                  <a:schemeClr val="bg1"/>
                </a:solidFill>
              </a:rPr>
              <a:t>KF</a:t>
            </a:r>
            <a:r>
              <a:rPr lang="zh-CN" altLang="zh-CN" sz="2000" dirty="0">
                <a:solidFill>
                  <a:schemeClr val="bg1"/>
                </a:solidFill>
              </a:rPr>
              <a:t>增大，目标温度减小，反之亦然，且与实时快门温度相差越远，影响越大）使所有实测温度值与目标温度值的差值大约为一个固定值即可，调整步幅为±</a:t>
            </a:r>
            <a:r>
              <a:rPr lang="en-US" altLang="zh-CN" sz="2000" dirty="0">
                <a:solidFill>
                  <a:schemeClr val="bg1"/>
                </a:solidFill>
              </a:rPr>
              <a:t>1</a:t>
            </a:r>
            <a:r>
              <a:rPr lang="zh-CN" altLang="zh-CN" sz="2000" dirty="0">
                <a:solidFill>
                  <a:schemeClr val="bg1"/>
                </a:solidFill>
              </a:rPr>
              <a:t>，如果可以满足上述要求，跳到步骤</a:t>
            </a:r>
            <a:r>
              <a:rPr lang="en-US" altLang="zh-CN" sz="2000" dirty="0">
                <a:solidFill>
                  <a:schemeClr val="bg1"/>
                </a:solidFill>
              </a:rPr>
              <a:t>D</a:t>
            </a:r>
            <a:r>
              <a:rPr lang="zh-CN" altLang="zh-CN" sz="2000" dirty="0">
                <a:solidFill>
                  <a:schemeClr val="bg1"/>
                </a:solidFill>
              </a:rPr>
              <a:t>；否则优先保证目标温度高的物体（</a:t>
            </a:r>
            <a:r>
              <a:rPr lang="en-US" altLang="zh-CN" sz="2000" dirty="0">
                <a:solidFill>
                  <a:schemeClr val="bg1"/>
                </a:solidFill>
              </a:rPr>
              <a:t>-20</a:t>
            </a:r>
            <a:r>
              <a:rPr lang="zh-CN" altLang="zh-CN" sz="2000" dirty="0">
                <a:solidFill>
                  <a:schemeClr val="bg1"/>
                </a:solidFill>
              </a:rPr>
              <a:t>℃</a:t>
            </a:r>
            <a:r>
              <a:rPr lang="en-US" altLang="zh-CN" sz="2000" dirty="0">
                <a:solidFill>
                  <a:schemeClr val="bg1"/>
                </a:solidFill>
              </a:rPr>
              <a:t>~150</a:t>
            </a:r>
            <a:r>
              <a:rPr lang="zh-CN" altLang="zh-CN" sz="2000" dirty="0">
                <a:solidFill>
                  <a:schemeClr val="bg1"/>
                </a:solidFill>
              </a:rPr>
              <a:t>℃测温范围，</a:t>
            </a:r>
            <a:r>
              <a:rPr lang="en-US" altLang="zh-CN" sz="2000" dirty="0">
                <a:solidFill>
                  <a:schemeClr val="bg1"/>
                </a:solidFill>
              </a:rPr>
              <a:t>60</a:t>
            </a:r>
            <a:r>
              <a:rPr lang="zh-CN" altLang="zh-CN" sz="2000" dirty="0">
                <a:solidFill>
                  <a:schemeClr val="bg1"/>
                </a:solidFill>
              </a:rPr>
              <a:t>℃以上的目标；</a:t>
            </a:r>
            <a:r>
              <a:rPr lang="en-US" altLang="zh-CN" sz="2000" dirty="0">
                <a:solidFill>
                  <a:schemeClr val="bg1"/>
                </a:solidFill>
              </a:rPr>
              <a:t>100</a:t>
            </a:r>
            <a:r>
              <a:rPr lang="zh-CN" altLang="zh-CN" sz="2000" dirty="0">
                <a:solidFill>
                  <a:schemeClr val="bg1"/>
                </a:solidFill>
              </a:rPr>
              <a:t>℃</a:t>
            </a:r>
            <a:r>
              <a:rPr lang="en-US" altLang="zh-CN" sz="2000" dirty="0">
                <a:solidFill>
                  <a:schemeClr val="bg1"/>
                </a:solidFill>
              </a:rPr>
              <a:t>~350</a:t>
            </a:r>
            <a:r>
              <a:rPr lang="zh-CN" altLang="zh-CN" sz="2000" dirty="0">
                <a:solidFill>
                  <a:schemeClr val="bg1"/>
                </a:solidFill>
              </a:rPr>
              <a:t>℃测温范围，</a:t>
            </a:r>
            <a:r>
              <a:rPr lang="en-US" altLang="zh-CN" sz="2000" dirty="0">
                <a:solidFill>
                  <a:schemeClr val="bg1"/>
                </a:solidFill>
              </a:rPr>
              <a:t>150</a:t>
            </a:r>
            <a:r>
              <a:rPr lang="zh-CN" altLang="zh-CN" sz="2000" dirty="0">
                <a:solidFill>
                  <a:schemeClr val="bg1"/>
                </a:solidFill>
              </a:rPr>
              <a:t>℃以上的目标；</a:t>
            </a:r>
            <a:r>
              <a:rPr lang="en-US" altLang="zh-CN" sz="2000" dirty="0">
                <a:solidFill>
                  <a:schemeClr val="bg1"/>
                </a:solidFill>
              </a:rPr>
              <a:t>100</a:t>
            </a:r>
            <a:r>
              <a:rPr lang="zh-CN" altLang="zh-CN" sz="2000" dirty="0">
                <a:solidFill>
                  <a:schemeClr val="bg1"/>
                </a:solidFill>
              </a:rPr>
              <a:t>℃</a:t>
            </a:r>
            <a:r>
              <a:rPr lang="en-US" altLang="zh-CN" sz="2000" dirty="0">
                <a:solidFill>
                  <a:schemeClr val="bg1"/>
                </a:solidFill>
              </a:rPr>
              <a:t>~550</a:t>
            </a:r>
            <a:r>
              <a:rPr lang="zh-CN" altLang="zh-CN" sz="2000" dirty="0">
                <a:solidFill>
                  <a:schemeClr val="bg1"/>
                </a:solidFill>
              </a:rPr>
              <a:t>℃测温范围，</a:t>
            </a:r>
            <a:r>
              <a:rPr lang="en-US" altLang="zh-CN" sz="2000" dirty="0">
                <a:solidFill>
                  <a:schemeClr val="bg1"/>
                </a:solidFill>
              </a:rPr>
              <a:t>200</a:t>
            </a:r>
            <a:r>
              <a:rPr lang="zh-CN" altLang="zh-CN" sz="2000" dirty="0">
                <a:solidFill>
                  <a:schemeClr val="bg1"/>
                </a:solidFill>
              </a:rPr>
              <a:t>℃以上的目标）的实测温度值与目标温度值的差值为一个固定值，转步骤</a:t>
            </a:r>
            <a:r>
              <a:rPr lang="en-US" altLang="zh-CN" sz="2000" dirty="0">
                <a:solidFill>
                  <a:schemeClr val="bg1"/>
                </a:solidFill>
              </a:rPr>
              <a:t>C</a:t>
            </a:r>
            <a:r>
              <a:rPr lang="zh-CN" altLang="zh-CN" sz="2000" dirty="0">
                <a:solidFill>
                  <a:schemeClr val="bg1"/>
                </a:solidFill>
              </a:rPr>
              <a:t>。</a:t>
            </a:r>
          </a:p>
          <a:p>
            <a:pPr lvl="0"/>
            <a:r>
              <a:rPr lang="en-US" altLang="zh-CN" sz="2000" dirty="0" smtClean="0">
                <a:solidFill>
                  <a:schemeClr val="bg1"/>
                </a:solidFill>
              </a:rPr>
              <a:t>	C.</a:t>
            </a:r>
            <a:r>
              <a:rPr lang="zh-CN" altLang="zh-CN" sz="2000" dirty="0" smtClean="0">
                <a:solidFill>
                  <a:schemeClr val="bg1"/>
                </a:solidFill>
              </a:rPr>
              <a:t>调整</a:t>
            </a:r>
            <a:r>
              <a:rPr lang="en-US" altLang="zh-CN" sz="2000" dirty="0">
                <a:solidFill>
                  <a:schemeClr val="bg1"/>
                </a:solidFill>
              </a:rPr>
              <a:t>sY16Offset</a:t>
            </a:r>
            <a:r>
              <a:rPr lang="zh-CN" altLang="zh-CN" sz="2000" dirty="0">
                <a:solidFill>
                  <a:schemeClr val="bg1"/>
                </a:solidFill>
              </a:rPr>
              <a:t>（其调整的影响为：温度的变化与</a:t>
            </a:r>
            <a:r>
              <a:rPr lang="en-US" altLang="zh-CN" sz="2000" dirty="0">
                <a:solidFill>
                  <a:schemeClr val="bg1"/>
                </a:solidFill>
              </a:rPr>
              <a:t>sY16Offset</a:t>
            </a:r>
            <a:r>
              <a:rPr lang="zh-CN" altLang="zh-CN" sz="2000" dirty="0">
                <a:solidFill>
                  <a:schemeClr val="bg1"/>
                </a:solidFill>
              </a:rPr>
              <a:t>呈正</a:t>
            </a:r>
          </a:p>
          <a:p>
            <a:r>
              <a:rPr lang="zh-CN" altLang="zh-CN" sz="2000" dirty="0">
                <a:solidFill>
                  <a:schemeClr val="bg1"/>
                </a:solidFill>
              </a:rPr>
              <a:t>相关，即</a:t>
            </a:r>
            <a:r>
              <a:rPr lang="en-US" altLang="zh-CN" sz="2000" dirty="0">
                <a:solidFill>
                  <a:schemeClr val="bg1"/>
                </a:solidFill>
              </a:rPr>
              <a:t>KF</a:t>
            </a:r>
            <a:r>
              <a:rPr lang="zh-CN" altLang="zh-CN" sz="2000" dirty="0">
                <a:solidFill>
                  <a:schemeClr val="bg1"/>
                </a:solidFill>
              </a:rPr>
              <a:t>增大，目标温度增大，反之亦然，且温度越低，影响越大）使所有实测温度值与目标温度值的差值大约为一个固定值即可，调整步幅为±</a:t>
            </a:r>
            <a:r>
              <a:rPr lang="en-US" altLang="zh-CN" sz="2000" dirty="0">
                <a:solidFill>
                  <a:schemeClr val="bg1"/>
                </a:solidFill>
              </a:rPr>
              <a:t>5~</a:t>
            </a:r>
            <a:r>
              <a:rPr lang="zh-CN" altLang="zh-CN" sz="2000" dirty="0">
                <a:solidFill>
                  <a:schemeClr val="bg1"/>
                </a:solidFill>
              </a:rPr>
              <a:t>±</a:t>
            </a:r>
            <a:r>
              <a:rPr lang="en-US" altLang="zh-CN" sz="2000" dirty="0">
                <a:solidFill>
                  <a:schemeClr val="bg1"/>
                </a:solidFill>
              </a:rPr>
              <a:t>10</a:t>
            </a:r>
            <a:r>
              <a:rPr lang="zh-CN" altLang="zh-CN" sz="2000" dirty="0">
                <a:solidFill>
                  <a:schemeClr val="bg1"/>
                </a:solidFill>
              </a:rPr>
              <a:t>。</a:t>
            </a:r>
          </a:p>
          <a:p>
            <a:pPr lvl="0"/>
            <a:r>
              <a:rPr lang="en-US" altLang="zh-CN" sz="2000" dirty="0" smtClean="0">
                <a:solidFill>
                  <a:schemeClr val="bg1"/>
                </a:solidFill>
              </a:rPr>
              <a:t>	D.</a:t>
            </a:r>
            <a:r>
              <a:rPr lang="zh-CN" altLang="zh-CN" sz="2000" dirty="0" smtClean="0">
                <a:solidFill>
                  <a:schemeClr val="bg1"/>
                </a:solidFill>
              </a:rPr>
              <a:t>当</a:t>
            </a:r>
            <a:r>
              <a:rPr lang="zh-CN" altLang="zh-CN" sz="2000" dirty="0">
                <a:solidFill>
                  <a:schemeClr val="bg1"/>
                </a:solidFill>
              </a:rPr>
              <a:t>所有实测温度值与目标温度值的差值大约为一个固定值后，调节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B0</a:t>
            </a:r>
            <a:r>
              <a:rPr lang="zh-CN" altLang="zh-CN" sz="2000" dirty="0">
                <a:solidFill>
                  <a:schemeClr val="bg1"/>
                </a:solidFill>
              </a:rPr>
              <a:t>（其调整的影响为：每±</a:t>
            </a:r>
            <a:r>
              <a:rPr lang="en-US" altLang="zh-CN" sz="2000" dirty="0">
                <a:solidFill>
                  <a:schemeClr val="bg1"/>
                </a:solidFill>
              </a:rPr>
              <a:t>1</a:t>
            </a:r>
            <a:r>
              <a:rPr lang="zh-CN" altLang="zh-CN" sz="2000" dirty="0">
                <a:solidFill>
                  <a:schemeClr val="bg1"/>
                </a:solidFill>
              </a:rPr>
              <a:t>，整体测温结果±</a:t>
            </a:r>
            <a:r>
              <a:rPr lang="en-US" altLang="zh-CN" sz="2000" dirty="0">
                <a:solidFill>
                  <a:schemeClr val="bg1"/>
                </a:solidFill>
              </a:rPr>
              <a:t>0.01</a:t>
            </a:r>
            <a:r>
              <a:rPr lang="zh-CN" altLang="zh-CN" sz="2000" dirty="0">
                <a:solidFill>
                  <a:schemeClr val="bg1"/>
                </a:solidFill>
              </a:rPr>
              <a:t>℃，对高温低温影响一样）。</a:t>
            </a:r>
          </a:p>
          <a:p>
            <a:endParaRPr lang="zh-CN" altLang="en-US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214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、测温复核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000" dirty="0" smtClean="0">
                <a:solidFill>
                  <a:schemeClr val="bg1"/>
                </a:solidFill>
                <a:latin typeface="+mn-ea"/>
                <a:ea typeface="+mn-ea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测温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复核前需要注意测试环境必须满足产品技术规格书中定义的要求，如果用户测试环境不符，应该及时指出。</a:t>
            </a:r>
          </a:p>
          <a:p>
            <a:pPr lvl="1"/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测温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复核需要测试设备由冷机到热平衡整个过程中的准确性，且需要在技术规格书中要求的多个环温、多个距离测试。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126090"/>
              </p:ext>
            </p:extLst>
          </p:nvPr>
        </p:nvGraphicFramePr>
        <p:xfrm>
          <a:off x="536304" y="3068960"/>
          <a:ext cx="10974384" cy="3307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  <a:gridCol w="457266"/>
              </a:tblGrid>
              <a:tr h="118127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环温</a:t>
                      </a:r>
                      <a:r>
                        <a:rPr lang="en-US" altLang="zh-CN" sz="700" u="none" strike="noStrike">
                          <a:effectLst/>
                        </a:rPr>
                        <a:t>20℃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环温</a:t>
                      </a:r>
                      <a:r>
                        <a:rPr lang="en-US" altLang="zh-CN" sz="700" u="none" strike="noStrike">
                          <a:effectLst/>
                        </a:rPr>
                        <a:t>25℃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环温</a:t>
                      </a:r>
                      <a:r>
                        <a:rPr lang="en-US" altLang="zh-CN" sz="700" u="none" strike="noStrike">
                          <a:effectLst/>
                        </a:rPr>
                        <a:t>28℃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1812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编号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开机时间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距离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编号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开机时间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距离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编号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开机时间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距离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50℃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6#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6#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42.34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50.12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6#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19.74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20.46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28.45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50.02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50.04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19.74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35.34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28.41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8#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8#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8#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27.65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34.74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41.67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20.02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50.2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34.84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41.77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35.31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50.1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19.75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20.42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27.76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41.73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35.34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20.23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34.89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35.32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20.42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9#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19.76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9#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19.47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34.74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700" u="none" strike="noStrike">
                          <a:effectLst/>
                        </a:rPr>
                        <a:t>9#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19.48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27.65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34.76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41.76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19.76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19.65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19.73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49.37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20.06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19.81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34.86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41.72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49.48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19.87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35.24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49.95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20.09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41.77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19.65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42.26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19.55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60min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0.3m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19.57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49.75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49.47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1m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27.93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19.84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41.98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49.49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28.11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35.04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42.14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49.64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2m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20.31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28.24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35.17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42.08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  <a:tr h="118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34.81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49.55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19.84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28.08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34.96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41.79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49.45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3m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20.51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28.32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35.13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>
                          <a:effectLst/>
                        </a:rPr>
                        <a:t>41.85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u="none" strike="noStrike" dirty="0">
                          <a:effectLst/>
                        </a:rPr>
                        <a:t>49.75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1" marR="6351" marT="6351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617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3"/>
          <p:cNvSpPr txBox="1"/>
          <p:nvPr/>
        </p:nvSpPr>
        <p:spPr>
          <a:xfrm>
            <a:off x="552098" y="171450"/>
            <a:ext cx="92163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、注意事项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2982" y="1252220"/>
            <a:ext cx="10225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	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校温、温度复核应保证室温在规定的恒定温度，确保已保温、拷机足够时间，进行各步骤之前保证机器在正确档位。</a:t>
            </a: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	校温、温度复核过程中应尽量将机器的光标对准黑体中心（看高温黑体时，由于靶标很小，建议使用工装对准）。</a:t>
            </a: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	在校温、温度复核过程中，不要长时间将机器对向高温黑体。</a:t>
            </a: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	复核过程中一般情况下先手动打快门，再进行温度复核。</a:t>
            </a: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	注意复核时的焦温档位、镜头版本。</a:t>
            </a: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	校温过程中严禁用手触摸机器带有镜头的前部，应该手握机器后部。（确保状态一致性，减少可能影响测温的因素）</a:t>
            </a:r>
          </a:p>
          <a:p>
            <a:pPr lvl="1"/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	使用点温枪点检黑体时，确认点温枪发射率设定值是否正确。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382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235" y="635"/>
            <a:ext cx="6673215" cy="6857365"/>
          </a:xfrm>
          <a:prstGeom prst="rect">
            <a:avLst/>
          </a:prstGeom>
          <a:blipFill rotWithShape="1">
            <a:blip r:embed="rId2">
              <a:alphaModFix amt="51000"/>
            </a:blip>
            <a:stretch>
              <a:fillRect/>
            </a:stretch>
          </a:blipFill>
        </p:spPr>
      </p:pic>
      <p:grpSp>
        <p:nvGrpSpPr>
          <p:cNvPr id="2" name="组合 1"/>
          <p:cNvGrpSpPr/>
          <p:nvPr/>
        </p:nvGrpSpPr>
        <p:grpSpPr>
          <a:xfrm>
            <a:off x="1330677" y="2492375"/>
            <a:ext cx="2677091" cy="1192213"/>
            <a:chOff x="1330677" y="2492375"/>
            <a:chExt cx="2677091" cy="1192213"/>
          </a:xfrm>
        </p:grpSpPr>
        <p:sp>
          <p:nvSpPr>
            <p:cNvPr id="4098" name="文本框 2"/>
            <p:cNvSpPr txBox="1"/>
            <p:nvPr/>
          </p:nvSpPr>
          <p:spPr>
            <a:xfrm>
              <a:off x="1330677" y="2492375"/>
              <a:ext cx="2677091" cy="7683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4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谢谢观看</a:t>
              </a:r>
              <a:endParaRPr lang="en-US" altLang="zh-CN" sz="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99" name="文本框 3"/>
            <p:cNvSpPr txBox="1"/>
            <p:nvPr/>
          </p:nvSpPr>
          <p:spPr>
            <a:xfrm>
              <a:off x="1330677" y="3285808"/>
              <a:ext cx="16891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/>
              <a:r>
                <a:rPr lang="en-US" altLang="zh-CN" sz="2000" dirty="0" smtClean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THANK YOU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24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648</Words>
  <Application>Microsoft Office PowerPoint</Application>
  <PresentationFormat>宽屏</PresentationFormat>
  <Paragraphs>621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宋体</vt:lpstr>
      <vt:lpstr>微软雅黑</vt:lpstr>
      <vt:lpstr>Arial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于丹阳</cp:lastModifiedBy>
  <cp:revision>321</cp:revision>
  <dcterms:created xsi:type="dcterms:W3CDTF">2021-07-09T03:44:00Z</dcterms:created>
  <dcterms:modified xsi:type="dcterms:W3CDTF">2022-07-13T05:37:40Z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DF5FB2ECC69D4DABB51D3338EC1278EC</vt:lpwstr>
  </property>
</Properties>
</file>