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gif" ContentType="image/gif"/>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67" r:id="rId3"/>
    <p:sldId id="352" r:id="rId5"/>
    <p:sldId id="401" r:id="rId6"/>
    <p:sldId id="284" r:id="rId7"/>
    <p:sldId id="340" r:id="rId8"/>
    <p:sldId id="326" r:id="rId9"/>
    <p:sldId id="315" r:id="rId10"/>
    <p:sldId id="341" r:id="rId11"/>
    <p:sldId id="343" r:id="rId12"/>
    <p:sldId id="421" r:id="rId13"/>
    <p:sldId id="324" r:id="rId14"/>
    <p:sldId id="384" r:id="rId15"/>
    <p:sldId id="392" r:id="rId16"/>
    <p:sldId id="380" r:id="rId17"/>
    <p:sldId id="389" r:id="rId18"/>
    <p:sldId id="390" r:id="rId19"/>
    <p:sldId id="391" r:id="rId20"/>
    <p:sldId id="418" r:id="rId21"/>
    <p:sldId id="278" r:id="rId22"/>
    <p:sldId id="362" r:id="rId23"/>
    <p:sldId id="393" r:id="rId24"/>
    <p:sldId id="363" r:id="rId25"/>
    <p:sldId id="373" r:id="rId26"/>
    <p:sldId id="374" r:id="rId27"/>
    <p:sldId id="375" r:id="rId28"/>
    <p:sldId id="376" r:id="rId29"/>
    <p:sldId id="377" r:id="rId30"/>
    <p:sldId id="378" r:id="rId31"/>
    <p:sldId id="379" r:id="rId32"/>
    <p:sldId id="422" r:id="rId33"/>
    <p:sldId id="423" r:id="rId34"/>
    <p:sldId id="400" r:id="rId35"/>
    <p:sldId id="417" r:id="rId36"/>
    <p:sldId id="419" r:id="rId37"/>
    <p:sldId id="385" r:id="rId38"/>
    <p:sldId id="349" r:id="rId39"/>
    <p:sldId id="350" r:id="rId40"/>
    <p:sldId id="432" r:id="rId41"/>
    <p:sldId id="280" r:id="rId42"/>
    <p:sldId id="281" r:id="rId43"/>
    <p:sldId id="431" r:id="rId44"/>
    <p:sldId id="405" r:id="rId45"/>
    <p:sldId id="406" r:id="rId46"/>
    <p:sldId id="407" r:id="rId47"/>
    <p:sldId id="408" r:id="rId48"/>
    <p:sldId id="409" r:id="rId49"/>
    <p:sldId id="410" r:id="rId50"/>
    <p:sldId id="411" r:id="rId51"/>
    <p:sldId id="425" r:id="rId52"/>
    <p:sldId id="412" r:id="rId53"/>
    <p:sldId id="413" r:id="rId54"/>
    <p:sldId id="426" r:id="rId55"/>
    <p:sldId id="414" r:id="rId56"/>
    <p:sldId id="415" r:id="rId57"/>
    <p:sldId id="416" r:id="rId58"/>
    <p:sldId id="360" r:id="rId59"/>
    <p:sldId id="427" r:id="rId60"/>
    <p:sldId id="428" r:id="rId61"/>
    <p:sldId id="365" r:id="rId62"/>
    <p:sldId id="424" r:id="rId63"/>
    <p:sldId id="366" r:id="rId64"/>
    <p:sldId id="429" r:id="rId65"/>
    <p:sldId id="387" r:id="rId66"/>
    <p:sldId id="386" r:id="rId67"/>
    <p:sldId id="430" r:id="rId68"/>
    <p:sldId id="399" r:id="rId69"/>
    <p:sldId id="367" r:id="rId70"/>
    <p:sldId id="368" r:id="rId71"/>
    <p:sldId id="295" r:id="rId72"/>
    <p:sldId id="348" r:id="rId73"/>
    <p:sldId id="372" r:id="rId74"/>
    <p:sldId id="398" r:id="rId75"/>
    <p:sldId id="370" r:id="rId76"/>
    <p:sldId id="320" r:id="rId77"/>
    <p:sldId id="321" r:id="rId78"/>
    <p:sldId id="299" r:id="rId79"/>
    <p:sldId id="302" r:id="rId80"/>
    <p:sldId id="402" r:id="rId81"/>
    <p:sldId id="403" r:id="rId82"/>
    <p:sldId id="266" r:id="rId83"/>
  </p:sldIdLst>
  <p:sldSz cx="14399895" cy="8099425"/>
  <p:notesSz cx="6858000" cy="9144000"/>
  <p:custDataLst>
    <p:tags r:id="rId87"/>
  </p:custDataLst>
  <p:defaultTextStyle>
    <a:defPPr>
      <a:defRPr lang="zh-CN"/>
    </a:defPPr>
    <a:lvl1pPr marL="0" algn="l" defTabSz="1203325" rtl="0" eaLnBrk="1" latinLnBrk="0" hangingPunct="1">
      <a:defRPr sz="2340" kern="1200">
        <a:solidFill>
          <a:schemeClr val="tx1"/>
        </a:solidFill>
        <a:latin typeface="+mn-lt"/>
        <a:ea typeface="+mn-ea"/>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51" userDrawn="1">
          <p15:clr>
            <a:srgbClr val="A4A3A4"/>
          </p15:clr>
        </p15:guide>
        <p15:guide id="2" pos="4536" userDrawn="1">
          <p15:clr>
            <a:srgbClr val="A4A3A4"/>
          </p15:clr>
        </p15:guide>
        <p15:guide id="3" orient="horz" pos="3367" userDrawn="1">
          <p15:clr>
            <a:srgbClr val="A4A3A4"/>
          </p15:clr>
        </p15:guide>
        <p15:guide id="4" pos="45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98D8"/>
    <a:srgbClr val="FFFFFF"/>
    <a:srgbClr val="007DC2"/>
    <a:srgbClr val="E6E6E6"/>
    <a:srgbClr val="CA0915"/>
    <a:srgbClr val="C4D82D"/>
    <a:srgbClr val="00004F"/>
    <a:srgbClr val="A01323"/>
    <a:srgbClr val="5957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90" d="100"/>
          <a:sy n="90" d="100"/>
        </p:scale>
        <p:origin x="126" y="342"/>
      </p:cViewPr>
      <p:guideLst>
        <p:guide orient="horz" pos="2551"/>
        <p:guide pos="4536"/>
        <p:guide orient="horz" pos="3367"/>
        <p:guide pos="4535"/>
      </p:guideLst>
    </p:cSldViewPr>
  </p:slideViewPr>
  <p:notesTextViewPr>
    <p:cViewPr>
      <p:scale>
        <a:sx n="100" d="100"/>
        <a:sy n="100" d="100"/>
      </p:scale>
      <p:origin x="0" y="0"/>
    </p:cViewPr>
  </p:notesTextViewPr>
  <p:notesViewPr>
    <p:cSldViewPr>
      <p:cViewPr varScale="1">
        <p:scale>
          <a:sx n="99" d="100"/>
          <a:sy n="99" d="100"/>
        </p:scale>
        <p:origin x="2718" y="7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7" Type="http://schemas.openxmlformats.org/officeDocument/2006/relationships/tags" Target="tags/tag1.xml"/><Relationship Id="rId86" Type="http://schemas.openxmlformats.org/officeDocument/2006/relationships/tableStyles" Target="tableStyles.xml"/><Relationship Id="rId85" Type="http://schemas.openxmlformats.org/officeDocument/2006/relationships/viewProps" Target="viewProps.xml"/><Relationship Id="rId84" Type="http://schemas.openxmlformats.org/officeDocument/2006/relationships/presProps" Target="presProps.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528431-B39A-4CC4-9B2F-3F84F3EE1F2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44D69D-3C03-441F-8E5D-5A29298ED13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altLang="zh-CN" sz="1200" dirty="0" smtClean="0">
              <a:latin typeface="仿宋" panose="02010609060101010101" pitchFamily="49" charset="-122"/>
              <a:ea typeface="仿宋" panose="02010609060101010101" pitchFamily="49" charset="-122"/>
            </a:endParaRPr>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50000"/>
              </a:lnSpc>
              <a:buFont typeface="Wingdings" panose="05000000000000000000" pitchFamily="2" charset="2"/>
              <a:buNone/>
            </a:pPr>
            <a:endParaRPr lang="en-US" altLang="zh-CN" sz="1200" dirty="0" smtClean="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50000"/>
              </a:lnSpc>
              <a:buFont typeface="Wingdings" panose="05000000000000000000" pitchFamily="2" charset="2"/>
              <a:buNone/>
            </a:pPr>
            <a:endParaRPr lang="en-US" altLang="zh-CN" sz="1200" dirty="0" smtClean="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altLang="zh-CN" sz="1200" dirty="0" smtClean="0">
              <a:solidFill>
                <a:schemeClr val="tx1"/>
              </a:solidFill>
              <a:latin typeface="仿宋" panose="02010609060101010101" pitchFamily="49" charset="-122"/>
              <a:ea typeface="仿宋" panose="02010609060101010101" pitchFamily="49" charset="-122"/>
            </a:endParaRPr>
          </a:p>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方形波</a:t>
            </a:r>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9" name="矩形 8"/>
          <p:cNvSpPr/>
          <p:nvPr userDrawn="1"/>
        </p:nvSpPr>
        <p:spPr>
          <a:xfrm>
            <a:off x="-1" y="0"/>
            <a:ext cx="14400213" cy="809942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863993" y="1529432"/>
            <a:ext cx="6840169" cy="1736127"/>
          </a:xfrm>
          <a:prstGeom prst="rect">
            <a:avLst/>
          </a:prstGeom>
        </p:spPr>
        <p:txBody>
          <a:bodyPr/>
          <a:lstStyle>
            <a:lvl1pPr algn="l">
              <a:defRPr>
                <a:solidFill>
                  <a:schemeClr val="tx2"/>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863993" y="3603034"/>
            <a:ext cx="6713097" cy="2069853"/>
          </a:xfrm>
          <a:prstGeom prst="rect">
            <a:avLst/>
          </a:prstGeom>
        </p:spPr>
        <p:txBody>
          <a:bodyPr/>
          <a:lstStyle>
            <a:lvl1pPr marL="0" indent="0" algn="l">
              <a:buNone/>
              <a:defRPr sz="3200">
                <a:solidFill>
                  <a:schemeClr val="tx1">
                    <a:lumMod val="50000"/>
                    <a:lumOff val="50000"/>
                  </a:schemeClr>
                </a:solidFill>
              </a:defRPr>
            </a:lvl1pPr>
            <a:lvl2pPr marL="601345" indent="0" algn="ctr">
              <a:buNone/>
              <a:defRPr>
                <a:solidFill>
                  <a:schemeClr val="tx1">
                    <a:tint val="75000"/>
                  </a:schemeClr>
                </a:solidFill>
              </a:defRPr>
            </a:lvl2pPr>
            <a:lvl3pPr marL="1203325" indent="0" algn="ctr">
              <a:buNone/>
              <a:defRPr>
                <a:solidFill>
                  <a:schemeClr val="tx1">
                    <a:tint val="75000"/>
                  </a:schemeClr>
                </a:solidFill>
              </a:defRPr>
            </a:lvl3pPr>
            <a:lvl4pPr marL="1804670" indent="0" algn="ctr">
              <a:buNone/>
              <a:defRPr>
                <a:solidFill>
                  <a:schemeClr val="tx1">
                    <a:tint val="75000"/>
                  </a:schemeClr>
                </a:solidFill>
              </a:defRPr>
            </a:lvl4pPr>
            <a:lvl5pPr marL="2406650" indent="0" algn="ctr">
              <a:buNone/>
              <a:defRPr>
                <a:solidFill>
                  <a:schemeClr val="tx1">
                    <a:tint val="75000"/>
                  </a:schemeClr>
                </a:solidFill>
              </a:defRPr>
            </a:lvl5pPr>
            <a:lvl6pPr marL="3007995" indent="0" algn="ctr">
              <a:buNone/>
              <a:defRPr>
                <a:solidFill>
                  <a:schemeClr val="tx1">
                    <a:tint val="75000"/>
                  </a:schemeClr>
                </a:solidFill>
              </a:defRPr>
            </a:lvl6pPr>
            <a:lvl7pPr marL="3609975" indent="0" algn="ctr">
              <a:buNone/>
              <a:defRPr>
                <a:solidFill>
                  <a:schemeClr val="tx1">
                    <a:tint val="75000"/>
                  </a:schemeClr>
                </a:solidFill>
              </a:defRPr>
            </a:lvl7pPr>
            <a:lvl8pPr marL="4211320" indent="0" algn="ctr">
              <a:buNone/>
              <a:defRPr>
                <a:solidFill>
                  <a:schemeClr val="tx1">
                    <a:tint val="75000"/>
                  </a:schemeClr>
                </a:solidFill>
              </a:defRPr>
            </a:lvl8pPr>
            <a:lvl9pPr marL="48133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fld>
            <a:endParaRPr lang="zh-CN" altLang="en-US"/>
          </a:p>
        </p:txBody>
      </p:sp>
      <p:sp>
        <p:nvSpPr>
          <p:cNvPr id="5" name="页脚占位符 4"/>
          <p:cNvSpPr>
            <a:spLocks noGrp="1"/>
          </p:cNvSpPr>
          <p:nvPr>
            <p:ph type="ftr" sz="quarter" idx="11"/>
          </p:nvPr>
        </p:nvSpPr>
        <p:spPr>
          <a:xfrm>
            <a:off x="4920073" y="7506968"/>
            <a:ext cx="4560067" cy="431219"/>
          </a:xfrm>
          <a:prstGeom prst="rect">
            <a:avLst/>
          </a:prstGeom>
        </p:spPr>
        <p:txBody>
          <a:bodyPr/>
          <a:lstStyle/>
          <a:p>
            <a:endParaRPr lang="zh-CN" altLang="en-US" dirty="0"/>
          </a:p>
        </p:txBody>
      </p:sp>
      <p:sp>
        <p:nvSpPr>
          <p:cNvPr id="6" name="灯片编号占位符 5"/>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fld>
            <a:endParaRPr lang="zh-CN" altLang="en-US"/>
          </a:p>
        </p:txBody>
      </p:sp>
      <p:pic>
        <p:nvPicPr>
          <p:cNvPr id="8" name="图片 7" descr="未标题-1.png"/>
          <p:cNvPicPr>
            <a:picLocks noChangeAspect="1"/>
          </p:cNvPicPr>
          <p:nvPr userDrawn="1"/>
        </p:nvPicPr>
        <p:blipFill>
          <a:blip r:embed="rId2" cstate="print"/>
          <a:srcRect r="1055" b="2344"/>
          <a:stretch>
            <a:fillRect/>
          </a:stretch>
        </p:blipFill>
        <p:spPr>
          <a:xfrm>
            <a:off x="4607819" y="3032430"/>
            <a:ext cx="9792394" cy="506699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03362" y="1"/>
            <a:ext cx="12241360" cy="665336"/>
          </a:xfrm>
          <a:prstGeom prst="rect">
            <a:avLst/>
          </a:prstGeom>
        </p:spPr>
        <p:txBody>
          <a:bodyPr anchor="ctr"/>
          <a:lstStyle>
            <a:lvl1pPr algn="l">
              <a:defRPr sz="2800">
                <a:solidFill>
                  <a:schemeClr val="accent6"/>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862013" y="953368"/>
            <a:ext cx="12818190" cy="6281744"/>
          </a:xfrm>
          <a:prstGeom prst="rect">
            <a:avLst/>
          </a:prstGeom>
        </p:spPr>
        <p:txBody>
          <a:bodyPr/>
          <a:lstStyle>
            <a:lvl1pPr>
              <a:buNone/>
              <a:defRPr sz="4400" b="0">
                <a:solidFill>
                  <a:schemeClr val="tx2"/>
                </a:solidFill>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fld>
            <a:endParaRPr lang="zh-CN" altLang="en-US"/>
          </a:p>
        </p:txBody>
      </p:sp>
      <p:sp>
        <p:nvSpPr>
          <p:cNvPr id="5" name="页脚占位符 4"/>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fld>
            <a:endParaRPr lang="zh-CN" altLang="en-US"/>
          </a:p>
        </p:txBody>
      </p:sp>
      <p:pic>
        <p:nvPicPr>
          <p:cNvPr id="9" name="图片 8" descr="高德智感logo中英文常规.png"/>
          <p:cNvPicPr>
            <a:picLocks noChangeAspect="1"/>
          </p:cNvPicPr>
          <p:nvPr userDrawn="1"/>
        </p:nvPicPr>
        <p:blipFill>
          <a:blip r:embed="rId2" cstate="print"/>
          <a:stretch>
            <a:fillRect/>
          </a:stretch>
        </p:blipFill>
        <p:spPr>
          <a:xfrm>
            <a:off x="12816730" y="7452826"/>
            <a:ext cx="1224136" cy="452796"/>
          </a:xfrm>
          <a:prstGeom prst="rect">
            <a:avLst/>
          </a:prstGeom>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8" name="矩形 7"/>
          <p:cNvSpPr/>
          <p:nvPr userDrawn="1"/>
        </p:nvSpPr>
        <p:spPr>
          <a:xfrm>
            <a:off x="-1" y="0"/>
            <a:ext cx="14400213" cy="809942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1137519" y="5204631"/>
            <a:ext cx="12240181" cy="1608636"/>
          </a:xfrm>
          <a:prstGeom prst="rect">
            <a:avLst/>
          </a:prstGeom>
        </p:spPr>
        <p:txBody>
          <a:bodyPr anchor="t"/>
          <a:lstStyle>
            <a:lvl1pPr algn="l">
              <a:defRPr sz="5245"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1137519" y="3432884"/>
            <a:ext cx="12240181" cy="1771749"/>
          </a:xfrm>
          <a:prstGeom prst="rect">
            <a:avLst/>
          </a:prstGeom>
        </p:spPr>
        <p:txBody>
          <a:bodyPr anchor="b"/>
          <a:lstStyle>
            <a:lvl1pPr marL="0" indent="0">
              <a:buNone/>
              <a:defRPr sz="2620">
                <a:solidFill>
                  <a:schemeClr val="tx1">
                    <a:tint val="75000"/>
                  </a:schemeClr>
                </a:solidFill>
              </a:defRPr>
            </a:lvl1pPr>
            <a:lvl2pPr marL="601345" indent="0">
              <a:buNone/>
              <a:defRPr sz="2340">
                <a:solidFill>
                  <a:schemeClr val="tx1">
                    <a:tint val="75000"/>
                  </a:schemeClr>
                </a:solidFill>
              </a:defRPr>
            </a:lvl2pPr>
            <a:lvl3pPr marL="1203325" indent="0">
              <a:buNone/>
              <a:defRPr sz="2125">
                <a:solidFill>
                  <a:schemeClr val="tx1">
                    <a:tint val="75000"/>
                  </a:schemeClr>
                </a:solidFill>
              </a:defRPr>
            </a:lvl3pPr>
            <a:lvl4pPr marL="1804670" indent="0">
              <a:buNone/>
              <a:defRPr sz="1840">
                <a:solidFill>
                  <a:schemeClr val="tx1">
                    <a:tint val="75000"/>
                  </a:schemeClr>
                </a:solidFill>
              </a:defRPr>
            </a:lvl4pPr>
            <a:lvl5pPr marL="2406650" indent="0">
              <a:buNone/>
              <a:defRPr sz="1840">
                <a:solidFill>
                  <a:schemeClr val="tx1">
                    <a:tint val="75000"/>
                  </a:schemeClr>
                </a:solidFill>
              </a:defRPr>
            </a:lvl5pPr>
            <a:lvl6pPr marL="3007995" indent="0">
              <a:buNone/>
              <a:defRPr sz="1840">
                <a:solidFill>
                  <a:schemeClr val="tx1">
                    <a:tint val="75000"/>
                  </a:schemeClr>
                </a:solidFill>
              </a:defRPr>
            </a:lvl6pPr>
            <a:lvl7pPr marL="3609975" indent="0">
              <a:buNone/>
              <a:defRPr sz="1840">
                <a:solidFill>
                  <a:schemeClr val="tx1">
                    <a:tint val="75000"/>
                  </a:schemeClr>
                </a:solidFill>
              </a:defRPr>
            </a:lvl7pPr>
            <a:lvl8pPr marL="4211320" indent="0">
              <a:buNone/>
              <a:defRPr sz="1840">
                <a:solidFill>
                  <a:schemeClr val="tx1">
                    <a:tint val="75000"/>
                  </a:schemeClr>
                </a:solidFill>
              </a:defRPr>
            </a:lvl8pPr>
            <a:lvl9pPr marL="4813300" indent="0">
              <a:buNone/>
              <a:defRPr sz="184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fld>
            <a:endParaRPr lang="zh-CN" altLang="en-US"/>
          </a:p>
        </p:txBody>
      </p:sp>
      <p:sp>
        <p:nvSpPr>
          <p:cNvPr id="5" name="页脚占位符 4"/>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720011" y="324353"/>
            <a:ext cx="12960192" cy="1349904"/>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20011" y="1889866"/>
            <a:ext cx="6360094" cy="5345246"/>
          </a:xfrm>
          <a:prstGeom prst="rect">
            <a:avLst/>
          </a:prstGeom>
        </p:spPr>
        <p:txBody>
          <a:bodyPr/>
          <a:lstStyle>
            <a:lvl1pPr>
              <a:defRPr sz="3685"/>
            </a:lvl1pPr>
            <a:lvl2pPr>
              <a:defRPr sz="3190"/>
            </a:lvl2pPr>
            <a:lvl3pPr>
              <a:defRPr sz="2620"/>
            </a:lvl3pPr>
            <a:lvl4pPr>
              <a:defRPr sz="2340"/>
            </a:lvl4pPr>
            <a:lvl5pPr>
              <a:defRPr sz="2340"/>
            </a:lvl5pPr>
            <a:lvl6pPr>
              <a:defRPr sz="2340"/>
            </a:lvl6pPr>
            <a:lvl7pPr>
              <a:defRPr sz="2340"/>
            </a:lvl7pPr>
            <a:lvl8pPr>
              <a:defRPr sz="2340"/>
            </a:lvl8pPr>
            <a:lvl9pPr>
              <a:defRPr sz="234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7320108" y="1889866"/>
            <a:ext cx="6360094" cy="5345246"/>
          </a:xfrm>
          <a:prstGeom prst="rect">
            <a:avLst/>
          </a:prstGeom>
        </p:spPr>
        <p:txBody>
          <a:bodyPr/>
          <a:lstStyle>
            <a:lvl1pPr>
              <a:defRPr sz="3685"/>
            </a:lvl1pPr>
            <a:lvl2pPr>
              <a:defRPr sz="3190"/>
            </a:lvl2pPr>
            <a:lvl3pPr>
              <a:defRPr sz="2620"/>
            </a:lvl3pPr>
            <a:lvl4pPr>
              <a:defRPr sz="2340"/>
            </a:lvl4pPr>
            <a:lvl5pPr>
              <a:defRPr sz="2340"/>
            </a:lvl5pPr>
            <a:lvl6pPr>
              <a:defRPr sz="2340"/>
            </a:lvl6pPr>
            <a:lvl7pPr>
              <a:defRPr sz="2340"/>
            </a:lvl7pPr>
            <a:lvl8pPr>
              <a:defRPr sz="2340"/>
            </a:lvl8pPr>
            <a:lvl9pPr>
              <a:defRPr sz="234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fld>
            <a:endParaRPr lang="zh-CN" altLang="en-US"/>
          </a:p>
        </p:txBody>
      </p:sp>
      <p:sp>
        <p:nvSpPr>
          <p:cNvPr id="6" name="页脚占位符 5"/>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720011" y="324353"/>
            <a:ext cx="12960192" cy="1349904"/>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0011" y="1812997"/>
            <a:ext cx="6362595" cy="755571"/>
          </a:xfrm>
          <a:prstGeom prst="rect">
            <a:avLst/>
          </a:prstGeom>
        </p:spPr>
        <p:txBody>
          <a:bodyPr anchor="b"/>
          <a:lstStyle>
            <a:lvl1pPr marL="0" indent="0">
              <a:buNone/>
              <a:defRPr sz="3190" b="1"/>
            </a:lvl1pPr>
            <a:lvl2pPr marL="601345" indent="0">
              <a:buNone/>
              <a:defRPr sz="2620" b="1"/>
            </a:lvl2pPr>
            <a:lvl3pPr marL="1203325" indent="0">
              <a:buNone/>
              <a:defRPr sz="2340" b="1"/>
            </a:lvl3pPr>
            <a:lvl4pPr marL="1804670" indent="0">
              <a:buNone/>
              <a:defRPr sz="2125" b="1"/>
            </a:lvl4pPr>
            <a:lvl5pPr marL="2406650" indent="0">
              <a:buNone/>
              <a:defRPr sz="2125" b="1"/>
            </a:lvl5pPr>
            <a:lvl6pPr marL="3007995" indent="0">
              <a:buNone/>
              <a:defRPr sz="2125" b="1"/>
            </a:lvl6pPr>
            <a:lvl7pPr marL="3609975" indent="0">
              <a:buNone/>
              <a:defRPr sz="2125" b="1"/>
            </a:lvl7pPr>
            <a:lvl8pPr marL="4211320" indent="0">
              <a:buNone/>
              <a:defRPr sz="2125" b="1"/>
            </a:lvl8pPr>
            <a:lvl9pPr marL="4813300" indent="0">
              <a:buNone/>
              <a:defRPr sz="212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720011" y="2568569"/>
            <a:ext cx="6362595" cy="4666544"/>
          </a:xfrm>
          <a:prstGeom prst="rect">
            <a:avLst/>
          </a:prstGeom>
        </p:spPr>
        <p:txBody>
          <a:bodyPr/>
          <a:lstStyle>
            <a:lvl1pPr>
              <a:defRPr sz="3190"/>
            </a:lvl1pPr>
            <a:lvl2pPr>
              <a:defRPr sz="2620"/>
            </a:lvl2pPr>
            <a:lvl3pPr>
              <a:defRPr sz="2340"/>
            </a:lvl3pPr>
            <a:lvl4pPr>
              <a:defRPr sz="2125"/>
            </a:lvl4pPr>
            <a:lvl5pPr>
              <a:defRPr sz="2125"/>
            </a:lvl5pPr>
            <a:lvl6pPr>
              <a:defRPr sz="2125"/>
            </a:lvl6pPr>
            <a:lvl7pPr>
              <a:defRPr sz="2125"/>
            </a:lvl7pPr>
            <a:lvl8pPr>
              <a:defRPr sz="2125"/>
            </a:lvl8pPr>
            <a:lvl9pPr>
              <a:defRPr sz="212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7315110" y="1812997"/>
            <a:ext cx="6365094" cy="755571"/>
          </a:xfrm>
          <a:prstGeom prst="rect">
            <a:avLst/>
          </a:prstGeom>
        </p:spPr>
        <p:txBody>
          <a:bodyPr anchor="b"/>
          <a:lstStyle>
            <a:lvl1pPr marL="0" indent="0">
              <a:buNone/>
              <a:defRPr sz="3190" b="1"/>
            </a:lvl1pPr>
            <a:lvl2pPr marL="601345" indent="0">
              <a:buNone/>
              <a:defRPr sz="2620" b="1"/>
            </a:lvl2pPr>
            <a:lvl3pPr marL="1203325" indent="0">
              <a:buNone/>
              <a:defRPr sz="2340" b="1"/>
            </a:lvl3pPr>
            <a:lvl4pPr marL="1804670" indent="0">
              <a:buNone/>
              <a:defRPr sz="2125" b="1"/>
            </a:lvl4pPr>
            <a:lvl5pPr marL="2406650" indent="0">
              <a:buNone/>
              <a:defRPr sz="2125" b="1"/>
            </a:lvl5pPr>
            <a:lvl6pPr marL="3007995" indent="0">
              <a:buNone/>
              <a:defRPr sz="2125" b="1"/>
            </a:lvl6pPr>
            <a:lvl7pPr marL="3609975" indent="0">
              <a:buNone/>
              <a:defRPr sz="2125" b="1"/>
            </a:lvl7pPr>
            <a:lvl8pPr marL="4211320" indent="0">
              <a:buNone/>
              <a:defRPr sz="2125" b="1"/>
            </a:lvl8pPr>
            <a:lvl9pPr marL="4813300" indent="0">
              <a:buNone/>
              <a:defRPr sz="212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7315110" y="2568569"/>
            <a:ext cx="6365094" cy="4666544"/>
          </a:xfrm>
          <a:prstGeom prst="rect">
            <a:avLst/>
          </a:prstGeom>
        </p:spPr>
        <p:txBody>
          <a:bodyPr/>
          <a:lstStyle>
            <a:lvl1pPr>
              <a:defRPr sz="3190"/>
            </a:lvl1pPr>
            <a:lvl2pPr>
              <a:defRPr sz="2620"/>
            </a:lvl2pPr>
            <a:lvl3pPr>
              <a:defRPr sz="2340"/>
            </a:lvl3pPr>
            <a:lvl4pPr>
              <a:defRPr sz="2125"/>
            </a:lvl4pPr>
            <a:lvl5pPr>
              <a:defRPr sz="2125"/>
            </a:lvl5pPr>
            <a:lvl6pPr>
              <a:defRPr sz="2125"/>
            </a:lvl6pPr>
            <a:lvl7pPr>
              <a:defRPr sz="2125"/>
            </a:lvl7pPr>
            <a:lvl8pPr>
              <a:defRPr sz="2125"/>
            </a:lvl8pPr>
            <a:lvl9pPr>
              <a:defRPr sz="212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fld>
            <a:endParaRPr lang="zh-CN" altLang="en-US"/>
          </a:p>
        </p:txBody>
      </p:sp>
      <p:sp>
        <p:nvSpPr>
          <p:cNvPr id="8" name="页脚占位符 7"/>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720011" y="324353"/>
            <a:ext cx="12960192" cy="1349904"/>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fld>
            <a:endParaRPr lang="zh-CN" altLang="en-US"/>
          </a:p>
        </p:txBody>
      </p:sp>
      <p:sp>
        <p:nvSpPr>
          <p:cNvPr id="4" name="页脚占位符 3"/>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fld>
            <a:endParaRPr lang="zh-CN" altLang="en-US"/>
          </a:p>
        </p:txBody>
      </p:sp>
      <p:sp>
        <p:nvSpPr>
          <p:cNvPr id="3" name="页脚占位符 2"/>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720013" y="322478"/>
            <a:ext cx="4737571" cy="1372403"/>
          </a:xfrm>
          <a:prstGeom prst="rect">
            <a:avLst/>
          </a:prstGeom>
        </p:spPr>
        <p:txBody>
          <a:bodyPr anchor="b"/>
          <a:lstStyle>
            <a:lvl1pPr algn="l">
              <a:defRPr sz="2620" b="1"/>
            </a:lvl1pPr>
          </a:lstStyle>
          <a:p>
            <a:r>
              <a:rPr lang="zh-CN" altLang="en-US"/>
              <a:t>单击此处编辑母版标题样式</a:t>
            </a:r>
            <a:endParaRPr lang="zh-CN" altLang="en-US"/>
          </a:p>
        </p:txBody>
      </p:sp>
      <p:sp>
        <p:nvSpPr>
          <p:cNvPr id="3" name="内容占位符 2"/>
          <p:cNvSpPr>
            <a:spLocks noGrp="1"/>
          </p:cNvSpPr>
          <p:nvPr>
            <p:ph idx="1"/>
          </p:nvPr>
        </p:nvSpPr>
        <p:spPr>
          <a:xfrm>
            <a:off x="5630084" y="322477"/>
            <a:ext cx="8050119" cy="6912635"/>
          </a:xfrm>
          <a:prstGeom prst="rect">
            <a:avLst/>
          </a:prstGeom>
        </p:spPr>
        <p:txBody>
          <a:bodyPr/>
          <a:lstStyle>
            <a:lvl1pPr>
              <a:defRPr sz="4180"/>
            </a:lvl1pPr>
            <a:lvl2pPr>
              <a:defRPr sz="3685"/>
            </a:lvl2pPr>
            <a:lvl3pPr>
              <a:defRPr sz="3190"/>
            </a:lvl3pPr>
            <a:lvl4pPr>
              <a:defRPr sz="2620"/>
            </a:lvl4pPr>
            <a:lvl5pPr>
              <a:defRPr sz="2620"/>
            </a:lvl5pPr>
            <a:lvl6pPr>
              <a:defRPr sz="2620"/>
            </a:lvl6pPr>
            <a:lvl7pPr>
              <a:defRPr sz="2620"/>
            </a:lvl7pPr>
            <a:lvl8pPr>
              <a:defRPr sz="2620"/>
            </a:lvl8pPr>
            <a:lvl9pPr>
              <a:defRPr sz="262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720013" y="1694881"/>
            <a:ext cx="4737571" cy="5540233"/>
          </a:xfrm>
          <a:prstGeom prst="rect">
            <a:avLst/>
          </a:prstGeom>
        </p:spPr>
        <p:txBody>
          <a:bodyPr/>
          <a:lstStyle>
            <a:lvl1pPr marL="0" indent="0">
              <a:buNone/>
              <a:defRPr sz="1840"/>
            </a:lvl1pPr>
            <a:lvl2pPr marL="601345" indent="0">
              <a:buNone/>
              <a:defRPr sz="1560"/>
            </a:lvl2pPr>
            <a:lvl3pPr marL="1203325" indent="0">
              <a:buNone/>
              <a:defRPr sz="1345"/>
            </a:lvl3pPr>
            <a:lvl4pPr marL="1804670" indent="0">
              <a:buNone/>
              <a:defRPr sz="1205"/>
            </a:lvl4pPr>
            <a:lvl5pPr marL="2406650" indent="0">
              <a:buNone/>
              <a:defRPr sz="1205"/>
            </a:lvl5pPr>
            <a:lvl6pPr marL="3007995" indent="0">
              <a:buNone/>
              <a:defRPr sz="1205"/>
            </a:lvl6pPr>
            <a:lvl7pPr marL="3609975" indent="0">
              <a:buNone/>
              <a:defRPr sz="1205"/>
            </a:lvl7pPr>
            <a:lvl8pPr marL="4211320" indent="0">
              <a:buNone/>
              <a:defRPr sz="1205"/>
            </a:lvl8pPr>
            <a:lvl9pPr marL="4813300" indent="0">
              <a:buNone/>
              <a:defRPr sz="120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fld>
            <a:endParaRPr lang="zh-CN" altLang="en-US"/>
          </a:p>
        </p:txBody>
      </p:sp>
      <p:sp>
        <p:nvSpPr>
          <p:cNvPr id="6" name="页脚占位符 5"/>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fld>
            <a:endParaRPr lang="zh-CN" altLang="en-US"/>
          </a:p>
        </p:txBody>
      </p:sp>
      <p:sp>
        <p:nvSpPr>
          <p:cNvPr id="8" name="页脚占位符 4"/>
          <p:cNvSpPr txBox="1"/>
          <p:nvPr userDrawn="1"/>
        </p:nvSpPr>
        <p:spPr>
          <a:xfrm>
            <a:off x="12600706" y="161280"/>
            <a:ext cx="4560067" cy="431219"/>
          </a:xfrm>
          <a:prstGeom prst="rect">
            <a:avLst/>
          </a:prstGeom>
        </p:spPr>
        <p:txBody>
          <a:bodyPr/>
          <a:lstStyle>
            <a:defPPr>
              <a:defRPr lang="zh-CN"/>
            </a:defPPr>
            <a:lvl1pPr marL="0" algn="l" defTabSz="1203325"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a:lstStyle>
          <a:p>
            <a:r>
              <a:rPr lang="en-US" altLang="zh-CN" dirty="0"/>
              <a:t>www.guideir.cn</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822543" y="5669598"/>
            <a:ext cx="8640128" cy="669328"/>
          </a:xfrm>
          <a:prstGeom prst="rect">
            <a:avLst/>
          </a:prstGeom>
        </p:spPr>
        <p:txBody>
          <a:bodyPr anchor="b"/>
          <a:lstStyle>
            <a:lvl1pPr algn="l">
              <a:defRPr sz="262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822543" y="723699"/>
            <a:ext cx="8640128" cy="4859655"/>
          </a:xfrm>
          <a:prstGeom prst="rect">
            <a:avLst/>
          </a:prstGeom>
        </p:spPr>
        <p:txBody>
          <a:bodyPr/>
          <a:lstStyle>
            <a:lvl1pPr marL="0" indent="0">
              <a:buNone/>
              <a:defRPr sz="4180"/>
            </a:lvl1pPr>
            <a:lvl2pPr marL="601345" indent="0">
              <a:buNone/>
              <a:defRPr sz="3685"/>
            </a:lvl2pPr>
            <a:lvl3pPr marL="1203325" indent="0">
              <a:buNone/>
              <a:defRPr sz="3190"/>
            </a:lvl3pPr>
            <a:lvl4pPr marL="1804670" indent="0">
              <a:buNone/>
              <a:defRPr sz="2620"/>
            </a:lvl4pPr>
            <a:lvl5pPr marL="2406650" indent="0">
              <a:buNone/>
              <a:defRPr sz="2620"/>
            </a:lvl5pPr>
            <a:lvl6pPr marL="3007995" indent="0">
              <a:buNone/>
              <a:defRPr sz="2620"/>
            </a:lvl6pPr>
            <a:lvl7pPr marL="3609975" indent="0">
              <a:buNone/>
              <a:defRPr sz="2620"/>
            </a:lvl7pPr>
            <a:lvl8pPr marL="4211320" indent="0">
              <a:buNone/>
              <a:defRPr sz="2620"/>
            </a:lvl8pPr>
            <a:lvl9pPr marL="4813300" indent="0">
              <a:buNone/>
              <a:defRPr sz="2620"/>
            </a:lvl9pPr>
          </a:lstStyle>
          <a:p>
            <a:endParaRPr lang="zh-CN" altLang="en-US"/>
          </a:p>
        </p:txBody>
      </p:sp>
      <p:sp>
        <p:nvSpPr>
          <p:cNvPr id="4" name="文本占位符 3"/>
          <p:cNvSpPr>
            <a:spLocks noGrp="1"/>
          </p:cNvSpPr>
          <p:nvPr>
            <p:ph type="body" sz="half" idx="2"/>
          </p:nvPr>
        </p:nvSpPr>
        <p:spPr>
          <a:xfrm>
            <a:off x="2822543" y="6338926"/>
            <a:ext cx="8640128" cy="950557"/>
          </a:xfrm>
          <a:prstGeom prst="rect">
            <a:avLst/>
          </a:prstGeom>
        </p:spPr>
        <p:txBody>
          <a:bodyPr/>
          <a:lstStyle>
            <a:lvl1pPr marL="0" indent="0">
              <a:buNone/>
              <a:defRPr sz="1840"/>
            </a:lvl1pPr>
            <a:lvl2pPr marL="601345" indent="0">
              <a:buNone/>
              <a:defRPr sz="1560"/>
            </a:lvl2pPr>
            <a:lvl3pPr marL="1203325" indent="0">
              <a:buNone/>
              <a:defRPr sz="1345"/>
            </a:lvl3pPr>
            <a:lvl4pPr marL="1804670" indent="0">
              <a:buNone/>
              <a:defRPr sz="1205"/>
            </a:lvl4pPr>
            <a:lvl5pPr marL="2406650" indent="0">
              <a:buNone/>
              <a:defRPr sz="1205"/>
            </a:lvl5pPr>
            <a:lvl6pPr marL="3007995" indent="0">
              <a:buNone/>
              <a:defRPr sz="1205"/>
            </a:lvl6pPr>
            <a:lvl7pPr marL="3609975" indent="0">
              <a:buNone/>
              <a:defRPr sz="1205"/>
            </a:lvl7pPr>
            <a:lvl8pPr marL="4211320" indent="0">
              <a:buNone/>
              <a:defRPr sz="1205"/>
            </a:lvl8pPr>
            <a:lvl9pPr marL="4813300" indent="0">
              <a:buNone/>
              <a:defRPr sz="120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fld>
            <a:endParaRPr lang="zh-CN" altLang="en-US"/>
          </a:p>
        </p:txBody>
      </p:sp>
      <p:sp>
        <p:nvSpPr>
          <p:cNvPr id="6" name="页脚占位符 5"/>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fld>
            <a:endParaRPr lang="zh-CN" altLang="en-US"/>
          </a:p>
        </p:txBody>
      </p:sp>
      <p:sp>
        <p:nvSpPr>
          <p:cNvPr id="8" name="页脚占位符 4"/>
          <p:cNvSpPr txBox="1"/>
          <p:nvPr userDrawn="1"/>
        </p:nvSpPr>
        <p:spPr>
          <a:xfrm>
            <a:off x="12600706" y="161280"/>
            <a:ext cx="4560067" cy="431219"/>
          </a:xfrm>
          <a:prstGeom prst="rect">
            <a:avLst/>
          </a:prstGeom>
        </p:spPr>
        <p:txBody>
          <a:bodyPr/>
          <a:lstStyle>
            <a:defPPr>
              <a:defRPr lang="zh-CN"/>
            </a:defPPr>
            <a:lvl1pPr marL="0" algn="l" defTabSz="1203325"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a:lstStyle>
          <a:p>
            <a:r>
              <a:rPr lang="en-US" altLang="zh-CN" dirty="0"/>
              <a:t>www.guideir.cn</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720011" y="324353"/>
            <a:ext cx="12960192" cy="1349904"/>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20011" y="1889866"/>
            <a:ext cx="12960192" cy="5345246"/>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fld>
            <a:endParaRPr lang="zh-CN" altLang="en-US"/>
          </a:p>
        </p:txBody>
      </p:sp>
      <p:sp>
        <p:nvSpPr>
          <p:cNvPr id="5" name="页脚占位符 4"/>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fld>
            <a:endParaRPr lang="zh-CN" altLang="en-US"/>
          </a:p>
        </p:txBody>
      </p:sp>
      <p:sp>
        <p:nvSpPr>
          <p:cNvPr id="7" name="页脚占位符 4"/>
          <p:cNvSpPr txBox="1"/>
          <p:nvPr userDrawn="1"/>
        </p:nvSpPr>
        <p:spPr>
          <a:xfrm>
            <a:off x="12600706" y="161280"/>
            <a:ext cx="4560067" cy="431219"/>
          </a:xfrm>
          <a:prstGeom prst="rect">
            <a:avLst/>
          </a:prstGeom>
        </p:spPr>
        <p:txBody>
          <a:bodyPr/>
          <a:lstStyle>
            <a:defPPr>
              <a:defRPr lang="zh-CN"/>
            </a:defPPr>
            <a:lvl1pPr marL="0" algn="l" defTabSz="1203325"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a:lstStyle>
          <a:p>
            <a:r>
              <a:rPr lang="en-US" altLang="zh-CN" dirty="0"/>
              <a:t>www.guideir.cn</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0440154" y="324354"/>
            <a:ext cx="3240048" cy="6910760"/>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20011" y="324354"/>
            <a:ext cx="9480140" cy="6910760"/>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fld>
            <a:endParaRPr lang="zh-CN" altLang="en-US"/>
          </a:p>
        </p:txBody>
      </p:sp>
      <p:sp>
        <p:nvSpPr>
          <p:cNvPr id="5" name="页脚占位符 4"/>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fld>
            <a:endParaRPr lang="zh-CN" altLang="en-US"/>
          </a:p>
        </p:txBody>
      </p:sp>
      <p:sp>
        <p:nvSpPr>
          <p:cNvPr id="8" name="页脚占位符 4"/>
          <p:cNvSpPr txBox="1"/>
          <p:nvPr userDrawn="1"/>
        </p:nvSpPr>
        <p:spPr>
          <a:xfrm>
            <a:off x="12600706" y="161280"/>
            <a:ext cx="4560067" cy="431219"/>
          </a:xfrm>
          <a:prstGeom prst="rect">
            <a:avLst/>
          </a:prstGeom>
        </p:spPr>
        <p:txBody>
          <a:bodyPr/>
          <a:lstStyle>
            <a:defPPr>
              <a:defRPr lang="zh-CN"/>
            </a:defPPr>
            <a:lvl1pPr marL="0" algn="l" defTabSz="1203325"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a:lstStyle>
          <a:p>
            <a:r>
              <a:rPr lang="en-US" altLang="zh-CN" dirty="0"/>
              <a:t>www.guideir.cn</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矩形 3"/>
          <p:cNvSpPr/>
          <p:nvPr userDrawn="1"/>
        </p:nvSpPr>
        <p:spPr>
          <a:xfrm>
            <a:off x="793" y="0"/>
            <a:ext cx="14400213" cy="66533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页脚占位符 4"/>
          <p:cNvSpPr txBox="1"/>
          <p:nvPr userDrawn="1"/>
        </p:nvSpPr>
        <p:spPr>
          <a:xfrm>
            <a:off x="12681791" y="233287"/>
            <a:ext cx="1647107" cy="432049"/>
          </a:xfrm>
          <a:prstGeom prst="rect">
            <a:avLst/>
          </a:prstGeom>
        </p:spPr>
        <p:txBody>
          <a:bodyPr/>
          <a:lstStyle>
            <a:defPPr>
              <a:defRPr lang="zh-CN"/>
            </a:defPPr>
            <a:lvl1pPr marL="0" algn="l" defTabSz="1203325"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a:lstStyle>
          <a:p>
            <a:r>
              <a:rPr lang="en-US" altLang="zh-CN" dirty="0" smtClean="0"/>
              <a:t>www.guideir.com</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ctr" defTabSz="1203325" rtl="0" eaLnBrk="1" latinLnBrk="0" hangingPunct="1">
        <a:spcBef>
          <a:spcPct val="0"/>
        </a:spcBef>
        <a:buNone/>
        <a:defRPr sz="5810" kern="1200">
          <a:solidFill>
            <a:schemeClr val="tx1"/>
          </a:solidFill>
          <a:latin typeface="+mj-lt"/>
          <a:ea typeface="+mj-ea"/>
          <a:cs typeface="+mj-cs"/>
        </a:defRPr>
      </a:lvl1pPr>
    </p:titleStyle>
    <p:bodyStyle>
      <a:lvl1pPr marL="451485" indent="-451485" algn="l" defTabSz="1203325" rtl="0" eaLnBrk="1" latinLnBrk="0" hangingPunct="1">
        <a:spcBef>
          <a:spcPct val="20000"/>
        </a:spcBef>
        <a:buFont typeface="Arial" panose="020B0604020202020204" pitchFamily="34" charset="0"/>
        <a:buChar char="•"/>
        <a:defRPr sz="4180" kern="1200">
          <a:solidFill>
            <a:schemeClr val="tx1"/>
          </a:solidFill>
          <a:latin typeface="+mn-lt"/>
          <a:ea typeface="+mn-ea"/>
          <a:cs typeface="+mn-cs"/>
        </a:defRPr>
      </a:lvl1pPr>
      <a:lvl2pPr marL="977900" indent="-375920" algn="l" defTabSz="1203325" rtl="0" eaLnBrk="1" latinLnBrk="0" hangingPunct="1">
        <a:spcBef>
          <a:spcPct val="20000"/>
        </a:spcBef>
        <a:buFont typeface="Arial" panose="020B0604020202020204" pitchFamily="34" charset="0"/>
        <a:buChar char="–"/>
        <a:defRPr sz="3685" kern="1200">
          <a:solidFill>
            <a:schemeClr val="tx1"/>
          </a:solidFill>
          <a:latin typeface="+mn-lt"/>
          <a:ea typeface="+mn-ea"/>
          <a:cs typeface="+mn-cs"/>
        </a:defRPr>
      </a:lvl2pPr>
      <a:lvl3pPr marL="1504315" indent="-300990" algn="l" defTabSz="1203325" rtl="0" eaLnBrk="1" latinLnBrk="0" hangingPunct="1">
        <a:spcBef>
          <a:spcPct val="20000"/>
        </a:spcBef>
        <a:buFont typeface="Arial" panose="020B0604020202020204" pitchFamily="34" charset="0"/>
        <a:buChar char="•"/>
        <a:defRPr sz="3190" kern="1200">
          <a:solidFill>
            <a:schemeClr val="tx1"/>
          </a:solidFill>
          <a:latin typeface="+mn-lt"/>
          <a:ea typeface="+mn-ea"/>
          <a:cs typeface="+mn-cs"/>
        </a:defRPr>
      </a:lvl3pPr>
      <a:lvl4pPr marL="2105660" indent="-300990" algn="l" defTabSz="1203325" rtl="0" eaLnBrk="1" latinLnBrk="0" hangingPunct="1">
        <a:spcBef>
          <a:spcPct val="20000"/>
        </a:spcBef>
        <a:buFont typeface="Arial" panose="020B0604020202020204" pitchFamily="34" charset="0"/>
        <a:buChar char="–"/>
        <a:defRPr sz="2620" kern="1200">
          <a:solidFill>
            <a:schemeClr val="tx1"/>
          </a:solidFill>
          <a:latin typeface="+mn-lt"/>
          <a:ea typeface="+mn-ea"/>
          <a:cs typeface="+mn-cs"/>
        </a:defRPr>
      </a:lvl4pPr>
      <a:lvl5pPr marL="2707640" indent="-300990" algn="l" defTabSz="1203325" rtl="0" eaLnBrk="1" latinLnBrk="0" hangingPunct="1">
        <a:spcBef>
          <a:spcPct val="20000"/>
        </a:spcBef>
        <a:buFont typeface="Arial" panose="020B0604020202020204" pitchFamily="34" charset="0"/>
        <a:buChar char="»"/>
        <a:defRPr sz="2620" kern="1200">
          <a:solidFill>
            <a:schemeClr val="tx1"/>
          </a:solidFill>
          <a:latin typeface="+mn-lt"/>
          <a:ea typeface="+mn-ea"/>
          <a:cs typeface="+mn-cs"/>
        </a:defRPr>
      </a:lvl5pPr>
      <a:lvl6pPr marL="3308985" indent="-300990" algn="l" defTabSz="1203325" rtl="0" eaLnBrk="1" latinLnBrk="0" hangingPunct="1">
        <a:spcBef>
          <a:spcPct val="20000"/>
        </a:spcBef>
        <a:buFont typeface="Arial" panose="020B0604020202020204" pitchFamily="34" charset="0"/>
        <a:buChar char="•"/>
        <a:defRPr sz="2620" kern="1200">
          <a:solidFill>
            <a:schemeClr val="tx1"/>
          </a:solidFill>
          <a:latin typeface="+mn-lt"/>
          <a:ea typeface="+mn-ea"/>
          <a:cs typeface="+mn-cs"/>
        </a:defRPr>
      </a:lvl6pPr>
      <a:lvl7pPr marL="3910965" indent="-300990" algn="l" defTabSz="1203325" rtl="0" eaLnBrk="1" latinLnBrk="0" hangingPunct="1">
        <a:spcBef>
          <a:spcPct val="20000"/>
        </a:spcBef>
        <a:buFont typeface="Arial" panose="020B0604020202020204" pitchFamily="34" charset="0"/>
        <a:buChar char="•"/>
        <a:defRPr sz="2620" kern="1200">
          <a:solidFill>
            <a:schemeClr val="tx1"/>
          </a:solidFill>
          <a:latin typeface="+mn-lt"/>
          <a:ea typeface="+mn-ea"/>
          <a:cs typeface="+mn-cs"/>
        </a:defRPr>
      </a:lvl7pPr>
      <a:lvl8pPr marL="4512310" indent="-300990" algn="l" defTabSz="1203325" rtl="0" eaLnBrk="1" latinLnBrk="0" hangingPunct="1">
        <a:spcBef>
          <a:spcPct val="20000"/>
        </a:spcBef>
        <a:buFont typeface="Arial" panose="020B0604020202020204" pitchFamily="34" charset="0"/>
        <a:buChar char="•"/>
        <a:defRPr sz="2620" kern="1200">
          <a:solidFill>
            <a:schemeClr val="tx1"/>
          </a:solidFill>
          <a:latin typeface="+mn-lt"/>
          <a:ea typeface="+mn-ea"/>
          <a:cs typeface="+mn-cs"/>
        </a:defRPr>
      </a:lvl8pPr>
      <a:lvl9pPr marL="5114290" indent="-300990" algn="l" defTabSz="1203325" rtl="0" eaLnBrk="1" latinLnBrk="0" hangingPunct="1">
        <a:spcBef>
          <a:spcPct val="20000"/>
        </a:spcBef>
        <a:buFont typeface="Arial" panose="020B0604020202020204" pitchFamily="34" charset="0"/>
        <a:buChar char="•"/>
        <a:defRPr sz="2620" kern="1200">
          <a:solidFill>
            <a:schemeClr val="tx1"/>
          </a:solidFill>
          <a:latin typeface="+mn-lt"/>
          <a:ea typeface="+mn-ea"/>
          <a:cs typeface="+mn-cs"/>
        </a:defRPr>
      </a:lvl9pPr>
    </p:bodyStyle>
    <p:otherStyle>
      <a:defPPr>
        <a:defRPr lang="zh-CN"/>
      </a:defPPr>
      <a:lvl1pPr marL="0" algn="l" defTabSz="1203325" rtl="0" eaLnBrk="1" latinLnBrk="0" hangingPunct="1">
        <a:defRPr sz="2340" kern="1200">
          <a:solidFill>
            <a:schemeClr val="tx1"/>
          </a:solidFill>
          <a:latin typeface="+mn-lt"/>
          <a:ea typeface="+mn-ea"/>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jpeg"/><Relationship Id="rId1" Type="http://schemas.openxmlformats.org/officeDocument/2006/relationships/image" Target="../media/image9.GIF"/></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jpeg"/><Relationship Id="rId1"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jpe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4.GIF"/><Relationship Id="rId1" Type="http://schemas.openxmlformats.org/officeDocument/2006/relationships/image" Target="../media/image33.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jpe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jpeg"/><Relationship Id="rId1" Type="http://schemas.openxmlformats.org/officeDocument/2006/relationships/image" Target="../media/image3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42.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4.jpeg"/><Relationship Id="rId1" Type="http://schemas.openxmlformats.org/officeDocument/2006/relationships/image" Target="../media/image43.jpeg"/></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45.png"/></Relationships>
</file>

<file path=ppt/slides/_rels/slide38.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2.xml"/><Relationship Id="rId6" Type="http://schemas.openxmlformats.org/officeDocument/2006/relationships/image" Target="../media/image50.wmf"/><Relationship Id="rId5" Type="http://schemas.openxmlformats.org/officeDocument/2006/relationships/oleObject" Target="../embeddings/oleObject3.bin"/><Relationship Id="rId4" Type="http://schemas.openxmlformats.org/officeDocument/2006/relationships/image" Target="../media/image49.wmf"/><Relationship Id="rId3" Type="http://schemas.openxmlformats.org/officeDocument/2006/relationships/oleObject" Target="../embeddings/oleObject2.bin"/><Relationship Id="rId2" Type="http://schemas.openxmlformats.org/officeDocument/2006/relationships/image" Target="../media/image48.wmf"/><Relationship Id="rId1" Type="http://schemas.openxmlformats.org/officeDocument/2006/relationships/oleObject" Target="../embeddings/oleObject1.bin"/></Relationships>
</file>

<file path=ppt/slides/_rels/slide39.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2.xml"/><Relationship Id="rId3" Type="http://schemas.openxmlformats.org/officeDocument/2006/relationships/image" Target="../media/image52.png"/><Relationship Id="rId2" Type="http://schemas.openxmlformats.org/officeDocument/2006/relationships/image" Target="../media/image51.emf"/><Relationship Id="rId1" Type="http://schemas.openxmlformats.org/officeDocument/2006/relationships/oleObject" Target="../embeddings/oleObject4.bin"/></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4.png"/><Relationship Id="rId1" Type="http://schemas.openxmlformats.org/officeDocument/2006/relationships/image" Target="../media/image53.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6.GIF"/></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7.jpe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8.jpe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0.jpeg"/><Relationship Id="rId1" Type="http://schemas.openxmlformats.org/officeDocument/2006/relationships/image" Target="../media/image59.jpe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6.GIF"/></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2.png"/><Relationship Id="rId1" Type="http://schemas.openxmlformats.org/officeDocument/2006/relationships/image" Target="../media/image61.png"/></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3.png"/><Relationship Id="rId2" Type="http://schemas.openxmlformats.org/officeDocument/2006/relationships/image" Target="../media/image64.jpeg"/><Relationship Id="rId1" Type="http://schemas.openxmlformats.org/officeDocument/2006/relationships/image" Target="../media/image63.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6.png"/><Relationship Id="rId1" Type="http://schemas.openxmlformats.org/officeDocument/2006/relationships/image" Target="../media/image6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7.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8.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9.jpeg"/></Relationships>
</file>

<file path=ppt/slides/_rels/slide5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image" Target="../media/image7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5.jpeg"/><Relationship Id="rId2" Type="http://schemas.openxmlformats.org/officeDocument/2006/relationships/image" Target="../media/image74.jpeg"/><Relationship Id="rId1" Type="http://schemas.openxmlformats.org/officeDocument/2006/relationships/image" Target="../media/image73.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7.GIF"/><Relationship Id="rId1" Type="http://schemas.openxmlformats.org/officeDocument/2006/relationships/image" Target="../media/image76.jpe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9.GIF"/><Relationship Id="rId1" Type="http://schemas.openxmlformats.org/officeDocument/2006/relationships/image" Target="../media/image78.GIF"/></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81.png"/><Relationship Id="rId1" Type="http://schemas.openxmlformats.org/officeDocument/2006/relationships/image" Target="../media/image80.jpe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3.png"/><Relationship Id="rId1" Type="http://schemas.openxmlformats.org/officeDocument/2006/relationships/image" Target="../media/image82.png"/></Relationships>
</file>

<file path=ppt/slides/_rels/slide6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7.png"/><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image" Target="../media/image84.pn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9.emf"/><Relationship Id="rId1" Type="http://schemas.openxmlformats.org/officeDocument/2006/relationships/image" Target="../media/image88.emf"/></Relationships>
</file>

<file path=ppt/slides/_rels/slide6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2.png"/><Relationship Id="rId2" Type="http://schemas.openxmlformats.org/officeDocument/2006/relationships/image" Target="../media/image91.jpeg"/><Relationship Id="rId1" Type="http://schemas.openxmlformats.org/officeDocument/2006/relationships/image" Target="../media/image90.emf"/></Relationships>
</file>

<file path=ppt/slides/_rels/slide6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5.jpeg"/><Relationship Id="rId2" Type="http://schemas.openxmlformats.org/officeDocument/2006/relationships/image" Target="../media/image94.jpeg"/><Relationship Id="rId1" Type="http://schemas.openxmlformats.org/officeDocument/2006/relationships/image" Target="../media/image93.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6.em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1.png"/><Relationship Id="rId3" Type="http://schemas.openxmlformats.org/officeDocument/2006/relationships/image" Target="../media/image100.png"/><Relationship Id="rId2" Type="http://schemas.openxmlformats.org/officeDocument/2006/relationships/image" Target="../media/image99.GIF"/><Relationship Id="rId1" Type="http://schemas.openxmlformats.org/officeDocument/2006/relationships/image" Target="../media/image98.png"/></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3.jpeg"/><Relationship Id="rId1" Type="http://schemas.openxmlformats.org/officeDocument/2006/relationships/image" Target="../media/image102.png"/></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5.png"/><Relationship Id="rId1" Type="http://schemas.openxmlformats.org/officeDocument/2006/relationships/image" Target="../media/image10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7.png"/><Relationship Id="rId1" Type="http://schemas.openxmlformats.org/officeDocument/2006/relationships/image" Target="../media/image106.png"/></Relationships>
</file>

<file path=ppt/slides/_rels/slide7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0.jpeg"/><Relationship Id="rId2" Type="http://schemas.openxmlformats.org/officeDocument/2006/relationships/image" Target="../media/image109.png"/><Relationship Id="rId1" Type="http://schemas.openxmlformats.org/officeDocument/2006/relationships/image" Target="../media/image108.jpeg"/></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2.png"/><Relationship Id="rId1" Type="http://schemas.openxmlformats.org/officeDocument/2006/relationships/image" Target="../media/image111.jpeg"/></Relationships>
</file>

<file path=ppt/slides/_rels/slide7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image" Target="../media/image113.jpeg"/></Relationships>
</file>

<file path=ppt/slides/_rels/slide7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image" Target="../media/image116.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9.png"/></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1.png"/><Relationship Id="rId1" Type="http://schemas.openxmlformats.org/officeDocument/2006/relationships/image" Target="../media/image120.png"/></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4398978" cy="8099425"/>
          </a:xfrm>
          <a:prstGeom prst="rect">
            <a:avLst/>
          </a:prstGeom>
        </p:spPr>
      </p:pic>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8686" y="6497984"/>
            <a:ext cx="2387004" cy="792088"/>
          </a:xfrm>
          <a:prstGeom prst="rect">
            <a:avLst/>
          </a:prstGeom>
        </p:spPr>
      </p:pic>
      <p:sp>
        <p:nvSpPr>
          <p:cNvPr id="12" name="Text Box 15"/>
          <p:cNvSpPr txBox="1">
            <a:spLocks noChangeArrowheads="1"/>
          </p:cNvSpPr>
          <p:nvPr/>
        </p:nvSpPr>
        <p:spPr bwMode="auto">
          <a:xfrm>
            <a:off x="1007418" y="2393528"/>
            <a:ext cx="428835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dirty="0" smtClean="0">
                <a:solidFill>
                  <a:schemeClr val="bg1"/>
                </a:solidFill>
                <a:latin typeface="微软雅黑 Light" panose="020B0502040204020203" pitchFamily="34" charset="-122"/>
                <a:ea typeface="微软雅黑 Light" panose="020B0502040204020203" pitchFamily="34" charset="-122"/>
              </a:rPr>
              <a:t>红外光学镜头基础知识</a:t>
            </a:r>
            <a:endParaRPr lang="zh-CN" altLang="en-US" sz="3200" dirty="0">
              <a:solidFill>
                <a:schemeClr val="bg1"/>
              </a:solidFill>
              <a:latin typeface="微软雅黑 Light" panose="020B0502040204020203" pitchFamily="34" charset="-122"/>
              <a:ea typeface="微软雅黑 Light" panose="020B0502040204020203"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ntr" presetSubtype="0" fill="hold" grpId="0" nodeType="afterEffect">
                                  <p:stCondLst>
                                    <p:cond delay="0"/>
                                  </p:stCondLst>
                                  <p:iterate type="lt">
                                    <p:tmPct val="50000"/>
                                  </p:iterate>
                                  <p:childTnLst>
                                    <p:set>
                                      <p:cBhvr>
                                        <p:cTn id="6" dur="1" fill="hold">
                                          <p:stCondLst>
                                            <p:cond delay="0"/>
                                          </p:stCondLst>
                                        </p:cTn>
                                        <p:tgtEl>
                                          <p:spTgt spid="12"/>
                                        </p:tgtEl>
                                        <p:attrNameLst>
                                          <p:attrName>style.visibility</p:attrName>
                                        </p:attrNameLst>
                                      </p:cBhvr>
                                      <p:to>
                                        <p:strVal val="visible"/>
                                      </p:to>
                                    </p:set>
                                    <p:anim calcmode="discrete" valueType="clr">
                                      <p:cBhvr override="childStyle">
                                        <p:cTn id="7" dur="80"/>
                                        <p:tgtEl>
                                          <p:spTgt spid="12"/>
                                        </p:tgtEl>
                                        <p:attrNameLst>
                                          <p:attrName>style.color</p:attrName>
                                        </p:attrNameLst>
                                      </p:cBhvr>
                                      <p:tavLst>
                                        <p:tav tm="50000">
                                          <p:val>
                                            <p:clrVal>
                                              <a:schemeClr val="hlink"/>
                                            </p:clrVal>
                                          </p:val>
                                        </p:tav>
                                        <p:tav tm="0">
                                          <p:val>
                                            <p:clrVal>
                                              <a:schemeClr val="bg1"/>
                                            </p:clrVal>
                                          </p:val>
                                        </p:tav>
                                      </p:tavLst>
                                    </p:anim>
                                    <p:anim calcmode="discrete" valueType="clr">
                                      <p:cBhvr>
                                        <p:cTn id="8" dur="80"/>
                                        <p:tgtEl>
                                          <p:spTgt spid="12"/>
                                        </p:tgtEl>
                                        <p:attrNameLst>
                                          <p:attrName>fillcolor</p:attrName>
                                        </p:attrNameLst>
                                      </p:cBhvr>
                                      <p:tavLst>
                                        <p:tav tm="0">
                                          <p:val>
                                            <p:clrVal>
                                              <a:schemeClr val="accent2"/>
                                            </p:clrVal>
                                          </p:val>
                                        </p:tav>
                                        <p:tav tm="50000">
                                          <p:val>
                                            <p:clrVal>
                                              <a:schemeClr val="hlink"/>
                                            </p:clrVal>
                                          </p:val>
                                        </p:tav>
                                      </p:tavLst>
                                    </p:anim>
                                    <p:set>
                                      <p:cBhvr>
                                        <p:cTn id="9" dur="80"/>
                                        <p:tgtEl>
                                          <p:spTgt spid="12"/>
                                        </p:tgtEl>
                                        <p:attrNameLst>
                                          <p:attrName>fill.type</p:attrName>
                                        </p:attrNameLst>
                                      </p:cBhvr>
                                      <p:to>
                                        <p:strVal val="solid"/>
                                      </p:to>
                                    </p:set>
                                  </p:childTnLst>
                                </p:cTn>
                              </p:par>
                            </p:childTnLst>
                          </p:cTn>
                        </p:par>
                        <p:par>
                          <p:cTn id="10" fill="hold">
                            <p:stCondLst>
                              <p:cond delay="439"/>
                            </p:stCondLst>
                            <p:childTnLst>
                              <p:par>
                                <p:cTn id="11" presetID="10"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副标题 33"/>
          <p:cNvSpPr>
            <a:spLocks noGrp="1"/>
          </p:cNvSpPr>
          <p:nvPr>
            <p:ph type="subTitle" idx="1"/>
          </p:nvPr>
        </p:nvSpPr>
        <p:spPr>
          <a:xfrm>
            <a:off x="1151434" y="2522914"/>
            <a:ext cx="6984776" cy="2894950"/>
          </a:xfrm>
        </p:spPr>
        <p:txBody>
          <a:bodyPr/>
          <a:lstStyle/>
          <a:p>
            <a:pPr indent="360680">
              <a:lnSpc>
                <a:spcPct val="150000"/>
              </a:lnSpc>
              <a:buClr>
                <a:schemeClr val="tx2"/>
              </a:buClr>
              <a:buSzPct val="100000"/>
            </a:pPr>
            <a:r>
              <a:rPr lang="zh-CN" altLang="en-US" sz="2800" dirty="0">
                <a:latin typeface="+mn-ea"/>
              </a:rPr>
              <a:t>一、镜头设计前要了解的知识点</a:t>
            </a:r>
            <a:endParaRPr lang="en-US" altLang="zh-CN" sz="2800" dirty="0">
              <a:latin typeface="+mn-ea"/>
            </a:endParaRPr>
          </a:p>
          <a:p>
            <a:pPr indent="360680">
              <a:lnSpc>
                <a:spcPct val="150000"/>
              </a:lnSpc>
              <a:buClr>
                <a:schemeClr val="tx2"/>
              </a:buClr>
              <a:buSzPct val="100000"/>
            </a:pPr>
            <a:r>
              <a:rPr lang="zh-CN" altLang="en-US" sz="2800" dirty="0" smtClean="0">
                <a:latin typeface="+mn-ea"/>
              </a:rPr>
              <a:t>二、红外</a:t>
            </a:r>
            <a:r>
              <a:rPr lang="zh-CN" altLang="en-US" sz="2800" dirty="0">
                <a:latin typeface="+mn-ea"/>
              </a:rPr>
              <a:t>镜头相关</a:t>
            </a:r>
            <a:r>
              <a:rPr lang="zh-CN" altLang="en-US" sz="2800" dirty="0" smtClean="0">
                <a:latin typeface="+mn-ea"/>
              </a:rPr>
              <a:t>概念</a:t>
            </a:r>
            <a:endParaRPr lang="en-US" altLang="zh-CN" sz="2800" dirty="0" smtClean="0">
              <a:latin typeface="+mn-ea"/>
            </a:endParaRPr>
          </a:p>
          <a:p>
            <a:pPr indent="360680">
              <a:lnSpc>
                <a:spcPct val="150000"/>
              </a:lnSpc>
              <a:buClr>
                <a:schemeClr val="tx2"/>
              </a:buClr>
              <a:buSzPct val="100000"/>
            </a:pPr>
            <a:r>
              <a:rPr lang="zh-CN" altLang="en-US" sz="2800" dirty="0" smtClean="0">
                <a:latin typeface="+mn-ea"/>
              </a:rPr>
              <a:t>三、红外</a:t>
            </a:r>
            <a:r>
              <a:rPr lang="zh-CN" altLang="en-US" sz="2800" dirty="0">
                <a:latin typeface="+mn-ea"/>
              </a:rPr>
              <a:t>镜头</a:t>
            </a:r>
            <a:r>
              <a:rPr lang="zh-CN" altLang="en-US" sz="2800" dirty="0" smtClean="0">
                <a:latin typeface="+mn-ea"/>
              </a:rPr>
              <a:t>主要</a:t>
            </a:r>
            <a:r>
              <a:rPr lang="zh-CN" altLang="en-US" sz="2800" dirty="0">
                <a:latin typeface="+mn-ea"/>
              </a:rPr>
              <a:t>评价指标</a:t>
            </a:r>
            <a:endParaRPr lang="en-US" altLang="zh-CN" sz="2800" dirty="0">
              <a:latin typeface="+mn-ea"/>
            </a:endParaRPr>
          </a:p>
          <a:p>
            <a:pPr indent="360680">
              <a:lnSpc>
                <a:spcPct val="150000"/>
              </a:lnSpc>
              <a:buClr>
                <a:schemeClr val="tx2"/>
              </a:buClr>
              <a:buSzPct val="100000"/>
            </a:pPr>
            <a:r>
              <a:rPr lang="zh-CN" altLang="en-US" sz="2800" dirty="0">
                <a:latin typeface="+mn-ea"/>
              </a:rPr>
              <a:t>四</a:t>
            </a:r>
            <a:r>
              <a:rPr lang="zh-CN" altLang="en-US" sz="2800" dirty="0" smtClean="0">
                <a:latin typeface="+mn-ea"/>
              </a:rPr>
              <a:t>、热</a:t>
            </a:r>
            <a:r>
              <a:rPr lang="zh-CN" altLang="en-US" sz="2800" dirty="0">
                <a:latin typeface="+mn-ea"/>
              </a:rPr>
              <a:t>成像需要了解的概念</a:t>
            </a:r>
            <a:endParaRPr lang="en-US" altLang="zh-CN" sz="2800" dirty="0">
              <a:latin typeface="+mn-ea"/>
            </a:endParaRPr>
          </a:p>
          <a:p>
            <a:pPr indent="360680">
              <a:lnSpc>
                <a:spcPct val="150000"/>
              </a:lnSpc>
              <a:buClr>
                <a:schemeClr val="tx2"/>
              </a:buClr>
              <a:buSzPct val="100000"/>
            </a:pPr>
            <a:r>
              <a:rPr lang="zh-CN" altLang="en-US" sz="2800" dirty="0" smtClean="0">
                <a:latin typeface="+mn-ea"/>
              </a:rPr>
              <a:t>五、常见</a:t>
            </a:r>
            <a:r>
              <a:rPr lang="zh-CN" altLang="en-US" sz="2800" dirty="0">
                <a:latin typeface="+mn-ea"/>
              </a:rPr>
              <a:t>的一些光学系统</a:t>
            </a:r>
            <a:endParaRPr lang="zh-CN" altLang="en-US" sz="2800" dirty="0">
              <a:latin typeface="+mn-ea"/>
            </a:endParaRPr>
          </a:p>
        </p:txBody>
      </p:sp>
      <p:cxnSp>
        <p:nvCxnSpPr>
          <p:cNvPr id="5" name="直接连接符 4"/>
          <p:cNvCxnSpPr>
            <a:cxnSpLocks noChangeShapeType="1"/>
          </p:cNvCxnSpPr>
          <p:nvPr/>
        </p:nvCxnSpPr>
        <p:spPr bwMode="auto">
          <a:xfrm>
            <a:off x="1330777" y="2465535"/>
            <a:ext cx="0" cy="4032449"/>
          </a:xfrm>
          <a:prstGeom prst="line">
            <a:avLst/>
          </a:prstGeom>
          <a:noFill/>
          <a:ln w="3175">
            <a:solidFill>
              <a:schemeClr val="tx1">
                <a:lumMod val="50000"/>
                <a:lumOff val="50000"/>
              </a:schemeClr>
            </a:solidFill>
            <a:round/>
          </a:ln>
        </p:spPr>
      </p:cxnSp>
      <p:sp>
        <p:nvSpPr>
          <p:cNvPr id="6" name="椭圆 5"/>
          <p:cNvSpPr>
            <a:spLocks noChangeArrowheads="1"/>
          </p:cNvSpPr>
          <p:nvPr/>
        </p:nvSpPr>
        <p:spPr bwMode="auto">
          <a:xfrm>
            <a:off x="1223442" y="2825314"/>
            <a:ext cx="216024" cy="216286"/>
          </a:xfrm>
          <a:prstGeom prst="ellipse">
            <a:avLst/>
          </a:prstGeom>
          <a:solidFill>
            <a:schemeClr val="tx2"/>
          </a:solidFill>
          <a:ln w="9525">
            <a:noFill/>
            <a:round/>
          </a:ln>
        </p:spPr>
        <p:txBody>
          <a:bodyPr anchor="ctr"/>
          <a:lstStyle/>
          <a:p>
            <a:pPr algn="ctr" eaLnBrk="1" hangingPunct="1">
              <a:buFont typeface="Arial" panose="020B0604020202020204" pitchFamily="34" charset="0"/>
              <a:buNone/>
            </a:pPr>
            <a:endParaRPr lang="zh-CN" altLang="en-US">
              <a:solidFill>
                <a:srgbClr val="FFFFFF"/>
              </a:solidFill>
            </a:endParaRPr>
          </a:p>
        </p:txBody>
      </p:sp>
      <p:sp>
        <p:nvSpPr>
          <p:cNvPr id="7" name="椭圆 6"/>
          <p:cNvSpPr>
            <a:spLocks noChangeArrowheads="1"/>
          </p:cNvSpPr>
          <p:nvPr/>
        </p:nvSpPr>
        <p:spPr bwMode="auto">
          <a:xfrm>
            <a:off x="1223442" y="3545394"/>
            <a:ext cx="216024" cy="216286"/>
          </a:xfrm>
          <a:prstGeom prst="ellipse">
            <a:avLst/>
          </a:prstGeom>
          <a:solidFill>
            <a:schemeClr val="tx2"/>
          </a:solidFill>
          <a:ln w="9525">
            <a:noFill/>
            <a:round/>
          </a:ln>
        </p:spPr>
        <p:txBody>
          <a:bodyPr anchor="ctr"/>
          <a:lstStyle/>
          <a:p>
            <a:pPr algn="ctr"/>
            <a:endParaRPr lang="zh-CN" altLang="en-US">
              <a:solidFill>
                <a:srgbClr val="FFFFFF"/>
              </a:solidFill>
            </a:endParaRPr>
          </a:p>
        </p:txBody>
      </p:sp>
      <p:sp>
        <p:nvSpPr>
          <p:cNvPr id="8" name="椭圆 7"/>
          <p:cNvSpPr>
            <a:spLocks noChangeArrowheads="1"/>
          </p:cNvSpPr>
          <p:nvPr/>
        </p:nvSpPr>
        <p:spPr bwMode="auto">
          <a:xfrm>
            <a:off x="1223442" y="4265474"/>
            <a:ext cx="216024" cy="216286"/>
          </a:xfrm>
          <a:prstGeom prst="ellipse">
            <a:avLst/>
          </a:prstGeom>
          <a:solidFill>
            <a:schemeClr val="tx2"/>
          </a:solidFill>
          <a:ln w="9525">
            <a:noFill/>
            <a:round/>
          </a:ln>
        </p:spPr>
        <p:txBody>
          <a:bodyPr anchor="ctr"/>
          <a:lstStyle/>
          <a:p>
            <a:pPr algn="ctr">
              <a:buFont typeface="Arial" panose="020B0604020202020204" pitchFamily="34" charset="0"/>
              <a:buNone/>
            </a:pPr>
            <a:endParaRPr lang="zh-CN" altLang="en-US">
              <a:solidFill>
                <a:srgbClr val="FFFFFF"/>
              </a:solidFill>
            </a:endParaRPr>
          </a:p>
        </p:txBody>
      </p:sp>
      <p:sp>
        <p:nvSpPr>
          <p:cNvPr id="9" name="椭圆 8"/>
          <p:cNvSpPr>
            <a:spLocks noChangeArrowheads="1"/>
          </p:cNvSpPr>
          <p:nvPr/>
        </p:nvSpPr>
        <p:spPr bwMode="auto">
          <a:xfrm>
            <a:off x="1223442" y="4985554"/>
            <a:ext cx="216024" cy="216286"/>
          </a:xfrm>
          <a:prstGeom prst="ellipse">
            <a:avLst/>
          </a:prstGeom>
          <a:solidFill>
            <a:schemeClr val="tx2"/>
          </a:solidFill>
          <a:ln w="9525">
            <a:noFill/>
            <a:round/>
          </a:ln>
        </p:spPr>
        <p:txBody>
          <a:bodyPr anchor="ctr"/>
          <a:lstStyle/>
          <a:p>
            <a:pPr algn="ctr"/>
            <a:endParaRPr lang="zh-CN" altLang="en-US">
              <a:solidFill>
                <a:srgbClr val="FFFFFF"/>
              </a:solidFill>
            </a:endParaRPr>
          </a:p>
        </p:txBody>
      </p:sp>
      <p:sp>
        <p:nvSpPr>
          <p:cNvPr id="10" name="文本框 20"/>
          <p:cNvSpPr txBox="1">
            <a:spLocks noChangeArrowheads="1"/>
          </p:cNvSpPr>
          <p:nvPr/>
        </p:nvSpPr>
        <p:spPr bwMode="auto">
          <a:xfrm>
            <a:off x="935410" y="1097384"/>
            <a:ext cx="4121150" cy="1200150"/>
          </a:xfrm>
          <a:prstGeom prst="rect">
            <a:avLst/>
          </a:prstGeom>
          <a:noFill/>
          <a:ln w="9525">
            <a:noFill/>
            <a:miter lim="800000"/>
          </a:ln>
        </p:spPr>
        <p:txBody>
          <a:bodyPr>
            <a:spAutoFit/>
          </a:bodyPr>
          <a:lstStyle/>
          <a:p>
            <a:pPr eaLnBrk="1" hangingPunct="1">
              <a:buFont typeface="Arial" panose="020B0604020202020204" pitchFamily="34" charset="0"/>
              <a:buNone/>
            </a:pPr>
            <a:r>
              <a:rPr lang="en-US" altLang="zh-CN" sz="7200" dirty="0">
                <a:solidFill>
                  <a:schemeClr val="tx2"/>
                </a:solidFill>
                <a:latin typeface="Impact" panose="020B0806030902050204" pitchFamily="34" charset="0"/>
                <a:ea typeface="张海山锐谐体" pitchFamily="2" charset="-122"/>
              </a:rPr>
              <a:t>CONTENTS</a:t>
            </a:r>
            <a:endParaRPr lang="zh-CN" altLang="en-US" sz="7200" dirty="0">
              <a:solidFill>
                <a:schemeClr val="tx2"/>
              </a:solidFill>
              <a:latin typeface="Impact" panose="020B0806030902050204" pitchFamily="34" charset="0"/>
              <a:ea typeface="张海山锐谐体" pitchFamily="2" charset="-122"/>
            </a:endParaRPr>
          </a:p>
        </p:txBody>
      </p:sp>
      <p:sp>
        <p:nvSpPr>
          <p:cNvPr id="11" name="椭圆 10"/>
          <p:cNvSpPr>
            <a:spLocks noChangeArrowheads="1"/>
          </p:cNvSpPr>
          <p:nvPr/>
        </p:nvSpPr>
        <p:spPr bwMode="auto">
          <a:xfrm>
            <a:off x="1220719" y="5742031"/>
            <a:ext cx="216024" cy="216286"/>
          </a:xfrm>
          <a:prstGeom prst="ellipse">
            <a:avLst/>
          </a:prstGeom>
          <a:solidFill>
            <a:schemeClr val="tx2"/>
          </a:solidFill>
          <a:ln w="9525">
            <a:noFill/>
            <a:round/>
          </a:ln>
        </p:spPr>
        <p:txBody>
          <a:bodyPr anchor="ctr"/>
          <a:lstStyle/>
          <a:p>
            <a:pPr algn="ctr"/>
            <a:endParaRPr lang="zh-CN" altLang="en-US">
              <a:solidFill>
                <a:srgbClr val="FFFFFF"/>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a:t>
            </a:r>
            <a:r>
              <a:rPr lang="zh-CN" altLang="en-US" dirty="0" smtClean="0"/>
              <a:t>、镜头设计前需要了解的知识点</a:t>
            </a:r>
            <a:endParaRPr lang="zh-CN" altLang="en-US" dirty="0"/>
          </a:p>
        </p:txBody>
      </p:sp>
      <p:sp>
        <p:nvSpPr>
          <p:cNvPr id="4" name="TextBox 3"/>
          <p:cNvSpPr txBox="1"/>
          <p:nvPr/>
        </p:nvSpPr>
        <p:spPr>
          <a:xfrm>
            <a:off x="1151434" y="881360"/>
            <a:ext cx="5455340" cy="5545749"/>
          </a:xfrm>
          <a:prstGeom prst="rect">
            <a:avLst/>
          </a:prstGeom>
          <a:noFill/>
        </p:spPr>
        <p:txBody>
          <a:bodyPr wrap="none" rtlCol="0">
            <a:spAutoFit/>
          </a:bodyPr>
          <a:lstStyle/>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几何光学基本概念</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几何光学基本定律</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成像的基本概念</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共轴光学系统、理想光学系统</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焦点与焦平面、主点与主平面、节点</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电磁波、波长</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大气窗口</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光阑</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像差概述</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a:latin typeface="仿宋" panose="02010609060101010101" pitchFamily="49" charset="-122"/>
                <a:ea typeface="仿宋" panose="02010609060101010101" pitchFamily="49" charset="-122"/>
              </a:rPr>
              <a:t>衍射、</a:t>
            </a:r>
            <a:r>
              <a:rPr lang="zh-CN" altLang="en-US" sz="2400" dirty="0" smtClean="0">
                <a:latin typeface="仿宋" panose="02010609060101010101" pitchFamily="49" charset="-122"/>
                <a:ea typeface="仿宋" panose="02010609060101010101" pitchFamily="49" charset="-122"/>
              </a:rPr>
              <a:t>艾里斑、瑞里判据</a:t>
            </a:r>
            <a:endParaRPr lang="en-US" altLang="zh-CN" sz="2400" dirty="0">
              <a:latin typeface="仿宋" panose="02010609060101010101" pitchFamily="49" charset="-122"/>
              <a:ea typeface="仿宋"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几何光学</a:t>
            </a:r>
            <a:r>
              <a:rPr lang="zh-CN" altLang="en-US" dirty="0"/>
              <a:t>基本概念</a:t>
            </a:r>
            <a:endParaRPr lang="zh-CN" altLang="en-US" dirty="0"/>
          </a:p>
        </p:txBody>
      </p:sp>
      <p:sp>
        <p:nvSpPr>
          <p:cNvPr id="3" name="内容占位符 2"/>
          <p:cNvSpPr>
            <a:spLocks noGrp="1"/>
          </p:cNvSpPr>
          <p:nvPr>
            <p:ph idx="1"/>
          </p:nvPr>
        </p:nvSpPr>
        <p:spPr>
          <a:xfrm>
            <a:off x="647378" y="881360"/>
            <a:ext cx="13105456" cy="3312368"/>
          </a:xfrm>
        </p:spPr>
        <p:txBody>
          <a:bodyPr/>
          <a:lstStyle/>
          <a:p>
            <a:pPr marL="457200" indent="-457200">
              <a:lnSpc>
                <a:spcPct val="150000"/>
              </a:lnSpc>
              <a:buFont typeface="Wingdings" panose="05000000000000000000" pitchFamily="2" charset="2"/>
              <a:buChar char="p"/>
            </a:pPr>
            <a:r>
              <a:rPr lang="zh-CN" altLang="en-US" sz="3200" dirty="0" smtClean="0">
                <a:solidFill>
                  <a:schemeClr val="tx1"/>
                </a:solidFill>
                <a:latin typeface="仿宋" panose="02010609060101010101" pitchFamily="49" charset="-122"/>
                <a:ea typeface="仿宋" panose="02010609060101010101" pitchFamily="49" charset="-122"/>
              </a:rPr>
              <a:t>人们在制造光学仪器和解释一些光学现象过程中，总结出适用于光学工程技术应用的几何光学理论。</a:t>
            </a:r>
            <a:endParaRPr lang="en-US" altLang="zh-CN" sz="3200" dirty="0" smtClean="0">
              <a:solidFill>
                <a:schemeClr val="tx1"/>
              </a:solidFill>
              <a:latin typeface="仿宋" panose="02010609060101010101" pitchFamily="49" charset="-122"/>
              <a:ea typeface="仿宋" panose="02010609060101010101" pitchFamily="49" charset="-122"/>
            </a:endParaRPr>
          </a:p>
          <a:p>
            <a:pPr marL="457200" indent="-457200">
              <a:lnSpc>
                <a:spcPct val="150000"/>
              </a:lnSpc>
              <a:buFont typeface="Wingdings" panose="05000000000000000000" pitchFamily="2" charset="2"/>
              <a:buChar char="p"/>
            </a:pPr>
            <a:r>
              <a:rPr lang="zh-CN" altLang="en-US" sz="3200" dirty="0" smtClean="0">
                <a:solidFill>
                  <a:schemeClr val="tx1"/>
                </a:solidFill>
                <a:latin typeface="仿宋" panose="02010609060101010101" pitchFamily="49" charset="-122"/>
                <a:ea typeface="仿宋" panose="02010609060101010101" pitchFamily="49" charset="-122"/>
              </a:rPr>
              <a:t>几何光学把光在均匀介质中的传播用几何上的直线来表示，并把这种直线称为</a:t>
            </a:r>
            <a:r>
              <a:rPr lang="zh-CN" altLang="en-US" sz="3200" b="1" dirty="0" smtClean="0">
                <a:solidFill>
                  <a:schemeClr val="accent5"/>
                </a:solidFill>
                <a:latin typeface="仿宋" panose="02010609060101010101" pitchFamily="49" charset="-122"/>
                <a:ea typeface="仿宋" panose="02010609060101010101" pitchFamily="49" charset="-122"/>
              </a:rPr>
              <a:t>“光线”</a:t>
            </a:r>
            <a:r>
              <a:rPr lang="zh-CN" altLang="en-US" sz="3200" dirty="0" smtClean="0">
                <a:solidFill>
                  <a:schemeClr val="tx1"/>
                </a:solidFill>
                <a:latin typeface="仿宋" panose="02010609060101010101" pitchFamily="49" charset="-122"/>
                <a:ea typeface="仿宋" panose="02010609060101010101" pitchFamily="49" charset="-122"/>
              </a:rPr>
              <a:t>。</a:t>
            </a:r>
            <a:endParaRPr lang="en-US" altLang="zh-CN" sz="3200" dirty="0" smtClean="0">
              <a:solidFill>
                <a:schemeClr val="tx1"/>
              </a:solidFill>
              <a:latin typeface="仿宋" panose="02010609060101010101" pitchFamily="49" charset="-122"/>
              <a:ea typeface="仿宋" panose="02010609060101010101" pitchFamily="49" charset="-122"/>
            </a:endParaRPr>
          </a:p>
          <a:p>
            <a:pPr marL="457200" indent="-457200">
              <a:lnSpc>
                <a:spcPct val="150000"/>
              </a:lnSpc>
              <a:buFont typeface="Wingdings" panose="05000000000000000000" pitchFamily="2" charset="2"/>
              <a:buChar char="p"/>
            </a:pPr>
            <a:r>
              <a:rPr lang="zh-CN" altLang="en-US" sz="3200" dirty="0" smtClean="0">
                <a:solidFill>
                  <a:schemeClr val="tx1"/>
                </a:solidFill>
                <a:latin typeface="仿宋" panose="02010609060101010101" pitchFamily="49" charset="-122"/>
                <a:ea typeface="仿宋" panose="02010609060101010101" pitchFamily="49" charset="-122"/>
              </a:rPr>
              <a:t>几何光学就是以光线来研究光在介质中传播的理论。</a:t>
            </a:r>
            <a:endParaRPr lang="en-US" altLang="zh-CN" sz="3200" dirty="0" smtClean="0">
              <a:solidFill>
                <a:schemeClr val="tx1"/>
              </a:solidFill>
              <a:latin typeface="仿宋" panose="02010609060101010101" pitchFamily="49" charset="-122"/>
              <a:ea typeface="仿宋" panose="02010609060101010101" pitchFamily="49" charset="-122"/>
            </a:endParaRPr>
          </a:p>
          <a:p>
            <a:pPr>
              <a:lnSpc>
                <a:spcPct val="150000"/>
              </a:lnSpc>
            </a:pPr>
            <a:endParaRPr lang="en-US" altLang="zh-CN" sz="2000" dirty="0" smtClean="0">
              <a:solidFill>
                <a:schemeClr val="tx1"/>
              </a:solidFill>
              <a:latin typeface="微软雅黑" panose="020B0503020204020204" pitchFamily="34" charset="-122"/>
              <a:ea typeface="微软雅黑" panose="020B0503020204020204" pitchFamily="34" charset="-122"/>
            </a:endParaRPr>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几何光学基本概念</a:t>
            </a:r>
            <a:endParaRPr lang="zh-CN" altLang="en-US" dirty="0"/>
          </a:p>
        </p:txBody>
      </p:sp>
      <p:sp>
        <p:nvSpPr>
          <p:cNvPr id="3" name="内容占位符 2"/>
          <p:cNvSpPr>
            <a:spLocks noGrp="1"/>
          </p:cNvSpPr>
          <p:nvPr>
            <p:ph idx="1"/>
          </p:nvPr>
        </p:nvSpPr>
        <p:spPr>
          <a:xfrm>
            <a:off x="862013" y="953368"/>
            <a:ext cx="12818190" cy="2736304"/>
          </a:xfrm>
        </p:spPr>
        <p:txBody>
          <a:bodyPr/>
          <a:lstStyle/>
          <a:p>
            <a:pPr marL="0" indent="0">
              <a:lnSpc>
                <a:spcPct val="150000"/>
              </a:lnSpc>
              <a:spcBef>
                <a:spcPts val="0"/>
              </a:spcBef>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光波：</a:t>
            </a:r>
            <a:r>
              <a:rPr lang="zh-CN" altLang="en-US" sz="2400" dirty="0" smtClean="0">
                <a:solidFill>
                  <a:schemeClr val="tx1"/>
                </a:solidFill>
                <a:latin typeface="仿宋" panose="02010609060101010101" pitchFamily="49" charset="-122"/>
                <a:ea typeface="仿宋" panose="02010609060101010101" pitchFamily="49" charset="-122"/>
              </a:rPr>
              <a:t>光是一种电磁波。光波向周围空间传播和水面因扰动产生的波浪向周围传播相似，都是</a:t>
            </a:r>
            <a:r>
              <a:rPr lang="zh-CN" altLang="en-US" sz="2400" b="1" dirty="0" smtClean="0">
                <a:solidFill>
                  <a:schemeClr val="accent5"/>
                </a:solidFill>
                <a:latin typeface="仿宋" panose="02010609060101010101" pitchFamily="49" charset="-122"/>
                <a:ea typeface="仿宋" panose="02010609060101010101" pitchFamily="49" charset="-122"/>
              </a:rPr>
              <a:t>横波</a:t>
            </a:r>
            <a:r>
              <a:rPr lang="zh-CN" altLang="en-US" sz="2400" dirty="0" smtClean="0">
                <a:solidFill>
                  <a:schemeClr val="tx1"/>
                </a:solidFill>
                <a:latin typeface="仿宋" panose="02010609060101010101" pitchFamily="49" charset="-122"/>
                <a:ea typeface="仿宋" panose="02010609060101010101" pitchFamily="49" charset="-122"/>
              </a:rPr>
              <a:t>，其振动方向和光的传播方向垂直。</a:t>
            </a:r>
            <a:endParaRPr lang="en-US" altLang="zh-CN" sz="2400"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spcBef>
                <a:spcPts val="0"/>
              </a:spcBef>
              <a:buFont typeface="Wingdings" panose="05000000000000000000" pitchFamily="2" charset="2"/>
              <a:buChar char="p"/>
            </a:pPr>
            <a:r>
              <a:rPr lang="zh-CN" altLang="en-US" sz="2400" dirty="0" smtClean="0">
                <a:solidFill>
                  <a:schemeClr val="tx1"/>
                </a:solidFill>
                <a:latin typeface="仿宋" panose="02010609060101010101" pitchFamily="49" charset="-122"/>
                <a:ea typeface="仿宋" panose="02010609060101010101" pitchFamily="49" charset="-122"/>
              </a:rPr>
              <a:t>光波区别于无线电波在于波长的不同。波长在</a:t>
            </a:r>
            <a:r>
              <a:rPr lang="en-US" altLang="zh-CN" sz="2400" dirty="0" smtClean="0">
                <a:solidFill>
                  <a:schemeClr val="tx1"/>
                </a:solidFill>
                <a:latin typeface="仿宋" panose="02010609060101010101" pitchFamily="49" charset="-122"/>
                <a:ea typeface="仿宋" panose="02010609060101010101" pitchFamily="49" charset="-122"/>
              </a:rPr>
              <a:t>390~760nm</a:t>
            </a:r>
            <a:r>
              <a:rPr lang="zh-CN" altLang="en-US" sz="2400" dirty="0" smtClean="0">
                <a:solidFill>
                  <a:schemeClr val="tx1"/>
                </a:solidFill>
                <a:latin typeface="仿宋" panose="02010609060101010101" pitchFamily="49" charset="-122"/>
                <a:ea typeface="仿宋" panose="02010609060101010101" pitchFamily="49" charset="-122"/>
              </a:rPr>
              <a:t>范围的电磁波能被人眼所感受，称为</a:t>
            </a:r>
            <a:r>
              <a:rPr lang="zh-CN" altLang="en-US" sz="2400" b="1" dirty="0" smtClean="0">
                <a:solidFill>
                  <a:schemeClr val="accent5"/>
                </a:solidFill>
                <a:latin typeface="仿宋" panose="02010609060101010101" pitchFamily="49" charset="-122"/>
                <a:ea typeface="仿宋" panose="02010609060101010101" pitchFamily="49" charset="-122"/>
              </a:rPr>
              <a:t>可见光</a:t>
            </a:r>
            <a:r>
              <a:rPr lang="zh-CN" altLang="en-US" sz="2400" dirty="0" smtClean="0">
                <a:solidFill>
                  <a:schemeClr val="tx1"/>
                </a:solidFill>
                <a:latin typeface="仿宋" panose="02010609060101010101" pitchFamily="49" charset="-122"/>
                <a:ea typeface="仿宋" panose="02010609060101010101" pitchFamily="49" charset="-122"/>
              </a:rPr>
              <a:t>，超出这个范围的电磁波，人眼就感受不到了。</a:t>
            </a:r>
            <a:endParaRPr lang="zh-CN" altLang="en-US" sz="2400" dirty="0">
              <a:solidFill>
                <a:schemeClr val="tx1"/>
              </a:solidFill>
              <a:latin typeface="仿宋" panose="02010609060101010101" pitchFamily="49" charset="-122"/>
              <a:ea typeface="仿宋" panose="02010609060101010101" pitchFamily="49" charset="-122"/>
            </a:endParaRPr>
          </a:p>
        </p:txBody>
      </p:sp>
      <p:pic>
        <p:nvPicPr>
          <p:cNvPr id="15362" name="Picture 2" descr="C:\Users\07285yzl\Desktop\红外镜头设计简介\新建文件夹\8ad4b31c8701a18b405c70b992fbed0e2a38fee8.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91594" y="3689672"/>
            <a:ext cx="7245283" cy="360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几何光学基本概念</a:t>
            </a:r>
            <a:endParaRPr lang="zh-CN" altLang="en-US" dirty="0"/>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442796" y="1097384"/>
            <a:ext cx="4686300" cy="3990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575370" y="809352"/>
            <a:ext cx="8640960" cy="5940088"/>
          </a:xfrm>
          <a:prstGeom prst="rect">
            <a:avLst/>
          </a:prstGeom>
        </p:spPr>
        <p:txBody>
          <a:bodyPr wrap="square">
            <a:spAutoFit/>
          </a:bodyPr>
          <a:lstStyle/>
          <a:p>
            <a:pPr marL="342900" indent="-342900">
              <a:lnSpc>
                <a:spcPct val="150000"/>
              </a:lnSpc>
              <a:spcBef>
                <a:spcPts val="600"/>
              </a:spcBef>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光源：</a:t>
            </a:r>
            <a:r>
              <a:rPr lang="zh-CN" altLang="en-US" sz="2400" dirty="0" smtClean="0">
                <a:latin typeface="仿宋" panose="02010609060101010101" pitchFamily="49" charset="-122"/>
                <a:ea typeface="仿宋" panose="02010609060101010101" pitchFamily="49" charset="-122"/>
              </a:rPr>
              <a:t>在</a:t>
            </a:r>
            <a:r>
              <a:rPr lang="zh-CN" altLang="en-US" sz="2400" dirty="0">
                <a:latin typeface="仿宋" panose="02010609060101010101" pitchFamily="49" charset="-122"/>
                <a:ea typeface="仿宋" panose="02010609060101010101" pitchFamily="49" charset="-122"/>
              </a:rPr>
              <a:t>几何光学</a:t>
            </a:r>
            <a:r>
              <a:rPr lang="zh-CN" altLang="en-US" sz="2400" dirty="0" smtClean="0">
                <a:latin typeface="仿宋" panose="02010609060101010101" pitchFamily="49" charset="-122"/>
                <a:ea typeface="仿宋" panose="02010609060101010101" pitchFamily="49" charset="-122"/>
              </a:rPr>
              <a:t>中，把</a:t>
            </a:r>
            <a:r>
              <a:rPr lang="zh-CN" altLang="en-US" sz="2400" dirty="0">
                <a:latin typeface="仿宋" panose="02010609060101010101" pitchFamily="49" charset="-122"/>
                <a:ea typeface="仿宋" panose="02010609060101010101" pitchFamily="49" charset="-122"/>
              </a:rPr>
              <a:t>凡是发出光线的物体</a:t>
            </a:r>
            <a:r>
              <a:rPr lang="zh-CN" altLang="en-US" sz="2400" dirty="0" smtClean="0">
                <a:latin typeface="仿宋" panose="02010609060101010101" pitchFamily="49" charset="-122"/>
                <a:ea typeface="仿宋" panose="02010609060101010101" pitchFamily="49" charset="-122"/>
              </a:rPr>
              <a:t>，不论</a:t>
            </a:r>
            <a:r>
              <a:rPr lang="zh-CN" altLang="en-US" sz="2400" dirty="0">
                <a:latin typeface="仿宋" panose="02010609060101010101" pitchFamily="49" charset="-122"/>
                <a:ea typeface="仿宋" panose="02010609060101010101" pitchFamily="49" charset="-122"/>
              </a:rPr>
              <a:t>它本身发光体或是因为被照明而漫反射光的物体</a:t>
            </a:r>
            <a:r>
              <a:rPr lang="zh-CN" altLang="en-US" sz="2400" dirty="0" smtClean="0">
                <a:latin typeface="仿宋" panose="02010609060101010101" pitchFamily="49" charset="-122"/>
                <a:ea typeface="仿宋" panose="02010609060101010101" pitchFamily="49" charset="-122"/>
              </a:rPr>
              <a:t>，都</a:t>
            </a:r>
            <a:r>
              <a:rPr lang="zh-CN" altLang="en-US" sz="2400" dirty="0">
                <a:latin typeface="仿宋" panose="02010609060101010101" pitchFamily="49" charset="-122"/>
                <a:ea typeface="仿宋" panose="02010609060101010101" pitchFamily="49" charset="-122"/>
              </a:rPr>
              <a:t>称为光源</a:t>
            </a:r>
            <a:r>
              <a:rPr lang="zh-CN" altLang="en-US" sz="2400" dirty="0" smtClean="0">
                <a:latin typeface="仿宋" panose="02010609060101010101" pitchFamily="49" charset="-122"/>
                <a:ea typeface="仿宋" panose="02010609060101010101" pitchFamily="49" charset="-122"/>
              </a:rPr>
              <a:t>。如果</a:t>
            </a:r>
            <a:r>
              <a:rPr lang="zh-CN" altLang="en-US" sz="2400" dirty="0">
                <a:latin typeface="仿宋" panose="02010609060101010101" pitchFamily="49" charset="-122"/>
                <a:ea typeface="仿宋" panose="02010609060101010101" pitchFamily="49" charset="-122"/>
              </a:rPr>
              <a:t>某光源可看成几何学上的点</a:t>
            </a:r>
            <a:r>
              <a:rPr lang="zh-CN" altLang="en-US" sz="2400" dirty="0" smtClean="0">
                <a:latin typeface="仿宋" panose="02010609060101010101" pitchFamily="49" charset="-122"/>
                <a:ea typeface="仿宋" panose="02010609060101010101" pitchFamily="49" charset="-122"/>
              </a:rPr>
              <a:t>，它</a:t>
            </a:r>
            <a:r>
              <a:rPr lang="zh-CN" altLang="en-US" sz="2400" dirty="0">
                <a:latin typeface="仿宋" panose="02010609060101010101" pitchFamily="49" charset="-122"/>
                <a:ea typeface="仿宋" panose="02010609060101010101" pitchFamily="49" charset="-122"/>
              </a:rPr>
              <a:t>只占有空间位置而无体积和线度</a:t>
            </a:r>
            <a:r>
              <a:rPr lang="zh-CN" altLang="en-US" sz="2400" dirty="0" smtClean="0">
                <a:latin typeface="仿宋" panose="02010609060101010101" pitchFamily="49" charset="-122"/>
                <a:ea typeface="仿宋" panose="02010609060101010101" pitchFamily="49" charset="-122"/>
              </a:rPr>
              <a:t>，则</a:t>
            </a:r>
            <a:r>
              <a:rPr lang="zh-CN" altLang="en-US" sz="2400" dirty="0">
                <a:latin typeface="仿宋" panose="02010609060101010101" pitchFamily="49" charset="-122"/>
                <a:ea typeface="仿宋" panose="02010609060101010101" pitchFamily="49" charset="-122"/>
              </a:rPr>
              <a:t>称之为</a:t>
            </a:r>
            <a:r>
              <a:rPr lang="zh-CN" altLang="en-US" sz="2400" b="1" dirty="0">
                <a:solidFill>
                  <a:schemeClr val="accent5"/>
                </a:solidFill>
                <a:latin typeface="仿宋" panose="02010609060101010101" pitchFamily="49" charset="-122"/>
                <a:ea typeface="仿宋" panose="02010609060101010101" pitchFamily="49" charset="-122"/>
              </a:rPr>
              <a:t>发光点或</a:t>
            </a:r>
            <a:r>
              <a:rPr lang="zh-CN" altLang="en-US" sz="2400" b="1" dirty="0" smtClean="0">
                <a:solidFill>
                  <a:schemeClr val="accent5"/>
                </a:solidFill>
                <a:latin typeface="仿宋" panose="02010609060101010101" pitchFamily="49" charset="-122"/>
                <a:ea typeface="仿宋" panose="02010609060101010101" pitchFamily="49" charset="-122"/>
              </a:rPr>
              <a:t>点光源</a:t>
            </a:r>
            <a:r>
              <a:rPr lang="zh-CN" altLang="en-US" sz="2400" dirty="0" smtClean="0">
                <a:latin typeface="仿宋" panose="02010609060101010101" pitchFamily="49" charset="-122"/>
                <a:ea typeface="仿宋" panose="02010609060101010101" pitchFamily="49" charset="-122"/>
              </a:rPr>
              <a:t>。</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spcBef>
                <a:spcPts val="600"/>
              </a:spcBef>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波面与光线：</a:t>
            </a:r>
            <a:r>
              <a:rPr lang="zh-CN" altLang="en-US" sz="2400" dirty="0" smtClean="0">
                <a:latin typeface="仿宋" panose="02010609060101010101" pitchFamily="49" charset="-122"/>
                <a:ea typeface="仿宋" panose="02010609060101010101" pitchFamily="49" charset="-122"/>
              </a:rPr>
              <a:t>光波向周围传播，某</a:t>
            </a:r>
            <a:r>
              <a:rPr lang="zh-CN" altLang="en-US" sz="2400" dirty="0">
                <a:latin typeface="仿宋" panose="02010609060101010101" pitchFamily="49" charset="-122"/>
                <a:ea typeface="仿宋" panose="02010609060101010101" pitchFamily="49" charset="-122"/>
              </a:rPr>
              <a:t>一时刻其</a:t>
            </a:r>
            <a:r>
              <a:rPr lang="zh-CN" altLang="en-US" sz="2400" dirty="0" smtClean="0">
                <a:latin typeface="仿宋" panose="02010609060101010101" pitchFamily="49" charset="-122"/>
                <a:ea typeface="仿宋" panose="02010609060101010101" pitchFamily="49" charset="-122"/>
              </a:rPr>
              <a:t>振动相位相同</a:t>
            </a:r>
            <a:r>
              <a:rPr lang="zh-CN" altLang="en-US" sz="2400" dirty="0">
                <a:latin typeface="仿宋" panose="02010609060101010101" pitchFamily="49" charset="-122"/>
                <a:ea typeface="仿宋" panose="02010609060101010101" pitchFamily="49" charset="-122"/>
              </a:rPr>
              <a:t>的点所构成的面</a:t>
            </a:r>
            <a:r>
              <a:rPr lang="zh-CN" altLang="en-US" sz="2400" dirty="0" smtClean="0">
                <a:latin typeface="仿宋" panose="02010609060101010101" pitchFamily="49" charset="-122"/>
                <a:ea typeface="仿宋" panose="02010609060101010101" pitchFamily="49" charset="-122"/>
              </a:rPr>
              <a:t>称波面。可分为</a:t>
            </a:r>
            <a:r>
              <a:rPr lang="zh-CN" altLang="en-US" sz="2400" b="1" dirty="0" smtClean="0">
                <a:solidFill>
                  <a:schemeClr val="accent5"/>
                </a:solidFill>
                <a:latin typeface="仿宋" panose="02010609060101010101" pitchFamily="49" charset="-122"/>
                <a:ea typeface="仿宋" panose="02010609060101010101" pitchFamily="49" charset="-122"/>
              </a:rPr>
              <a:t>平面波、球面波</a:t>
            </a:r>
            <a:r>
              <a:rPr lang="zh-CN" altLang="en-US" sz="2400" dirty="0" smtClean="0">
                <a:latin typeface="仿宋" panose="02010609060101010101" pitchFamily="49" charset="-122"/>
                <a:ea typeface="仿宋" panose="02010609060101010101" pitchFamily="49" charset="-122"/>
              </a:rPr>
              <a:t>或</a:t>
            </a:r>
            <a:r>
              <a:rPr lang="zh-CN" altLang="en-US" sz="2400" b="1" dirty="0" smtClean="0">
                <a:solidFill>
                  <a:schemeClr val="accent5"/>
                </a:solidFill>
                <a:latin typeface="仿宋" panose="02010609060101010101" pitchFamily="49" charset="-122"/>
                <a:ea typeface="仿宋" panose="02010609060101010101" pitchFamily="49" charset="-122"/>
              </a:rPr>
              <a:t>任意曲面波</a:t>
            </a:r>
            <a:r>
              <a:rPr lang="zh-CN" altLang="en-US" sz="2400" dirty="0" smtClean="0">
                <a:latin typeface="仿宋" panose="02010609060101010101" pitchFamily="49" charset="-122"/>
                <a:ea typeface="仿宋" panose="02010609060101010101" pitchFamily="49" charset="-122"/>
              </a:rPr>
              <a:t>。</a:t>
            </a:r>
            <a:endParaRPr lang="en-US" altLang="zh-CN" sz="2400" dirty="0" smtClean="0">
              <a:latin typeface="仿宋" panose="02010609060101010101" pitchFamily="49" charset="-122"/>
              <a:ea typeface="仿宋" panose="02010609060101010101" pitchFamily="49" charset="-122"/>
            </a:endParaRPr>
          </a:p>
          <a:p>
            <a:pPr>
              <a:lnSpc>
                <a:spcPct val="150000"/>
              </a:lnSpc>
              <a:spcBef>
                <a:spcPts val="600"/>
              </a:spcBef>
            </a:pPr>
            <a:r>
              <a:rPr lang="zh-CN" altLang="en-US" sz="2400" dirty="0" smtClean="0">
                <a:latin typeface="仿宋" panose="02010609060101010101" pitchFamily="49" charset="-122"/>
                <a:ea typeface="仿宋" panose="02010609060101010101" pitchFamily="49" charset="-122"/>
              </a:rPr>
              <a:t>    </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spcBef>
                <a:spcPts val="600"/>
              </a:spcBef>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在</a:t>
            </a:r>
            <a:r>
              <a:rPr lang="zh-CN" altLang="en-US" sz="2400" dirty="0">
                <a:latin typeface="仿宋" panose="02010609060101010101" pitchFamily="49" charset="-122"/>
                <a:ea typeface="仿宋" panose="02010609060101010101" pitchFamily="49" charset="-122"/>
              </a:rPr>
              <a:t>各向同性介质中</a:t>
            </a:r>
            <a:r>
              <a:rPr lang="zh-CN" altLang="en-US" sz="2400" dirty="0" smtClean="0">
                <a:latin typeface="仿宋" panose="02010609060101010101" pitchFamily="49" charset="-122"/>
                <a:ea typeface="仿宋" panose="02010609060101010101" pitchFamily="49" charset="-122"/>
              </a:rPr>
              <a:t>，光</a:t>
            </a:r>
            <a:r>
              <a:rPr lang="zh-CN" altLang="en-US" sz="2400" dirty="0">
                <a:latin typeface="仿宋" panose="02010609060101010101" pitchFamily="49" charset="-122"/>
                <a:ea typeface="仿宋" panose="02010609060101010101" pitchFamily="49" charset="-122"/>
              </a:rPr>
              <a:t>沿着波面法线方向传播</a:t>
            </a:r>
            <a:r>
              <a:rPr lang="zh-CN" altLang="en-US" sz="2400" dirty="0" smtClean="0">
                <a:latin typeface="仿宋" panose="02010609060101010101" pitchFamily="49" charset="-122"/>
                <a:ea typeface="仿宋" panose="02010609060101010101" pitchFamily="49" charset="-122"/>
              </a:rPr>
              <a:t>，所以可以认为</a:t>
            </a:r>
            <a:r>
              <a:rPr lang="zh-CN" altLang="en-US" sz="2400" dirty="0">
                <a:latin typeface="仿宋" panose="02010609060101010101" pitchFamily="49" charset="-122"/>
                <a:ea typeface="仿宋" panose="02010609060101010101" pitchFamily="49" charset="-122"/>
              </a:rPr>
              <a:t>光波</a:t>
            </a:r>
            <a:r>
              <a:rPr lang="zh-CN" altLang="en-US" sz="2400" b="1" dirty="0">
                <a:solidFill>
                  <a:schemeClr val="accent5"/>
                </a:solidFill>
                <a:latin typeface="仿宋" panose="02010609060101010101" pitchFamily="49" charset="-122"/>
                <a:ea typeface="仿宋" panose="02010609060101010101" pitchFamily="49" charset="-122"/>
              </a:rPr>
              <a:t>波面的法线</a:t>
            </a:r>
            <a:r>
              <a:rPr lang="zh-CN" altLang="en-US" sz="2400" dirty="0">
                <a:latin typeface="仿宋" panose="02010609060101010101" pitchFamily="49" charset="-122"/>
                <a:ea typeface="仿宋" panose="02010609060101010101" pitchFamily="49" charset="-122"/>
              </a:rPr>
              <a:t>就是几何光学中的</a:t>
            </a:r>
            <a:r>
              <a:rPr lang="zh-CN" altLang="en-US" sz="2400" b="1" dirty="0">
                <a:solidFill>
                  <a:schemeClr val="accent5"/>
                </a:solidFill>
                <a:latin typeface="仿宋" panose="02010609060101010101" pitchFamily="49" charset="-122"/>
                <a:ea typeface="仿宋" panose="02010609060101010101" pitchFamily="49" charset="-122"/>
              </a:rPr>
              <a:t>光线</a:t>
            </a:r>
            <a:r>
              <a:rPr lang="zh-CN" altLang="en-US" sz="2400" dirty="0" smtClean="0">
                <a:latin typeface="仿宋" panose="02010609060101010101" pitchFamily="49" charset="-122"/>
                <a:ea typeface="仿宋" panose="02010609060101010101" pitchFamily="49" charset="-122"/>
              </a:rPr>
              <a:t>。</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spcBef>
                <a:spcPts val="600"/>
              </a:spcBef>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光束：</a:t>
            </a:r>
            <a:r>
              <a:rPr lang="zh-CN" altLang="en-US" sz="2400" dirty="0" smtClean="0">
                <a:latin typeface="仿宋" panose="02010609060101010101" pitchFamily="49" charset="-122"/>
                <a:ea typeface="仿宋" panose="02010609060101010101" pitchFamily="49" charset="-122"/>
              </a:rPr>
              <a:t>与波面对应的法线（光线）集合</a:t>
            </a:r>
            <a:r>
              <a:rPr lang="zh-CN" altLang="en-US" sz="2400" dirty="0">
                <a:latin typeface="仿宋" panose="02010609060101010101" pitchFamily="49" charset="-122"/>
                <a:ea typeface="仿宋" panose="02010609060101010101" pitchFamily="49" charset="-122"/>
              </a:rPr>
              <a:t>称为</a:t>
            </a:r>
            <a:r>
              <a:rPr lang="zh-CN" altLang="en-US" sz="2400" dirty="0" smtClean="0">
                <a:latin typeface="仿宋" panose="02010609060101010101" pitchFamily="49" charset="-122"/>
                <a:ea typeface="仿宋" panose="02010609060101010101" pitchFamily="49" charset="-122"/>
              </a:rPr>
              <a:t>光束</a:t>
            </a:r>
            <a:r>
              <a:rPr lang="zh-CN" altLang="en-US" sz="2400" dirty="0">
                <a:latin typeface="仿宋" panose="02010609060101010101" pitchFamily="49" charset="-122"/>
                <a:ea typeface="仿宋" panose="02010609060101010101" pitchFamily="49" charset="-122"/>
              </a:rPr>
              <a:t>。</a:t>
            </a:r>
            <a:endParaRPr lang="en-US" altLang="zh-CN" sz="2400" dirty="0">
              <a:latin typeface="仿宋" panose="02010609060101010101" pitchFamily="49" charset="-122"/>
              <a:ea typeface="仿宋" panose="02010609060101010101" pitchFamily="49"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FFFFFF"/>
                </a:solidFill>
                <a:latin typeface="微软雅黑" panose="020B0503020204020204" pitchFamily="34" charset="-122"/>
                <a:ea typeface="微软雅黑" panose="020B0503020204020204" pitchFamily="34" charset="-122"/>
              </a:rPr>
              <a:t>几何光学基本</a:t>
            </a:r>
            <a:r>
              <a:rPr lang="zh-CN" altLang="en-US" dirty="0" smtClean="0">
                <a:solidFill>
                  <a:srgbClr val="FFFFFF"/>
                </a:solidFill>
                <a:latin typeface="微软雅黑" panose="020B0503020204020204" pitchFamily="34" charset="-122"/>
                <a:ea typeface="微软雅黑" panose="020B0503020204020204" pitchFamily="34" charset="-122"/>
              </a:rPr>
              <a:t>定律</a:t>
            </a:r>
            <a:endParaRPr lang="zh-CN" altLang="en-US" dirty="0">
              <a:solidFill>
                <a:srgbClr val="FFFFFF"/>
              </a:solidFill>
            </a:endParaRPr>
          </a:p>
        </p:txBody>
      </p:sp>
      <p:sp>
        <p:nvSpPr>
          <p:cNvPr id="3" name="内容占位符 2"/>
          <p:cNvSpPr>
            <a:spLocks noGrp="1"/>
          </p:cNvSpPr>
          <p:nvPr>
            <p:ph idx="1"/>
          </p:nvPr>
        </p:nvSpPr>
        <p:spPr/>
        <p:txBody>
          <a:bodyPr/>
          <a:lstStyle/>
          <a:p>
            <a:pPr marL="571500" indent="-571500">
              <a:lnSpc>
                <a:spcPct val="150000"/>
              </a:lnSpc>
              <a:buFont typeface="Wingdings" panose="05000000000000000000" pitchFamily="2" charset="2"/>
              <a:buChar char="p"/>
            </a:pPr>
            <a:r>
              <a:rPr lang="zh-CN" altLang="en-US" sz="2800" b="1" dirty="0" smtClean="0">
                <a:solidFill>
                  <a:schemeClr val="accent5"/>
                </a:solidFill>
                <a:latin typeface="仿宋" panose="02010609060101010101" pitchFamily="49" charset="-122"/>
                <a:ea typeface="仿宋" panose="02010609060101010101" pitchFamily="49" charset="-122"/>
              </a:rPr>
              <a:t>直线传播：</a:t>
            </a:r>
            <a:r>
              <a:rPr lang="zh-CN" altLang="en-US" sz="2800" dirty="0" smtClean="0">
                <a:solidFill>
                  <a:schemeClr val="tx1"/>
                </a:solidFill>
                <a:latin typeface="仿宋" panose="02010609060101010101" pitchFamily="49" charset="-122"/>
                <a:ea typeface="仿宋" panose="02010609060101010101" pitchFamily="49" charset="-122"/>
              </a:rPr>
              <a:t>光在各向同性的均匀介质中沿直线传播。</a:t>
            </a:r>
            <a:endParaRPr lang="en-US" altLang="zh-CN" sz="2800" dirty="0" smtClean="0">
              <a:solidFill>
                <a:schemeClr val="tx1"/>
              </a:solidFill>
              <a:latin typeface="仿宋" panose="02010609060101010101" pitchFamily="49" charset="-122"/>
              <a:ea typeface="仿宋" panose="02010609060101010101" pitchFamily="49" charset="-122"/>
            </a:endParaRPr>
          </a:p>
          <a:p>
            <a:pPr marL="457200" indent="-457200">
              <a:lnSpc>
                <a:spcPct val="150000"/>
              </a:lnSpc>
              <a:buFont typeface="Wingdings" panose="05000000000000000000" pitchFamily="2" charset="2"/>
              <a:buChar char="Ø"/>
            </a:pPr>
            <a:r>
              <a:rPr lang="zh-CN" altLang="en-US" sz="2800" dirty="0" smtClean="0">
                <a:solidFill>
                  <a:schemeClr val="tx1"/>
                </a:solidFill>
                <a:latin typeface="仿宋" panose="02010609060101010101" pitchFamily="49" charset="-122"/>
                <a:ea typeface="仿宋" panose="02010609060101010101" pitchFamily="49" charset="-122"/>
              </a:rPr>
              <a:t>在光路中放置一个不透明的障碍物，特别是光通过小孔或狭缝，光的传播将偏离直线</a:t>
            </a:r>
            <a:r>
              <a:rPr lang="en-US" altLang="zh-CN" sz="2800" dirty="0" smtClean="0">
                <a:solidFill>
                  <a:schemeClr val="tx1"/>
                </a:solidFill>
                <a:latin typeface="仿宋" panose="02010609060101010101" pitchFamily="49" charset="-122"/>
                <a:ea typeface="仿宋" panose="02010609060101010101" pitchFamily="49" charset="-122"/>
              </a:rPr>
              <a:t>——</a:t>
            </a:r>
            <a:r>
              <a:rPr lang="zh-CN" altLang="en-US" sz="2800" b="1" dirty="0" smtClean="0">
                <a:solidFill>
                  <a:schemeClr val="accent5"/>
                </a:solidFill>
                <a:latin typeface="仿宋" panose="02010609060101010101" pitchFamily="49" charset="-122"/>
                <a:ea typeface="仿宋" panose="02010609060101010101" pitchFamily="49" charset="-122"/>
              </a:rPr>
              <a:t>光的衍射</a:t>
            </a:r>
            <a:endParaRPr lang="en-US" altLang="zh-CN" sz="2800" b="1" dirty="0" smtClean="0">
              <a:solidFill>
                <a:schemeClr val="accent5"/>
              </a:solidFill>
              <a:latin typeface="仿宋" panose="02010609060101010101" pitchFamily="49" charset="-122"/>
              <a:ea typeface="仿宋" panose="02010609060101010101" pitchFamily="49" charset="-122"/>
            </a:endParaRPr>
          </a:p>
          <a:p>
            <a:pPr marL="571500" indent="-571500">
              <a:lnSpc>
                <a:spcPct val="150000"/>
              </a:lnSpc>
              <a:buFont typeface="Wingdings" panose="05000000000000000000" pitchFamily="2" charset="2"/>
              <a:buChar char="p"/>
            </a:pPr>
            <a:r>
              <a:rPr lang="zh-CN" altLang="en-US" sz="2800" b="1" dirty="0" smtClean="0">
                <a:solidFill>
                  <a:schemeClr val="accent5"/>
                </a:solidFill>
                <a:latin typeface="仿宋" panose="02010609060101010101" pitchFamily="49" charset="-122"/>
                <a:ea typeface="仿宋" panose="02010609060101010101" pitchFamily="49" charset="-122"/>
              </a:rPr>
              <a:t>独立传播：</a:t>
            </a:r>
            <a:r>
              <a:rPr lang="zh-CN" altLang="en-US" sz="2800" dirty="0" smtClean="0">
                <a:solidFill>
                  <a:schemeClr val="tx1"/>
                </a:solidFill>
                <a:latin typeface="仿宋" panose="02010609060101010101" pitchFamily="49" charset="-122"/>
                <a:ea typeface="仿宋" panose="02010609060101010101" pitchFamily="49" charset="-122"/>
              </a:rPr>
              <a:t>从不同的光源发出的光束以不同的方向通过空间某点时，彼此互不影响，各光束独立传播。相遇处的光强度是简单地相加，总是增强的。</a:t>
            </a:r>
            <a:endParaRPr lang="en-US" altLang="zh-CN" sz="2800" dirty="0" smtClean="0">
              <a:solidFill>
                <a:schemeClr val="tx1"/>
              </a:solidFill>
              <a:latin typeface="仿宋" panose="02010609060101010101" pitchFamily="49" charset="-122"/>
              <a:ea typeface="仿宋" panose="02010609060101010101" pitchFamily="49" charset="-122"/>
            </a:endParaRPr>
          </a:p>
          <a:p>
            <a:pPr marL="457200" indent="-457200">
              <a:lnSpc>
                <a:spcPct val="150000"/>
              </a:lnSpc>
              <a:buFont typeface="Wingdings" panose="05000000000000000000" pitchFamily="2" charset="2"/>
              <a:buChar char="Ø"/>
            </a:pPr>
            <a:r>
              <a:rPr lang="zh-CN" altLang="en-US" sz="2800" dirty="0" smtClean="0">
                <a:solidFill>
                  <a:schemeClr val="tx1"/>
                </a:solidFill>
                <a:latin typeface="仿宋" panose="02010609060101010101" pitchFamily="49" charset="-122"/>
                <a:ea typeface="仿宋" panose="02010609060101010101" pitchFamily="49" charset="-122"/>
              </a:rPr>
              <a:t>由光源上同一点发出的光分为两束单色光（相干光），通过不同的而长度相近的途径到达空间某点时，这些光的合成作用不是简单地叠加，而可能是相互抵消而变暗</a:t>
            </a:r>
            <a:r>
              <a:rPr lang="en-US" altLang="zh-CN" sz="2800" dirty="0" smtClean="0">
                <a:solidFill>
                  <a:schemeClr val="tx1"/>
                </a:solidFill>
                <a:latin typeface="仿宋" panose="02010609060101010101" pitchFamily="49" charset="-122"/>
                <a:ea typeface="仿宋" panose="02010609060101010101" pitchFamily="49" charset="-122"/>
              </a:rPr>
              <a:t>——</a:t>
            </a:r>
            <a:r>
              <a:rPr lang="zh-CN" altLang="en-US" sz="2800" b="1" dirty="0" smtClean="0">
                <a:solidFill>
                  <a:schemeClr val="accent5"/>
                </a:solidFill>
                <a:latin typeface="仿宋" panose="02010609060101010101" pitchFamily="49" charset="-122"/>
                <a:ea typeface="仿宋" panose="02010609060101010101" pitchFamily="49" charset="-122"/>
              </a:rPr>
              <a:t>光的</a:t>
            </a:r>
            <a:r>
              <a:rPr lang="zh-CN" altLang="en-US" sz="2800" b="1" dirty="0">
                <a:solidFill>
                  <a:schemeClr val="accent5"/>
                </a:solidFill>
                <a:latin typeface="仿宋" panose="02010609060101010101" pitchFamily="49" charset="-122"/>
                <a:ea typeface="仿宋" panose="02010609060101010101" pitchFamily="49" charset="-122"/>
              </a:rPr>
              <a:t>干涉</a:t>
            </a:r>
            <a:endParaRPr lang="en-US" altLang="zh-CN" sz="2800" b="1" dirty="0" smtClean="0">
              <a:solidFill>
                <a:schemeClr val="accent5"/>
              </a:solidFill>
              <a:latin typeface="仿宋" panose="02010609060101010101" pitchFamily="49" charset="-122"/>
              <a:ea typeface="仿宋" panose="02010609060101010101" pitchFamily="49" charset="-122"/>
            </a:endParaRPr>
          </a:p>
          <a:p>
            <a:endParaRPr lang="zh-CN"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FFFFFF"/>
                </a:solidFill>
                <a:latin typeface="微软雅黑" panose="020B0503020204020204" pitchFamily="34" charset="-122"/>
                <a:ea typeface="微软雅黑" panose="020B0503020204020204" pitchFamily="34" charset="-122"/>
              </a:rPr>
              <a:t>几何光学基本定律</a:t>
            </a:r>
            <a:endParaRPr lang="zh-CN" altLang="en-US" dirty="0"/>
          </a:p>
        </p:txBody>
      </p:sp>
      <p:sp>
        <p:nvSpPr>
          <p:cNvPr id="3" name="内容占位符 2"/>
          <p:cNvSpPr>
            <a:spLocks noGrp="1"/>
          </p:cNvSpPr>
          <p:nvPr>
            <p:ph idx="1"/>
          </p:nvPr>
        </p:nvSpPr>
        <p:spPr/>
        <p:txBody>
          <a:bodyPr/>
          <a:lstStyle/>
          <a:p>
            <a:pPr marL="571500" indent="-571500">
              <a:lnSpc>
                <a:spcPct val="150000"/>
              </a:lnSpc>
              <a:buFont typeface="Wingdings" panose="05000000000000000000" pitchFamily="2" charset="2"/>
              <a:buChar char="p"/>
            </a:pPr>
            <a:r>
              <a:rPr lang="zh-CN" altLang="en-US" sz="2800" b="1" dirty="0" smtClean="0">
                <a:solidFill>
                  <a:schemeClr val="accent5"/>
                </a:solidFill>
                <a:latin typeface="仿宋" panose="02010609060101010101" pitchFamily="49" charset="-122"/>
                <a:ea typeface="仿宋" panose="02010609060101010101" pitchFamily="49" charset="-122"/>
              </a:rPr>
              <a:t>反射定律</a:t>
            </a:r>
            <a:endParaRPr lang="en-US" altLang="zh-CN" sz="2800" b="1" dirty="0" smtClean="0">
              <a:solidFill>
                <a:schemeClr val="accent5"/>
              </a:solidFill>
              <a:latin typeface="仿宋" panose="02010609060101010101" pitchFamily="49" charset="-122"/>
              <a:ea typeface="仿宋" panose="02010609060101010101" pitchFamily="49" charset="-122"/>
            </a:endParaRPr>
          </a:p>
          <a:p>
            <a:pPr marL="571500" indent="-571500">
              <a:lnSpc>
                <a:spcPct val="150000"/>
              </a:lnSpc>
              <a:buFont typeface="Wingdings" panose="05000000000000000000" pitchFamily="2" charset="2"/>
              <a:buChar char="p"/>
            </a:pPr>
            <a:r>
              <a:rPr lang="zh-CN" altLang="en-US" sz="2800" b="1" dirty="0" smtClean="0">
                <a:solidFill>
                  <a:schemeClr val="accent5"/>
                </a:solidFill>
                <a:latin typeface="仿宋" panose="02010609060101010101" pitchFamily="49" charset="-122"/>
                <a:ea typeface="仿宋" panose="02010609060101010101" pitchFamily="49" charset="-122"/>
              </a:rPr>
              <a:t>折射定律</a:t>
            </a:r>
            <a:endParaRPr lang="en-US" altLang="zh-CN" sz="2800" b="1" dirty="0" smtClean="0">
              <a:solidFill>
                <a:schemeClr val="accent5"/>
              </a:solidFill>
              <a:latin typeface="仿宋" panose="02010609060101010101" pitchFamily="49" charset="-122"/>
              <a:ea typeface="仿宋" panose="02010609060101010101" pitchFamily="49" charset="-122"/>
            </a:endParaRPr>
          </a:p>
          <a:p>
            <a:pPr marL="571500" indent="-571500">
              <a:lnSpc>
                <a:spcPct val="150000"/>
              </a:lnSpc>
              <a:buFont typeface="Wingdings" panose="05000000000000000000" pitchFamily="2" charset="2"/>
              <a:buChar char="p"/>
            </a:pPr>
            <a:r>
              <a:rPr lang="zh-CN" altLang="en-US" sz="2800" dirty="0" smtClean="0">
                <a:solidFill>
                  <a:schemeClr val="tx1"/>
                </a:solidFill>
                <a:latin typeface="仿宋" panose="02010609060101010101" pitchFamily="49" charset="-122"/>
                <a:ea typeface="仿宋" panose="02010609060101010101" pitchFamily="49" charset="-122"/>
              </a:rPr>
              <a:t>全反射：光密介质到光疏介质</a:t>
            </a:r>
            <a:endParaRPr lang="en-US" altLang="zh-CN" sz="2800" dirty="0" smtClean="0">
              <a:solidFill>
                <a:schemeClr val="tx1"/>
              </a:solidFill>
              <a:latin typeface="仿宋" panose="02010609060101010101" pitchFamily="49" charset="-122"/>
              <a:ea typeface="仿宋" panose="02010609060101010101" pitchFamily="49" charset="-122"/>
            </a:endParaRPr>
          </a:p>
          <a:p>
            <a:pPr marL="571500" indent="-571500">
              <a:lnSpc>
                <a:spcPct val="150000"/>
              </a:lnSpc>
              <a:buFont typeface="Wingdings" panose="05000000000000000000" pitchFamily="2" charset="2"/>
              <a:buChar char="p"/>
            </a:pPr>
            <a:r>
              <a:rPr lang="zh-CN" altLang="en-US" sz="2800" dirty="0">
                <a:solidFill>
                  <a:schemeClr val="tx1"/>
                </a:solidFill>
                <a:latin typeface="仿宋" panose="02010609060101010101" pitchFamily="49" charset="-122"/>
                <a:ea typeface="仿宋" panose="02010609060101010101" pitchFamily="49" charset="-122"/>
              </a:rPr>
              <a:t>光路可逆</a:t>
            </a:r>
            <a:endParaRPr lang="en-US" altLang="zh-CN" sz="2800" dirty="0">
              <a:solidFill>
                <a:schemeClr val="tx1"/>
              </a:solidFill>
              <a:latin typeface="仿宋" panose="02010609060101010101" pitchFamily="49" charset="-122"/>
              <a:ea typeface="仿宋" panose="02010609060101010101" pitchFamily="49" charset="-122"/>
            </a:endParaRPr>
          </a:p>
          <a:p>
            <a:pPr marL="0" indent="0">
              <a:lnSpc>
                <a:spcPct val="150000"/>
              </a:lnSpc>
            </a:pPr>
            <a:endParaRPr lang="en-US" altLang="zh-CN" sz="2800" dirty="0" smtClean="0">
              <a:solidFill>
                <a:schemeClr val="tx1"/>
              </a:solidFill>
              <a:latin typeface="微软雅黑" panose="020B0503020204020204" pitchFamily="34" charset="-122"/>
              <a:ea typeface="微软雅黑" panose="020B0503020204020204" pitchFamily="34" charset="-122"/>
            </a:endParaRPr>
          </a:p>
          <a:p>
            <a:endParaRPr lang="zh-CN" altLang="en-US" dirty="0"/>
          </a:p>
        </p:txBody>
      </p:sp>
      <p:pic>
        <p:nvPicPr>
          <p:cNvPr id="4" name="Picture 2" descr="C:\Users\07285yzl\Desktop\红外镜头设计简介\新建文件夹\src=http___preview.21cnjy.com_files_36_a6_36a677bc3bca915c712d4a36faf6b595.png&amp;refer=http___preview.21cnjy.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64202" y="1745456"/>
            <a:ext cx="5760000" cy="432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FFFFFF"/>
                </a:solidFill>
                <a:latin typeface="微软雅黑" panose="020B0503020204020204" pitchFamily="34" charset="-122"/>
                <a:ea typeface="微软雅黑" panose="020B0503020204020204" pitchFamily="34" charset="-122"/>
              </a:rPr>
              <a:t>几何光学基本定律</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62013" y="953368"/>
                <a:ext cx="13394877" cy="6281744"/>
              </a:xfrm>
            </p:spPr>
            <p:txBody>
              <a:bodyPr/>
              <a:lstStyle/>
              <a:p>
                <a:pPr marL="571500" indent="-571500">
                  <a:lnSpc>
                    <a:spcPct val="150000"/>
                  </a:lnSpc>
                  <a:buFont typeface="Wingdings" panose="05000000000000000000" pitchFamily="2" charset="2"/>
                  <a:buChar char="p"/>
                </a:pPr>
                <a:r>
                  <a:rPr lang="zh-CN" altLang="en-US" sz="2800" dirty="0" smtClean="0">
                    <a:solidFill>
                      <a:schemeClr val="tx1"/>
                    </a:solidFill>
                    <a:latin typeface="仿宋" panose="02010609060101010101" pitchFamily="49" charset="-122"/>
                    <a:ea typeface="仿宋" panose="02010609060101010101" pitchFamily="49" charset="-122"/>
                  </a:rPr>
                  <a:t>绝对折射率</a:t>
                </a:r>
                <a:endParaRPr lang="en-US" altLang="zh-CN" sz="2800" dirty="0" smtClean="0">
                  <a:solidFill>
                    <a:schemeClr val="tx1"/>
                  </a:solidFill>
                  <a:latin typeface="仿宋" panose="02010609060101010101" pitchFamily="49" charset="-122"/>
                  <a:ea typeface="仿宋" panose="02010609060101010101" pitchFamily="49" charset="-122"/>
                </a:endParaRPr>
              </a:p>
              <a:p>
                <a:pPr marL="0" indent="0">
                  <a:lnSpc>
                    <a:spcPct val="150000"/>
                  </a:lnSpc>
                </a:pPr>
                <a:r>
                  <a:rPr lang="en-US" altLang="zh-CN" sz="2800" dirty="0">
                    <a:solidFill>
                      <a:schemeClr val="tx1"/>
                    </a:solidFill>
                    <a:latin typeface="仿宋" panose="02010609060101010101" pitchFamily="49" charset="-122"/>
                    <a:ea typeface="仿宋" panose="02010609060101010101" pitchFamily="49" charset="-122"/>
                  </a:rPr>
                  <a:t> </a:t>
                </a:r>
                <a:r>
                  <a:rPr lang="en-US" altLang="zh-CN" sz="2800" dirty="0" smtClean="0">
                    <a:solidFill>
                      <a:schemeClr val="tx1"/>
                    </a:solidFill>
                    <a:latin typeface="仿宋" panose="02010609060101010101" pitchFamily="49" charset="-122"/>
                    <a:ea typeface="仿宋" panose="02010609060101010101" pitchFamily="49" charset="-122"/>
                  </a:rPr>
                  <a:t>    n=c/v</a:t>
                </a:r>
                <a:r>
                  <a:rPr lang="zh-CN" altLang="en-US" sz="2800" dirty="0">
                    <a:solidFill>
                      <a:schemeClr val="tx1"/>
                    </a:solidFill>
                    <a:latin typeface="仿宋" panose="02010609060101010101" pitchFamily="49" charset="-122"/>
                    <a:ea typeface="仿宋" panose="02010609060101010101" pitchFamily="49" charset="-122"/>
                  </a:rPr>
                  <a:t>，</a:t>
                </a:r>
                <a:r>
                  <a:rPr lang="en-US" altLang="zh-CN" sz="2800" dirty="0">
                    <a:solidFill>
                      <a:schemeClr val="tx1"/>
                    </a:solidFill>
                    <a:latin typeface="仿宋" panose="02010609060101010101" pitchFamily="49" charset="-122"/>
                    <a:ea typeface="仿宋" panose="02010609060101010101" pitchFamily="49" charset="-122"/>
                  </a:rPr>
                  <a:t>c</a:t>
                </a:r>
                <a:r>
                  <a:rPr lang="zh-CN" altLang="en-US" sz="2800" dirty="0" smtClean="0">
                    <a:solidFill>
                      <a:schemeClr val="tx1"/>
                    </a:solidFill>
                    <a:latin typeface="仿宋" panose="02010609060101010101" pitchFamily="49" charset="-122"/>
                    <a:ea typeface="仿宋" panose="02010609060101010101" pitchFamily="49" charset="-122"/>
                  </a:rPr>
                  <a:t>：光在真空中的速度，</a:t>
                </a:r>
                <a:r>
                  <a:rPr lang="en-US" altLang="zh-CN" sz="2800" dirty="0">
                    <a:solidFill>
                      <a:schemeClr val="tx1"/>
                    </a:solidFill>
                    <a:latin typeface="仿宋" panose="02010609060101010101" pitchFamily="49" charset="-122"/>
                    <a:ea typeface="仿宋" panose="02010609060101010101" pitchFamily="49" charset="-122"/>
                  </a:rPr>
                  <a:t>v</a:t>
                </a:r>
                <a:r>
                  <a:rPr lang="zh-CN" altLang="en-US" sz="2800" dirty="0">
                    <a:solidFill>
                      <a:schemeClr val="tx1"/>
                    </a:solidFill>
                    <a:latin typeface="仿宋" panose="02010609060101010101" pitchFamily="49" charset="-122"/>
                    <a:ea typeface="仿宋" panose="02010609060101010101" pitchFamily="49" charset="-122"/>
                  </a:rPr>
                  <a:t>：</a:t>
                </a:r>
                <a:r>
                  <a:rPr lang="zh-CN" altLang="en-US" sz="2800" dirty="0" smtClean="0">
                    <a:solidFill>
                      <a:schemeClr val="tx1"/>
                    </a:solidFill>
                    <a:latin typeface="仿宋" panose="02010609060101010101" pitchFamily="49" charset="-122"/>
                    <a:ea typeface="仿宋" panose="02010609060101010101" pitchFamily="49" charset="-122"/>
                  </a:rPr>
                  <a:t>光在介质中的速度，</a:t>
                </a:r>
                <a:r>
                  <a:rPr lang="en-US" altLang="zh-CN" sz="2800" dirty="0" smtClean="0">
                    <a:solidFill>
                      <a:schemeClr val="tx1"/>
                    </a:solidFill>
                    <a:latin typeface="仿宋" panose="02010609060101010101" pitchFamily="49" charset="-122"/>
                    <a:ea typeface="仿宋" panose="02010609060101010101" pitchFamily="49" charset="-122"/>
                  </a:rPr>
                  <a:t>v</a:t>
                </a:r>
                <a:r>
                  <a:rPr lang="zh-CN" altLang="en-US" sz="2800" dirty="0" smtClean="0">
                    <a:solidFill>
                      <a:schemeClr val="tx1"/>
                    </a:solidFill>
                    <a:latin typeface="仿宋" panose="02010609060101010101" pitchFamily="49" charset="-122"/>
                    <a:ea typeface="仿宋" panose="02010609060101010101" pitchFamily="49" charset="-122"/>
                  </a:rPr>
                  <a:t>＜</a:t>
                </a:r>
                <a:r>
                  <a:rPr lang="en-US" altLang="zh-CN" sz="2800" dirty="0" smtClean="0">
                    <a:solidFill>
                      <a:schemeClr val="tx1"/>
                    </a:solidFill>
                    <a:latin typeface="仿宋" panose="02010609060101010101" pitchFamily="49" charset="-122"/>
                    <a:ea typeface="仿宋" panose="02010609060101010101" pitchFamily="49" charset="-122"/>
                  </a:rPr>
                  <a:t>c</a:t>
                </a:r>
                <a:r>
                  <a:rPr lang="zh-CN" altLang="en-US" sz="2800" dirty="0" smtClean="0">
                    <a:solidFill>
                      <a:schemeClr val="tx1"/>
                    </a:solidFill>
                    <a:latin typeface="仿宋" panose="02010609060101010101" pitchFamily="49" charset="-122"/>
                    <a:ea typeface="仿宋" panose="02010609060101010101" pitchFamily="49" charset="-122"/>
                  </a:rPr>
                  <a:t>，</a:t>
                </a:r>
                <a:r>
                  <a:rPr lang="en-US" altLang="zh-CN" sz="2800" dirty="0" smtClean="0">
                    <a:solidFill>
                      <a:schemeClr val="tx1"/>
                    </a:solidFill>
                    <a:latin typeface="仿宋" panose="02010609060101010101" pitchFamily="49" charset="-122"/>
                    <a:ea typeface="仿宋" panose="02010609060101010101" pitchFamily="49" charset="-122"/>
                  </a:rPr>
                  <a:t>n</a:t>
                </a:r>
                <a:r>
                  <a:rPr lang="zh-CN" altLang="en-US" sz="2800" dirty="0" smtClean="0">
                    <a:solidFill>
                      <a:schemeClr val="tx1"/>
                    </a:solidFill>
                    <a:latin typeface="仿宋" panose="02010609060101010101" pitchFamily="49" charset="-122"/>
                    <a:ea typeface="仿宋" panose="02010609060101010101" pitchFamily="49" charset="-122"/>
                  </a:rPr>
                  <a:t>＞</a:t>
                </a:r>
                <a:r>
                  <a:rPr lang="en-US" altLang="zh-CN" sz="2800" dirty="0" smtClean="0">
                    <a:solidFill>
                      <a:schemeClr val="tx1"/>
                    </a:solidFill>
                    <a:latin typeface="仿宋" panose="02010609060101010101" pitchFamily="49" charset="-122"/>
                    <a:ea typeface="仿宋" panose="02010609060101010101" pitchFamily="49" charset="-122"/>
                  </a:rPr>
                  <a:t>1</a:t>
                </a:r>
                <a:r>
                  <a:rPr lang="zh-CN" altLang="en-US" sz="2800" dirty="0" smtClean="0">
                    <a:solidFill>
                      <a:schemeClr val="tx1"/>
                    </a:solidFill>
                    <a:latin typeface="仿宋" panose="02010609060101010101" pitchFamily="49" charset="-122"/>
                    <a:ea typeface="仿宋" panose="02010609060101010101" pitchFamily="49" charset="-122"/>
                  </a:rPr>
                  <a:t>。</a:t>
                </a:r>
                <a:endParaRPr lang="en-US" altLang="zh-CN" sz="2800" dirty="0">
                  <a:solidFill>
                    <a:schemeClr val="tx1"/>
                  </a:solidFill>
                  <a:latin typeface="仿宋" panose="02010609060101010101" pitchFamily="49" charset="-122"/>
                  <a:ea typeface="仿宋" panose="02010609060101010101" pitchFamily="49" charset="-122"/>
                </a:endParaRPr>
              </a:p>
              <a:p>
                <a:pPr marL="571500" indent="-571500">
                  <a:lnSpc>
                    <a:spcPct val="150000"/>
                  </a:lnSpc>
                  <a:buFont typeface="Wingdings" panose="05000000000000000000" pitchFamily="2" charset="2"/>
                  <a:buChar char="p"/>
                </a:pPr>
                <a:r>
                  <a:rPr lang="zh-CN" altLang="en-US" sz="2800" b="1" dirty="0">
                    <a:solidFill>
                      <a:schemeClr val="accent5"/>
                    </a:solidFill>
                    <a:latin typeface="仿宋" panose="02010609060101010101" pitchFamily="49" charset="-122"/>
                    <a:ea typeface="仿宋" panose="02010609060101010101" pitchFamily="49" charset="-122"/>
                  </a:rPr>
                  <a:t>相对折射率</a:t>
                </a:r>
                <a:r>
                  <a:rPr lang="zh-CN" altLang="en-US" sz="2800" b="1" dirty="0" smtClean="0">
                    <a:solidFill>
                      <a:schemeClr val="accent5"/>
                    </a:solidFill>
                    <a:latin typeface="仿宋" panose="02010609060101010101" pitchFamily="49" charset="-122"/>
                    <a:ea typeface="仿宋" panose="02010609060101010101" pitchFamily="49" charset="-122"/>
                  </a:rPr>
                  <a:t>：</a:t>
                </a:r>
                <a:endParaRPr lang="en-US" altLang="zh-CN" sz="2800" b="1" dirty="0" smtClean="0">
                  <a:solidFill>
                    <a:schemeClr val="accent5"/>
                  </a:solidFill>
                  <a:latin typeface="仿宋" panose="02010609060101010101" pitchFamily="49" charset="-122"/>
                  <a:ea typeface="仿宋" panose="02010609060101010101" pitchFamily="49" charset="-122"/>
                </a:endParaRPr>
              </a:p>
              <a:p>
                <a:pPr marL="0" indent="0">
                  <a:lnSpc>
                    <a:spcPct val="150000"/>
                  </a:lnSpc>
                </a:pPr>
                <a:r>
                  <a:rPr lang="zh-CN" altLang="en-US" sz="2800" dirty="0" smtClean="0">
                    <a:solidFill>
                      <a:schemeClr val="tx1"/>
                    </a:solidFill>
                    <a:latin typeface="仿宋" panose="02010609060101010101" pitchFamily="49" charset="-122"/>
                    <a:ea typeface="仿宋" panose="02010609060101010101" pitchFamily="49" charset="-122"/>
                  </a:rPr>
                  <a:t>     标准条件</a:t>
                </a:r>
                <a:r>
                  <a:rPr lang="zh-CN" altLang="en-US" sz="2800" dirty="0">
                    <a:solidFill>
                      <a:schemeClr val="tx1"/>
                    </a:solidFill>
                    <a:latin typeface="仿宋" panose="02010609060101010101" pitchFamily="49" charset="-122"/>
                    <a:ea typeface="仿宋" panose="02010609060101010101" pitchFamily="49" charset="-122"/>
                  </a:rPr>
                  <a:t>下（</a:t>
                </a:r>
                <a:r>
                  <a:rPr lang="en-US" altLang="zh-CN" sz="2800" dirty="0">
                    <a:solidFill>
                      <a:schemeClr val="tx1"/>
                    </a:solidFill>
                    <a:latin typeface="仿宋" panose="02010609060101010101" pitchFamily="49" charset="-122"/>
                    <a:ea typeface="仿宋" panose="02010609060101010101" pitchFamily="49" charset="-122"/>
                  </a:rPr>
                  <a:t>p=101275Pa</a:t>
                </a:r>
                <a:r>
                  <a:rPr lang="zh-CN" altLang="en-US" sz="2800" dirty="0">
                    <a:solidFill>
                      <a:schemeClr val="tx1"/>
                    </a:solidFill>
                    <a:latin typeface="仿宋" panose="02010609060101010101" pitchFamily="49" charset="-122"/>
                    <a:ea typeface="仿宋" panose="02010609060101010101" pitchFamily="49" charset="-122"/>
                  </a:rPr>
                  <a:t>， </a:t>
                </a:r>
                <a:r>
                  <a:rPr lang="en-US" altLang="zh-CN" sz="2800" dirty="0">
                    <a:solidFill>
                      <a:schemeClr val="tx1"/>
                    </a:solidFill>
                    <a:latin typeface="仿宋" panose="02010609060101010101" pitchFamily="49" charset="-122"/>
                    <a:ea typeface="仿宋" panose="02010609060101010101" pitchFamily="49" charset="-122"/>
                  </a:rPr>
                  <a:t>t=293K=20</a:t>
                </a:r>
                <a:r>
                  <a:rPr lang="zh-CN" altLang="en-US" sz="2800" dirty="0">
                    <a:solidFill>
                      <a:schemeClr val="tx1"/>
                    </a:solidFill>
                    <a:latin typeface="仿宋" panose="02010609060101010101" pitchFamily="49" charset="-122"/>
                    <a:ea typeface="仿宋" panose="02010609060101010101" pitchFamily="49" charset="-122"/>
                  </a:rPr>
                  <a:t>℃</a:t>
                </a:r>
                <a:r>
                  <a:rPr lang="zh-CN" altLang="en-US" sz="2800" dirty="0" smtClean="0">
                    <a:solidFill>
                      <a:schemeClr val="tx1"/>
                    </a:solidFill>
                    <a:latin typeface="仿宋" panose="02010609060101010101" pitchFamily="49" charset="-122"/>
                    <a:ea typeface="仿宋" panose="02010609060101010101" pitchFamily="49" charset="-122"/>
                  </a:rPr>
                  <a:t>），空气的折射率</a:t>
                </a:r>
                <a:r>
                  <a:rPr lang="en-US" altLang="zh-CN" sz="2800" dirty="0" smtClean="0">
                    <a:solidFill>
                      <a:schemeClr val="tx1"/>
                    </a:solidFill>
                    <a:latin typeface="仿宋" panose="02010609060101010101" pitchFamily="49" charset="-122"/>
                    <a:ea typeface="仿宋" panose="02010609060101010101" pitchFamily="49" charset="-122"/>
                  </a:rPr>
                  <a:t>n</a:t>
                </a:r>
                <a:r>
                  <a:rPr lang="zh-CN" altLang="en-US" sz="2800" dirty="0" smtClean="0">
                    <a:solidFill>
                      <a:schemeClr val="tx1"/>
                    </a:solidFill>
                    <a:latin typeface="仿宋" panose="02010609060101010101" pitchFamily="49" charset="-122"/>
                    <a:ea typeface="仿宋" panose="02010609060101010101" pitchFamily="49" charset="-122"/>
                  </a:rPr>
                  <a:t>≈</a:t>
                </a:r>
                <a:r>
                  <a:rPr lang="en-US" altLang="zh-CN" sz="2800" dirty="0" smtClean="0">
                    <a:solidFill>
                      <a:schemeClr val="tx1"/>
                    </a:solidFill>
                    <a:latin typeface="仿宋" panose="02010609060101010101" pitchFamily="49" charset="-122"/>
                    <a:ea typeface="仿宋" panose="02010609060101010101" pitchFamily="49" charset="-122"/>
                  </a:rPr>
                  <a:t>1.000273</a:t>
                </a:r>
                <a:r>
                  <a:rPr lang="zh-CN" altLang="en-US" sz="2800" dirty="0" smtClean="0">
                    <a:solidFill>
                      <a:schemeClr val="tx1"/>
                    </a:solidFill>
                    <a:latin typeface="仿宋" panose="02010609060101010101" pitchFamily="49" charset="-122"/>
                    <a:ea typeface="仿宋" panose="02010609060101010101" pitchFamily="49" charset="-122"/>
                  </a:rPr>
                  <a:t>。</a:t>
                </a:r>
                <a:endParaRPr lang="en-US" altLang="zh-CN" sz="2800" dirty="0">
                  <a:solidFill>
                    <a:schemeClr val="tx1"/>
                  </a:solidFill>
                  <a:latin typeface="仿宋" panose="02010609060101010101" pitchFamily="49" charset="-122"/>
                  <a:ea typeface="仿宋" panose="02010609060101010101" pitchFamily="49" charset="-122"/>
                </a:endParaRPr>
              </a:p>
              <a:p>
                <a:pPr marL="0" indent="0">
                  <a:lnSpc>
                    <a:spcPct val="150000"/>
                  </a:lnSpc>
                </a:pPr>
                <a:r>
                  <a:rPr lang="en-US" altLang="zh-CN" sz="2800" dirty="0">
                    <a:solidFill>
                      <a:schemeClr val="tx1"/>
                    </a:solidFill>
                    <a:latin typeface="仿宋" panose="02010609060101010101" pitchFamily="49" charset="-122"/>
                    <a:ea typeface="仿宋" panose="02010609060101010101" pitchFamily="49" charset="-122"/>
                  </a:rPr>
                  <a:t> </a:t>
                </a:r>
                <a:r>
                  <a:rPr lang="en-US" altLang="zh-CN" sz="2800" dirty="0" smtClean="0">
                    <a:solidFill>
                      <a:schemeClr val="tx1"/>
                    </a:solidFill>
                    <a:latin typeface="仿宋" panose="02010609060101010101" pitchFamily="49" charset="-122"/>
                    <a:ea typeface="仿宋" panose="02010609060101010101" pitchFamily="49" charset="-122"/>
                  </a:rPr>
                  <a:t>    </a:t>
                </a:r>
                <a:r>
                  <a:rPr lang="zh-CN" altLang="en-US" sz="2800" dirty="0" smtClean="0">
                    <a:solidFill>
                      <a:schemeClr val="tx1"/>
                    </a:solidFill>
                    <a:latin typeface="仿宋" panose="02010609060101010101" pitchFamily="49" charset="-122"/>
                    <a:ea typeface="仿宋" panose="02010609060101010101" pitchFamily="49" charset="-122"/>
                  </a:rPr>
                  <a:t>通常</a:t>
                </a:r>
                <a:r>
                  <a:rPr lang="zh-CN" altLang="en-US" sz="2800" dirty="0">
                    <a:solidFill>
                      <a:schemeClr val="tx1"/>
                    </a:solidFill>
                    <a:latin typeface="仿宋" panose="02010609060101010101" pitchFamily="49" charset="-122"/>
                    <a:ea typeface="仿宋" panose="02010609060101010101" pitchFamily="49" charset="-122"/>
                  </a:rPr>
                  <a:t>所说的介质的折射率</a:t>
                </a:r>
                <a:r>
                  <a:rPr lang="zh-CN" altLang="en-US" sz="2800" dirty="0" smtClean="0">
                    <a:solidFill>
                      <a:schemeClr val="tx1"/>
                    </a:solidFill>
                    <a:latin typeface="仿宋" panose="02010609060101010101" pitchFamily="49" charset="-122"/>
                    <a:ea typeface="仿宋" panose="02010609060101010101" pitchFamily="49" charset="-122"/>
                  </a:rPr>
                  <a:t>实际上是该介质相对</a:t>
                </a:r>
                <a:r>
                  <a:rPr lang="zh-CN" altLang="en-US" sz="2800" dirty="0">
                    <a:solidFill>
                      <a:schemeClr val="tx1"/>
                    </a:solidFill>
                    <a:latin typeface="仿宋" panose="02010609060101010101" pitchFamily="49" charset="-122"/>
                    <a:ea typeface="仿宋" panose="02010609060101010101" pitchFamily="49" charset="-122"/>
                  </a:rPr>
                  <a:t>空气的</a:t>
                </a:r>
                <a:r>
                  <a:rPr lang="zh-CN" altLang="en-US" sz="2800" dirty="0" smtClean="0">
                    <a:solidFill>
                      <a:schemeClr val="tx1"/>
                    </a:solidFill>
                    <a:latin typeface="仿宋" panose="02010609060101010101" pitchFamily="49" charset="-122"/>
                    <a:ea typeface="仿宋" panose="02010609060101010101" pitchFamily="49" charset="-122"/>
                  </a:rPr>
                  <a:t>折射率</a:t>
                </a:r>
                <a14:m>
                  <m:oMath xmlns:m="http://schemas.openxmlformats.org/officeDocument/2006/math">
                    <m:sSub>
                      <m:sSubPr>
                        <m:ctrlPr>
                          <a:rPr lang="en-US" altLang="zh-CN" sz="2800" i="1" smtClean="0">
                            <a:solidFill>
                              <a:schemeClr val="tx1"/>
                            </a:solidFill>
                            <a:latin typeface="Cambria Math" panose="02040503050406030204" pitchFamily="18" charset="0"/>
                            <a:ea typeface="微软雅黑" panose="020B0503020204020204" pitchFamily="34" charset="-122"/>
                          </a:rPr>
                        </m:ctrlPr>
                      </m:sSubPr>
                      <m:e>
                        <m:r>
                          <a:rPr lang="en-US" altLang="zh-CN" sz="2800" b="0" i="1" smtClean="0">
                            <a:solidFill>
                              <a:schemeClr val="tx1"/>
                            </a:solidFill>
                            <a:latin typeface="Cambria Math" panose="02040503050406030204"/>
                            <a:ea typeface="微软雅黑" panose="020B0503020204020204" pitchFamily="34" charset="-122"/>
                          </a:rPr>
                          <m:t>𝑛</m:t>
                        </m:r>
                      </m:e>
                      <m:sub>
                        <m:r>
                          <a:rPr lang="en-US" altLang="zh-CN" sz="2800" b="0" i="1" smtClean="0">
                            <a:solidFill>
                              <a:schemeClr val="tx1"/>
                            </a:solidFill>
                            <a:latin typeface="Cambria Math" panose="02040503050406030204"/>
                            <a:ea typeface="微软雅黑" panose="020B0503020204020204" pitchFamily="34" charset="-122"/>
                          </a:rPr>
                          <m:t>12</m:t>
                        </m:r>
                      </m:sub>
                    </m:sSub>
                    <m:r>
                      <a:rPr lang="en-US" altLang="zh-CN" sz="2800" b="0" i="1" smtClean="0">
                        <a:solidFill>
                          <a:schemeClr val="tx1"/>
                        </a:solidFill>
                        <a:latin typeface="Cambria Math" panose="02040503050406030204"/>
                        <a:ea typeface="微软雅黑" panose="020B0503020204020204" pitchFamily="34" charset="-122"/>
                      </a:rPr>
                      <m:t>=</m:t>
                    </m:r>
                    <m:f>
                      <m:fPr>
                        <m:type m:val="skw"/>
                        <m:ctrlPr>
                          <a:rPr lang="en-US" altLang="zh-CN" sz="2800" b="0" i="1" smtClean="0">
                            <a:solidFill>
                              <a:schemeClr val="tx1"/>
                            </a:solidFill>
                            <a:latin typeface="Cambria Math" panose="02040503050406030204" pitchFamily="18" charset="0"/>
                            <a:ea typeface="微软雅黑" panose="020B0503020204020204" pitchFamily="34" charset="-122"/>
                          </a:rPr>
                        </m:ctrlPr>
                      </m:fPr>
                      <m:num>
                        <m:sSub>
                          <m:sSubPr>
                            <m:ctrlPr>
                              <a:rPr lang="en-US" altLang="zh-CN" sz="2800" b="0" i="1" smtClean="0">
                                <a:solidFill>
                                  <a:schemeClr val="tx1"/>
                                </a:solidFill>
                                <a:latin typeface="Cambria Math" panose="02040503050406030204" pitchFamily="18" charset="0"/>
                                <a:ea typeface="微软雅黑" panose="020B0503020204020204" pitchFamily="34" charset="-122"/>
                              </a:rPr>
                            </m:ctrlPr>
                          </m:sSubPr>
                          <m:e>
                            <m:r>
                              <a:rPr lang="en-US" altLang="zh-CN" sz="2800" b="0" i="1" smtClean="0">
                                <a:solidFill>
                                  <a:schemeClr val="tx1"/>
                                </a:solidFill>
                                <a:latin typeface="Cambria Math" panose="02040503050406030204"/>
                                <a:ea typeface="微软雅黑" panose="020B0503020204020204" pitchFamily="34" charset="-122"/>
                              </a:rPr>
                              <m:t>𝑛</m:t>
                            </m:r>
                          </m:e>
                          <m:sub>
                            <m:r>
                              <a:rPr lang="en-US" altLang="zh-CN" sz="2800" b="0" i="1" smtClean="0">
                                <a:solidFill>
                                  <a:schemeClr val="tx1"/>
                                </a:solidFill>
                                <a:latin typeface="Cambria Math" panose="02040503050406030204"/>
                                <a:ea typeface="微软雅黑" panose="020B0503020204020204" pitchFamily="34" charset="-122"/>
                              </a:rPr>
                              <m:t>2</m:t>
                            </m:r>
                          </m:sub>
                        </m:sSub>
                      </m:num>
                      <m:den>
                        <m:sSub>
                          <m:sSubPr>
                            <m:ctrlPr>
                              <a:rPr lang="en-US" altLang="zh-CN" sz="2800" b="0" i="1" smtClean="0">
                                <a:solidFill>
                                  <a:schemeClr val="tx1"/>
                                </a:solidFill>
                                <a:latin typeface="Cambria Math" panose="02040503050406030204" pitchFamily="18" charset="0"/>
                                <a:ea typeface="微软雅黑" panose="020B0503020204020204" pitchFamily="34" charset="-122"/>
                              </a:rPr>
                            </m:ctrlPr>
                          </m:sSubPr>
                          <m:e>
                            <m:r>
                              <a:rPr lang="en-US" altLang="zh-CN" sz="2800" b="0" i="1" smtClean="0">
                                <a:solidFill>
                                  <a:schemeClr val="tx1"/>
                                </a:solidFill>
                                <a:latin typeface="Cambria Math" panose="02040503050406030204"/>
                                <a:ea typeface="微软雅黑" panose="020B0503020204020204" pitchFamily="34" charset="-122"/>
                              </a:rPr>
                              <m:t>𝑛</m:t>
                            </m:r>
                          </m:e>
                          <m:sub>
                            <m:r>
                              <a:rPr lang="en-US" altLang="zh-CN" sz="2800" b="0" i="1" smtClean="0">
                                <a:solidFill>
                                  <a:schemeClr val="tx1"/>
                                </a:solidFill>
                                <a:latin typeface="Cambria Math" panose="02040503050406030204"/>
                                <a:ea typeface="微软雅黑" panose="020B0503020204020204" pitchFamily="34" charset="-122"/>
                              </a:rPr>
                              <m:t>1</m:t>
                            </m:r>
                          </m:sub>
                        </m:sSub>
                      </m:den>
                    </m:f>
                  </m:oMath>
                </a14:m>
                <a:r>
                  <a:rPr lang="zh-CN" altLang="en-US" sz="2800" dirty="0" smtClean="0">
                    <a:solidFill>
                      <a:schemeClr val="tx1"/>
                    </a:solidFill>
                    <a:latin typeface="仿宋" panose="02010609060101010101" pitchFamily="49" charset="-122"/>
                    <a:ea typeface="仿宋" panose="02010609060101010101" pitchFamily="49" charset="-122"/>
                  </a:rPr>
                  <a:t>，</a:t>
                </a:r>
                <a14:m>
                  <m:oMath xmlns:m="http://schemas.openxmlformats.org/officeDocument/2006/math">
                    <m:sSub>
                      <m:sSubPr>
                        <m:ctrlPr>
                          <a:rPr lang="en-US" altLang="zh-CN" sz="2800" i="1">
                            <a:solidFill>
                              <a:schemeClr val="tx1"/>
                            </a:solidFill>
                            <a:latin typeface="Cambria Math" panose="02040503050406030204" pitchFamily="18" charset="0"/>
                            <a:ea typeface="微软雅黑" panose="020B0503020204020204" pitchFamily="34" charset="-122"/>
                          </a:rPr>
                        </m:ctrlPr>
                      </m:sSubPr>
                      <m:e>
                        <m:r>
                          <a:rPr lang="en-US" altLang="zh-CN" sz="2800" i="1">
                            <a:solidFill>
                              <a:schemeClr val="tx1"/>
                            </a:solidFill>
                            <a:latin typeface="Cambria Math" panose="02040503050406030204"/>
                            <a:ea typeface="微软雅黑" panose="020B0503020204020204" pitchFamily="34" charset="-122"/>
                          </a:rPr>
                          <m:t>𝑛</m:t>
                        </m:r>
                      </m:e>
                      <m:sub>
                        <m:r>
                          <a:rPr lang="en-US" altLang="zh-CN" sz="2800" i="1">
                            <a:solidFill>
                              <a:schemeClr val="tx1"/>
                            </a:solidFill>
                            <a:latin typeface="Cambria Math" panose="02040503050406030204"/>
                            <a:ea typeface="微软雅黑" panose="020B0503020204020204" pitchFamily="34" charset="-122"/>
                          </a:rPr>
                          <m:t>1</m:t>
                        </m:r>
                      </m:sub>
                    </m:sSub>
                  </m:oMath>
                </a14:m>
                <a:r>
                  <a:rPr lang="zh-CN" altLang="en-US" sz="2800" dirty="0" smtClean="0">
                    <a:solidFill>
                      <a:schemeClr val="tx1"/>
                    </a:solidFill>
                    <a:latin typeface="仿宋" panose="02010609060101010101" pitchFamily="49" charset="-122"/>
                    <a:ea typeface="仿宋" panose="02010609060101010101" pitchFamily="49" charset="-122"/>
                  </a:rPr>
                  <a:t>是空气折射率。</a:t>
                </a:r>
                <a:endParaRPr lang="en-US" altLang="zh-CN" sz="2800" dirty="0">
                  <a:solidFill>
                    <a:schemeClr val="tx1"/>
                  </a:solidFill>
                  <a:latin typeface="仿宋" panose="02010609060101010101" pitchFamily="49" charset="-122"/>
                  <a:ea typeface="仿宋" panose="02010609060101010101" pitchFamily="49" charset="-122"/>
                </a:endParaRPr>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862013" y="953368"/>
                <a:ext cx="13394877" cy="6281744"/>
              </a:xfrm>
              <a:blipFill rotWithShape="1">
                <a:blip r:embed="rId1"/>
                <a:stretch>
                  <a:fillRect l="-2" t="-4" r="4" b="9"/>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成像基本概念</a:t>
            </a:r>
            <a:endParaRPr lang="zh-CN" altLang="en-US" dirty="0"/>
          </a:p>
        </p:txBody>
      </p:sp>
      <p:pic>
        <p:nvPicPr>
          <p:cNvPr id="4" name="Picture 2" descr="C:\Users\07285yzl\Desktop\红外镜头设计简介\新建文件夹\v2-dc21cbfda96587361b5af7280b4178c1_1440w.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87538" y="1610096"/>
            <a:ext cx="8821265" cy="274561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056090" y="5129832"/>
            <a:ext cx="4801314" cy="461665"/>
          </a:xfrm>
          <a:prstGeom prst="rect">
            <a:avLst/>
          </a:prstGeom>
          <a:noFill/>
        </p:spPr>
        <p:txBody>
          <a:bodyPr wrap="none" rtlCol="0">
            <a:spAutoFit/>
          </a:bodyPr>
          <a:lstStyle/>
          <a:p>
            <a:r>
              <a:rPr lang="zh-CN" altLang="en-US" sz="2400" b="1" dirty="0" smtClean="0">
                <a:solidFill>
                  <a:schemeClr val="accent5"/>
                </a:solidFill>
                <a:latin typeface="仿宋" panose="02010609060101010101" pitchFamily="49" charset="-122"/>
                <a:ea typeface="仿宋" panose="02010609060101010101" pitchFamily="49" charset="-122"/>
              </a:rPr>
              <a:t>正透镜：</a:t>
            </a:r>
            <a:r>
              <a:rPr lang="zh-CN" altLang="en-US" sz="2400" dirty="0" smtClean="0">
                <a:latin typeface="仿宋" panose="02010609060101010101" pitchFamily="49" charset="-122"/>
                <a:ea typeface="仿宋" panose="02010609060101010101" pitchFamily="49" charset="-122"/>
              </a:rPr>
              <a:t>会聚光线，中心厚边缘薄</a:t>
            </a:r>
            <a:endParaRPr lang="en-US" altLang="zh-CN" sz="2400" dirty="0" smtClean="0">
              <a:latin typeface="仿宋" panose="02010609060101010101" pitchFamily="49" charset="-122"/>
              <a:ea typeface="仿宋" panose="02010609060101010101" pitchFamily="49" charset="-122"/>
            </a:endParaRPr>
          </a:p>
        </p:txBody>
      </p:sp>
      <p:sp>
        <p:nvSpPr>
          <p:cNvPr id="6" name="TextBox 5"/>
          <p:cNvSpPr txBox="1"/>
          <p:nvPr/>
        </p:nvSpPr>
        <p:spPr>
          <a:xfrm>
            <a:off x="7072262" y="6786016"/>
            <a:ext cx="4801314" cy="461665"/>
          </a:xfrm>
          <a:prstGeom prst="rect">
            <a:avLst/>
          </a:prstGeom>
          <a:noFill/>
        </p:spPr>
        <p:txBody>
          <a:bodyPr wrap="none" rtlCol="0">
            <a:spAutoFit/>
          </a:bodyPr>
          <a:lstStyle/>
          <a:p>
            <a:r>
              <a:rPr lang="zh-CN" altLang="en-US" sz="2400" b="1" dirty="0" smtClean="0">
                <a:solidFill>
                  <a:schemeClr val="accent5"/>
                </a:solidFill>
                <a:latin typeface="仿宋" panose="02010609060101010101" pitchFamily="49" charset="-122"/>
                <a:ea typeface="仿宋" panose="02010609060101010101" pitchFamily="49" charset="-122"/>
              </a:rPr>
              <a:t>负透镜：</a:t>
            </a:r>
            <a:r>
              <a:rPr lang="zh-CN" altLang="en-US" sz="2400" dirty="0" smtClean="0">
                <a:latin typeface="仿宋" panose="02010609060101010101" pitchFamily="49" charset="-122"/>
                <a:ea typeface="仿宋" panose="02010609060101010101" pitchFamily="49" charset="-122"/>
              </a:rPr>
              <a:t>发散光线，中心薄边缘厚</a:t>
            </a:r>
            <a:endParaRPr lang="zh-CN" altLang="en-US" sz="2400" dirty="0">
              <a:latin typeface="仿宋" panose="02010609060101010101" pitchFamily="49" charset="-122"/>
              <a:ea typeface="仿宋" panose="02010609060101010101" pitchFamily="49" charset="-122"/>
            </a:endParaRPr>
          </a:p>
        </p:txBody>
      </p:sp>
      <p:pic>
        <p:nvPicPr>
          <p:cNvPr id="7" name="Picture 2" descr="C:\Users\07285yzl\Desktop\红外镜头设计简介\新建文件夹\src=http___img.puchedu.cn_uploads_0_26_552930394_564873651.jpg&amp;refer=http___img.puchedu.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5252" y="4553768"/>
            <a:ext cx="5486400" cy="33147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1224302" y="809352"/>
            <a:ext cx="13104596" cy="646331"/>
          </a:xfrm>
          <a:prstGeom prst="rect">
            <a:avLst/>
          </a:prstGeom>
          <a:noFill/>
        </p:spPr>
        <p:txBody>
          <a:bodyPr wrap="square" rtlCol="0">
            <a:spAutoFit/>
          </a:bodyPr>
          <a:lstStyle/>
          <a:p>
            <a:pPr marL="342900" indent="-342900">
              <a:lnSpc>
                <a:spcPct val="150000"/>
              </a:lnSpc>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透镜：</a:t>
            </a:r>
            <a:r>
              <a:rPr lang="zh-CN" altLang="en-US" sz="2400" dirty="0" smtClean="0">
                <a:latin typeface="仿宋" panose="02010609060101010101" pitchFamily="49" charset="-122"/>
                <a:ea typeface="仿宋" panose="02010609060101010101" pitchFamily="49" charset="-122"/>
              </a:rPr>
              <a:t>由球面、平面或非球面包围的一定折射率的介质组成的光学元件</a:t>
            </a:r>
            <a:r>
              <a:rPr lang="en-US" altLang="zh-CN" sz="2400" dirty="0" smtClean="0">
                <a:latin typeface="仿宋" panose="02010609060101010101" pitchFamily="49" charset="-122"/>
                <a:ea typeface="仿宋" panose="02010609060101010101" pitchFamily="49" charset="-122"/>
              </a:rPr>
              <a:t>(</a:t>
            </a:r>
            <a:r>
              <a:rPr lang="zh-CN" altLang="en-US" sz="2400" dirty="0" smtClean="0">
                <a:latin typeface="仿宋" panose="02010609060101010101" pitchFamily="49" charset="-122"/>
                <a:ea typeface="仿宋" panose="02010609060101010101" pitchFamily="49" charset="-122"/>
              </a:rPr>
              <a:t>透镜、棱镜、反射镜</a:t>
            </a:r>
            <a:r>
              <a:rPr lang="en-US" altLang="zh-CN" sz="2400" dirty="0" smtClean="0">
                <a:latin typeface="仿宋" panose="02010609060101010101" pitchFamily="49" charset="-122"/>
                <a:ea typeface="仿宋" panose="02010609060101010101" pitchFamily="49" charset="-122"/>
              </a:rPr>
              <a:t>)</a:t>
            </a:r>
            <a:endParaRPr lang="zh-CN" altLang="en-US" sz="2400" dirty="0">
              <a:latin typeface="仿宋" panose="02010609060101010101" pitchFamily="49" charset="-122"/>
              <a:ea typeface="仿宋" panose="02010609060101010101" pitchFamily="49"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成像基本概念</a:t>
            </a:r>
            <a:endParaRPr lang="zh-CN" altLang="en-US" dirty="0"/>
          </a:p>
        </p:txBody>
      </p:sp>
      <p:pic>
        <p:nvPicPr>
          <p:cNvPr id="7170" name="Picture 2" descr="C:\Users\07285yzl\Desktop\红外镜头设计简介\新建文件夹\src=http___img.puchedu.cn_uploads_1_26_1074362747_3652835302.jpg&amp;refer=http___img.puchedu.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41890" y="751518"/>
            <a:ext cx="524510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7171" name="Picture 3" descr="C:\Users\07285yzl\Desktop\红外镜头设计简介\新建文件夹\9d82d158ccbf6c817889a9eabe3eb13533fa407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3720" y="1032317"/>
            <a:ext cx="6210243" cy="1800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359346" y="1706262"/>
            <a:ext cx="1723549" cy="461665"/>
          </a:xfrm>
          <a:prstGeom prst="rect">
            <a:avLst/>
          </a:prstGeom>
          <a:noFill/>
        </p:spPr>
        <p:txBody>
          <a:bodyPr wrap="none" rtlCol="0">
            <a:spAutoFit/>
          </a:bodyPr>
          <a:lstStyle/>
          <a:p>
            <a:r>
              <a:rPr lang="zh-CN" altLang="en-US" sz="2400" dirty="0" smtClean="0">
                <a:latin typeface="仿宋" panose="02010609060101010101" pitchFamily="49" charset="-122"/>
                <a:ea typeface="仿宋" panose="02010609060101010101" pitchFamily="49" charset="-122"/>
              </a:rPr>
              <a:t>凸透镜成像</a:t>
            </a:r>
            <a:endParaRPr lang="zh-CN" altLang="en-US" sz="2400" dirty="0">
              <a:latin typeface="仿宋" panose="02010609060101010101" pitchFamily="49" charset="-122"/>
              <a:ea typeface="仿宋" panose="02010609060101010101" pitchFamily="49" charset="-122"/>
            </a:endParaRPr>
          </a:p>
        </p:txBody>
      </p:sp>
      <p:sp>
        <p:nvSpPr>
          <p:cNvPr id="9" name="TextBox 8"/>
          <p:cNvSpPr txBox="1"/>
          <p:nvPr/>
        </p:nvSpPr>
        <p:spPr>
          <a:xfrm>
            <a:off x="7676935" y="3215331"/>
            <a:ext cx="6552728" cy="488409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b="1" dirty="0">
                <a:solidFill>
                  <a:schemeClr val="accent5"/>
                </a:solidFill>
                <a:latin typeface="仿宋" panose="02010609060101010101" pitchFamily="49" charset="-122"/>
                <a:ea typeface="仿宋" panose="02010609060101010101" pitchFamily="49" charset="-122"/>
              </a:rPr>
              <a:t>实物或实像：</a:t>
            </a:r>
            <a:r>
              <a:rPr lang="zh-CN" altLang="en-US" sz="2400" dirty="0">
                <a:latin typeface="仿宋" panose="02010609060101010101" pitchFamily="49" charset="-122"/>
                <a:ea typeface="仿宋" panose="02010609060101010101" pitchFamily="49" charset="-122"/>
              </a:rPr>
              <a:t>实际光线汇聚所成的点称为实物点或实像点，由这样的点构成的物或像称为实物或实像，</a:t>
            </a:r>
            <a:r>
              <a:rPr lang="zh-CN" altLang="en-US" sz="2400" b="1" dirty="0">
                <a:solidFill>
                  <a:schemeClr val="accent5"/>
                </a:solidFill>
                <a:latin typeface="仿宋" panose="02010609060101010101" pitchFamily="49" charset="-122"/>
                <a:ea typeface="仿宋" panose="02010609060101010101" pitchFamily="49" charset="-122"/>
              </a:rPr>
              <a:t>实像可以被眼睛和其他接收器接收</a:t>
            </a:r>
            <a:r>
              <a:rPr lang="zh-CN" altLang="en-US" sz="2400" b="1" dirty="0" smtClean="0">
                <a:solidFill>
                  <a:schemeClr val="accent5"/>
                </a:solidFill>
                <a:latin typeface="仿宋" panose="02010609060101010101" pitchFamily="49" charset="-122"/>
                <a:ea typeface="仿宋" panose="02010609060101010101" pitchFamily="49" charset="-122"/>
              </a:rPr>
              <a:t>。</a:t>
            </a:r>
            <a:endParaRPr lang="en-US" altLang="zh-CN" sz="2400" dirty="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400" b="1" dirty="0">
                <a:solidFill>
                  <a:schemeClr val="accent5"/>
                </a:solidFill>
                <a:latin typeface="仿宋" panose="02010609060101010101" pitchFamily="49" charset="-122"/>
                <a:ea typeface="仿宋" panose="02010609060101010101" pitchFamily="49" charset="-122"/>
              </a:rPr>
              <a:t>虚物或虚像：</a:t>
            </a:r>
            <a:r>
              <a:rPr lang="zh-CN" altLang="en-US" sz="2400" dirty="0">
                <a:latin typeface="仿宋" panose="02010609060101010101" pitchFamily="49" charset="-122"/>
                <a:ea typeface="仿宋" panose="02010609060101010101" pitchFamily="49" charset="-122"/>
              </a:rPr>
              <a:t>由光线的延长线汇聚所成的物点或像点，称为虚物点或虚像点，由这样点构成的物或像称为虚物或虚像，</a:t>
            </a:r>
            <a:r>
              <a:rPr lang="zh-CN" altLang="en-US" sz="2400" b="1" dirty="0">
                <a:solidFill>
                  <a:schemeClr val="accent5"/>
                </a:solidFill>
                <a:latin typeface="仿宋" panose="02010609060101010101" pitchFamily="49" charset="-122"/>
                <a:ea typeface="仿宋" panose="02010609060101010101" pitchFamily="49" charset="-122"/>
              </a:rPr>
              <a:t>虚像可以被人眼观察，但是不能被接收器接收。</a:t>
            </a:r>
            <a:endParaRPr lang="en-US" altLang="zh-CN" sz="2400" b="1" dirty="0">
              <a:solidFill>
                <a:schemeClr val="accent5"/>
              </a:solidFill>
              <a:latin typeface="仿宋" panose="02010609060101010101" pitchFamily="49" charset="-122"/>
              <a:ea typeface="仿宋" panose="02010609060101010101" pitchFamily="49" charset="-122"/>
            </a:endParaRPr>
          </a:p>
          <a:p>
            <a:endParaRPr lang="zh-CN" altLang="en-US" dirty="0"/>
          </a:p>
        </p:txBody>
      </p:sp>
      <p:pic>
        <p:nvPicPr>
          <p:cNvPr id="7173" name="Picture 5" descr="C:\Users\07285yzl\Desktop\红外镜头设计简介\新建文件夹\O6L7Z9Q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40142" y="4337744"/>
            <a:ext cx="3839884" cy="376166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359346" y="5724981"/>
            <a:ext cx="1723549" cy="461665"/>
          </a:xfrm>
          <a:prstGeom prst="rect">
            <a:avLst/>
          </a:prstGeom>
          <a:noFill/>
        </p:spPr>
        <p:txBody>
          <a:bodyPr wrap="none" rtlCol="0">
            <a:spAutoFit/>
          </a:bodyPr>
          <a:lstStyle/>
          <a:p>
            <a:r>
              <a:rPr lang="zh-CN" altLang="en-US" sz="2400" dirty="0" smtClean="0">
                <a:latin typeface="仿宋" panose="02010609060101010101" pitchFamily="49" charset="-122"/>
                <a:ea typeface="仿宋" panose="02010609060101010101" pitchFamily="49" charset="-122"/>
              </a:rPr>
              <a:t>凹透镜成像</a:t>
            </a:r>
            <a:endParaRPr lang="zh-CN" altLang="en-US" sz="2400" dirty="0">
              <a:latin typeface="仿宋" panose="02010609060101010101" pitchFamily="49" charset="-122"/>
              <a:ea typeface="仿宋" panose="02010609060101010101" pitchFamily="49"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成像基本概念</a:t>
            </a:r>
            <a:endParaRPr lang="zh-CN" altLang="en-US" dirty="0"/>
          </a:p>
        </p:txBody>
      </p:sp>
      <p:pic>
        <p:nvPicPr>
          <p:cNvPr id="5123" name="Picture 3" descr="C:\Users\07285yzl\Desktop\红外镜头设计简介\新建文件夹\src=http___www.51wendang.com_pic_ed65e05e4e746b07373ddfc6_5-810-jpg_6-1080-0-0-1080.jpg&amp;refer=http___www.51wendang.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67458" y="737344"/>
            <a:ext cx="9721080" cy="72908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成像基本概念</a:t>
            </a:r>
            <a:endParaRPr lang="zh-CN" altLang="en-US" dirty="0"/>
          </a:p>
        </p:txBody>
      </p:sp>
      <p:pic>
        <p:nvPicPr>
          <p:cNvPr id="15362" name="Picture 2" descr="C:\Users\07285yzl\Desktop\红外镜头设计简介\新建文件夹\src=http___www.51wendang.com_pic_ff708eed59dd62059b115f15_3-810-jpg_6-1170-0-0-1170.jpg&amp;refer=http___www.51wendang.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31354" y="1025376"/>
            <a:ext cx="8525246" cy="590209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9072315" y="2609552"/>
            <a:ext cx="4320480" cy="175432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b="1" dirty="0">
                <a:solidFill>
                  <a:schemeClr val="accent5"/>
                </a:solidFill>
                <a:latin typeface="仿宋" panose="02010609060101010101" pitchFamily="49" charset="-122"/>
                <a:ea typeface="仿宋" panose="02010609060101010101" pitchFamily="49" charset="-122"/>
              </a:rPr>
              <a:t>光学</a:t>
            </a:r>
            <a:r>
              <a:rPr lang="zh-CN" altLang="en-US" sz="2400" b="1" dirty="0" smtClean="0">
                <a:solidFill>
                  <a:schemeClr val="accent5"/>
                </a:solidFill>
                <a:latin typeface="仿宋" panose="02010609060101010101" pitchFamily="49" charset="-122"/>
                <a:ea typeface="仿宋" panose="02010609060101010101" pitchFamily="49" charset="-122"/>
              </a:rPr>
              <a:t>系统作用：</a:t>
            </a:r>
            <a:r>
              <a:rPr lang="zh-CN" altLang="en-US" sz="2400" dirty="0" smtClean="0">
                <a:latin typeface="仿宋" panose="02010609060101010101" pitchFamily="49" charset="-122"/>
                <a:ea typeface="仿宋" panose="02010609060101010101" pitchFamily="49" charset="-122"/>
              </a:rPr>
              <a:t>收集</a:t>
            </a:r>
            <a:r>
              <a:rPr lang="zh-CN" altLang="en-US" sz="2400" dirty="0">
                <a:latin typeface="仿宋" panose="02010609060101010101" pitchFamily="49" charset="-122"/>
                <a:ea typeface="仿宋" panose="02010609060101010101" pitchFamily="49" charset="-122"/>
              </a:rPr>
              <a:t>、汇聚来自目标场景的红外辐射能量</a:t>
            </a:r>
            <a:endParaRPr lang="zh-CN" altLang="en-US" dirty="0">
              <a:latin typeface="仿宋" panose="02010609060101010101" pitchFamily="49" charset="-122"/>
              <a:ea typeface="仿宋" panose="02010609060101010101"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共轴光学系统、理想光学系统</a:t>
            </a:r>
            <a:endParaRPr lang="zh-CN" altLang="en-US" dirty="0"/>
          </a:p>
        </p:txBody>
      </p:sp>
      <p:sp>
        <p:nvSpPr>
          <p:cNvPr id="4" name="TextBox 3"/>
          <p:cNvSpPr txBox="1"/>
          <p:nvPr/>
        </p:nvSpPr>
        <p:spPr>
          <a:xfrm>
            <a:off x="575370" y="808653"/>
            <a:ext cx="13537504" cy="4616648"/>
          </a:xfrm>
          <a:prstGeom prst="rect">
            <a:avLst/>
          </a:prstGeom>
          <a:noFill/>
        </p:spPr>
        <p:txBody>
          <a:bodyPr wrap="square" rtlCol="0">
            <a:spAutoFit/>
          </a:bodyPr>
          <a:lstStyle/>
          <a:p>
            <a:pPr marL="342900" indent="-342900">
              <a:lnSpc>
                <a:spcPct val="150000"/>
              </a:lnSpc>
              <a:buFont typeface="Wingdings" panose="05000000000000000000" pitchFamily="2" charset="2"/>
              <a:buChar char="p"/>
            </a:pPr>
            <a:r>
              <a:rPr lang="zh-CN" altLang="en-US" sz="2000" b="1" dirty="0" smtClean="0">
                <a:solidFill>
                  <a:schemeClr val="accent5"/>
                </a:solidFill>
                <a:latin typeface="仿宋" panose="02010609060101010101" pitchFamily="49" charset="-122"/>
                <a:ea typeface="仿宋" panose="02010609060101010101" pitchFamily="49" charset="-122"/>
              </a:rPr>
              <a:t>共轴光学系统：</a:t>
            </a:r>
            <a:r>
              <a:rPr lang="zh-CN" altLang="en-US" sz="2000" dirty="0" smtClean="0">
                <a:latin typeface="仿宋" panose="02010609060101010101" pitchFamily="49" charset="-122"/>
                <a:ea typeface="仿宋" panose="02010609060101010101" pitchFamily="49" charset="-122"/>
              </a:rPr>
              <a:t>组成光学系统的各光学元件的表面曲率中心在同一条直线上的光学系统</a:t>
            </a:r>
            <a:endParaRPr lang="en-US" altLang="zh-CN" sz="20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r>
              <a:rPr lang="zh-CN" altLang="en-US" sz="2000" b="1" dirty="0">
                <a:solidFill>
                  <a:schemeClr val="accent5"/>
                </a:solidFill>
                <a:latin typeface="仿宋" panose="02010609060101010101" pitchFamily="49" charset="-122"/>
                <a:ea typeface="仿宋" panose="02010609060101010101" pitchFamily="49" charset="-122"/>
              </a:rPr>
              <a:t>近轴光学系统</a:t>
            </a:r>
            <a:r>
              <a:rPr lang="zh-CN" altLang="en-US" sz="2000" dirty="0" smtClean="0">
                <a:latin typeface="仿宋" panose="02010609060101010101" pitchFamily="49" charset="-122"/>
                <a:ea typeface="仿宋" panose="02010609060101010101" pitchFamily="49" charset="-122"/>
              </a:rPr>
              <a:t>：近轴细</a:t>
            </a:r>
            <a:r>
              <a:rPr lang="zh-CN" altLang="en-US" sz="2000" dirty="0">
                <a:latin typeface="仿宋" panose="02010609060101010101" pitchFamily="49" charset="-122"/>
                <a:ea typeface="仿宋" panose="02010609060101010101" pitchFamily="49" charset="-122"/>
              </a:rPr>
              <a:t>光束，成完善像</a:t>
            </a:r>
            <a:endParaRPr lang="en-US" altLang="zh-CN" sz="2000" dirty="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r>
              <a:rPr lang="zh-CN" altLang="en-US" sz="2000" b="1" dirty="0">
                <a:solidFill>
                  <a:schemeClr val="accent5"/>
                </a:solidFill>
                <a:latin typeface="仿宋" panose="02010609060101010101" pitchFamily="49" charset="-122"/>
                <a:ea typeface="仿宋" panose="02010609060101010101" pitchFamily="49" charset="-122"/>
              </a:rPr>
              <a:t>理想光学系统（高斯光学）</a:t>
            </a:r>
            <a:r>
              <a:rPr lang="zh-CN" altLang="en-US" sz="2000" dirty="0" smtClean="0">
                <a:latin typeface="仿宋" panose="02010609060101010101" pitchFamily="49" charset="-122"/>
                <a:ea typeface="仿宋" panose="02010609060101010101" pitchFamily="49" charset="-122"/>
              </a:rPr>
              <a:t>：</a:t>
            </a:r>
            <a:r>
              <a:rPr lang="zh-CN" altLang="en-US" sz="2000" dirty="0">
                <a:latin typeface="仿宋" panose="02010609060101010101" pitchFamily="49" charset="-122"/>
                <a:ea typeface="仿宋" panose="02010609060101010101" pitchFamily="49" charset="-122"/>
              </a:rPr>
              <a:t>为了估计和比较实际光学系统成像</a:t>
            </a:r>
            <a:r>
              <a:rPr lang="zh-CN" altLang="en-US" sz="2000" dirty="0" smtClean="0">
                <a:latin typeface="仿宋" panose="02010609060101010101" pitchFamily="49" charset="-122"/>
                <a:ea typeface="仿宋" panose="02010609060101010101" pitchFamily="49" charset="-122"/>
              </a:rPr>
              <a:t>质量是否</a:t>
            </a:r>
            <a:r>
              <a:rPr lang="zh-CN" altLang="en-US" sz="2000" dirty="0">
                <a:latin typeface="仿宋" panose="02010609060101010101" pitchFamily="49" charset="-122"/>
                <a:ea typeface="仿宋" panose="02010609060101010101" pitchFamily="49" charset="-122"/>
              </a:rPr>
              <a:t>符合</a:t>
            </a:r>
            <a:r>
              <a:rPr lang="zh-CN" altLang="en-US" sz="2000" dirty="0" smtClean="0">
                <a:latin typeface="仿宋" panose="02010609060101010101" pitchFamily="49" charset="-122"/>
                <a:ea typeface="仿宋" panose="02010609060101010101" pitchFamily="49" charset="-122"/>
              </a:rPr>
              <a:t>完善成像条件而</a:t>
            </a:r>
            <a:r>
              <a:rPr lang="zh-CN" altLang="en-US" sz="2000" dirty="0">
                <a:latin typeface="仿宋" panose="02010609060101010101" pitchFamily="49" charset="-122"/>
                <a:ea typeface="仿宋" panose="02010609060101010101" pitchFamily="49" charset="-122"/>
              </a:rPr>
              <a:t>建的</a:t>
            </a:r>
            <a:r>
              <a:rPr lang="zh-CN" altLang="en-US" sz="2000" dirty="0" smtClean="0">
                <a:latin typeface="仿宋" panose="02010609060101010101" pitchFamily="49" charset="-122"/>
                <a:ea typeface="仿宋" panose="02010609060101010101" pitchFamily="49" charset="-122"/>
              </a:rPr>
              <a:t>理论模型，它对任意</a:t>
            </a:r>
            <a:r>
              <a:rPr lang="zh-CN" altLang="en-US" sz="2000" dirty="0">
                <a:latin typeface="仿宋" panose="02010609060101010101" pitchFamily="49" charset="-122"/>
                <a:ea typeface="仿宋" panose="02010609060101010101" pitchFamily="49" charset="-122"/>
              </a:rPr>
              <a:t>大的物体、以任一宽的光束成像都是完善</a:t>
            </a:r>
            <a:r>
              <a:rPr lang="zh-CN" altLang="en-US" sz="2000" dirty="0" smtClean="0">
                <a:latin typeface="仿宋" panose="02010609060101010101" pitchFamily="49" charset="-122"/>
                <a:ea typeface="仿宋" panose="02010609060101010101" pitchFamily="49" charset="-122"/>
              </a:rPr>
              <a:t>的</a:t>
            </a:r>
            <a:endParaRPr lang="en-US" altLang="zh-CN" sz="2000" dirty="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r>
              <a:rPr lang="zh-CN" altLang="en-US" sz="2000" b="1" dirty="0">
                <a:solidFill>
                  <a:schemeClr val="accent5"/>
                </a:solidFill>
                <a:latin typeface="仿宋" panose="02010609060101010101" pitchFamily="49" charset="-122"/>
                <a:ea typeface="仿宋" panose="02010609060101010101" pitchFamily="49" charset="-122"/>
              </a:rPr>
              <a:t>物像共轭关系</a:t>
            </a:r>
            <a:endParaRPr lang="en-US" altLang="zh-CN" sz="2000" b="1" dirty="0">
              <a:solidFill>
                <a:schemeClr val="accent5"/>
              </a:solidFill>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000" dirty="0">
                <a:latin typeface="仿宋" panose="02010609060101010101" pitchFamily="49" charset="-122"/>
                <a:ea typeface="仿宋" panose="02010609060101010101" pitchFamily="49" charset="-122"/>
              </a:rPr>
              <a:t>物像空间</a:t>
            </a:r>
            <a:r>
              <a:rPr lang="zh-CN" altLang="en-US" sz="2000" b="1" dirty="0">
                <a:solidFill>
                  <a:schemeClr val="accent5"/>
                </a:solidFill>
                <a:latin typeface="仿宋" panose="02010609060101010101" pitchFamily="49" charset="-122"/>
                <a:ea typeface="仿宋" panose="02010609060101010101" pitchFamily="49" charset="-122"/>
              </a:rPr>
              <a:t>共轭点</a:t>
            </a:r>
            <a:r>
              <a:rPr lang="zh-CN" altLang="en-US" sz="2000" dirty="0">
                <a:latin typeface="仿宋" panose="02010609060101010101" pitchFamily="49" charset="-122"/>
                <a:ea typeface="仿宋" panose="02010609060101010101" pitchFamily="49" charset="-122"/>
              </a:rPr>
              <a:t>：物空间的每一点对应像空间中相应的点，且只对应一个点，这两个对应点称为物像空间共轭点</a:t>
            </a:r>
            <a:endParaRPr lang="en-US" altLang="zh-CN" sz="2000" dirty="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000" dirty="0">
                <a:latin typeface="仿宋" panose="02010609060101010101" pitchFamily="49" charset="-122"/>
                <a:ea typeface="仿宋" panose="02010609060101010101" pitchFamily="49" charset="-122"/>
              </a:rPr>
              <a:t>物空间</a:t>
            </a:r>
            <a:r>
              <a:rPr lang="zh-CN" altLang="en-US" sz="2000" b="1" dirty="0">
                <a:solidFill>
                  <a:schemeClr val="accent5"/>
                </a:solidFill>
                <a:latin typeface="仿宋" panose="02010609060101010101" pitchFamily="49" charset="-122"/>
                <a:ea typeface="仿宋" panose="02010609060101010101" pitchFamily="49" charset="-122"/>
              </a:rPr>
              <a:t>共轭线</a:t>
            </a:r>
            <a:r>
              <a:rPr lang="zh-CN" altLang="en-US" sz="2000" dirty="0">
                <a:latin typeface="仿宋" panose="02010609060101010101" pitchFamily="49" charset="-122"/>
                <a:ea typeface="仿宋" panose="02010609060101010101" pitchFamily="49" charset="-122"/>
              </a:rPr>
              <a:t>：物空间的每一条直线对应像空间中相应的直线，且只对应一条，这两条对应直线称为物像空间共轭线</a:t>
            </a:r>
            <a:endParaRPr lang="en-US" altLang="zh-CN" sz="2000" dirty="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000" dirty="0">
                <a:latin typeface="仿宋" panose="02010609060101010101" pitchFamily="49" charset="-122"/>
                <a:ea typeface="仿宋" panose="02010609060101010101" pitchFamily="49" charset="-122"/>
              </a:rPr>
              <a:t>物空间的任意一点位于一条直线上，那么在像空间内的共轭点必在该直线的共轭线</a:t>
            </a:r>
            <a:r>
              <a:rPr lang="zh-CN" altLang="en-US" sz="2000" dirty="0" smtClean="0">
                <a:latin typeface="仿宋" panose="02010609060101010101" pitchFamily="49" charset="-122"/>
                <a:ea typeface="仿宋" panose="02010609060101010101" pitchFamily="49" charset="-122"/>
              </a:rPr>
              <a:t>上</a:t>
            </a:r>
            <a:endParaRPr lang="en-US" altLang="zh-CN" sz="2000" dirty="0" smtClean="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000" dirty="0" smtClean="0">
                <a:latin typeface="仿宋" panose="02010609060101010101" pitchFamily="49" charset="-122"/>
                <a:ea typeface="仿宋" panose="02010609060101010101" pitchFamily="49" charset="-122"/>
              </a:rPr>
              <a:t>物空间任一平面对应像空间有一共轭平面，物空间每一同心光束对应像空间有一共轭同心光束</a:t>
            </a:r>
            <a:endParaRPr lang="en-US" altLang="zh-CN" sz="2000" dirty="0">
              <a:latin typeface="仿宋" panose="02010609060101010101" pitchFamily="49" charset="-122"/>
              <a:ea typeface="仿宋" panose="02010609060101010101" pitchFamily="49" charset="-122"/>
            </a:endParaRPr>
          </a:p>
          <a:p>
            <a:pPr marL="342900" indent="-342900">
              <a:buFont typeface="Wingdings" panose="05000000000000000000" pitchFamily="2" charset="2"/>
              <a:buChar char="p"/>
            </a:pPr>
            <a:endParaRPr lang="zh-CN" altLang="en-US" sz="2400" dirty="0">
              <a:latin typeface="仿宋" panose="02010609060101010101" pitchFamily="49" charset="-122"/>
              <a:ea typeface="仿宋" panose="02010609060101010101" pitchFamily="49" charset="-122"/>
            </a:endParaRPr>
          </a:p>
        </p:txBody>
      </p:sp>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91593" y="5273848"/>
            <a:ext cx="7812631" cy="252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焦点与焦平面</a:t>
            </a:r>
            <a:endParaRPr lang="zh-CN" altLang="en-US" dirty="0"/>
          </a:p>
        </p:txBody>
      </p:sp>
      <p:pic>
        <p:nvPicPr>
          <p:cNvPr id="4"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6480026" y="726132"/>
            <a:ext cx="6836642" cy="33912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223268" y="4409752"/>
            <a:ext cx="5543922" cy="147732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dirty="0" smtClean="0">
                <a:latin typeface="仿宋" panose="02010609060101010101" pitchFamily="49" charset="-122"/>
                <a:ea typeface="仿宋" panose="02010609060101010101" pitchFamily="49" charset="-122"/>
              </a:rPr>
              <a:t>如上图，</a:t>
            </a:r>
            <a:r>
              <a:rPr lang="en-US" altLang="zh-CN" sz="2000" dirty="0" smtClean="0">
                <a:latin typeface="仿宋" panose="02010609060101010101" pitchFamily="49" charset="-122"/>
                <a:ea typeface="仿宋" panose="02010609060101010101" pitchFamily="49" charset="-122"/>
              </a:rPr>
              <a:t>F</a:t>
            </a:r>
            <a:r>
              <a:rPr lang="zh-CN" altLang="en-US" sz="2000" dirty="0" smtClean="0">
                <a:latin typeface="仿宋" panose="02010609060101010101" pitchFamily="49" charset="-122"/>
                <a:ea typeface="仿宋" panose="02010609060101010101" pitchFamily="49" charset="-122"/>
              </a:rPr>
              <a:t>和</a:t>
            </a:r>
            <a:r>
              <a:rPr lang="en-US" altLang="zh-CN" sz="2000" dirty="0" smtClean="0">
                <a:latin typeface="仿宋" panose="02010609060101010101" pitchFamily="49" charset="-122"/>
                <a:ea typeface="仿宋" panose="02010609060101010101" pitchFamily="49" charset="-122"/>
              </a:rPr>
              <a:t>F’</a:t>
            </a:r>
            <a:r>
              <a:rPr lang="zh-CN" altLang="en-US" sz="2000" dirty="0" smtClean="0">
                <a:latin typeface="仿宋" panose="02010609060101010101" pitchFamily="49" charset="-122"/>
                <a:ea typeface="仿宋" panose="02010609060101010101" pitchFamily="49" charset="-122"/>
              </a:rPr>
              <a:t>分别叫做</a:t>
            </a:r>
            <a:r>
              <a:rPr lang="zh-CN" altLang="en-US" sz="2000" b="1" dirty="0" smtClean="0">
                <a:solidFill>
                  <a:schemeClr val="accent5"/>
                </a:solidFill>
                <a:latin typeface="仿宋" panose="02010609060101010101" pitchFamily="49" charset="-122"/>
                <a:ea typeface="仿宋" panose="02010609060101010101" pitchFamily="49" charset="-122"/>
              </a:rPr>
              <a:t>物方焦点</a:t>
            </a:r>
            <a:r>
              <a:rPr lang="zh-CN" altLang="en-US" sz="2000" dirty="0" smtClean="0">
                <a:latin typeface="仿宋" panose="02010609060101010101" pitchFamily="49" charset="-122"/>
                <a:ea typeface="仿宋" panose="02010609060101010101" pitchFamily="49" charset="-122"/>
              </a:rPr>
              <a:t>和</a:t>
            </a:r>
            <a:r>
              <a:rPr lang="zh-CN" altLang="en-US" sz="2000" b="1" dirty="0" smtClean="0">
                <a:solidFill>
                  <a:schemeClr val="accent5"/>
                </a:solidFill>
                <a:latin typeface="仿宋" panose="02010609060101010101" pitchFamily="49" charset="-122"/>
                <a:ea typeface="仿宋" panose="02010609060101010101" pitchFamily="49" charset="-122"/>
              </a:rPr>
              <a:t>像方焦点</a:t>
            </a:r>
            <a:r>
              <a:rPr lang="zh-CN" altLang="en-US" sz="2000" dirty="0" smtClean="0">
                <a:latin typeface="仿宋" panose="02010609060101010101" pitchFamily="49" charset="-122"/>
                <a:ea typeface="仿宋" panose="02010609060101010101" pitchFamily="49" charset="-122"/>
              </a:rPr>
              <a:t>，这两个点不是共轭点，他们的共轭点在无穷远处。</a:t>
            </a:r>
            <a:endParaRPr lang="en-US" altLang="zh-CN" sz="2000" dirty="0" smtClean="0">
              <a:latin typeface="仿宋" panose="02010609060101010101" pitchFamily="49" charset="-122"/>
              <a:ea typeface="仿宋" panose="02010609060101010101" pitchFamily="49" charset="-122"/>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370" y="737344"/>
            <a:ext cx="5143500" cy="3324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6047978" y="4193728"/>
            <a:ext cx="7872982" cy="286232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dirty="0" smtClean="0">
                <a:latin typeface="仿宋" panose="02010609060101010101" pitchFamily="49" charset="-122"/>
                <a:ea typeface="仿宋" panose="02010609060101010101" pitchFamily="49" charset="-122"/>
              </a:rPr>
              <a:t>经过像方焦点</a:t>
            </a:r>
            <a:r>
              <a:rPr lang="en-US" altLang="zh-CN" sz="2000" dirty="0" smtClean="0">
                <a:latin typeface="仿宋" panose="02010609060101010101" pitchFamily="49" charset="-122"/>
                <a:ea typeface="仿宋" panose="02010609060101010101" pitchFamily="49" charset="-122"/>
              </a:rPr>
              <a:t>F’</a:t>
            </a:r>
            <a:r>
              <a:rPr lang="zh-CN" altLang="en-US" sz="2000" dirty="0" smtClean="0">
                <a:latin typeface="仿宋" panose="02010609060101010101" pitchFamily="49" charset="-122"/>
                <a:ea typeface="仿宋" panose="02010609060101010101" pitchFamily="49" charset="-122"/>
              </a:rPr>
              <a:t>作一垂轴平面称为</a:t>
            </a:r>
            <a:r>
              <a:rPr lang="zh-CN" altLang="en-US" sz="2000" b="1" dirty="0" smtClean="0">
                <a:solidFill>
                  <a:schemeClr val="accent5"/>
                </a:solidFill>
                <a:latin typeface="仿宋" panose="02010609060101010101" pitchFamily="49" charset="-122"/>
                <a:ea typeface="仿宋" panose="02010609060101010101" pitchFamily="49" charset="-122"/>
              </a:rPr>
              <a:t>像方焦平面</a:t>
            </a:r>
            <a:r>
              <a:rPr lang="zh-CN" altLang="en-US" sz="2000" dirty="0" smtClean="0">
                <a:latin typeface="仿宋" panose="02010609060101010101" pitchFamily="49" charset="-122"/>
                <a:ea typeface="仿宋" panose="02010609060101010101" pitchFamily="49" charset="-122"/>
              </a:rPr>
              <a:t>，显然这是物方无限远处垂轴平面的共轭面。由物方无限远处发射的任何方向的平行光束，径光学系统后必汇聚于像方焦平面上一点</a:t>
            </a:r>
            <a:r>
              <a:rPr lang="en-US" altLang="zh-CN" sz="2000" dirty="0" smtClean="0">
                <a:latin typeface="仿宋" panose="02010609060101010101" pitchFamily="49" charset="-122"/>
                <a:ea typeface="仿宋" panose="02010609060101010101" pitchFamily="49" charset="-122"/>
              </a:rPr>
              <a:t>B’</a:t>
            </a:r>
            <a:r>
              <a:rPr lang="zh-CN" altLang="en-US" sz="2000" dirty="0" smtClean="0">
                <a:latin typeface="仿宋" panose="02010609060101010101" pitchFamily="49" charset="-122"/>
                <a:ea typeface="仿宋" panose="02010609060101010101" pitchFamily="49" charset="-122"/>
              </a:rPr>
              <a:t>。</a:t>
            </a:r>
            <a:endParaRPr lang="en-US" altLang="zh-CN" sz="2000" dirty="0" smtClean="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000" dirty="0" smtClean="0">
                <a:latin typeface="仿宋" panose="02010609060101010101" pitchFamily="49" charset="-122"/>
                <a:ea typeface="仿宋" panose="02010609060101010101" pitchFamily="49" charset="-122"/>
              </a:rPr>
              <a:t>如上图所示，通过物方焦点</a:t>
            </a:r>
            <a:r>
              <a:rPr lang="en-US" altLang="zh-CN" sz="2000" dirty="0" smtClean="0">
                <a:latin typeface="仿宋" panose="02010609060101010101" pitchFamily="49" charset="-122"/>
                <a:ea typeface="仿宋" panose="02010609060101010101" pitchFamily="49" charset="-122"/>
              </a:rPr>
              <a:t>F</a:t>
            </a:r>
            <a:r>
              <a:rPr lang="zh-CN" altLang="en-US" sz="2000" dirty="0" smtClean="0">
                <a:latin typeface="仿宋" panose="02010609060101010101" pitchFamily="49" charset="-122"/>
                <a:ea typeface="仿宋" panose="02010609060101010101" pitchFamily="49" charset="-122"/>
              </a:rPr>
              <a:t>的垂轴平面称为</a:t>
            </a:r>
            <a:r>
              <a:rPr lang="zh-CN" altLang="en-US" sz="2000" b="1" dirty="0" smtClean="0">
                <a:solidFill>
                  <a:schemeClr val="accent5"/>
                </a:solidFill>
                <a:latin typeface="仿宋" panose="02010609060101010101" pitchFamily="49" charset="-122"/>
                <a:ea typeface="仿宋" panose="02010609060101010101" pitchFamily="49" charset="-122"/>
              </a:rPr>
              <a:t>物方焦平面</a:t>
            </a:r>
            <a:r>
              <a:rPr lang="zh-CN" altLang="en-US" sz="2000" dirty="0" smtClean="0">
                <a:latin typeface="仿宋" panose="02010609060101010101" pitchFamily="49" charset="-122"/>
                <a:ea typeface="仿宋" panose="02010609060101010101" pitchFamily="49" charset="-122"/>
              </a:rPr>
              <a:t>，它和像方无限远处的垂轴平面相共轭，自物方焦平面上任一点发出的光束径光学系统以后，均以平行光出射。</a:t>
            </a:r>
            <a:endParaRPr lang="zh-CN" altLang="en-US" sz="2000" dirty="0">
              <a:latin typeface="仿宋" panose="02010609060101010101" pitchFamily="49" charset="-122"/>
              <a:ea typeface="仿宋" panose="02010609060101010101" pitchFamily="49"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主点与主平面</a:t>
            </a:r>
            <a:endParaRPr lang="zh-CN" altLang="en-US" dirty="0"/>
          </a:p>
        </p:txBody>
      </p:sp>
      <p:pic>
        <p:nvPicPr>
          <p:cNvPr id="4"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55690" y="737344"/>
            <a:ext cx="5972175" cy="3790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1300932" y="4913808"/>
            <a:ext cx="11737304" cy="286232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如上图所示，</a:t>
            </a:r>
            <a:r>
              <a:rPr lang="en-US" altLang="zh-CN" sz="2400" dirty="0" smtClean="0">
                <a:latin typeface="仿宋" panose="02010609060101010101" pitchFamily="49" charset="-122"/>
                <a:ea typeface="仿宋" panose="02010609060101010101" pitchFamily="49" charset="-122"/>
              </a:rPr>
              <a:t>QH</a:t>
            </a:r>
            <a:r>
              <a:rPr lang="zh-CN" altLang="en-US" sz="2400" dirty="0" smtClean="0">
                <a:latin typeface="仿宋" panose="02010609060101010101" pitchFamily="49" charset="-122"/>
                <a:ea typeface="仿宋" panose="02010609060101010101" pitchFamily="49" charset="-122"/>
              </a:rPr>
              <a:t>和</a:t>
            </a:r>
            <a:r>
              <a:rPr lang="en-US" altLang="zh-CN" sz="2400" dirty="0" smtClean="0">
                <a:latin typeface="仿宋" panose="02010609060101010101" pitchFamily="49" charset="-122"/>
                <a:ea typeface="仿宋" panose="02010609060101010101" pitchFamily="49" charset="-122"/>
              </a:rPr>
              <a:t>Q’H’</a:t>
            </a:r>
            <a:r>
              <a:rPr lang="zh-CN" altLang="en-US" sz="2400" dirty="0" smtClean="0">
                <a:latin typeface="仿宋" panose="02010609060101010101" pitchFamily="49" charset="-122"/>
                <a:ea typeface="仿宋" panose="02010609060101010101" pitchFamily="49" charset="-122"/>
              </a:rPr>
              <a:t>分别称为物方主面和像方主面，这两个面是共轭面；点</a:t>
            </a:r>
            <a:r>
              <a:rPr lang="en-US" altLang="zh-CN" sz="2400" dirty="0" smtClean="0">
                <a:latin typeface="仿宋" panose="02010609060101010101" pitchFamily="49" charset="-122"/>
                <a:ea typeface="仿宋" panose="02010609060101010101" pitchFamily="49" charset="-122"/>
              </a:rPr>
              <a:t>H</a:t>
            </a:r>
            <a:r>
              <a:rPr lang="zh-CN" altLang="en-US" sz="2400" dirty="0" smtClean="0">
                <a:latin typeface="仿宋" panose="02010609060101010101" pitchFamily="49" charset="-122"/>
                <a:ea typeface="仿宋" panose="02010609060101010101" pitchFamily="49" charset="-122"/>
              </a:rPr>
              <a:t>和</a:t>
            </a:r>
            <a:r>
              <a:rPr lang="en-US" altLang="zh-CN" sz="2400" dirty="0" smtClean="0">
                <a:latin typeface="仿宋" panose="02010609060101010101" pitchFamily="49" charset="-122"/>
                <a:ea typeface="仿宋" panose="02010609060101010101" pitchFamily="49" charset="-122"/>
              </a:rPr>
              <a:t>H’</a:t>
            </a:r>
            <a:r>
              <a:rPr lang="zh-CN" altLang="en-US" sz="2400" dirty="0" smtClean="0">
                <a:latin typeface="仿宋" panose="02010609060101010101" pitchFamily="49" charset="-122"/>
                <a:ea typeface="仿宋" panose="02010609060101010101" pitchFamily="49" charset="-122"/>
              </a:rPr>
              <a:t>分别叫做物方主点和像方主点，这两个点是一对共轭点。</a:t>
            </a:r>
            <a:endParaRPr lang="en-US" altLang="zh-CN" sz="2400" dirty="0" smtClean="0">
              <a:latin typeface="仿宋" panose="02010609060101010101" pitchFamily="49" charset="-122"/>
              <a:ea typeface="仿宋" panose="02010609060101010101" pitchFamily="49" charset="-122"/>
            </a:endParaRPr>
          </a:p>
          <a:p>
            <a:pPr>
              <a:lnSpc>
                <a:spcPct val="150000"/>
              </a:lnSpc>
            </a:pPr>
            <a:endParaRPr lang="en-US" altLang="zh-CN" sz="2400" dirty="0" smtClean="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b="1" dirty="0" smtClean="0">
                <a:solidFill>
                  <a:schemeClr val="accent5"/>
                </a:solidFill>
                <a:latin typeface="仿宋" panose="02010609060101010101" pitchFamily="49" charset="-122"/>
                <a:ea typeface="仿宋" panose="02010609060101010101" pitchFamily="49" charset="-122"/>
              </a:rPr>
              <a:t>焦距：</a:t>
            </a:r>
            <a:r>
              <a:rPr lang="zh-CN" altLang="en-US" sz="2400" dirty="0" smtClean="0">
                <a:latin typeface="仿宋" panose="02010609060101010101" pitchFamily="49" charset="-122"/>
                <a:ea typeface="仿宋" panose="02010609060101010101" pitchFamily="49" charset="-122"/>
              </a:rPr>
              <a:t>自光学系统的物方主点</a:t>
            </a:r>
            <a:r>
              <a:rPr lang="en-US" altLang="zh-CN" sz="2400" dirty="0" smtClean="0">
                <a:latin typeface="仿宋" panose="02010609060101010101" pitchFamily="49" charset="-122"/>
                <a:ea typeface="仿宋" panose="02010609060101010101" pitchFamily="49" charset="-122"/>
              </a:rPr>
              <a:t>H</a:t>
            </a:r>
            <a:r>
              <a:rPr lang="zh-CN" altLang="en-US" sz="2400" dirty="0" smtClean="0">
                <a:latin typeface="仿宋" panose="02010609060101010101" pitchFamily="49" charset="-122"/>
                <a:ea typeface="仿宋" panose="02010609060101010101" pitchFamily="49" charset="-122"/>
              </a:rPr>
              <a:t>到物方焦点</a:t>
            </a:r>
            <a:r>
              <a:rPr lang="en-US" altLang="zh-CN" sz="2400" dirty="0" smtClean="0">
                <a:latin typeface="仿宋" panose="02010609060101010101" pitchFamily="49" charset="-122"/>
                <a:ea typeface="仿宋" panose="02010609060101010101" pitchFamily="49" charset="-122"/>
              </a:rPr>
              <a:t>F</a:t>
            </a:r>
            <a:r>
              <a:rPr lang="zh-CN" altLang="en-US" sz="2400" dirty="0" smtClean="0">
                <a:latin typeface="仿宋" panose="02010609060101010101" pitchFamily="49" charset="-122"/>
                <a:ea typeface="仿宋" panose="02010609060101010101" pitchFamily="49" charset="-122"/>
              </a:rPr>
              <a:t>的距离称为</a:t>
            </a:r>
            <a:r>
              <a:rPr lang="zh-CN" altLang="en-US" sz="2400" b="1" dirty="0" smtClean="0">
                <a:solidFill>
                  <a:schemeClr val="accent5"/>
                </a:solidFill>
                <a:latin typeface="仿宋" panose="02010609060101010101" pitchFamily="49" charset="-122"/>
                <a:ea typeface="仿宋" panose="02010609060101010101" pitchFamily="49" charset="-122"/>
              </a:rPr>
              <a:t>物方焦距</a:t>
            </a:r>
            <a:r>
              <a:rPr lang="en-US" altLang="zh-CN" sz="2400" b="1" dirty="0" smtClean="0">
                <a:solidFill>
                  <a:schemeClr val="accent5"/>
                </a:solidFill>
                <a:latin typeface="仿宋" panose="02010609060101010101" pitchFamily="49" charset="-122"/>
                <a:ea typeface="仿宋" panose="02010609060101010101" pitchFamily="49" charset="-122"/>
              </a:rPr>
              <a:t>f</a:t>
            </a:r>
            <a:r>
              <a:rPr lang="zh-CN" altLang="en-US" sz="2400" dirty="0" smtClean="0">
                <a:latin typeface="仿宋" panose="02010609060101010101" pitchFamily="49" charset="-122"/>
                <a:ea typeface="仿宋" panose="02010609060101010101" pitchFamily="49" charset="-122"/>
              </a:rPr>
              <a:t>，像方主点</a:t>
            </a:r>
            <a:r>
              <a:rPr lang="en-US" altLang="zh-CN" sz="2400" dirty="0" smtClean="0">
                <a:latin typeface="仿宋" panose="02010609060101010101" pitchFamily="49" charset="-122"/>
                <a:ea typeface="仿宋" panose="02010609060101010101" pitchFamily="49" charset="-122"/>
              </a:rPr>
              <a:t>H’</a:t>
            </a:r>
            <a:r>
              <a:rPr lang="zh-CN" altLang="en-US" sz="2400" dirty="0" smtClean="0">
                <a:latin typeface="仿宋" panose="02010609060101010101" pitchFamily="49" charset="-122"/>
                <a:ea typeface="仿宋" panose="02010609060101010101" pitchFamily="49" charset="-122"/>
              </a:rPr>
              <a:t>到像方焦点</a:t>
            </a:r>
            <a:r>
              <a:rPr lang="en-US" altLang="zh-CN" sz="2400" dirty="0" smtClean="0">
                <a:latin typeface="仿宋" panose="02010609060101010101" pitchFamily="49" charset="-122"/>
                <a:ea typeface="仿宋" panose="02010609060101010101" pitchFamily="49" charset="-122"/>
              </a:rPr>
              <a:t>F’</a:t>
            </a:r>
            <a:r>
              <a:rPr lang="zh-CN" altLang="en-US" sz="2400" dirty="0" smtClean="0">
                <a:latin typeface="仿宋" panose="02010609060101010101" pitchFamily="49" charset="-122"/>
                <a:ea typeface="仿宋" panose="02010609060101010101" pitchFamily="49" charset="-122"/>
              </a:rPr>
              <a:t>的距离称为</a:t>
            </a:r>
            <a:r>
              <a:rPr lang="zh-CN" altLang="en-US" sz="2400" b="1" dirty="0" smtClean="0">
                <a:solidFill>
                  <a:schemeClr val="accent5"/>
                </a:solidFill>
                <a:latin typeface="仿宋" panose="02010609060101010101" pitchFamily="49" charset="-122"/>
                <a:ea typeface="仿宋" panose="02010609060101010101" pitchFamily="49" charset="-122"/>
              </a:rPr>
              <a:t>像方焦距</a:t>
            </a:r>
            <a:r>
              <a:rPr lang="en-US" altLang="zh-CN" sz="2400" b="1" dirty="0" smtClean="0">
                <a:solidFill>
                  <a:schemeClr val="accent5"/>
                </a:solidFill>
                <a:latin typeface="仿宋" panose="02010609060101010101" pitchFamily="49" charset="-122"/>
                <a:ea typeface="仿宋" panose="02010609060101010101" pitchFamily="49" charset="-122"/>
              </a:rPr>
              <a:t>f’</a:t>
            </a:r>
            <a:r>
              <a:rPr lang="zh-CN" altLang="en-US" sz="2400" dirty="0" smtClean="0">
                <a:latin typeface="仿宋" panose="02010609060101010101" pitchFamily="49" charset="-122"/>
                <a:ea typeface="仿宋" panose="02010609060101010101" pitchFamily="49" charset="-122"/>
              </a:rPr>
              <a:t>。</a:t>
            </a:r>
            <a:endParaRPr lang="zh-CN" altLang="en-US" sz="2400" dirty="0">
              <a:latin typeface="仿宋" panose="02010609060101010101" pitchFamily="49" charset="-122"/>
              <a:ea typeface="仿宋" panose="02010609060101010101"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光学系统的节点</a:t>
            </a:r>
            <a:endParaRPr lang="zh-CN" altLang="en-US" dirty="0"/>
          </a:p>
        </p:txBody>
      </p:sp>
      <p:pic>
        <p:nvPicPr>
          <p:cNvPr id="102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37744" y="866700"/>
            <a:ext cx="5962650" cy="434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727498" y="5705896"/>
            <a:ext cx="11089232" cy="120032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光学系统</a:t>
            </a:r>
            <a:r>
              <a:rPr lang="zh-CN" altLang="en-US" sz="2400" dirty="0" smtClean="0">
                <a:latin typeface="仿宋" panose="02010609060101010101" pitchFamily="49" charset="-122"/>
                <a:ea typeface="仿宋" panose="02010609060101010101" pitchFamily="49" charset="-122"/>
              </a:rPr>
              <a:t>中还有一对角放大率为</a:t>
            </a:r>
            <a:r>
              <a:rPr lang="en-US" altLang="zh-CN" sz="2400" dirty="0" smtClean="0">
                <a:latin typeface="仿宋" panose="02010609060101010101" pitchFamily="49" charset="-122"/>
                <a:ea typeface="仿宋" panose="02010609060101010101" pitchFamily="49" charset="-122"/>
              </a:rPr>
              <a:t>+1</a:t>
            </a:r>
            <a:r>
              <a:rPr lang="zh-CN" altLang="en-US" sz="2400" dirty="0" smtClean="0">
                <a:latin typeface="仿宋" panose="02010609060101010101" pitchFamily="49" charset="-122"/>
                <a:ea typeface="仿宋" panose="02010609060101010101" pitchFamily="49" charset="-122"/>
              </a:rPr>
              <a:t>的一对共轭点</a:t>
            </a:r>
            <a:r>
              <a:rPr lang="en-US" altLang="zh-CN" sz="2400" dirty="0" smtClean="0">
                <a:latin typeface="仿宋" panose="02010609060101010101" pitchFamily="49" charset="-122"/>
                <a:ea typeface="仿宋" panose="02010609060101010101" pitchFamily="49" charset="-122"/>
              </a:rPr>
              <a:t>J</a:t>
            </a:r>
            <a:r>
              <a:rPr lang="zh-CN" altLang="en-US" sz="2400" dirty="0" smtClean="0">
                <a:latin typeface="仿宋" panose="02010609060101010101" pitchFamily="49" charset="-122"/>
                <a:ea typeface="仿宋" panose="02010609060101010101" pitchFamily="49" charset="-122"/>
              </a:rPr>
              <a:t>和</a:t>
            </a:r>
            <a:r>
              <a:rPr lang="en-US" altLang="zh-CN" sz="2400" dirty="0" smtClean="0">
                <a:latin typeface="仿宋" panose="02010609060101010101" pitchFamily="49" charset="-122"/>
                <a:ea typeface="仿宋" panose="02010609060101010101" pitchFamily="49" charset="-122"/>
              </a:rPr>
              <a:t>J’</a:t>
            </a:r>
            <a:r>
              <a:rPr lang="zh-CN" altLang="en-US" sz="2400" dirty="0" smtClean="0">
                <a:latin typeface="仿宋" panose="02010609060101010101" pitchFamily="49" charset="-122"/>
                <a:ea typeface="仿宋" panose="02010609060101010101" pitchFamily="49" charset="-122"/>
              </a:rPr>
              <a:t>，称为</a:t>
            </a:r>
            <a:r>
              <a:rPr lang="zh-CN" altLang="en-US" sz="2400" b="1" dirty="0" smtClean="0">
                <a:solidFill>
                  <a:schemeClr val="accent5"/>
                </a:solidFill>
                <a:latin typeface="仿宋" panose="02010609060101010101" pitchFamily="49" charset="-122"/>
                <a:ea typeface="仿宋" panose="02010609060101010101" pitchFamily="49" charset="-122"/>
              </a:rPr>
              <a:t>节点</a:t>
            </a:r>
            <a:r>
              <a:rPr lang="zh-CN" altLang="en-US" sz="2400" dirty="0" smtClean="0">
                <a:latin typeface="仿宋" panose="02010609060101010101" pitchFamily="49" charset="-122"/>
                <a:ea typeface="仿宋" panose="02010609060101010101" pitchFamily="49" charset="-122"/>
              </a:rPr>
              <a:t>，通过这对共轭点的光线方向不变</a:t>
            </a:r>
            <a:r>
              <a:rPr lang="zh-CN" altLang="en-US" sz="2400" dirty="0">
                <a:latin typeface="仿宋" panose="02010609060101010101" pitchFamily="49" charset="-122"/>
                <a:ea typeface="仿宋" panose="02010609060101010101" pitchFamily="49" charset="-122"/>
              </a:rPr>
              <a:t>，</a:t>
            </a:r>
            <a:r>
              <a:rPr lang="zh-CN" altLang="en-US" sz="2400" dirty="0" smtClean="0">
                <a:latin typeface="仿宋" panose="02010609060101010101" pitchFamily="49" charset="-122"/>
                <a:ea typeface="仿宋" panose="02010609060101010101" pitchFamily="49" charset="-122"/>
              </a:rPr>
              <a:t>若光学系统在同一介质中，节点和主点重合。</a:t>
            </a:r>
            <a:endParaRPr lang="zh-CN" altLang="en-US" sz="2400" dirty="0">
              <a:latin typeface="仿宋" panose="02010609060101010101" pitchFamily="49" charset="-122"/>
              <a:ea typeface="仿宋" panose="02010609060101010101" pitchFamily="49"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电磁波、波长</a:t>
            </a:r>
            <a:endParaRPr lang="zh-CN" altLang="en-US" dirty="0"/>
          </a:p>
        </p:txBody>
      </p:sp>
      <p:sp>
        <p:nvSpPr>
          <p:cNvPr id="5" name="矩形 4"/>
          <p:cNvSpPr/>
          <p:nvPr/>
        </p:nvSpPr>
        <p:spPr>
          <a:xfrm>
            <a:off x="647378" y="4913808"/>
            <a:ext cx="12529392" cy="2862322"/>
          </a:xfrm>
          <a:prstGeom prst="rect">
            <a:avLst/>
          </a:prstGeom>
        </p:spPr>
        <p:txBody>
          <a:bodyPr wrap="square">
            <a:spAutoFit/>
          </a:bodyPr>
          <a:lstStyle/>
          <a:p>
            <a:pPr marL="342900" indent="-342900">
              <a:lnSpc>
                <a:spcPct val="150000"/>
              </a:lnSpc>
              <a:buFont typeface="Wingdings" panose="05000000000000000000" pitchFamily="2" charset="2"/>
              <a:buChar char="p"/>
            </a:pPr>
            <a:r>
              <a:rPr lang="zh-CN" altLang="en-US" sz="2000" dirty="0" smtClean="0">
                <a:latin typeface="仿宋" panose="02010609060101010101" pitchFamily="49" charset="-122"/>
                <a:ea typeface="仿宋" panose="02010609060101010101" pitchFamily="49" charset="-122"/>
              </a:rPr>
              <a:t>光是一种电磁波，是</a:t>
            </a:r>
            <a:r>
              <a:rPr lang="zh-CN" altLang="en-US" sz="2000" dirty="0">
                <a:latin typeface="仿宋" panose="02010609060101010101" pitchFamily="49" charset="-122"/>
                <a:ea typeface="仿宋" panose="02010609060101010101" pitchFamily="49" charset="-122"/>
              </a:rPr>
              <a:t>横波，传播方向和振动方向互相</a:t>
            </a:r>
            <a:r>
              <a:rPr lang="zh-CN" altLang="en-US" sz="2000" dirty="0" smtClean="0">
                <a:latin typeface="仿宋" panose="02010609060101010101" pitchFamily="49" charset="-122"/>
                <a:ea typeface="仿宋" panose="02010609060101010101" pitchFamily="49" charset="-122"/>
              </a:rPr>
              <a:t>垂直。</a:t>
            </a:r>
            <a:endParaRPr lang="en-US" altLang="zh-CN" sz="2000" dirty="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r>
              <a:rPr lang="zh-CN" altLang="en-US" sz="2000" b="1" dirty="0" smtClean="0">
                <a:solidFill>
                  <a:schemeClr val="accent5"/>
                </a:solidFill>
                <a:latin typeface="仿宋" panose="02010609060101010101" pitchFamily="49" charset="-122"/>
                <a:ea typeface="仿宋" panose="02010609060101010101" pitchFamily="49" charset="-122"/>
              </a:rPr>
              <a:t>波长：</a:t>
            </a:r>
            <a:r>
              <a:rPr lang="zh-CN" altLang="en-US" sz="2000" dirty="0" smtClean="0">
                <a:latin typeface="仿宋" panose="02010609060101010101" pitchFamily="49" charset="-122"/>
                <a:ea typeface="仿宋" panose="02010609060101010101" pitchFamily="49" charset="-122"/>
              </a:rPr>
              <a:t>是</a:t>
            </a:r>
            <a:r>
              <a:rPr lang="zh-CN" altLang="en-US" sz="2000" dirty="0">
                <a:latin typeface="仿宋" panose="02010609060101010101" pitchFamily="49" charset="-122"/>
                <a:ea typeface="仿宋" panose="02010609060101010101" pitchFamily="49" charset="-122"/>
              </a:rPr>
              <a:t>指波在一个振动周期内传播的距离。也就是沿着波的传播方向，相邻两个振动位相相差</a:t>
            </a:r>
            <a:r>
              <a:rPr lang="en-US" altLang="zh-CN" sz="2000" dirty="0">
                <a:latin typeface="仿宋" panose="02010609060101010101" pitchFamily="49" charset="-122"/>
                <a:ea typeface="仿宋" panose="02010609060101010101" pitchFamily="49" charset="-122"/>
              </a:rPr>
              <a:t>2π</a:t>
            </a:r>
            <a:r>
              <a:rPr lang="zh-CN" altLang="en-US" sz="2000" dirty="0">
                <a:latin typeface="仿宋" panose="02010609060101010101" pitchFamily="49" charset="-122"/>
                <a:ea typeface="仿宋" panose="02010609060101010101" pitchFamily="49" charset="-122"/>
              </a:rPr>
              <a:t>的点之间的距离。</a:t>
            </a:r>
            <a:r>
              <a:rPr lang="zh-CN" altLang="en-US" sz="2000" dirty="0" smtClean="0">
                <a:latin typeface="仿宋" panose="02010609060101010101" pitchFamily="49" charset="-122"/>
                <a:ea typeface="仿宋" panose="02010609060101010101" pitchFamily="49" charset="-122"/>
              </a:rPr>
              <a:t>波长</a:t>
            </a:r>
            <a:r>
              <a:rPr lang="el-GR" altLang="zh-CN" sz="2000" dirty="0">
                <a:latin typeface="仿宋" panose="02010609060101010101" pitchFamily="49" charset="-122"/>
                <a:ea typeface="仿宋" panose="02010609060101010101" pitchFamily="49" charset="-122"/>
              </a:rPr>
              <a:t>λ</a:t>
            </a:r>
            <a:r>
              <a:rPr lang="zh-CN" altLang="en-US" sz="2000" dirty="0" smtClean="0">
                <a:latin typeface="仿宋" panose="02010609060101010101" pitchFamily="49" charset="-122"/>
                <a:ea typeface="仿宋" panose="02010609060101010101" pitchFamily="49" charset="-122"/>
              </a:rPr>
              <a:t>等于</a:t>
            </a:r>
            <a:r>
              <a:rPr lang="zh-CN" altLang="en-US" sz="2000" b="1" u="sng" dirty="0">
                <a:solidFill>
                  <a:schemeClr val="accent5"/>
                </a:solidFill>
                <a:latin typeface="仿宋" panose="02010609060101010101" pitchFamily="49" charset="-122"/>
                <a:ea typeface="仿宋" panose="02010609060101010101" pitchFamily="49" charset="-122"/>
              </a:rPr>
              <a:t>波速</a:t>
            </a:r>
            <a:r>
              <a:rPr lang="el-GR" altLang="zh-CN" sz="2000" dirty="0" smtClean="0">
                <a:latin typeface="仿宋" panose="02010609060101010101" pitchFamily="49" charset="-122"/>
                <a:ea typeface="仿宋" panose="02010609060101010101" pitchFamily="49" charset="-122"/>
              </a:rPr>
              <a:t>ν</a:t>
            </a:r>
            <a:r>
              <a:rPr lang="zh-CN" altLang="en-US" sz="2000" dirty="0" smtClean="0">
                <a:latin typeface="仿宋" panose="02010609060101010101" pitchFamily="49" charset="-122"/>
                <a:ea typeface="仿宋" panose="02010609060101010101" pitchFamily="49" charset="-122"/>
              </a:rPr>
              <a:t>和</a:t>
            </a:r>
            <a:r>
              <a:rPr lang="zh-CN" altLang="en-US" sz="2000" b="1" u="sng" dirty="0" smtClean="0">
                <a:solidFill>
                  <a:schemeClr val="accent5"/>
                </a:solidFill>
                <a:latin typeface="仿宋" panose="02010609060101010101" pitchFamily="49" charset="-122"/>
                <a:ea typeface="仿宋" panose="02010609060101010101" pitchFamily="49" charset="-122"/>
              </a:rPr>
              <a:t>周期</a:t>
            </a:r>
            <a:r>
              <a:rPr lang="en-US" altLang="zh-CN" sz="2000" b="1" i="1" u="sng" dirty="0" smtClean="0">
                <a:solidFill>
                  <a:schemeClr val="accent5"/>
                </a:solidFill>
                <a:latin typeface="仿宋" panose="02010609060101010101" pitchFamily="49" charset="-122"/>
                <a:ea typeface="仿宋" panose="02010609060101010101" pitchFamily="49" charset="-122"/>
              </a:rPr>
              <a:t>T </a:t>
            </a:r>
            <a:r>
              <a:rPr lang="zh-CN" altLang="en-US" sz="2000" dirty="0" smtClean="0">
                <a:latin typeface="仿宋" panose="02010609060101010101" pitchFamily="49" charset="-122"/>
                <a:ea typeface="仿宋" panose="02010609060101010101" pitchFamily="49" charset="-122"/>
              </a:rPr>
              <a:t>的</a:t>
            </a:r>
            <a:r>
              <a:rPr lang="zh-CN" altLang="en-US" sz="2000" dirty="0">
                <a:latin typeface="仿宋" panose="02010609060101010101" pitchFamily="49" charset="-122"/>
                <a:ea typeface="仿宋" panose="02010609060101010101" pitchFamily="49" charset="-122"/>
              </a:rPr>
              <a:t>乘积，即</a:t>
            </a:r>
            <a:r>
              <a:rPr lang="en-US" altLang="zh-CN" sz="2000" b="1" i="1" dirty="0">
                <a:solidFill>
                  <a:schemeClr val="accent5"/>
                </a:solidFill>
                <a:latin typeface="仿宋" panose="02010609060101010101" pitchFamily="49" charset="-122"/>
                <a:ea typeface="仿宋" panose="02010609060101010101" pitchFamily="49" charset="-122"/>
              </a:rPr>
              <a:t>λ</a:t>
            </a:r>
            <a:r>
              <a:rPr lang="en-US" altLang="zh-CN" sz="2000" b="1" dirty="0">
                <a:solidFill>
                  <a:schemeClr val="accent5"/>
                </a:solidFill>
                <a:latin typeface="仿宋" panose="02010609060101010101" pitchFamily="49" charset="-122"/>
                <a:ea typeface="仿宋" panose="02010609060101010101" pitchFamily="49" charset="-122"/>
              </a:rPr>
              <a:t>=</a:t>
            </a:r>
            <a:r>
              <a:rPr lang="el-GR" altLang="zh-CN" sz="2000" b="1" dirty="0">
                <a:solidFill>
                  <a:schemeClr val="accent5"/>
                </a:solidFill>
                <a:latin typeface="仿宋" panose="02010609060101010101" pitchFamily="49" charset="-122"/>
                <a:ea typeface="仿宋" panose="02010609060101010101" pitchFamily="49" charset="-122"/>
              </a:rPr>
              <a:t>ν</a:t>
            </a:r>
            <a:r>
              <a:rPr lang="en-US" altLang="zh-CN" sz="2000" b="1" i="1" dirty="0">
                <a:solidFill>
                  <a:schemeClr val="accent5"/>
                </a:solidFill>
                <a:latin typeface="仿宋" panose="02010609060101010101" pitchFamily="49" charset="-122"/>
                <a:ea typeface="仿宋" panose="02010609060101010101" pitchFamily="49" charset="-122"/>
              </a:rPr>
              <a:t>T</a:t>
            </a:r>
            <a:r>
              <a:rPr lang="zh-CN" altLang="en-US" sz="2000" dirty="0" smtClean="0">
                <a:latin typeface="仿宋" panose="02010609060101010101" pitchFamily="49" charset="-122"/>
                <a:ea typeface="仿宋" panose="02010609060101010101" pitchFamily="49" charset="-122"/>
              </a:rPr>
              <a:t>。同一频率的波在不同介质中以不同速度传播，所以波长也不同。</a:t>
            </a:r>
            <a:endParaRPr lang="en-US" altLang="zh-CN" sz="2000" dirty="0" smtClean="0">
              <a:latin typeface="仿宋" panose="02010609060101010101" pitchFamily="49" charset="-122"/>
              <a:ea typeface="仿宋" panose="02010609060101010101" pitchFamily="49" charset="-122"/>
            </a:endParaRPr>
          </a:p>
          <a:p>
            <a:pPr>
              <a:lnSpc>
                <a:spcPct val="150000"/>
              </a:lnSpc>
            </a:pPr>
            <a:r>
              <a:rPr lang="en-US" altLang="zh-CN" sz="2000" dirty="0">
                <a:solidFill>
                  <a:schemeClr val="accent5"/>
                </a:solidFill>
                <a:latin typeface="仿宋" panose="02010609060101010101" pitchFamily="49" charset="-122"/>
                <a:ea typeface="仿宋" panose="02010609060101010101" pitchFamily="49" charset="-122"/>
              </a:rPr>
              <a:t> </a:t>
            </a:r>
            <a:r>
              <a:rPr lang="en-US" altLang="zh-CN" sz="2000" dirty="0" smtClean="0">
                <a:solidFill>
                  <a:schemeClr val="accent5"/>
                </a:solidFill>
                <a:latin typeface="仿宋" panose="02010609060101010101" pitchFamily="49" charset="-122"/>
                <a:ea typeface="仿宋" panose="02010609060101010101" pitchFamily="49" charset="-122"/>
              </a:rPr>
              <a:t>   </a:t>
            </a:r>
            <a:r>
              <a:rPr lang="en-US" altLang="zh-CN" sz="2000" b="1" dirty="0" smtClean="0">
                <a:solidFill>
                  <a:schemeClr val="accent5"/>
                </a:solidFill>
                <a:latin typeface="仿宋" panose="02010609060101010101" pitchFamily="49" charset="-122"/>
                <a:ea typeface="仿宋" panose="02010609060101010101" pitchFamily="49" charset="-122"/>
              </a:rPr>
              <a:t>C=</a:t>
            </a:r>
            <a:r>
              <a:rPr lang="el-GR" altLang="zh-CN" sz="2000" b="1" dirty="0">
                <a:solidFill>
                  <a:schemeClr val="accent5"/>
                </a:solidFill>
                <a:latin typeface="仿宋" panose="02010609060101010101" pitchFamily="49" charset="-122"/>
                <a:ea typeface="仿宋" panose="02010609060101010101" pitchFamily="49" charset="-122"/>
              </a:rPr>
              <a:t>λν</a:t>
            </a:r>
            <a:r>
              <a:rPr lang="zh-CN" altLang="en-US" sz="2000" b="1" dirty="0">
                <a:solidFill>
                  <a:schemeClr val="accent5"/>
                </a:solidFill>
                <a:latin typeface="仿宋" panose="02010609060101010101" pitchFamily="49" charset="-122"/>
                <a:ea typeface="仿宋" panose="02010609060101010101" pitchFamily="49" charset="-122"/>
              </a:rPr>
              <a:t>，</a:t>
            </a:r>
            <a:r>
              <a:rPr lang="en-US" altLang="zh-CN" sz="2000" b="1" dirty="0" smtClean="0">
                <a:solidFill>
                  <a:schemeClr val="accent5"/>
                </a:solidFill>
                <a:latin typeface="仿宋" panose="02010609060101010101" pitchFamily="49" charset="-122"/>
                <a:ea typeface="仿宋" panose="02010609060101010101" pitchFamily="49" charset="-122"/>
              </a:rPr>
              <a:t>c</a:t>
            </a:r>
            <a:r>
              <a:rPr lang="zh-CN" altLang="en-US" sz="2000" b="1" dirty="0" smtClean="0">
                <a:solidFill>
                  <a:schemeClr val="accent5"/>
                </a:solidFill>
                <a:latin typeface="仿宋" panose="02010609060101010101" pitchFamily="49" charset="-122"/>
                <a:ea typeface="仿宋" panose="02010609060101010101" pitchFamily="49" charset="-122"/>
              </a:rPr>
              <a:t>：光速</a:t>
            </a:r>
            <a:r>
              <a:rPr lang="zh-CN" altLang="en-US" sz="2000" b="1" dirty="0">
                <a:solidFill>
                  <a:schemeClr val="accent5"/>
                </a:solidFill>
                <a:latin typeface="仿宋" panose="02010609060101010101" pitchFamily="49" charset="-122"/>
                <a:ea typeface="仿宋" panose="02010609060101010101" pitchFamily="49" charset="-122"/>
              </a:rPr>
              <a:t>，</a:t>
            </a:r>
            <a:r>
              <a:rPr lang="el-GR" altLang="zh-CN" sz="2000" b="1" dirty="0" smtClean="0">
                <a:solidFill>
                  <a:schemeClr val="accent5"/>
                </a:solidFill>
                <a:latin typeface="仿宋" panose="02010609060101010101" pitchFamily="49" charset="-122"/>
                <a:ea typeface="仿宋" panose="02010609060101010101" pitchFamily="49" charset="-122"/>
              </a:rPr>
              <a:t>λ</a:t>
            </a:r>
            <a:r>
              <a:rPr lang="zh-CN" altLang="en-US" sz="2000" b="1" dirty="0">
                <a:solidFill>
                  <a:schemeClr val="accent5"/>
                </a:solidFill>
                <a:latin typeface="仿宋" panose="02010609060101010101" pitchFamily="49" charset="-122"/>
                <a:ea typeface="仿宋" panose="02010609060101010101" pitchFamily="49" charset="-122"/>
              </a:rPr>
              <a:t>：</a:t>
            </a:r>
            <a:r>
              <a:rPr lang="zh-CN" altLang="en-US" sz="2000" b="1" dirty="0" smtClean="0">
                <a:solidFill>
                  <a:schemeClr val="accent5"/>
                </a:solidFill>
                <a:latin typeface="仿宋" panose="02010609060101010101" pitchFamily="49" charset="-122"/>
                <a:ea typeface="仿宋" panose="02010609060101010101" pitchFamily="49" charset="-122"/>
              </a:rPr>
              <a:t>波长</a:t>
            </a:r>
            <a:r>
              <a:rPr lang="zh-CN" altLang="en-US" sz="2000" b="1" dirty="0">
                <a:solidFill>
                  <a:schemeClr val="accent5"/>
                </a:solidFill>
                <a:latin typeface="仿宋" panose="02010609060101010101" pitchFamily="49" charset="-122"/>
                <a:ea typeface="仿宋" panose="02010609060101010101" pitchFamily="49" charset="-122"/>
              </a:rPr>
              <a:t>，</a:t>
            </a:r>
            <a:r>
              <a:rPr lang="el-GR" altLang="zh-CN" sz="2000" b="1" dirty="0" smtClean="0">
                <a:solidFill>
                  <a:schemeClr val="accent5"/>
                </a:solidFill>
                <a:latin typeface="仿宋" panose="02010609060101010101" pitchFamily="49" charset="-122"/>
                <a:ea typeface="仿宋" panose="02010609060101010101" pitchFamily="49" charset="-122"/>
              </a:rPr>
              <a:t>ν</a:t>
            </a:r>
            <a:r>
              <a:rPr lang="zh-CN" altLang="en-US" sz="2000" b="1" dirty="0" smtClean="0">
                <a:solidFill>
                  <a:schemeClr val="accent5"/>
                </a:solidFill>
                <a:latin typeface="仿宋" panose="02010609060101010101" pitchFamily="49" charset="-122"/>
                <a:ea typeface="仿宋" panose="02010609060101010101" pitchFamily="49" charset="-122"/>
              </a:rPr>
              <a:t>：频率</a:t>
            </a:r>
            <a:endParaRPr lang="zh-CN" altLang="en-US" sz="2000" b="1" dirty="0">
              <a:solidFill>
                <a:schemeClr val="accent5"/>
              </a:solidFill>
              <a:latin typeface="仿宋" panose="02010609060101010101" pitchFamily="49" charset="-122"/>
              <a:ea typeface="仿宋" panose="02010609060101010101" pitchFamily="49" charset="-122"/>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p:txBody>
      </p:sp>
      <p:pic>
        <p:nvPicPr>
          <p:cNvPr id="6" name="Picture 2" descr="C:\Users\07285yzl\Desktop\红外镜头设计简介\新建文件夹\9e3df8dcd100baa1d249ef064f10b912c8fc2e21.png"/>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8276672" y="737344"/>
            <a:ext cx="6123541" cy="4050826"/>
          </a:xfrm>
          <a:prstGeom prst="rect">
            <a:avLst/>
          </a:prstGeom>
          <a:noFill/>
          <a:extLst>
            <a:ext uri="{909E8E84-426E-40DD-AFC4-6F175D3DCCD1}">
              <a14:hiddenFill xmlns:a14="http://schemas.microsoft.com/office/drawing/2010/main">
                <a:solidFill>
                  <a:srgbClr val="FFFFFF"/>
                </a:solidFill>
              </a14:hiddenFill>
            </a:ext>
          </a:extLst>
        </p:spPr>
      </p:pic>
      <p:pic>
        <p:nvPicPr>
          <p:cNvPr id="12290" name="Picture 2" descr="C:\Users\07285yzl\Desktop\红外镜头设计简介\新建文件夹\0dd7912397dda144bb28fbe86a680ca70df486a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362" y="809352"/>
            <a:ext cx="7629987" cy="3600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大气窗口</a:t>
            </a:r>
            <a:endParaRPr lang="zh-CN" altLang="en-US" dirty="0"/>
          </a:p>
        </p:txBody>
      </p:sp>
      <p:pic>
        <p:nvPicPr>
          <p:cNvPr id="2050" name="Picture 2" descr="C:\Users\07285yzl\Desktop\红外镜头设计简介\新建文件夹\src=http___www.51wendang.com_pic_91e7e557603f4626714c50ec_4-810-jpg_6-1080-0-0-1080.jpg&amp;refer=http___www.51wendang.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87538" y="689768"/>
            <a:ext cx="9600000" cy="720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光阑</a:t>
            </a:r>
            <a:endParaRPr lang="zh-CN" altLang="en-US" dirty="0"/>
          </a:p>
        </p:txBody>
      </p:sp>
      <p:sp>
        <p:nvSpPr>
          <p:cNvPr id="3" name="内容占位符 2"/>
          <p:cNvSpPr>
            <a:spLocks noGrp="1"/>
          </p:cNvSpPr>
          <p:nvPr>
            <p:ph idx="1"/>
          </p:nvPr>
        </p:nvSpPr>
        <p:spPr>
          <a:xfrm>
            <a:off x="862013" y="953368"/>
            <a:ext cx="11162629" cy="1872208"/>
          </a:xfrm>
        </p:spPr>
        <p:txBody>
          <a:bodyPr/>
          <a:lstStyle/>
          <a:p>
            <a:pPr marL="0">
              <a:lnSpc>
                <a:spcPct val="150000"/>
              </a:lnSpc>
              <a:spcBef>
                <a:spcPts val="0"/>
              </a:spcBef>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定义：</a:t>
            </a:r>
            <a:r>
              <a:rPr lang="zh-CN" altLang="en-US" sz="2400" dirty="0" smtClean="0">
                <a:solidFill>
                  <a:schemeClr val="tx1"/>
                </a:solidFill>
                <a:latin typeface="仿宋" panose="02010609060101010101" pitchFamily="49" charset="-122"/>
                <a:ea typeface="仿宋" panose="02010609060101010101" pitchFamily="49" charset="-122"/>
              </a:rPr>
              <a:t>限制光束通过光学系统的光孔</a:t>
            </a:r>
            <a:endParaRPr lang="en-US" altLang="zh-CN" sz="2400" dirty="0" smtClean="0">
              <a:solidFill>
                <a:schemeClr val="tx1"/>
              </a:solidFill>
              <a:latin typeface="仿宋" panose="02010609060101010101" pitchFamily="49" charset="-122"/>
              <a:ea typeface="仿宋" panose="02010609060101010101" pitchFamily="49" charset="-122"/>
            </a:endParaRPr>
          </a:p>
          <a:p>
            <a:pPr marL="0">
              <a:lnSpc>
                <a:spcPct val="150000"/>
              </a:lnSpc>
              <a:spcBef>
                <a:spcPts val="0"/>
              </a:spcBef>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组成：</a:t>
            </a:r>
            <a:r>
              <a:rPr lang="zh-CN" altLang="en-US" sz="2400" dirty="0" smtClean="0">
                <a:solidFill>
                  <a:schemeClr val="tx1"/>
                </a:solidFill>
                <a:latin typeface="仿宋" panose="02010609060101010101" pitchFamily="49" charset="-122"/>
                <a:ea typeface="仿宋" panose="02010609060101010101" pitchFamily="49" charset="-122"/>
              </a:rPr>
              <a:t>透镜等光学零件边框或专门设施的带孔金属框。可分为孔径光阑、视场光阑、渐晕光阑、消杂光光阑</a:t>
            </a:r>
            <a:endParaRPr lang="en-US" altLang="zh-CN" sz="2400" dirty="0" smtClean="0">
              <a:solidFill>
                <a:schemeClr val="tx1"/>
              </a:solidFill>
              <a:latin typeface="仿宋" panose="02010609060101010101" pitchFamily="49" charset="-122"/>
              <a:ea typeface="仿宋" panose="02010609060101010101" pitchFamily="49" charset="-122"/>
            </a:endParaRPr>
          </a:p>
          <a:p>
            <a:pPr marL="0">
              <a:lnSpc>
                <a:spcPct val="150000"/>
              </a:lnSpc>
              <a:spcBef>
                <a:spcPts val="0"/>
              </a:spcBef>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孔径光阑</a:t>
            </a:r>
            <a:r>
              <a:rPr lang="zh-CN" altLang="en-US" sz="2400" dirty="0" smtClean="0">
                <a:solidFill>
                  <a:schemeClr val="tx1"/>
                </a:solidFill>
                <a:latin typeface="仿宋" panose="02010609060101010101" pitchFamily="49" charset="-122"/>
                <a:ea typeface="仿宋" panose="02010609060101010101" pitchFamily="49" charset="-122"/>
              </a:rPr>
              <a:t>：限制轴上点成像光束的孔径角，决定像面照度，又称有效光阑。</a:t>
            </a:r>
            <a:endParaRPr lang="en-US" altLang="zh-CN" sz="2400" dirty="0" smtClean="0">
              <a:solidFill>
                <a:schemeClr val="tx1"/>
              </a:solidFill>
              <a:latin typeface="仿宋" panose="02010609060101010101" pitchFamily="49" charset="-122"/>
              <a:ea typeface="仿宋" panose="02010609060101010101" pitchFamily="49" charset="-122"/>
            </a:endParaRPr>
          </a:p>
          <a:p>
            <a:pPr marL="0">
              <a:lnSpc>
                <a:spcPct val="150000"/>
              </a:lnSpc>
              <a:spcBef>
                <a:spcPts val="0"/>
              </a:spcBef>
            </a:pPr>
            <a:endParaRPr lang="zh-CN" altLang="en-US" sz="2000" dirty="0" smtClean="0">
              <a:solidFill>
                <a:schemeClr val="tx1"/>
              </a:solidFill>
              <a:latin typeface="微软雅黑" panose="020B0503020204020204" pitchFamily="34" charset="-122"/>
              <a:ea typeface="微软雅黑" panose="020B0503020204020204" pitchFamily="34" charset="-122"/>
            </a:endParaRPr>
          </a:p>
        </p:txBody>
      </p:sp>
      <p:pic>
        <p:nvPicPr>
          <p:cNvPr id="5122" name="Picture 2" descr="C:\Users\07285yzl\Desktop\红外镜头设计简介\新建文件夹\v2-98806c211ba08a31fefb2d052671196d_r.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39666" y="3545656"/>
            <a:ext cx="5592763" cy="38703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光阑</a:t>
            </a:r>
            <a:endParaRPr lang="zh-CN" altLang="en-US" dirty="0"/>
          </a:p>
        </p:txBody>
      </p:sp>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5730" y="3185616"/>
            <a:ext cx="6020426" cy="432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531120" y="1169392"/>
            <a:ext cx="11233248" cy="1200329"/>
          </a:xfrm>
          <a:prstGeom prst="rect">
            <a:avLst/>
          </a:prstGeom>
          <a:noFill/>
        </p:spPr>
        <p:txBody>
          <a:bodyPr wrap="square" rtlCol="0">
            <a:spAutoFit/>
          </a:bodyPr>
          <a:lstStyle/>
          <a:p>
            <a:pPr marL="342900" indent="-342900">
              <a:lnSpc>
                <a:spcPct val="150000"/>
              </a:lnSpc>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视场光阑</a:t>
            </a:r>
            <a:r>
              <a:rPr lang="zh-CN" altLang="en-US" sz="2400" dirty="0" smtClean="0">
                <a:latin typeface="仿宋" panose="02010609060101010101" pitchFamily="49" charset="-122"/>
                <a:ea typeface="仿宋" panose="02010609060101010101" pitchFamily="49" charset="-122"/>
              </a:rPr>
              <a:t>：安置在物平面或像平面上限制成像范围的光阑称为视场光阑。</a:t>
            </a:r>
            <a:endParaRPr lang="en-US" altLang="zh-CN" sz="2400" dirty="0" smtClean="0">
              <a:latin typeface="仿宋" panose="02010609060101010101" pitchFamily="49" charset="-122"/>
              <a:ea typeface="仿宋" panose="02010609060101010101" pitchFamily="49" charset="-122"/>
            </a:endParaRPr>
          </a:p>
          <a:p>
            <a:pPr>
              <a:lnSpc>
                <a:spcPct val="150000"/>
              </a:lnSpc>
            </a:pPr>
            <a:r>
              <a:rPr lang="zh-CN" altLang="en-US" sz="2400" dirty="0" smtClean="0">
                <a:latin typeface="仿宋" panose="02010609060101010101" pitchFamily="49" charset="-122"/>
                <a:ea typeface="仿宋" panose="02010609060101010101" pitchFamily="49" charset="-122"/>
              </a:rPr>
              <a:t>            如探测器靶面尺寸就是一种视场光阑。</a:t>
            </a:r>
            <a:endParaRPr lang="en-US" altLang="zh-CN" sz="2400" dirty="0" smtClean="0">
              <a:latin typeface="仿宋" panose="02010609060101010101" pitchFamily="49" charset="-122"/>
              <a:ea typeface="仿宋" panose="02010609060101010101" pitchFamily="49" charset="-122"/>
            </a:endParaRPr>
          </a:p>
        </p:txBody>
      </p:sp>
      <p:sp>
        <p:nvSpPr>
          <p:cNvPr id="5" name="TextBox 4"/>
          <p:cNvSpPr txBox="1"/>
          <p:nvPr/>
        </p:nvSpPr>
        <p:spPr>
          <a:xfrm>
            <a:off x="1531120" y="4803039"/>
            <a:ext cx="1768433" cy="461665"/>
          </a:xfrm>
          <a:prstGeom prst="rect">
            <a:avLst/>
          </a:prstGeom>
          <a:noFill/>
        </p:spPr>
        <p:txBody>
          <a:bodyPr wrap="none" rtlCol="0">
            <a:spAutoFit/>
          </a:bodyPr>
          <a:lstStyle/>
          <a:p>
            <a:pPr marL="342900" indent="-342900">
              <a:buFont typeface="Wingdings" panose="05000000000000000000" pitchFamily="2" charset="2"/>
              <a:buChar char="p"/>
            </a:pPr>
            <a:r>
              <a:rPr lang="zh-CN" altLang="en-US" sz="2400" b="1" dirty="0">
                <a:solidFill>
                  <a:schemeClr val="accent5"/>
                </a:solidFill>
                <a:latin typeface="仿宋" panose="02010609060101010101" pitchFamily="49" charset="-122"/>
                <a:ea typeface="仿宋" panose="02010609060101010101" pitchFamily="49" charset="-122"/>
              </a:rPr>
              <a:t>渐晕</a:t>
            </a:r>
            <a:r>
              <a:rPr lang="zh-CN" altLang="en-US" sz="2400" b="1" dirty="0" smtClean="0">
                <a:solidFill>
                  <a:schemeClr val="accent5"/>
                </a:solidFill>
                <a:latin typeface="仿宋" panose="02010609060101010101" pitchFamily="49" charset="-122"/>
                <a:ea typeface="仿宋" panose="02010609060101010101" pitchFamily="49" charset="-122"/>
              </a:rPr>
              <a:t>光阑</a:t>
            </a:r>
            <a:endParaRPr lang="zh-CN" altLang="en-US" sz="2400" b="1" dirty="0">
              <a:solidFill>
                <a:schemeClr val="accent5"/>
              </a:solidFill>
              <a:latin typeface="仿宋" panose="02010609060101010101" pitchFamily="49" charset="-122"/>
              <a:ea typeface="仿宋" panose="02010609060101010101"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光阑</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591347" y="953368"/>
            <a:ext cx="12009359" cy="1944216"/>
          </a:xfrm>
        </p:spPr>
        <p:txBody>
          <a:bodyPr/>
          <a:lstStyle/>
          <a:p>
            <a:pPr>
              <a:lnSpc>
                <a:spcPct val="150000"/>
              </a:lnSpc>
              <a:buFont typeface="Wingdings" panose="05000000000000000000" pitchFamily="2" charset="2"/>
              <a:buChar char="p"/>
            </a:pPr>
            <a:r>
              <a:rPr lang="zh-CN" altLang="en-US" sz="2400" b="1" dirty="0">
                <a:solidFill>
                  <a:schemeClr val="accent5"/>
                </a:solidFill>
                <a:latin typeface="仿宋" panose="02010609060101010101" pitchFamily="49" charset="-122"/>
                <a:ea typeface="仿宋" panose="02010609060101010101" pitchFamily="49" charset="-122"/>
              </a:rPr>
              <a:t>孔径光阑、入射光瞳、出射光瞳的</a:t>
            </a:r>
            <a:r>
              <a:rPr lang="zh-CN" altLang="en-US" sz="2400" b="1" dirty="0" smtClean="0">
                <a:solidFill>
                  <a:schemeClr val="accent5"/>
                </a:solidFill>
                <a:latin typeface="仿宋" panose="02010609060101010101" pitchFamily="49" charset="-122"/>
                <a:ea typeface="仿宋" panose="02010609060101010101" pitchFamily="49" charset="-122"/>
              </a:rPr>
              <a:t>关系：</a:t>
            </a:r>
            <a:endParaRPr lang="en-US" altLang="zh-CN" sz="2400" b="1" dirty="0" smtClean="0">
              <a:solidFill>
                <a:schemeClr val="accent5"/>
              </a:solidFill>
              <a:latin typeface="仿宋" panose="02010609060101010101" pitchFamily="49" charset="-122"/>
              <a:ea typeface="仿宋" panose="02010609060101010101" pitchFamily="49" charset="-122"/>
            </a:endParaRPr>
          </a:p>
          <a:p>
            <a:pPr>
              <a:lnSpc>
                <a:spcPct val="150000"/>
              </a:lnSpc>
              <a:buFont typeface="Arial" panose="020B0604020202020204" pitchFamily="34" charset="0"/>
              <a:buChar char="•"/>
            </a:pPr>
            <a:r>
              <a:rPr lang="zh-CN" altLang="en-US" sz="2400" b="1" dirty="0" smtClean="0">
                <a:solidFill>
                  <a:schemeClr val="accent5"/>
                </a:solidFill>
                <a:latin typeface="仿宋" panose="02010609060101010101" pitchFamily="49" charset="-122"/>
                <a:ea typeface="仿宋" panose="02010609060101010101" pitchFamily="49" charset="-122"/>
              </a:rPr>
              <a:t>入射光瞳：</a:t>
            </a:r>
            <a:r>
              <a:rPr lang="zh-CN" altLang="en-US" sz="2400" dirty="0" smtClean="0">
                <a:solidFill>
                  <a:schemeClr val="tx1"/>
                </a:solidFill>
                <a:latin typeface="仿宋" panose="02010609060101010101" pitchFamily="49" charset="-122"/>
                <a:ea typeface="仿宋" panose="02010609060101010101" pitchFamily="49" charset="-122"/>
              </a:rPr>
              <a:t>光孔</a:t>
            </a:r>
            <a:r>
              <a:rPr lang="en-US" altLang="zh-CN" sz="2400" dirty="0" smtClean="0">
                <a:solidFill>
                  <a:schemeClr val="tx1"/>
                </a:solidFill>
                <a:latin typeface="仿宋" panose="02010609060101010101" pitchFamily="49" charset="-122"/>
                <a:ea typeface="仿宋" panose="02010609060101010101" pitchFamily="49" charset="-122"/>
              </a:rPr>
              <a:t>Q</a:t>
            </a:r>
            <a:r>
              <a:rPr lang="en-US" altLang="zh-CN" sz="2400" baseline="-25000" dirty="0" smtClean="0">
                <a:solidFill>
                  <a:schemeClr val="tx1"/>
                </a:solidFill>
                <a:latin typeface="仿宋" panose="02010609060101010101" pitchFamily="49" charset="-122"/>
                <a:ea typeface="仿宋" panose="02010609060101010101" pitchFamily="49" charset="-122"/>
              </a:rPr>
              <a:t>1</a:t>
            </a:r>
            <a:r>
              <a:rPr lang="en-US" altLang="zh-CN" sz="2400" dirty="0" smtClean="0">
                <a:solidFill>
                  <a:schemeClr val="tx1"/>
                </a:solidFill>
                <a:latin typeface="仿宋" panose="02010609060101010101" pitchFamily="49" charset="-122"/>
                <a:ea typeface="仿宋" panose="02010609060101010101" pitchFamily="49" charset="-122"/>
              </a:rPr>
              <a:t>QQ</a:t>
            </a:r>
            <a:r>
              <a:rPr lang="en-US" altLang="zh-CN" sz="2400" baseline="-25000" dirty="0" smtClean="0">
                <a:solidFill>
                  <a:schemeClr val="tx1"/>
                </a:solidFill>
                <a:latin typeface="仿宋" panose="02010609060101010101" pitchFamily="49" charset="-122"/>
                <a:ea typeface="仿宋" panose="02010609060101010101" pitchFamily="49" charset="-122"/>
              </a:rPr>
              <a:t>2</a:t>
            </a:r>
            <a:r>
              <a:rPr lang="zh-CN" altLang="en-US" sz="2400" dirty="0" smtClean="0">
                <a:solidFill>
                  <a:schemeClr val="tx1"/>
                </a:solidFill>
                <a:latin typeface="仿宋" panose="02010609060101010101" pitchFamily="49" charset="-122"/>
                <a:ea typeface="仿宋" panose="02010609060101010101" pitchFamily="49" charset="-122"/>
              </a:rPr>
              <a:t>经其前面的透镜成像到物空间，其像</a:t>
            </a:r>
            <a:r>
              <a:rPr lang="en-US" altLang="zh-CN" sz="2400" dirty="0" smtClean="0">
                <a:solidFill>
                  <a:schemeClr val="tx1"/>
                </a:solidFill>
                <a:latin typeface="仿宋" panose="02010609060101010101" pitchFamily="49" charset="-122"/>
                <a:ea typeface="仿宋" panose="02010609060101010101" pitchFamily="49" charset="-122"/>
              </a:rPr>
              <a:t>P</a:t>
            </a:r>
            <a:r>
              <a:rPr lang="en-US" altLang="zh-CN" sz="2400" baseline="-25000" dirty="0" smtClean="0">
                <a:solidFill>
                  <a:schemeClr val="tx1"/>
                </a:solidFill>
                <a:latin typeface="仿宋" panose="02010609060101010101" pitchFamily="49" charset="-122"/>
                <a:ea typeface="仿宋" panose="02010609060101010101" pitchFamily="49" charset="-122"/>
              </a:rPr>
              <a:t>1</a:t>
            </a:r>
            <a:r>
              <a:rPr lang="en-US" altLang="zh-CN" sz="2400" dirty="0" smtClean="0">
                <a:solidFill>
                  <a:schemeClr val="tx1"/>
                </a:solidFill>
                <a:latin typeface="仿宋" panose="02010609060101010101" pitchFamily="49" charset="-122"/>
                <a:ea typeface="仿宋" panose="02010609060101010101" pitchFamily="49" charset="-122"/>
              </a:rPr>
              <a:t>PP</a:t>
            </a:r>
            <a:r>
              <a:rPr lang="en-US" altLang="zh-CN" sz="2400" baseline="-25000" dirty="0" smtClean="0">
                <a:solidFill>
                  <a:schemeClr val="tx1"/>
                </a:solidFill>
                <a:latin typeface="仿宋" panose="02010609060101010101" pitchFamily="49" charset="-122"/>
                <a:ea typeface="仿宋" panose="02010609060101010101" pitchFamily="49" charset="-122"/>
              </a:rPr>
              <a:t>2</a:t>
            </a:r>
            <a:r>
              <a:rPr lang="zh-CN" altLang="en-US" sz="2400" dirty="0" smtClean="0">
                <a:solidFill>
                  <a:schemeClr val="tx1"/>
                </a:solidFill>
                <a:latin typeface="仿宋" panose="02010609060101010101" pitchFamily="49" charset="-122"/>
                <a:ea typeface="仿宋" panose="02010609060101010101" pitchFamily="49" charset="-122"/>
              </a:rPr>
              <a:t>决定了物方孔径角</a:t>
            </a:r>
            <a:r>
              <a:rPr lang="en-US" altLang="zh-CN" sz="2400" dirty="0" smtClean="0">
                <a:solidFill>
                  <a:schemeClr val="tx1"/>
                </a:solidFill>
                <a:latin typeface="仿宋" panose="02010609060101010101" pitchFamily="49" charset="-122"/>
                <a:ea typeface="仿宋" panose="02010609060101010101" pitchFamily="49" charset="-122"/>
              </a:rPr>
              <a:t>U</a:t>
            </a:r>
            <a:r>
              <a:rPr lang="zh-CN" altLang="en-US" sz="2400" dirty="0" smtClean="0">
                <a:solidFill>
                  <a:schemeClr val="tx1"/>
                </a:solidFill>
                <a:latin typeface="仿宋" panose="02010609060101010101" pitchFamily="49" charset="-122"/>
                <a:ea typeface="仿宋" panose="02010609060101010101" pitchFamily="49" charset="-122"/>
              </a:rPr>
              <a:t>，该光孔像</a:t>
            </a:r>
            <a:r>
              <a:rPr lang="en-US" altLang="zh-CN" sz="2400" dirty="0" smtClean="0">
                <a:solidFill>
                  <a:schemeClr val="tx1"/>
                </a:solidFill>
                <a:latin typeface="仿宋" panose="02010609060101010101" pitchFamily="49" charset="-122"/>
                <a:ea typeface="仿宋" panose="02010609060101010101" pitchFamily="49" charset="-122"/>
              </a:rPr>
              <a:t>P</a:t>
            </a:r>
            <a:r>
              <a:rPr lang="en-US" altLang="zh-CN" sz="2400" baseline="-25000" dirty="0" smtClean="0">
                <a:solidFill>
                  <a:schemeClr val="tx1"/>
                </a:solidFill>
                <a:latin typeface="仿宋" panose="02010609060101010101" pitchFamily="49" charset="-122"/>
                <a:ea typeface="仿宋" panose="02010609060101010101" pitchFamily="49" charset="-122"/>
              </a:rPr>
              <a:t>1</a:t>
            </a:r>
            <a:r>
              <a:rPr lang="en-US" altLang="zh-CN" sz="2400" dirty="0" smtClean="0">
                <a:solidFill>
                  <a:schemeClr val="tx1"/>
                </a:solidFill>
                <a:latin typeface="仿宋" panose="02010609060101010101" pitchFamily="49" charset="-122"/>
                <a:ea typeface="仿宋" panose="02010609060101010101" pitchFamily="49" charset="-122"/>
              </a:rPr>
              <a:t>PP</a:t>
            </a:r>
            <a:r>
              <a:rPr lang="en-US" altLang="zh-CN" sz="2400" baseline="-25000" dirty="0" smtClean="0">
                <a:solidFill>
                  <a:schemeClr val="tx1"/>
                </a:solidFill>
                <a:latin typeface="仿宋" panose="02010609060101010101" pitchFamily="49" charset="-122"/>
                <a:ea typeface="仿宋" panose="02010609060101010101" pitchFamily="49" charset="-122"/>
              </a:rPr>
              <a:t>2</a:t>
            </a:r>
            <a:r>
              <a:rPr lang="zh-CN" altLang="en-US" sz="2400" dirty="0" smtClean="0">
                <a:solidFill>
                  <a:schemeClr val="tx1"/>
                </a:solidFill>
                <a:latin typeface="仿宋" panose="02010609060101010101" pitchFamily="49" charset="-122"/>
                <a:ea typeface="仿宋" panose="02010609060101010101" pitchFamily="49" charset="-122"/>
              </a:rPr>
              <a:t>称为入射光瞳</a:t>
            </a:r>
            <a:endParaRPr lang="en-US" altLang="zh-CN" sz="2400" dirty="0" smtClean="0">
              <a:solidFill>
                <a:schemeClr val="tx1"/>
              </a:solidFill>
              <a:latin typeface="仿宋" panose="02010609060101010101" pitchFamily="49" charset="-122"/>
              <a:ea typeface="仿宋" panose="02010609060101010101" pitchFamily="49" charset="-122"/>
            </a:endParaRPr>
          </a:p>
          <a:p>
            <a:pPr>
              <a:lnSpc>
                <a:spcPct val="150000"/>
              </a:lnSpc>
              <a:buFont typeface="Arial" panose="020B0604020202020204" pitchFamily="34" charset="0"/>
              <a:buChar char="•"/>
            </a:pPr>
            <a:r>
              <a:rPr lang="zh-CN" altLang="en-US" sz="2400" b="1" dirty="0" smtClean="0">
                <a:solidFill>
                  <a:schemeClr val="accent5"/>
                </a:solidFill>
                <a:latin typeface="仿宋" panose="02010609060101010101" pitchFamily="49" charset="-122"/>
                <a:ea typeface="仿宋" panose="02010609060101010101" pitchFamily="49" charset="-122"/>
              </a:rPr>
              <a:t>出射光瞳：</a:t>
            </a:r>
            <a:r>
              <a:rPr lang="zh-CN" altLang="en-US" sz="2400" dirty="0">
                <a:solidFill>
                  <a:schemeClr val="tx1"/>
                </a:solidFill>
                <a:latin typeface="仿宋" panose="02010609060101010101" pitchFamily="49" charset="-122"/>
                <a:ea typeface="仿宋" panose="02010609060101010101" pitchFamily="49" charset="-122"/>
              </a:rPr>
              <a:t>光孔</a:t>
            </a:r>
            <a:r>
              <a:rPr lang="en-US" altLang="zh-CN" sz="2400" dirty="0">
                <a:solidFill>
                  <a:schemeClr val="tx1"/>
                </a:solidFill>
                <a:latin typeface="仿宋" panose="02010609060101010101" pitchFamily="49" charset="-122"/>
                <a:ea typeface="仿宋" panose="02010609060101010101" pitchFamily="49" charset="-122"/>
              </a:rPr>
              <a:t>Q</a:t>
            </a:r>
            <a:r>
              <a:rPr lang="en-US" altLang="zh-CN" sz="2400" baseline="-25000" dirty="0">
                <a:solidFill>
                  <a:schemeClr val="tx1"/>
                </a:solidFill>
                <a:latin typeface="仿宋" panose="02010609060101010101" pitchFamily="49" charset="-122"/>
                <a:ea typeface="仿宋" panose="02010609060101010101" pitchFamily="49" charset="-122"/>
              </a:rPr>
              <a:t>1</a:t>
            </a:r>
            <a:r>
              <a:rPr lang="en-US" altLang="zh-CN" sz="2400" dirty="0">
                <a:solidFill>
                  <a:schemeClr val="tx1"/>
                </a:solidFill>
                <a:latin typeface="仿宋" panose="02010609060101010101" pitchFamily="49" charset="-122"/>
                <a:ea typeface="仿宋" panose="02010609060101010101" pitchFamily="49" charset="-122"/>
              </a:rPr>
              <a:t>QQ</a:t>
            </a:r>
            <a:r>
              <a:rPr lang="en-US" altLang="zh-CN" sz="2400" baseline="-25000" dirty="0">
                <a:solidFill>
                  <a:schemeClr val="tx1"/>
                </a:solidFill>
                <a:latin typeface="仿宋" panose="02010609060101010101" pitchFamily="49" charset="-122"/>
                <a:ea typeface="仿宋" panose="02010609060101010101" pitchFamily="49" charset="-122"/>
              </a:rPr>
              <a:t>2</a:t>
            </a:r>
            <a:r>
              <a:rPr lang="zh-CN" altLang="en-US" sz="2400" dirty="0">
                <a:solidFill>
                  <a:schemeClr val="tx1"/>
                </a:solidFill>
                <a:latin typeface="仿宋" panose="02010609060101010101" pitchFamily="49" charset="-122"/>
                <a:ea typeface="仿宋" panose="02010609060101010101" pitchFamily="49" charset="-122"/>
              </a:rPr>
              <a:t>经</a:t>
            </a:r>
            <a:r>
              <a:rPr lang="zh-CN" altLang="en-US" sz="2400" dirty="0" smtClean="0">
                <a:solidFill>
                  <a:schemeClr val="tx1"/>
                </a:solidFill>
                <a:latin typeface="仿宋" panose="02010609060101010101" pitchFamily="49" charset="-122"/>
                <a:ea typeface="仿宋" panose="02010609060101010101" pitchFamily="49" charset="-122"/>
              </a:rPr>
              <a:t>其后面的</a:t>
            </a:r>
            <a:r>
              <a:rPr lang="zh-CN" altLang="en-US" sz="2400" dirty="0">
                <a:solidFill>
                  <a:schemeClr val="tx1"/>
                </a:solidFill>
                <a:latin typeface="仿宋" panose="02010609060101010101" pitchFamily="49" charset="-122"/>
                <a:ea typeface="仿宋" panose="02010609060101010101" pitchFamily="49" charset="-122"/>
              </a:rPr>
              <a:t>透镜成像</a:t>
            </a:r>
            <a:r>
              <a:rPr lang="zh-CN" altLang="en-US" sz="2400" dirty="0" smtClean="0">
                <a:solidFill>
                  <a:schemeClr val="tx1"/>
                </a:solidFill>
                <a:latin typeface="仿宋" panose="02010609060101010101" pitchFamily="49" charset="-122"/>
                <a:ea typeface="仿宋" panose="02010609060101010101" pitchFamily="49" charset="-122"/>
              </a:rPr>
              <a:t>到像空间</a:t>
            </a:r>
            <a:r>
              <a:rPr lang="zh-CN" altLang="en-US" sz="2400" dirty="0">
                <a:solidFill>
                  <a:schemeClr val="tx1"/>
                </a:solidFill>
                <a:latin typeface="仿宋" panose="02010609060101010101" pitchFamily="49" charset="-122"/>
                <a:ea typeface="仿宋" panose="02010609060101010101" pitchFamily="49" charset="-122"/>
              </a:rPr>
              <a:t>，其像</a:t>
            </a:r>
            <a:r>
              <a:rPr lang="en-US" altLang="zh-CN" sz="2400" dirty="0" smtClean="0">
                <a:solidFill>
                  <a:schemeClr val="tx1"/>
                </a:solidFill>
                <a:latin typeface="仿宋" panose="02010609060101010101" pitchFamily="49" charset="-122"/>
                <a:ea typeface="仿宋" panose="02010609060101010101" pitchFamily="49" charset="-122"/>
              </a:rPr>
              <a:t>P</a:t>
            </a:r>
            <a:r>
              <a:rPr lang="en-US" altLang="zh-CN" sz="2400" baseline="-25000" dirty="0" smtClean="0">
                <a:solidFill>
                  <a:schemeClr val="tx1"/>
                </a:solidFill>
                <a:latin typeface="仿宋" panose="02010609060101010101" pitchFamily="49" charset="-122"/>
                <a:ea typeface="仿宋" panose="02010609060101010101" pitchFamily="49" charset="-122"/>
              </a:rPr>
              <a:t>1</a:t>
            </a:r>
            <a:r>
              <a:rPr lang="en-US" altLang="zh-CN" sz="2400" baseline="30000" dirty="0" smtClean="0">
                <a:solidFill>
                  <a:schemeClr val="tx1"/>
                </a:solidFill>
                <a:latin typeface="仿宋" panose="02010609060101010101" pitchFamily="49" charset="-122"/>
                <a:ea typeface="仿宋" panose="02010609060101010101" pitchFamily="49" charset="-122"/>
              </a:rPr>
              <a:t>´</a:t>
            </a:r>
            <a:r>
              <a:rPr lang="en-US" altLang="zh-CN" sz="2400" dirty="0" smtClean="0">
                <a:solidFill>
                  <a:schemeClr val="tx1"/>
                </a:solidFill>
                <a:latin typeface="仿宋" panose="02010609060101010101" pitchFamily="49" charset="-122"/>
                <a:ea typeface="仿宋" panose="02010609060101010101" pitchFamily="49" charset="-122"/>
              </a:rPr>
              <a:t>PP</a:t>
            </a:r>
            <a:r>
              <a:rPr lang="en-US" altLang="zh-CN" sz="2400" baseline="-25000" dirty="0" smtClean="0">
                <a:solidFill>
                  <a:schemeClr val="tx1"/>
                </a:solidFill>
                <a:latin typeface="仿宋" panose="02010609060101010101" pitchFamily="49" charset="-122"/>
                <a:ea typeface="仿宋" panose="02010609060101010101" pitchFamily="49" charset="-122"/>
              </a:rPr>
              <a:t>2</a:t>
            </a:r>
            <a:r>
              <a:rPr lang="en-US" altLang="zh-CN" sz="2400" baseline="30000" dirty="0">
                <a:solidFill>
                  <a:schemeClr val="tx1"/>
                </a:solidFill>
                <a:latin typeface="仿宋" panose="02010609060101010101" pitchFamily="49" charset="-122"/>
                <a:ea typeface="仿宋" panose="02010609060101010101" pitchFamily="49" charset="-122"/>
              </a:rPr>
              <a:t>´</a:t>
            </a:r>
            <a:r>
              <a:rPr lang="zh-CN" altLang="en-US" sz="2400" dirty="0" smtClean="0">
                <a:solidFill>
                  <a:schemeClr val="tx1"/>
                </a:solidFill>
                <a:latin typeface="仿宋" panose="02010609060101010101" pitchFamily="49" charset="-122"/>
                <a:ea typeface="仿宋" panose="02010609060101010101" pitchFamily="49" charset="-122"/>
              </a:rPr>
              <a:t>决定了</a:t>
            </a:r>
            <a:r>
              <a:rPr lang="zh-CN" altLang="en-US" sz="2400" dirty="0">
                <a:solidFill>
                  <a:schemeClr val="tx1"/>
                </a:solidFill>
                <a:latin typeface="仿宋" panose="02010609060101010101" pitchFamily="49" charset="-122"/>
                <a:ea typeface="仿宋" panose="02010609060101010101" pitchFamily="49" charset="-122"/>
              </a:rPr>
              <a:t>像</a:t>
            </a:r>
            <a:r>
              <a:rPr lang="zh-CN" altLang="en-US" sz="2400" dirty="0" smtClean="0">
                <a:solidFill>
                  <a:schemeClr val="tx1"/>
                </a:solidFill>
                <a:latin typeface="仿宋" panose="02010609060101010101" pitchFamily="49" charset="-122"/>
                <a:ea typeface="仿宋" panose="02010609060101010101" pitchFamily="49" charset="-122"/>
              </a:rPr>
              <a:t>方</a:t>
            </a:r>
            <a:r>
              <a:rPr lang="zh-CN" altLang="en-US" sz="2400" dirty="0">
                <a:solidFill>
                  <a:schemeClr val="tx1"/>
                </a:solidFill>
                <a:latin typeface="仿宋" panose="02010609060101010101" pitchFamily="49" charset="-122"/>
                <a:ea typeface="仿宋" panose="02010609060101010101" pitchFamily="49" charset="-122"/>
              </a:rPr>
              <a:t>孔径角</a:t>
            </a:r>
            <a:r>
              <a:rPr lang="en-US" altLang="zh-CN" sz="2400" dirty="0" smtClean="0">
                <a:solidFill>
                  <a:schemeClr val="tx1"/>
                </a:solidFill>
                <a:latin typeface="仿宋" panose="02010609060101010101" pitchFamily="49" charset="-122"/>
                <a:ea typeface="仿宋" panose="02010609060101010101" pitchFamily="49" charset="-122"/>
              </a:rPr>
              <a:t>U’</a:t>
            </a:r>
            <a:r>
              <a:rPr lang="zh-CN" altLang="en-US" sz="2400" dirty="0" smtClean="0">
                <a:solidFill>
                  <a:schemeClr val="tx1"/>
                </a:solidFill>
                <a:latin typeface="仿宋" panose="02010609060101010101" pitchFamily="49" charset="-122"/>
                <a:ea typeface="仿宋" panose="02010609060101010101" pitchFamily="49" charset="-122"/>
              </a:rPr>
              <a:t>，</a:t>
            </a:r>
            <a:r>
              <a:rPr lang="zh-CN" altLang="en-US" sz="2400" dirty="0">
                <a:solidFill>
                  <a:schemeClr val="tx1"/>
                </a:solidFill>
                <a:latin typeface="仿宋" panose="02010609060101010101" pitchFamily="49" charset="-122"/>
                <a:ea typeface="仿宋" panose="02010609060101010101" pitchFamily="49" charset="-122"/>
              </a:rPr>
              <a:t>该光孔</a:t>
            </a:r>
            <a:r>
              <a:rPr lang="zh-CN" altLang="en-US" sz="2400" dirty="0" smtClean="0">
                <a:solidFill>
                  <a:schemeClr val="tx1"/>
                </a:solidFill>
                <a:latin typeface="仿宋" panose="02010609060101010101" pitchFamily="49" charset="-122"/>
                <a:ea typeface="仿宋" panose="02010609060101010101" pitchFamily="49" charset="-122"/>
              </a:rPr>
              <a:t>像</a:t>
            </a:r>
            <a:r>
              <a:rPr lang="en-US" altLang="zh-CN" sz="2400" dirty="0">
                <a:solidFill>
                  <a:schemeClr val="tx1"/>
                </a:solidFill>
                <a:latin typeface="仿宋" panose="02010609060101010101" pitchFamily="49" charset="-122"/>
                <a:ea typeface="仿宋" panose="02010609060101010101" pitchFamily="49" charset="-122"/>
              </a:rPr>
              <a:t>P</a:t>
            </a:r>
            <a:r>
              <a:rPr lang="en-US" altLang="zh-CN" sz="2400" baseline="-25000" dirty="0">
                <a:solidFill>
                  <a:schemeClr val="tx1"/>
                </a:solidFill>
                <a:latin typeface="仿宋" panose="02010609060101010101" pitchFamily="49" charset="-122"/>
                <a:ea typeface="仿宋" panose="02010609060101010101" pitchFamily="49" charset="-122"/>
              </a:rPr>
              <a:t>1</a:t>
            </a:r>
            <a:r>
              <a:rPr lang="en-US" altLang="zh-CN" sz="2400" baseline="30000" dirty="0">
                <a:solidFill>
                  <a:schemeClr val="tx1"/>
                </a:solidFill>
                <a:latin typeface="仿宋" panose="02010609060101010101" pitchFamily="49" charset="-122"/>
                <a:ea typeface="仿宋" panose="02010609060101010101" pitchFamily="49" charset="-122"/>
              </a:rPr>
              <a:t>´</a:t>
            </a:r>
            <a:r>
              <a:rPr lang="en-US" altLang="zh-CN" sz="2400" dirty="0">
                <a:solidFill>
                  <a:schemeClr val="tx1"/>
                </a:solidFill>
                <a:latin typeface="仿宋" panose="02010609060101010101" pitchFamily="49" charset="-122"/>
                <a:ea typeface="仿宋" panose="02010609060101010101" pitchFamily="49" charset="-122"/>
              </a:rPr>
              <a:t>PP</a:t>
            </a:r>
            <a:r>
              <a:rPr lang="en-US" altLang="zh-CN" sz="2400" baseline="-25000" dirty="0">
                <a:solidFill>
                  <a:schemeClr val="tx1"/>
                </a:solidFill>
                <a:latin typeface="仿宋" panose="02010609060101010101" pitchFamily="49" charset="-122"/>
                <a:ea typeface="仿宋" panose="02010609060101010101" pitchFamily="49" charset="-122"/>
              </a:rPr>
              <a:t>2</a:t>
            </a:r>
            <a:r>
              <a:rPr lang="en-US" altLang="zh-CN" sz="2400" baseline="30000" dirty="0">
                <a:solidFill>
                  <a:schemeClr val="tx1"/>
                </a:solidFill>
                <a:latin typeface="仿宋" panose="02010609060101010101" pitchFamily="49" charset="-122"/>
                <a:ea typeface="仿宋" panose="02010609060101010101" pitchFamily="49" charset="-122"/>
              </a:rPr>
              <a:t>´</a:t>
            </a:r>
            <a:r>
              <a:rPr lang="zh-CN" altLang="en-US" sz="2400" dirty="0" smtClean="0">
                <a:solidFill>
                  <a:schemeClr val="tx1"/>
                </a:solidFill>
                <a:latin typeface="仿宋" panose="02010609060101010101" pitchFamily="49" charset="-122"/>
                <a:ea typeface="仿宋" panose="02010609060101010101" pitchFamily="49" charset="-122"/>
              </a:rPr>
              <a:t>称为</a:t>
            </a:r>
            <a:r>
              <a:rPr lang="zh-CN" altLang="en-US" sz="2400" dirty="0">
                <a:solidFill>
                  <a:schemeClr val="tx1"/>
                </a:solidFill>
                <a:latin typeface="仿宋" panose="02010609060101010101" pitchFamily="49" charset="-122"/>
                <a:ea typeface="仿宋" panose="02010609060101010101" pitchFamily="49" charset="-122"/>
              </a:rPr>
              <a:t>出</a:t>
            </a:r>
            <a:r>
              <a:rPr lang="zh-CN" altLang="en-US" sz="2400" dirty="0" smtClean="0">
                <a:solidFill>
                  <a:schemeClr val="tx1"/>
                </a:solidFill>
                <a:latin typeface="仿宋" panose="02010609060101010101" pitchFamily="49" charset="-122"/>
                <a:ea typeface="仿宋" panose="02010609060101010101" pitchFamily="49" charset="-122"/>
              </a:rPr>
              <a:t>射光瞳</a:t>
            </a:r>
            <a:endParaRPr lang="en-US" altLang="zh-CN" sz="2400" dirty="0">
              <a:solidFill>
                <a:schemeClr val="tx1"/>
              </a:solidFill>
              <a:latin typeface="仿宋" panose="02010609060101010101" pitchFamily="49" charset="-122"/>
              <a:ea typeface="仿宋" panose="02010609060101010101" pitchFamily="49" charset="-122"/>
            </a:endParaRPr>
          </a:p>
          <a:p>
            <a:pPr>
              <a:lnSpc>
                <a:spcPct val="150000"/>
              </a:lnSpc>
              <a:buFont typeface="Arial" panose="020B0604020202020204" pitchFamily="34" charset="0"/>
              <a:buChar char="•"/>
            </a:pPr>
            <a:r>
              <a:rPr lang="zh-CN" altLang="en-US" sz="2400" dirty="0" smtClean="0">
                <a:solidFill>
                  <a:schemeClr val="tx1"/>
                </a:solidFill>
                <a:latin typeface="仿宋" panose="02010609060101010101" pitchFamily="49" charset="-122"/>
                <a:ea typeface="仿宋" panose="02010609060101010101" pitchFamily="49" charset="-122"/>
              </a:rPr>
              <a:t>与入射光瞳、出射光瞳对应的那个实际起着限制作用的光孔</a:t>
            </a:r>
            <a:r>
              <a:rPr lang="en-US" altLang="zh-CN" sz="2400" dirty="0">
                <a:solidFill>
                  <a:schemeClr val="tx1"/>
                </a:solidFill>
                <a:latin typeface="仿宋" panose="02010609060101010101" pitchFamily="49" charset="-122"/>
                <a:ea typeface="仿宋" panose="02010609060101010101" pitchFamily="49" charset="-122"/>
              </a:rPr>
              <a:t>Q</a:t>
            </a:r>
            <a:r>
              <a:rPr lang="en-US" altLang="zh-CN" sz="2400" baseline="-25000" dirty="0">
                <a:solidFill>
                  <a:schemeClr val="tx1"/>
                </a:solidFill>
                <a:latin typeface="仿宋" panose="02010609060101010101" pitchFamily="49" charset="-122"/>
                <a:ea typeface="仿宋" panose="02010609060101010101" pitchFamily="49" charset="-122"/>
              </a:rPr>
              <a:t>1</a:t>
            </a:r>
            <a:r>
              <a:rPr lang="en-US" altLang="zh-CN" sz="2400" dirty="0">
                <a:solidFill>
                  <a:schemeClr val="tx1"/>
                </a:solidFill>
                <a:latin typeface="仿宋" panose="02010609060101010101" pitchFamily="49" charset="-122"/>
                <a:ea typeface="仿宋" panose="02010609060101010101" pitchFamily="49" charset="-122"/>
              </a:rPr>
              <a:t>QQ</a:t>
            </a:r>
            <a:r>
              <a:rPr lang="en-US" altLang="zh-CN" sz="2400" baseline="-25000" dirty="0">
                <a:solidFill>
                  <a:schemeClr val="tx1"/>
                </a:solidFill>
                <a:latin typeface="仿宋" panose="02010609060101010101" pitchFamily="49" charset="-122"/>
                <a:ea typeface="仿宋" panose="02010609060101010101" pitchFamily="49" charset="-122"/>
              </a:rPr>
              <a:t>2</a:t>
            </a:r>
            <a:r>
              <a:rPr lang="zh-CN" altLang="en-US" sz="2400" dirty="0" smtClean="0">
                <a:solidFill>
                  <a:schemeClr val="tx1"/>
                </a:solidFill>
                <a:latin typeface="仿宋" panose="02010609060101010101" pitchFamily="49" charset="-122"/>
                <a:ea typeface="仿宋" panose="02010609060101010101" pitchFamily="49" charset="-122"/>
              </a:rPr>
              <a:t>即为孔径光阑</a:t>
            </a:r>
            <a:endParaRPr lang="en-US" altLang="zh-CN" sz="2400" dirty="0" smtClean="0">
              <a:solidFill>
                <a:schemeClr val="tx1"/>
              </a:solidFill>
              <a:latin typeface="仿宋" panose="02010609060101010101" pitchFamily="49" charset="-122"/>
              <a:ea typeface="仿宋" panose="02010609060101010101" pitchFamily="49" charset="-122"/>
            </a:endParaRPr>
          </a:p>
          <a:p>
            <a:endParaRPr lang="zh-CN" altLang="en-US" dirty="0"/>
          </a:p>
        </p:txBody>
      </p:sp>
      <p:pic>
        <p:nvPicPr>
          <p:cNvPr id="4" name="Picture 2" descr="C:\Users\07285yzl\Desktop\红外镜头设计简介\新建文件夹\JXEXVORW.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67658" y="4769792"/>
            <a:ext cx="6521287" cy="30894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像</a:t>
            </a:r>
            <a:r>
              <a:rPr lang="zh-CN" altLang="en-US" dirty="0" smtClean="0"/>
              <a:t>差概述</a:t>
            </a:r>
            <a:endParaRPr lang="zh-CN" altLang="en-US" dirty="0"/>
          </a:p>
        </p:txBody>
      </p:sp>
      <p:pic>
        <p:nvPicPr>
          <p:cNvPr id="5123" name="Picture 3" descr="C:\Users\07285yzl\Desktop\红外镜头设计简介\新建文件夹\src=http___www.51wendang.com_pic_a4fede06178f75aa9928efb2_8-810-jpg_6-1080-0-0-1080.jpg&amp;refer=http___www.51wendang.jpg"/>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2735610" y="809352"/>
            <a:ext cx="8375649" cy="62817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球差</a:t>
            </a:r>
            <a:endParaRPr lang="zh-CN" altLang="en-US" dirty="0"/>
          </a:p>
        </p:txBody>
      </p:sp>
      <p:pic>
        <p:nvPicPr>
          <p:cNvPr id="6146" name="Picture 2" descr="C:\Users\07285yzl\Desktop\红外镜头设计简介\新建文件夹\ec544b42c8e6366bd97ff67ef2d4cae8_1440w.png"/>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3167658" y="809352"/>
            <a:ext cx="7432617" cy="3960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663602" y="5273848"/>
            <a:ext cx="8856984" cy="175432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b="1" dirty="0" smtClean="0">
                <a:solidFill>
                  <a:schemeClr val="accent5"/>
                </a:solidFill>
                <a:latin typeface="仿宋" panose="02010609060101010101" pitchFamily="49" charset="-122"/>
                <a:ea typeface="仿宋" panose="02010609060101010101" pitchFamily="49" charset="-122"/>
              </a:rPr>
              <a:t>球差：</a:t>
            </a:r>
            <a:r>
              <a:rPr lang="zh-CN" altLang="en-US" sz="2400" dirty="0" smtClean="0">
                <a:latin typeface="仿宋" panose="02010609060101010101" pitchFamily="49" charset="-122"/>
                <a:ea typeface="仿宋" panose="02010609060101010101" pitchFamily="49" charset="-122"/>
              </a:rPr>
              <a:t>轴上点发出的同心光束，经光学系统后，不同孔径的光线交光轴于不同点，相对于理想像点的位置有不同的偏离，这就是球面像差</a:t>
            </a:r>
            <a:endParaRPr lang="zh-CN" altLang="en-US" sz="2400" dirty="0">
              <a:latin typeface="仿宋" panose="02010609060101010101" pitchFamily="49" charset="-122"/>
              <a:ea typeface="仿宋" panose="02010609060101010101" pitchFamily="49"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彗差</a:t>
            </a:r>
            <a:endParaRPr lang="zh-CN" altLang="en-US" dirty="0"/>
          </a:p>
        </p:txBody>
      </p:sp>
      <p:pic>
        <p:nvPicPr>
          <p:cNvPr id="4" name="Picture 3" descr="C:\Users\07285yzl\Desktop\红外镜头设计简介\新建文件夹\31ec4b8523f42760e703bcdbee4708eb_1440w.png"/>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3527698" y="809352"/>
            <a:ext cx="6635343" cy="4320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367458" y="5273848"/>
            <a:ext cx="11593288" cy="166776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b="1" dirty="0" smtClean="0">
                <a:solidFill>
                  <a:schemeClr val="accent5"/>
                </a:solidFill>
                <a:latin typeface="仿宋" panose="02010609060101010101" pitchFamily="49" charset="-122"/>
                <a:ea typeface="仿宋" panose="02010609060101010101" pitchFamily="49" charset="-122"/>
              </a:rPr>
              <a:t>慧差：</a:t>
            </a:r>
            <a:r>
              <a:rPr lang="zh-CN" altLang="en-US" sz="2400" dirty="0" smtClean="0">
                <a:latin typeface="仿宋" panose="02010609060101010101" pitchFamily="49" charset="-122"/>
                <a:ea typeface="仿宋" panose="02010609060101010101" pitchFamily="49" charset="-122"/>
              </a:rPr>
              <a:t>轴外物点发出的宽光束，经光学系统后，上下光线和主光线并不交于一点，用上下光线的交点和主光线在垂直于光轴方向上的偏差，称为慧差，分子午慧差和弧矢慧差。</a:t>
            </a:r>
            <a:endParaRPr lang="zh-CN" altLang="en-US" sz="2400" dirty="0">
              <a:latin typeface="仿宋" panose="02010609060101010101" pitchFamily="49" charset="-122"/>
              <a:ea typeface="仿宋" panose="02010609060101010101" pitchFamily="49"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场曲</a:t>
            </a:r>
            <a:endParaRPr lang="zh-CN" altLang="en-US" dirty="0"/>
          </a:p>
        </p:txBody>
      </p:sp>
      <p:pic>
        <p:nvPicPr>
          <p:cNvPr id="7172" name="Picture 4" descr="C:\Users\07285yzl\Desktop\红外镜头设计简介\新建文件夹\u=1509317217,2697221366&amp;fm=253&amp;fmt=auto&amp;app=138&amp;f=PNG.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47578" y="809352"/>
            <a:ext cx="8388349" cy="4320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084254" y="6065935"/>
            <a:ext cx="9114996" cy="461665"/>
          </a:xfrm>
          <a:prstGeom prst="rect">
            <a:avLst/>
          </a:prstGeom>
          <a:noFill/>
        </p:spPr>
        <p:txBody>
          <a:bodyPr wrap="none" rtlCol="0">
            <a:spAutoFit/>
          </a:bodyPr>
          <a:lstStyle/>
          <a:p>
            <a:pPr marL="342900" indent="-342900">
              <a:buFont typeface="Arial" panose="020B0604020202020204" pitchFamily="34" charset="0"/>
              <a:buChar char="•"/>
            </a:pPr>
            <a:r>
              <a:rPr lang="zh-CN" altLang="en-US" sz="2400" b="1" dirty="0" smtClean="0">
                <a:solidFill>
                  <a:schemeClr val="accent5"/>
                </a:solidFill>
                <a:latin typeface="仿宋" panose="02010609060101010101" pitchFamily="49" charset="-122"/>
                <a:ea typeface="仿宋" panose="02010609060101010101" pitchFamily="49" charset="-122"/>
              </a:rPr>
              <a:t>场曲：</a:t>
            </a:r>
            <a:r>
              <a:rPr lang="zh-CN" altLang="en-US" sz="2400" dirty="0" smtClean="0">
                <a:latin typeface="仿宋" panose="02010609060101010101" pitchFamily="49" charset="-122"/>
                <a:ea typeface="仿宋" panose="02010609060101010101" pitchFamily="49" charset="-122"/>
              </a:rPr>
              <a:t>平面物体经光学系统成弯曲像面，这个成像缺陷称为场曲</a:t>
            </a:r>
            <a:endParaRPr lang="zh-CN" altLang="en-US" sz="2400" dirty="0">
              <a:latin typeface="仿宋" panose="02010609060101010101" pitchFamily="49" charset="-122"/>
              <a:ea typeface="仿宋" panose="02010609060101010101" pitchFamily="49"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像散</a:t>
            </a:r>
            <a:endParaRPr lang="zh-CN" altLang="en-US" dirty="0"/>
          </a:p>
        </p:txBody>
      </p:sp>
      <p:pic>
        <p:nvPicPr>
          <p:cNvPr id="8194" name="Picture 2" descr="C:\Users\07285yzl\Desktop\红外镜头设计简介\新建文件夹\208cbb1ebcd7aa2a0694f47878429606_1440w.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59551" y="836984"/>
            <a:ext cx="7690101" cy="4320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303562" y="5777904"/>
            <a:ext cx="9461244" cy="461665"/>
          </a:xfrm>
          <a:prstGeom prst="rect">
            <a:avLst/>
          </a:prstGeom>
          <a:noFill/>
        </p:spPr>
        <p:txBody>
          <a:bodyPr wrap="none" rtlCol="0">
            <a:spAutoFit/>
          </a:bodyPr>
          <a:lstStyle/>
          <a:p>
            <a:pPr marL="342900" indent="-342900">
              <a:buFont typeface="Arial" panose="020B0604020202020204" pitchFamily="34" charset="0"/>
              <a:buChar char="•"/>
            </a:pPr>
            <a:r>
              <a:rPr lang="zh-CN" altLang="en-US" sz="2400" b="1" dirty="0" smtClean="0">
                <a:solidFill>
                  <a:schemeClr val="accent5"/>
                </a:solidFill>
                <a:latin typeface="仿宋" panose="02010609060101010101" pitchFamily="49" charset="-122"/>
                <a:ea typeface="仿宋" panose="02010609060101010101" pitchFamily="49" charset="-122"/>
              </a:rPr>
              <a:t>像散：</a:t>
            </a:r>
            <a:r>
              <a:rPr lang="zh-CN" altLang="en-US" sz="2400" dirty="0" smtClean="0">
                <a:latin typeface="仿宋" panose="02010609060101010101" pitchFamily="49" charset="-122"/>
                <a:ea typeface="仿宋" panose="02010609060101010101" pitchFamily="49" charset="-122"/>
              </a:rPr>
              <a:t>轴外物点发出的光线，子午面的像点和弧矢面的像点不重合</a:t>
            </a:r>
            <a:endParaRPr lang="zh-CN" altLang="en-US" sz="2400" dirty="0">
              <a:latin typeface="仿宋" panose="02010609060101010101" pitchFamily="49" charset="-122"/>
              <a:ea typeface="仿宋" panose="02010609060101010101" pitchFamily="49"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畸变</a:t>
            </a:r>
            <a:endParaRPr lang="zh-CN" altLang="en-US" dirty="0"/>
          </a:p>
        </p:txBody>
      </p:sp>
      <p:pic>
        <p:nvPicPr>
          <p:cNvPr id="18434" name="Picture 2" descr="C:\Users\07285yzl\Desktop\红外镜头设计简介\新建文件夹\src=http___pic1.zhimg.com_v2-ce66d732708580b67601fed0fad84c4c_b.jpg&amp;refer=http___pic1.zhimg.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91594" y="1061392"/>
            <a:ext cx="9144000" cy="38735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431369" y="5417864"/>
            <a:ext cx="9464450" cy="461665"/>
          </a:xfrm>
          <a:prstGeom prst="rect">
            <a:avLst/>
          </a:prstGeom>
          <a:noFill/>
        </p:spPr>
        <p:txBody>
          <a:bodyPr wrap="none" rtlCol="0">
            <a:spAutoFit/>
          </a:bodyPr>
          <a:lstStyle/>
          <a:p>
            <a:pPr marL="342900" indent="-342900">
              <a:buFont typeface="Arial" panose="020B0604020202020204" pitchFamily="34" charset="0"/>
              <a:buChar char="•"/>
            </a:pPr>
            <a:r>
              <a:rPr lang="zh-CN" altLang="en-US" sz="2400" b="1" dirty="0" smtClean="0">
                <a:solidFill>
                  <a:schemeClr val="accent5"/>
                </a:solidFill>
                <a:latin typeface="仿宋" panose="02010609060101010101" pitchFamily="49" charset="-122"/>
                <a:ea typeface="仿宋" panose="02010609060101010101" pitchFamily="49" charset="-122"/>
              </a:rPr>
              <a:t>光学畸变：</a:t>
            </a:r>
            <a:r>
              <a:rPr lang="zh-CN" altLang="en-US" sz="2400" dirty="0" smtClean="0">
                <a:latin typeface="仿宋" panose="02010609060101010101" pitchFamily="49" charset="-122"/>
                <a:ea typeface="仿宋" panose="02010609060101010101" pitchFamily="49" charset="-122"/>
              </a:rPr>
              <a:t>轴外物点的主光线和高斯像面的交点，不等于理想像高</a:t>
            </a:r>
            <a:endParaRPr lang="zh-CN" altLang="en-US" sz="2400" dirty="0">
              <a:latin typeface="仿宋" panose="02010609060101010101" pitchFamily="49" charset="-122"/>
              <a:ea typeface="仿宋" panose="02010609060101010101" pitchFamily="49"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位置色差（轴</a:t>
            </a:r>
            <a:r>
              <a:rPr lang="zh-CN" altLang="en-US" dirty="0"/>
              <a:t>向</a:t>
            </a:r>
            <a:r>
              <a:rPr lang="zh-CN" altLang="en-US" dirty="0" smtClean="0"/>
              <a:t>色差）</a:t>
            </a:r>
            <a:r>
              <a:rPr lang="en-US" altLang="zh-CN" dirty="0" smtClean="0"/>
              <a:t>/</a:t>
            </a:r>
            <a:r>
              <a:rPr lang="zh-CN" altLang="en-US" dirty="0" smtClean="0"/>
              <a:t>倍率色差（垂轴色差）</a:t>
            </a:r>
            <a:endParaRPr lang="zh-CN" altLang="en-US" dirty="0"/>
          </a:p>
        </p:txBody>
      </p:sp>
      <p:pic>
        <p:nvPicPr>
          <p:cNvPr id="10242" name="Picture 2" descr="C:\Users\07285yzl\Desktop\红外镜头设计简介\新建文件夹\src=http___img57.chem17.com_9_20140630_635397180425227309273.png&amp;refer=http___img57.chem17.png"/>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7344122" y="949820"/>
            <a:ext cx="6927260" cy="439851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C:\Users\07285yzl\Desktop\红外镜头设计简介\新建文件夹\src=http___bkimg.cdn.bcebos.com_pic_caef76094b36acaf7f3280c27ed98d1001e99c39&amp;refer=http___bkimg.cdn.bcebos.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362" y="841424"/>
            <a:ext cx="6367380" cy="45365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衍射、艾里斑</a:t>
            </a:r>
            <a:endParaRPr lang="zh-CN" altLang="en-US" dirty="0"/>
          </a:p>
        </p:txBody>
      </p:sp>
      <p:sp>
        <p:nvSpPr>
          <p:cNvPr id="3" name="内容占位符 2"/>
          <p:cNvSpPr>
            <a:spLocks noGrp="1"/>
          </p:cNvSpPr>
          <p:nvPr>
            <p:ph idx="1"/>
          </p:nvPr>
        </p:nvSpPr>
        <p:spPr>
          <a:xfrm>
            <a:off x="862013" y="953368"/>
            <a:ext cx="6626125" cy="3024336"/>
          </a:xfrm>
        </p:spPr>
        <p:txBody>
          <a:bodyPr/>
          <a:lstStyle/>
          <a:p>
            <a:pPr>
              <a:lnSpc>
                <a:spcPct val="150000"/>
              </a:lnSpc>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光的衍射：</a:t>
            </a:r>
            <a:r>
              <a:rPr lang="zh-CN" altLang="en-US" sz="2400" dirty="0" smtClean="0">
                <a:solidFill>
                  <a:schemeClr val="tx1"/>
                </a:solidFill>
                <a:latin typeface="仿宋" panose="02010609060101010101" pitchFamily="49" charset="-122"/>
                <a:ea typeface="仿宋" panose="02010609060101010101" pitchFamily="49" charset="-122"/>
              </a:rPr>
              <a:t>光传播遇到障碍物，绕到障碍物后面的现象，特别是遇到小孔，衍射现象越明显。</a:t>
            </a:r>
            <a:endParaRPr lang="zh-CN" altLang="en-US" sz="2400" dirty="0" smtClean="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艾里斑：</a:t>
            </a:r>
            <a:r>
              <a:rPr lang="zh-CN" altLang="en-US" sz="2400" dirty="0" smtClean="0">
                <a:solidFill>
                  <a:schemeClr val="tx1"/>
                </a:solidFill>
                <a:latin typeface="仿宋" panose="02010609060101010101" pitchFamily="49" charset="-122"/>
                <a:ea typeface="仿宋" panose="02010609060101010101" pitchFamily="49" charset="-122"/>
              </a:rPr>
              <a:t>点光源通过衍射受限透镜成像时</a:t>
            </a:r>
            <a:r>
              <a:rPr lang="zh-CN" altLang="en-US" sz="2400" b="1" dirty="0">
                <a:solidFill>
                  <a:schemeClr val="accent5"/>
                </a:solidFill>
                <a:latin typeface="仿宋" panose="02010609060101010101" pitchFamily="49" charset="-122"/>
                <a:ea typeface="仿宋" panose="02010609060101010101" pitchFamily="49" charset="-122"/>
              </a:rPr>
              <a:t>（</a:t>
            </a:r>
            <a:r>
              <a:rPr lang="zh-CN" altLang="en-US" sz="2400" b="1" dirty="0" smtClean="0">
                <a:solidFill>
                  <a:schemeClr val="accent5"/>
                </a:solidFill>
                <a:latin typeface="仿宋" panose="02010609060101010101" pitchFamily="49" charset="-122"/>
                <a:ea typeface="仿宋" panose="02010609060101010101" pitchFamily="49" charset="-122"/>
              </a:rPr>
              <a:t>镜筒、</a:t>
            </a:r>
            <a:r>
              <a:rPr lang="zh-CN" altLang="en-US" sz="2400" b="1" dirty="0">
                <a:solidFill>
                  <a:schemeClr val="accent5"/>
                </a:solidFill>
                <a:latin typeface="仿宋" panose="02010609060101010101" pitchFamily="49" charset="-122"/>
                <a:ea typeface="仿宋" panose="02010609060101010101" pitchFamily="49" charset="-122"/>
              </a:rPr>
              <a:t>光阑、压圈等</a:t>
            </a:r>
            <a:r>
              <a:rPr lang="zh-CN" altLang="en-US" sz="2400" b="1" dirty="0" smtClean="0">
                <a:solidFill>
                  <a:schemeClr val="accent5"/>
                </a:solidFill>
                <a:latin typeface="仿宋" panose="02010609060101010101" pitchFamily="49" charset="-122"/>
                <a:ea typeface="仿宋" panose="02010609060101010101" pitchFamily="49" charset="-122"/>
              </a:rPr>
              <a:t>），</a:t>
            </a:r>
            <a:r>
              <a:rPr lang="zh-CN" altLang="en-US" sz="2400" dirty="0" smtClean="0">
                <a:solidFill>
                  <a:schemeClr val="tx1"/>
                </a:solidFill>
                <a:latin typeface="仿宋" panose="02010609060101010101" pitchFamily="49" charset="-122"/>
                <a:ea typeface="仿宋" panose="02010609060101010101" pitchFamily="49" charset="-122"/>
              </a:rPr>
              <a:t>由于衍射而在焦点处形成的光斑。中央是明亮的圆斑，周围有一组较弱的明暗相间的同心环状条纹，把其中以第一暗环为界限的中央亮斑称作艾里斑。</a:t>
            </a:r>
            <a:endParaRPr lang="zh-CN" altLang="en-US" sz="2400" dirty="0">
              <a:solidFill>
                <a:schemeClr val="tx1"/>
              </a:solidFill>
              <a:latin typeface="仿宋" panose="02010609060101010101" pitchFamily="49" charset="-122"/>
              <a:ea typeface="仿宋" panose="02010609060101010101" pitchFamily="49" charset="-122"/>
            </a:endParaRPr>
          </a:p>
        </p:txBody>
      </p:sp>
      <p:sp>
        <p:nvSpPr>
          <p:cNvPr id="4" name="TextBox 3"/>
          <p:cNvSpPr txBox="1"/>
          <p:nvPr/>
        </p:nvSpPr>
        <p:spPr>
          <a:xfrm>
            <a:off x="863402" y="6348977"/>
            <a:ext cx="7156126" cy="461665"/>
          </a:xfrm>
          <a:prstGeom prst="rect">
            <a:avLst/>
          </a:prstGeom>
          <a:noFill/>
        </p:spPr>
        <p:txBody>
          <a:bodyPr wrap="none" rtlCol="0">
            <a:spAutoFit/>
          </a:bodyPr>
          <a:lstStyle/>
          <a:p>
            <a:r>
              <a:rPr lang="zh-CN" altLang="en-US" sz="2400" b="1" dirty="0" smtClean="0">
                <a:solidFill>
                  <a:schemeClr val="accent5"/>
                </a:solidFill>
                <a:latin typeface="Times New Roman" panose="02020603050405020304" pitchFamily="18" charset="0"/>
                <a:ea typeface="仿宋" panose="02010609060101010101" pitchFamily="49" charset="-122"/>
                <a:cs typeface="Times New Roman" panose="02020603050405020304" pitchFamily="18" charset="0"/>
              </a:rPr>
              <a:t>艾里斑半径</a:t>
            </a:r>
            <a:r>
              <a:rPr lang="en-US" altLang="zh-CN" sz="2400" b="1" dirty="0" smtClean="0">
                <a:solidFill>
                  <a:schemeClr val="accent5"/>
                </a:solidFill>
                <a:latin typeface="Times New Roman" panose="02020603050405020304" pitchFamily="18" charset="0"/>
                <a:ea typeface="仿宋" panose="02010609060101010101" pitchFamily="49" charset="-122"/>
                <a:cs typeface="Times New Roman" panose="02020603050405020304" pitchFamily="18" charset="0"/>
              </a:rPr>
              <a:t>r=1.22*</a:t>
            </a:r>
            <a:r>
              <a:rPr lang="el-GR" altLang="zh-CN" sz="2400" b="1" dirty="0">
                <a:solidFill>
                  <a:schemeClr val="accent5"/>
                </a:solidFill>
                <a:latin typeface="Times New Roman" panose="02020603050405020304" pitchFamily="18" charset="0"/>
                <a:ea typeface="仿宋" panose="02010609060101010101" pitchFamily="49" charset="-122"/>
                <a:cs typeface="Times New Roman" panose="02020603050405020304" pitchFamily="18" charset="0"/>
              </a:rPr>
              <a:t>λ</a:t>
            </a:r>
            <a:r>
              <a:rPr lang="en-US" altLang="zh-CN" sz="2400" b="1" dirty="0" smtClean="0">
                <a:solidFill>
                  <a:schemeClr val="accent5"/>
                </a:solidFill>
                <a:latin typeface="Times New Roman" panose="02020603050405020304" pitchFamily="18" charset="0"/>
                <a:ea typeface="仿宋" panose="02010609060101010101" pitchFamily="49" charset="-122"/>
                <a:cs typeface="Times New Roman" panose="02020603050405020304" pitchFamily="18" charset="0"/>
              </a:rPr>
              <a:t>*F</a:t>
            </a:r>
            <a:r>
              <a:rPr lang="zh-CN" altLang="en-US" sz="2400" b="1" dirty="0" smtClean="0">
                <a:solidFill>
                  <a:schemeClr val="accent5"/>
                </a:solidFill>
                <a:latin typeface="Times New Roman" panose="02020603050405020304" pitchFamily="18" charset="0"/>
                <a:ea typeface="仿宋" panose="02010609060101010101" pitchFamily="49" charset="-122"/>
                <a:cs typeface="Times New Roman" panose="02020603050405020304" pitchFamily="18" charset="0"/>
              </a:rPr>
              <a:t>，</a:t>
            </a:r>
            <a:r>
              <a:rPr lang="el-GR" altLang="zh-CN" sz="2400" b="1" dirty="0" smtClean="0">
                <a:solidFill>
                  <a:schemeClr val="accent5"/>
                </a:solidFill>
                <a:latin typeface="Times New Roman" panose="02020603050405020304" pitchFamily="18" charset="0"/>
                <a:ea typeface="仿宋" panose="02010609060101010101" pitchFamily="49" charset="-122"/>
                <a:cs typeface="Times New Roman" panose="02020603050405020304" pitchFamily="18" charset="0"/>
              </a:rPr>
              <a:t>λ</a:t>
            </a:r>
            <a:r>
              <a:rPr lang="zh-CN" altLang="en-US" sz="2400" b="1" dirty="0" smtClean="0">
                <a:solidFill>
                  <a:schemeClr val="accent5"/>
                </a:solidFill>
                <a:latin typeface="Times New Roman" panose="02020603050405020304" pitchFamily="18" charset="0"/>
                <a:ea typeface="仿宋" panose="02010609060101010101" pitchFamily="49" charset="-122"/>
                <a:cs typeface="Times New Roman" panose="02020603050405020304" pitchFamily="18" charset="0"/>
              </a:rPr>
              <a:t>：波长，</a:t>
            </a:r>
            <a:r>
              <a:rPr lang="en-US" altLang="zh-CN" sz="2400" b="1" dirty="0" smtClean="0">
                <a:solidFill>
                  <a:schemeClr val="accent5"/>
                </a:solidFill>
                <a:latin typeface="Times New Roman" panose="02020603050405020304" pitchFamily="18" charset="0"/>
                <a:ea typeface="仿宋" panose="02010609060101010101" pitchFamily="49" charset="-122"/>
                <a:cs typeface="Times New Roman" panose="02020603050405020304" pitchFamily="18" charset="0"/>
              </a:rPr>
              <a:t>F</a:t>
            </a:r>
            <a:r>
              <a:rPr lang="zh-CN" altLang="en-US" sz="2400" b="1" dirty="0" smtClean="0">
                <a:solidFill>
                  <a:schemeClr val="accent5"/>
                </a:solidFill>
                <a:latin typeface="Times New Roman" panose="02020603050405020304" pitchFamily="18" charset="0"/>
                <a:ea typeface="仿宋" panose="02010609060101010101" pitchFamily="49" charset="-122"/>
                <a:cs typeface="Times New Roman" panose="02020603050405020304" pitchFamily="18" charset="0"/>
              </a:rPr>
              <a:t>：镜头光圈</a:t>
            </a:r>
            <a:r>
              <a:rPr lang="en-US" altLang="zh-CN" sz="2400" b="1" dirty="0" smtClean="0">
                <a:solidFill>
                  <a:schemeClr val="accent5"/>
                </a:solidFill>
                <a:latin typeface="Times New Roman" panose="02020603050405020304" pitchFamily="18" charset="0"/>
                <a:ea typeface="仿宋" panose="02010609060101010101" pitchFamily="49" charset="-122"/>
                <a:cs typeface="Times New Roman" panose="02020603050405020304" pitchFamily="18" charset="0"/>
              </a:rPr>
              <a:t>F</a:t>
            </a:r>
            <a:r>
              <a:rPr lang="zh-CN" altLang="en-US" sz="2400" b="1" dirty="0" smtClean="0">
                <a:solidFill>
                  <a:schemeClr val="accent5"/>
                </a:solidFill>
                <a:latin typeface="Times New Roman" panose="02020603050405020304" pitchFamily="18" charset="0"/>
                <a:ea typeface="仿宋" panose="02010609060101010101" pitchFamily="49" charset="-122"/>
                <a:cs typeface="Times New Roman" panose="02020603050405020304" pitchFamily="18" charset="0"/>
              </a:rPr>
              <a:t>数</a:t>
            </a:r>
            <a:endParaRPr lang="zh-CN" altLang="en-US" sz="2400" b="1" dirty="0">
              <a:solidFill>
                <a:schemeClr val="accent5"/>
              </a:solidFill>
              <a:latin typeface="Times New Roman" panose="02020603050405020304" pitchFamily="18" charset="0"/>
              <a:ea typeface="仿宋" panose="02010609060101010101" pitchFamily="49" charset="-122"/>
              <a:cs typeface="Times New Roman" panose="02020603050405020304" pitchFamily="18" charset="0"/>
            </a:endParaRPr>
          </a:p>
        </p:txBody>
      </p:sp>
      <p:pic>
        <p:nvPicPr>
          <p:cNvPr id="10243" name="Picture 3" descr="C:\Users\07285yzl\Desktop\红外镜头设计简介\新建文件夹\src=http___image.sciencenet.cn_home_232800jb481pibu851hiuj.jpg&amp;refer=http___image.sciencenet.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603058" y="881360"/>
            <a:ext cx="2794000" cy="52959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瑞里判据</a:t>
            </a:r>
            <a:endParaRPr lang="zh-CN" altLang="en-US" dirty="0"/>
          </a:p>
        </p:txBody>
      </p:sp>
      <p:pic>
        <p:nvPicPr>
          <p:cNvPr id="4" name="Picture 3" descr="C:\Users\07285yzl\Desktop\红外镜头设计简介\新建文件夹\src=http___gss0.baidu.com_94o3dSag_xI4khGko9WTAnF6hhy_zhidao_pic_item_c75c10385343fbf23a0548c5b07eca8065388f2f.jpg&amp;refer=http___gss0.b.png"/>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8496250" y="2105496"/>
            <a:ext cx="5611008" cy="4220164"/>
          </a:xfrm>
          <a:prstGeom prst="rect">
            <a:avLst/>
          </a:prstGeom>
          <a:noFill/>
          <a:extLst>
            <a:ext uri="{909E8E84-426E-40DD-AFC4-6F175D3DCCD1}">
              <a14:hiddenFill xmlns:a14="http://schemas.microsoft.com/office/drawing/2010/main">
                <a:solidFill>
                  <a:srgbClr val="FFFFFF"/>
                </a:solidFill>
              </a14:hiddenFill>
            </a:ext>
          </a:extLst>
        </p:spPr>
      </p:pic>
      <p:pic>
        <p:nvPicPr>
          <p:cNvPr id="11266" name="Picture 2" descr="C:\Users\07285yzl\Desktop\红外镜头设计简介\新建文件夹\src=http___pic1.zhimg.com_50_v2-3bc4d84a0f4183cfb892bf6fbea0670b_hd.jpg&amp;refer=http___pic1.zhim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370" y="1065899"/>
            <a:ext cx="7734300" cy="5791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二、红外镜头相关概念</a:t>
            </a:r>
            <a:endParaRPr lang="zh-CN" altLang="en-US" dirty="0"/>
          </a:p>
        </p:txBody>
      </p:sp>
      <p:sp>
        <p:nvSpPr>
          <p:cNvPr id="4" name="TextBox 3"/>
          <p:cNvSpPr txBox="1"/>
          <p:nvPr/>
        </p:nvSpPr>
        <p:spPr>
          <a:xfrm>
            <a:off x="1295450" y="737344"/>
            <a:ext cx="3300904" cy="7207742"/>
          </a:xfrm>
          <a:prstGeom prst="rect">
            <a:avLst/>
          </a:prstGeom>
          <a:noFill/>
        </p:spPr>
        <p:txBody>
          <a:bodyPr wrap="none" rtlCol="0">
            <a:spAutoFit/>
          </a:bodyPr>
          <a:lstStyle/>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红外波段</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a:latin typeface="仿宋" panose="02010609060101010101" pitchFamily="49" charset="-122"/>
                <a:ea typeface="仿宋" panose="02010609060101010101" pitchFamily="49" charset="-122"/>
              </a:rPr>
              <a:t>红外探测器</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焦距</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视场角</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焦距和视场角的关系</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光圈</a:t>
            </a:r>
            <a:r>
              <a:rPr lang="en-US" altLang="zh-CN" sz="2400" dirty="0" smtClean="0">
                <a:latin typeface="仿宋" panose="02010609060101010101" pitchFamily="49" charset="-122"/>
                <a:ea typeface="仿宋" panose="02010609060101010101" pitchFamily="49" charset="-122"/>
              </a:rPr>
              <a:t>F</a:t>
            </a:r>
            <a:r>
              <a:rPr lang="zh-CN" altLang="en-US" sz="2400" dirty="0" smtClean="0">
                <a:latin typeface="仿宋" panose="02010609060101010101" pitchFamily="49" charset="-122"/>
                <a:ea typeface="仿宋" panose="02010609060101010101" pitchFamily="49" charset="-122"/>
              </a:rPr>
              <a:t>数</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景深、焦深</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a:latin typeface="仿宋" panose="02010609060101010101" pitchFamily="49" charset="-122"/>
                <a:ea typeface="仿宋" panose="02010609060101010101" pitchFamily="49" charset="-122"/>
              </a:rPr>
              <a:t>红外</a:t>
            </a:r>
            <a:r>
              <a:rPr lang="zh-CN" altLang="en-US" sz="2400" dirty="0" smtClean="0">
                <a:latin typeface="仿宋" panose="02010609060101010101" pitchFamily="49" charset="-122"/>
                <a:ea typeface="仿宋" panose="02010609060101010101" pitchFamily="49" charset="-122"/>
              </a:rPr>
              <a:t>材料</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a:latin typeface="仿宋" panose="02010609060101010101" pitchFamily="49" charset="-122"/>
                <a:ea typeface="仿宋" panose="02010609060101010101" pitchFamily="49" charset="-122"/>
              </a:rPr>
              <a:t>消</a:t>
            </a:r>
            <a:r>
              <a:rPr lang="zh-CN" altLang="en-US" sz="2400" dirty="0" smtClean="0">
                <a:latin typeface="仿宋" panose="02010609060101010101" pitchFamily="49" charset="-122"/>
                <a:ea typeface="仿宋" panose="02010609060101010101" pitchFamily="49" charset="-122"/>
              </a:rPr>
              <a:t>色差</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a:latin typeface="仿宋" panose="02010609060101010101" pitchFamily="49" charset="-122"/>
                <a:ea typeface="仿宋" panose="02010609060101010101" pitchFamily="49" charset="-122"/>
              </a:rPr>
              <a:t>无</a:t>
            </a:r>
            <a:r>
              <a:rPr lang="zh-CN" altLang="en-US" sz="2400" dirty="0" smtClean="0">
                <a:latin typeface="仿宋" panose="02010609060101010101" pitchFamily="49" charset="-122"/>
                <a:ea typeface="仿宋" panose="02010609060101010101" pitchFamily="49" charset="-122"/>
              </a:rPr>
              <a:t>热化</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非制冷和制冷区别</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光学后截距、后靠距</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调焦和变焦</a:t>
            </a:r>
            <a:endParaRPr lang="en-US" altLang="zh-CN" sz="2400" dirty="0" smtClean="0">
              <a:latin typeface="仿宋" panose="02010609060101010101" pitchFamily="49" charset="-122"/>
              <a:ea typeface="仿宋" panose="02010609060101010101" pitchFamily="49"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575370" y="7218064"/>
            <a:ext cx="10009112" cy="400110"/>
          </a:xfrm>
          <a:prstGeom prst="rect">
            <a:avLst/>
          </a:prstGeom>
        </p:spPr>
        <p:txBody>
          <a:bodyPr wrap="square">
            <a:spAutoFit/>
          </a:bodyPr>
          <a:lstStyle/>
          <a:p>
            <a:r>
              <a:rPr lang="en-US" altLang="zh-CN" sz="1000" dirty="0">
                <a:solidFill>
                  <a:schemeClr val="bg1">
                    <a:lumMod val="75000"/>
                  </a:schemeClr>
                </a:solidFill>
                <a:ea typeface="微软雅黑" panose="020B0503020204020204" pitchFamily="34" charset="-122"/>
              </a:rPr>
              <a:t>High Performance Imteuigence  </a:t>
            </a:r>
            <a:endParaRPr lang="en-US" altLang="zh-CN" sz="1000" dirty="0">
              <a:solidFill>
                <a:schemeClr val="bg1">
                  <a:lumMod val="75000"/>
                </a:schemeClr>
              </a:solidFill>
              <a:ea typeface="微软雅黑" panose="020B0503020204020204" pitchFamily="34" charset="-122"/>
            </a:endParaRPr>
          </a:p>
          <a:p>
            <a:r>
              <a:rPr lang="en-US" altLang="zh-CN" sz="1000" dirty="0">
                <a:solidFill>
                  <a:schemeClr val="bg1">
                    <a:lumMod val="75000"/>
                  </a:schemeClr>
                </a:solidFill>
                <a:ea typeface="微软雅黑" panose="020B0503020204020204" pitchFamily="34" charset="-122"/>
              </a:rPr>
              <a:t>Thermographic IR Camera</a:t>
            </a:r>
            <a:endParaRPr lang="zh-CN" altLang="en-US" sz="1000" dirty="0">
              <a:solidFill>
                <a:schemeClr val="bg1">
                  <a:lumMod val="75000"/>
                </a:schemeClr>
              </a:solidFill>
              <a:ea typeface="微软雅黑 Light" panose="020B0502040204020203" pitchFamily="34" charset="-122"/>
            </a:endParaRPr>
          </a:p>
        </p:txBody>
      </p:sp>
      <p:sp>
        <p:nvSpPr>
          <p:cNvPr id="13" name="标题 12"/>
          <p:cNvSpPr>
            <a:spLocks noGrp="1"/>
          </p:cNvSpPr>
          <p:nvPr>
            <p:ph type="title"/>
          </p:nvPr>
        </p:nvSpPr>
        <p:spPr/>
        <p:txBody>
          <a:bodyPr/>
          <a:lstStyle/>
          <a:p>
            <a:r>
              <a:rPr lang="zh-CN" altLang="en-US" dirty="0" smtClean="0"/>
              <a:t>红外波段</a:t>
            </a:r>
            <a:endParaRPr lang="zh-CN" altLang="en-US" dirty="0"/>
          </a:p>
        </p:txBody>
      </p:sp>
      <p:sp>
        <p:nvSpPr>
          <p:cNvPr id="2" name="TextBox 1"/>
          <p:cNvSpPr txBox="1"/>
          <p:nvPr/>
        </p:nvSpPr>
        <p:spPr>
          <a:xfrm>
            <a:off x="575370" y="1231368"/>
            <a:ext cx="10687541" cy="461665"/>
          </a:xfrm>
          <a:prstGeom prst="rect">
            <a:avLst/>
          </a:prstGeom>
          <a:noFill/>
        </p:spPr>
        <p:txBody>
          <a:bodyPr wrap="none" rtlCol="0">
            <a:spAutoFit/>
          </a:bodyPr>
          <a:lstStyle/>
          <a:p>
            <a:pPr marL="342900" indent="-342900">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高于绝对零度</a:t>
            </a:r>
            <a:r>
              <a:rPr lang="en-US" altLang="zh-CN" sz="2400" dirty="0" smtClean="0">
                <a:latin typeface="仿宋" panose="02010609060101010101" pitchFamily="49" charset="-122"/>
                <a:ea typeface="仿宋" panose="02010609060101010101" pitchFamily="49" charset="-122"/>
              </a:rPr>
              <a:t>(-273</a:t>
            </a:r>
            <a:r>
              <a:rPr lang="zh-CN" altLang="en-US" sz="2400" dirty="0" smtClean="0">
                <a:latin typeface="仿宋" panose="02010609060101010101" pitchFamily="49" charset="-122"/>
                <a:ea typeface="仿宋" panose="02010609060101010101" pitchFamily="49" charset="-122"/>
              </a:rPr>
              <a:t>℃</a:t>
            </a:r>
            <a:r>
              <a:rPr lang="en-US" altLang="zh-CN" sz="2400" dirty="0" smtClean="0">
                <a:latin typeface="仿宋" panose="02010609060101010101" pitchFamily="49" charset="-122"/>
                <a:ea typeface="仿宋" panose="02010609060101010101" pitchFamily="49" charset="-122"/>
              </a:rPr>
              <a:t>)</a:t>
            </a:r>
            <a:r>
              <a:rPr lang="zh-CN" altLang="en-US" sz="2400" dirty="0" smtClean="0">
                <a:latin typeface="仿宋" panose="02010609060101010101" pitchFamily="49" charset="-122"/>
                <a:ea typeface="仿宋" panose="02010609060101010101" pitchFamily="49" charset="-122"/>
              </a:rPr>
              <a:t>的物体都能发出红外辐射，红外波段是人眼看不见的</a:t>
            </a:r>
            <a:endParaRPr lang="zh-CN" altLang="en-US" sz="2400" dirty="0">
              <a:latin typeface="仿宋" panose="02010609060101010101" pitchFamily="49" charset="-122"/>
              <a:ea typeface="仿宋" panose="02010609060101010101" pitchFamily="49" charset="-122"/>
            </a:endParaRPr>
          </a:p>
        </p:txBody>
      </p:sp>
      <p:pic>
        <p:nvPicPr>
          <p:cNvPr id="1026" name="Picture 2" descr="C:\Users\07285yzl\Desktop\红外镜头设计简介\新建文件夹\src=http___www.itdaan.com_i_27f32dfe1cc5161b8ac27f67919762dc1.jpg&amp;refer=http___www.itdaan.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8491" y="1889472"/>
            <a:ext cx="6943725" cy="51625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9432353" y="3617664"/>
            <a:ext cx="3916457" cy="2862322"/>
          </a:xfrm>
          <a:prstGeom prst="rect">
            <a:avLst/>
          </a:prstGeom>
          <a:noFill/>
        </p:spPr>
        <p:txBody>
          <a:bodyPr wrap="none" rtlCol="0">
            <a:spAutoFit/>
          </a:bodyPr>
          <a:lstStyle/>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可见光：</a:t>
            </a:r>
            <a:r>
              <a:rPr lang="en-US" altLang="zh-CN" sz="2400" dirty="0" smtClean="0">
                <a:latin typeface="仿宋" panose="02010609060101010101" pitchFamily="49" charset="-122"/>
                <a:ea typeface="仿宋" panose="02010609060101010101" pitchFamily="49" charset="-122"/>
              </a:rPr>
              <a:t>390nm~760nm</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近红外：</a:t>
            </a:r>
            <a:r>
              <a:rPr lang="en-US" altLang="zh-CN" sz="2400" dirty="0" smtClean="0">
                <a:latin typeface="仿宋" panose="02010609060101010101" pitchFamily="49" charset="-122"/>
                <a:ea typeface="仿宋" panose="02010609060101010101" pitchFamily="49" charset="-122"/>
              </a:rPr>
              <a:t>0.75um~3um</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400" b="1" dirty="0">
                <a:solidFill>
                  <a:schemeClr val="accent5"/>
                </a:solidFill>
                <a:latin typeface="仿宋" panose="02010609060101010101" pitchFamily="49" charset="-122"/>
                <a:ea typeface="仿宋" panose="02010609060101010101" pitchFamily="49" charset="-122"/>
              </a:rPr>
              <a:t>中</a:t>
            </a:r>
            <a:r>
              <a:rPr lang="zh-CN" altLang="en-US" sz="2400" b="1" dirty="0" smtClean="0">
                <a:solidFill>
                  <a:schemeClr val="accent5"/>
                </a:solidFill>
                <a:latin typeface="仿宋" panose="02010609060101010101" pitchFamily="49" charset="-122"/>
                <a:ea typeface="仿宋" panose="02010609060101010101" pitchFamily="49" charset="-122"/>
              </a:rPr>
              <a:t>红外</a:t>
            </a:r>
            <a:r>
              <a:rPr lang="en-US" altLang="zh-CN" sz="2400" b="1" dirty="0" smtClean="0">
                <a:solidFill>
                  <a:schemeClr val="accent5"/>
                </a:solidFill>
                <a:latin typeface="仿宋" panose="02010609060101010101" pitchFamily="49" charset="-122"/>
                <a:ea typeface="仿宋" panose="02010609060101010101" pitchFamily="49" charset="-122"/>
              </a:rPr>
              <a:t>(</a:t>
            </a:r>
            <a:r>
              <a:rPr lang="zh-CN" altLang="en-US" sz="2400" b="1" dirty="0" smtClean="0">
                <a:solidFill>
                  <a:schemeClr val="accent5"/>
                </a:solidFill>
                <a:latin typeface="仿宋" panose="02010609060101010101" pitchFamily="49" charset="-122"/>
                <a:ea typeface="仿宋" panose="02010609060101010101" pitchFamily="49" charset="-122"/>
              </a:rPr>
              <a:t>中波</a:t>
            </a:r>
            <a:r>
              <a:rPr lang="en-US" altLang="zh-CN" sz="2400" b="1" dirty="0" smtClean="0">
                <a:solidFill>
                  <a:schemeClr val="accent5"/>
                </a:solidFill>
                <a:latin typeface="仿宋" panose="02010609060101010101" pitchFamily="49" charset="-122"/>
                <a:ea typeface="仿宋" panose="02010609060101010101" pitchFamily="49" charset="-122"/>
              </a:rPr>
              <a:t>)</a:t>
            </a:r>
            <a:r>
              <a:rPr lang="zh-CN" altLang="en-US" sz="2400" b="1" dirty="0" smtClean="0">
                <a:solidFill>
                  <a:schemeClr val="accent5"/>
                </a:solidFill>
                <a:latin typeface="仿宋" panose="02010609060101010101" pitchFamily="49" charset="-122"/>
                <a:ea typeface="仿宋" panose="02010609060101010101" pitchFamily="49" charset="-122"/>
              </a:rPr>
              <a:t>：</a:t>
            </a:r>
            <a:r>
              <a:rPr lang="en-US" altLang="zh-CN" sz="2400" b="1" dirty="0" smtClean="0">
                <a:solidFill>
                  <a:schemeClr val="accent5"/>
                </a:solidFill>
                <a:latin typeface="仿宋" panose="02010609060101010101" pitchFamily="49" charset="-122"/>
                <a:ea typeface="仿宋" panose="02010609060101010101" pitchFamily="49" charset="-122"/>
              </a:rPr>
              <a:t>3um~5um</a:t>
            </a:r>
            <a:endParaRPr lang="en-US" altLang="zh-CN" sz="2400" b="1" dirty="0" smtClean="0">
              <a:solidFill>
                <a:schemeClr val="accent5"/>
              </a:solidFill>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400" b="1" dirty="0" smtClean="0">
                <a:solidFill>
                  <a:schemeClr val="accent5"/>
                </a:solidFill>
                <a:latin typeface="仿宋" panose="02010609060101010101" pitchFamily="49" charset="-122"/>
                <a:ea typeface="仿宋" panose="02010609060101010101" pitchFamily="49" charset="-122"/>
              </a:rPr>
              <a:t>远红外</a:t>
            </a:r>
            <a:r>
              <a:rPr lang="en-US" altLang="zh-CN" sz="2400" b="1" dirty="0" smtClean="0">
                <a:solidFill>
                  <a:schemeClr val="accent5"/>
                </a:solidFill>
                <a:latin typeface="仿宋" panose="02010609060101010101" pitchFamily="49" charset="-122"/>
                <a:ea typeface="仿宋" panose="02010609060101010101" pitchFamily="49" charset="-122"/>
              </a:rPr>
              <a:t>(</a:t>
            </a:r>
            <a:r>
              <a:rPr lang="zh-CN" altLang="en-US" sz="2400" b="1" dirty="0" smtClean="0">
                <a:solidFill>
                  <a:schemeClr val="accent5"/>
                </a:solidFill>
                <a:latin typeface="仿宋" panose="02010609060101010101" pitchFamily="49" charset="-122"/>
                <a:ea typeface="仿宋" panose="02010609060101010101" pitchFamily="49" charset="-122"/>
              </a:rPr>
              <a:t>长波</a:t>
            </a:r>
            <a:r>
              <a:rPr lang="en-US" altLang="zh-CN" sz="2400" b="1" dirty="0" smtClean="0">
                <a:solidFill>
                  <a:schemeClr val="accent5"/>
                </a:solidFill>
                <a:latin typeface="仿宋" panose="02010609060101010101" pitchFamily="49" charset="-122"/>
                <a:ea typeface="仿宋" panose="02010609060101010101" pitchFamily="49" charset="-122"/>
              </a:rPr>
              <a:t>)</a:t>
            </a:r>
            <a:r>
              <a:rPr lang="zh-CN" altLang="en-US" sz="2400" b="1" dirty="0" smtClean="0">
                <a:solidFill>
                  <a:schemeClr val="accent5"/>
                </a:solidFill>
                <a:latin typeface="仿宋" panose="02010609060101010101" pitchFamily="49" charset="-122"/>
                <a:ea typeface="仿宋" panose="02010609060101010101" pitchFamily="49" charset="-122"/>
              </a:rPr>
              <a:t>：</a:t>
            </a:r>
            <a:r>
              <a:rPr lang="en-US" altLang="zh-CN" sz="2400" b="1" dirty="0" smtClean="0">
                <a:solidFill>
                  <a:schemeClr val="accent5"/>
                </a:solidFill>
                <a:latin typeface="仿宋" panose="02010609060101010101" pitchFamily="49" charset="-122"/>
                <a:ea typeface="仿宋" panose="02010609060101010101" pitchFamily="49" charset="-122"/>
              </a:rPr>
              <a:t>8um~14um</a:t>
            </a:r>
            <a:endParaRPr lang="en-US" altLang="zh-CN" sz="2400" b="1" dirty="0" smtClean="0">
              <a:solidFill>
                <a:schemeClr val="accent5"/>
              </a:solidFill>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极远红外：</a:t>
            </a:r>
            <a:r>
              <a:rPr lang="en-US" altLang="zh-CN" sz="2400" dirty="0" smtClean="0">
                <a:latin typeface="仿宋" panose="02010609060101010101" pitchFamily="49" charset="-122"/>
                <a:ea typeface="仿宋" panose="02010609060101010101" pitchFamily="49" charset="-122"/>
              </a:rPr>
              <a:t>14um~1000um</a:t>
            </a:r>
            <a:endParaRPr lang="zh-CN" altLang="en-US" sz="2400" dirty="0">
              <a:latin typeface="仿宋" panose="02010609060101010101" pitchFamily="49" charset="-122"/>
              <a:ea typeface="仿宋" panose="02010609060101010101" pitchFamily="49" charset="-122"/>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红外探测器</a:t>
            </a:r>
            <a:endParaRPr lang="zh-CN" altLang="en-US" dirty="0"/>
          </a:p>
        </p:txBody>
      </p:sp>
      <p:sp>
        <p:nvSpPr>
          <p:cNvPr id="4" name="TextBox 3"/>
          <p:cNvSpPr txBox="1"/>
          <p:nvPr/>
        </p:nvSpPr>
        <p:spPr>
          <a:xfrm>
            <a:off x="719386" y="4769792"/>
            <a:ext cx="7128792" cy="286232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长波红外焦平面阵列探测器：热敏电阻材料</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按敏感材料可分为：主要有</a:t>
            </a:r>
            <a:r>
              <a:rPr lang="en-US" altLang="zh-CN" sz="2400" dirty="0" smtClean="0">
                <a:latin typeface="仿宋" panose="02010609060101010101" pitchFamily="49" charset="-122"/>
                <a:ea typeface="仿宋" panose="02010609060101010101" pitchFamily="49" charset="-122"/>
              </a:rPr>
              <a:t>VOX</a:t>
            </a:r>
            <a:r>
              <a:rPr lang="zh-CN" altLang="en-US" sz="2400" dirty="0" smtClean="0">
                <a:latin typeface="仿宋" panose="02010609060101010101" pitchFamily="49" charset="-122"/>
                <a:ea typeface="仿宋" panose="02010609060101010101" pitchFamily="49" charset="-122"/>
              </a:rPr>
              <a:t>，多晶硅（大立、法国</a:t>
            </a:r>
            <a:r>
              <a:rPr lang="en-US" altLang="zh-CN" sz="2400" dirty="0" err="1" smtClean="0">
                <a:latin typeface="仿宋" panose="02010609060101010101" pitchFamily="49" charset="-122"/>
                <a:ea typeface="仿宋" panose="02010609060101010101" pitchFamily="49" charset="-122"/>
              </a:rPr>
              <a:t>ulis</a:t>
            </a:r>
            <a:r>
              <a:rPr lang="zh-CN" altLang="en-US" sz="2400" dirty="0" smtClean="0">
                <a:latin typeface="仿宋" panose="02010609060101010101" pitchFamily="49" charset="-122"/>
                <a:ea typeface="仿宋" panose="02010609060101010101" pitchFamily="49" charset="-122"/>
              </a:rPr>
              <a:t>）</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按封装形式：金属封装、陶瓷封装、晶圆级封装、像素级封装</a:t>
            </a:r>
            <a:endParaRPr lang="zh-CN" altLang="en-US" sz="2400" dirty="0">
              <a:latin typeface="仿宋" panose="02010609060101010101" pitchFamily="49" charset="-122"/>
              <a:ea typeface="仿宋" panose="02010609060101010101" pitchFamily="49" charset="-122"/>
            </a:endParaRPr>
          </a:p>
        </p:txBody>
      </p:sp>
      <p:pic>
        <p:nvPicPr>
          <p:cNvPr id="717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19386" y="1111572"/>
            <a:ext cx="4886325" cy="2857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64002" y="809352"/>
            <a:ext cx="6221313" cy="3600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07362" y="4744416"/>
            <a:ext cx="4204543" cy="31683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焦距</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62013" y="953368"/>
                <a:ext cx="12818190" cy="2088232"/>
              </a:xfrm>
            </p:spPr>
            <p:txBody>
              <a:bodyPr/>
              <a:lstStyle/>
              <a:p>
                <a:pPr>
                  <a:lnSpc>
                    <a:spcPct val="150000"/>
                  </a:lnSpc>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焦距</a:t>
                </a:r>
                <a:r>
                  <a:rPr lang="en-US" altLang="zh-CN" sz="2400" b="1" dirty="0" smtClean="0">
                    <a:solidFill>
                      <a:schemeClr val="accent5"/>
                    </a:solidFill>
                    <a:latin typeface="仿宋" panose="02010609060101010101" pitchFamily="49" charset="-122"/>
                    <a:ea typeface="仿宋" panose="02010609060101010101" pitchFamily="49" charset="-122"/>
                  </a:rPr>
                  <a:t>(</a:t>
                </a:r>
                <a:r>
                  <a:rPr lang="en-US" altLang="zh-CN" sz="2400" b="1" dirty="0">
                    <a:solidFill>
                      <a:schemeClr val="accent5"/>
                    </a:solidFill>
                    <a:latin typeface="仿宋" panose="02010609060101010101" pitchFamily="49" charset="-122"/>
                    <a:ea typeface="仿宋" panose="02010609060101010101" pitchFamily="49" charset="-122"/>
                  </a:rPr>
                  <a:t>focal length)</a:t>
                </a:r>
                <a:r>
                  <a:rPr lang="zh-CN" altLang="en-US" sz="2400" b="1" dirty="0" smtClean="0">
                    <a:solidFill>
                      <a:schemeClr val="accent5"/>
                    </a:solidFill>
                    <a:latin typeface="仿宋" panose="02010609060101010101" pitchFamily="49" charset="-122"/>
                    <a:ea typeface="仿宋" panose="02010609060101010101" pitchFamily="49" charset="-122"/>
                  </a:rPr>
                  <a:t>：</a:t>
                </a:r>
                <a:r>
                  <a:rPr lang="zh-CN" altLang="en-US" sz="2400" dirty="0" smtClean="0">
                    <a:solidFill>
                      <a:schemeClr val="tx1"/>
                    </a:solidFill>
                    <a:latin typeface="仿宋" panose="02010609060101010101" pitchFamily="49" charset="-122"/>
                    <a:ea typeface="仿宋" panose="02010609060101010101" pitchFamily="49" charset="-122"/>
                  </a:rPr>
                  <a:t>光学系统中</a:t>
                </a:r>
                <a:r>
                  <a:rPr lang="zh-CN" altLang="en-US" sz="2400" dirty="0">
                    <a:solidFill>
                      <a:schemeClr val="tx1"/>
                    </a:solidFill>
                    <a:latin typeface="仿宋" panose="02010609060101010101" pitchFamily="49" charset="-122"/>
                    <a:ea typeface="仿宋" panose="02010609060101010101" pitchFamily="49" charset="-122"/>
                  </a:rPr>
                  <a:t>衡量光的聚集或发散的度量</a:t>
                </a:r>
                <a:r>
                  <a:rPr lang="zh-CN" altLang="en-US" sz="2400" dirty="0" smtClean="0">
                    <a:solidFill>
                      <a:schemeClr val="tx1"/>
                    </a:solidFill>
                    <a:latin typeface="仿宋" panose="02010609060101010101" pitchFamily="49" charset="-122"/>
                    <a:ea typeface="仿宋" panose="02010609060101010101" pitchFamily="49" charset="-122"/>
                  </a:rPr>
                  <a:t>方式，一般是指像方焦距，</a:t>
                </a:r>
                <a:r>
                  <a:rPr lang="zh-CN" altLang="en-US" sz="2400" dirty="0">
                    <a:solidFill>
                      <a:schemeClr val="tx1"/>
                    </a:solidFill>
                    <a:latin typeface="仿宋" panose="02010609060101010101" pitchFamily="49" charset="-122"/>
                    <a:ea typeface="仿宋" panose="02010609060101010101" pitchFamily="49" charset="-122"/>
                  </a:rPr>
                  <a:t>是从</a:t>
                </a:r>
                <a:r>
                  <a:rPr lang="zh-CN" altLang="en-US" sz="2400" dirty="0" smtClean="0">
                    <a:solidFill>
                      <a:schemeClr val="tx1"/>
                    </a:solidFill>
                    <a:latin typeface="仿宋" panose="02010609060101010101" pitchFamily="49" charset="-122"/>
                    <a:ea typeface="仿宋" panose="02010609060101010101" pitchFamily="49" charset="-122"/>
                  </a:rPr>
                  <a:t>像方主点到像方焦点的距离，用</a:t>
                </a:r>
                <a14:m>
                  <m:oMath xmlns:m="http://schemas.openxmlformats.org/officeDocument/2006/math">
                    <m:sSup>
                      <m:sSupPr>
                        <m:ctrlPr>
                          <a:rPr lang="en-US" altLang="zh-CN" sz="2400" i="1" smtClean="0">
                            <a:solidFill>
                              <a:schemeClr val="tx1"/>
                            </a:solidFill>
                            <a:latin typeface="Cambria Math" panose="02040503050406030204" pitchFamily="18" charset="0"/>
                            <a:ea typeface="仿宋" panose="02010609060101010101" pitchFamily="49" charset="-122"/>
                          </a:rPr>
                        </m:ctrlPr>
                      </m:sSupPr>
                      <m:e>
                        <m:r>
                          <a:rPr lang="en-US" altLang="zh-CN" sz="2400" b="0" i="1" smtClean="0">
                            <a:solidFill>
                              <a:schemeClr val="tx1"/>
                            </a:solidFill>
                            <a:latin typeface="Cambria Math" panose="02040503050406030204"/>
                            <a:ea typeface="仿宋" panose="02010609060101010101" pitchFamily="49" charset="-122"/>
                          </a:rPr>
                          <m:t>𝑓</m:t>
                        </m:r>
                      </m:e>
                      <m:sup>
                        <m:r>
                          <a:rPr lang="en-US" altLang="zh-CN" sz="2400" b="0" i="1" smtClean="0">
                            <a:solidFill>
                              <a:schemeClr val="tx1"/>
                            </a:solidFill>
                            <a:latin typeface="Cambria Math" panose="02040503050406030204"/>
                            <a:ea typeface="仿宋" panose="02010609060101010101" pitchFamily="49" charset="-122"/>
                          </a:rPr>
                          <m:t>′</m:t>
                        </m:r>
                      </m:sup>
                    </m:sSup>
                  </m:oMath>
                </a14:m>
                <a:r>
                  <a:rPr lang="zh-CN" altLang="en-US" sz="2400" dirty="0" smtClean="0">
                    <a:solidFill>
                      <a:schemeClr val="tx1"/>
                    </a:solidFill>
                    <a:latin typeface="仿宋" panose="02010609060101010101" pitchFamily="49" charset="-122"/>
                    <a:ea typeface="仿宋" panose="02010609060101010101" pitchFamily="49" charset="-122"/>
                  </a:rPr>
                  <a:t>表示。</a:t>
                </a:r>
                <a:endParaRPr lang="en-US" altLang="zh-CN" sz="2400" dirty="0" smtClean="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光焦度：</a:t>
                </a:r>
                <a:r>
                  <a:rPr lang="zh-CN" altLang="en-US" sz="2400" dirty="0" smtClean="0">
                    <a:solidFill>
                      <a:schemeClr val="tx1"/>
                    </a:solidFill>
                    <a:latin typeface="仿宋" panose="02010609060101010101" pitchFamily="49" charset="-122"/>
                    <a:ea typeface="仿宋" panose="02010609060101010101" pitchFamily="49" charset="-122"/>
                  </a:rPr>
                  <a:t>光学系统汇聚本领或发散本领的数值表示</a:t>
                </a:r>
                <a:r>
                  <a:rPr lang="zh-CN" altLang="en-US" sz="2400" dirty="0">
                    <a:solidFill>
                      <a:schemeClr val="tx1"/>
                    </a:solidFill>
                    <a:latin typeface="仿宋" panose="02010609060101010101" pitchFamily="49" charset="-122"/>
                    <a:ea typeface="仿宋" panose="02010609060101010101" pitchFamily="49" charset="-122"/>
                  </a:rPr>
                  <a:t>，光学系统处于空气中</a:t>
                </a:r>
                <a:r>
                  <a:rPr lang="zh-CN" altLang="en-US" sz="2400" dirty="0" smtClean="0">
                    <a:solidFill>
                      <a:schemeClr val="tx1"/>
                    </a:solidFill>
                    <a:latin typeface="仿宋" panose="02010609060101010101" pitchFamily="49" charset="-122"/>
                    <a:ea typeface="仿宋" panose="02010609060101010101" pitchFamily="49" charset="-122"/>
                  </a:rPr>
                  <a:t>，光焦度</a:t>
                </a:r>
                <a:r>
                  <a:rPr lang="el-GR" altLang="zh-CN" sz="2400" dirty="0" smtClean="0">
                    <a:solidFill>
                      <a:schemeClr val="tx1"/>
                    </a:solidFill>
                    <a:latin typeface="仿宋" panose="02010609060101010101" pitchFamily="49" charset="-122"/>
                    <a:ea typeface="仿宋" panose="02010609060101010101" pitchFamily="49" charset="-122"/>
                  </a:rPr>
                  <a:t>Φ</a:t>
                </a:r>
                <a:r>
                  <a:rPr lang="en-US" altLang="zh-CN" sz="2400" dirty="0" smtClean="0">
                    <a:solidFill>
                      <a:schemeClr val="tx1"/>
                    </a:solidFill>
                    <a:latin typeface="仿宋" panose="02010609060101010101" pitchFamily="49" charset="-122"/>
                    <a:ea typeface="仿宋" panose="02010609060101010101" pitchFamily="49" charset="-122"/>
                  </a:rPr>
                  <a:t>=1/</a:t>
                </a:r>
                <a:r>
                  <a:rPr lang="en-US" altLang="zh-CN" sz="2400" dirty="0">
                    <a:solidFill>
                      <a:schemeClr val="tx1"/>
                    </a:solidFill>
                    <a:ea typeface="仿宋" panose="02010609060101010101" pitchFamily="49" charset="-122"/>
                  </a:rPr>
                  <a:t> </a:t>
                </a:r>
                <a14:m>
                  <m:oMath xmlns:m="http://schemas.openxmlformats.org/officeDocument/2006/math">
                    <m:sSup>
                      <m:sSupPr>
                        <m:ctrlPr>
                          <a:rPr lang="en-US" altLang="zh-CN" sz="2400" i="1">
                            <a:solidFill>
                              <a:schemeClr val="tx1"/>
                            </a:solidFill>
                            <a:latin typeface="Cambria Math" panose="02040503050406030204" pitchFamily="18" charset="0"/>
                            <a:ea typeface="仿宋" panose="02010609060101010101" pitchFamily="49" charset="-122"/>
                          </a:rPr>
                        </m:ctrlPr>
                      </m:sSupPr>
                      <m:e>
                        <m:r>
                          <a:rPr lang="en-US" altLang="zh-CN" sz="2400" i="1">
                            <a:solidFill>
                              <a:schemeClr val="tx1"/>
                            </a:solidFill>
                            <a:latin typeface="Cambria Math" panose="02040503050406030204"/>
                            <a:ea typeface="仿宋" panose="02010609060101010101" pitchFamily="49" charset="-122"/>
                          </a:rPr>
                          <m:t>𝑓</m:t>
                        </m:r>
                      </m:e>
                      <m:sup>
                        <m:r>
                          <a:rPr lang="en-US" altLang="zh-CN" sz="2400" i="1">
                            <a:solidFill>
                              <a:schemeClr val="tx1"/>
                            </a:solidFill>
                            <a:latin typeface="Cambria Math" panose="02040503050406030204"/>
                            <a:ea typeface="仿宋" panose="02010609060101010101" pitchFamily="49" charset="-122"/>
                          </a:rPr>
                          <m:t>′</m:t>
                        </m:r>
                      </m:sup>
                    </m:sSup>
                    <m:r>
                      <a:rPr lang="en-US" altLang="zh-CN" sz="2400" i="1">
                        <a:solidFill>
                          <a:schemeClr val="tx1"/>
                        </a:solidFill>
                        <a:latin typeface="Cambria Math" panose="02040503050406030204"/>
                        <a:ea typeface="仿宋" panose="02010609060101010101" pitchFamily="49" charset="-122"/>
                      </a:rPr>
                      <m:t> </m:t>
                    </m:r>
                  </m:oMath>
                </a14:m>
                <a:r>
                  <a:rPr lang="zh-CN" altLang="en-US" sz="2400" dirty="0" smtClean="0">
                    <a:solidFill>
                      <a:schemeClr val="tx1"/>
                    </a:solidFill>
                    <a:latin typeface="仿宋" panose="02010609060101010101" pitchFamily="49" charset="-122"/>
                    <a:ea typeface="仿宋" panose="02010609060101010101" pitchFamily="49" charset="-122"/>
                  </a:rPr>
                  <a:t>，短焦距具有大的光焦度，他将使出射光束相对于入射光束有很大的偏折效应</a:t>
                </a:r>
                <a:r>
                  <a:rPr lang="zh-CN" altLang="en-US" sz="2400" dirty="0">
                    <a:solidFill>
                      <a:schemeClr val="tx1"/>
                    </a:solidFill>
                    <a:latin typeface="仿宋" panose="02010609060101010101" pitchFamily="49" charset="-122"/>
                    <a:ea typeface="仿宋" panose="02010609060101010101" pitchFamily="49" charset="-122"/>
                  </a:rPr>
                  <a:t>。</a:t>
                </a:r>
                <a:endParaRPr lang="zh-CN" altLang="en-US" sz="2400" dirty="0">
                  <a:solidFill>
                    <a:schemeClr val="tx1"/>
                  </a:solidFill>
                  <a:latin typeface="仿宋" panose="02010609060101010101" pitchFamily="49" charset="-122"/>
                  <a:ea typeface="仿宋" panose="02010609060101010101" pitchFamily="49"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862013" y="953368"/>
                <a:ext cx="12818190" cy="2088232"/>
              </a:xfrm>
              <a:blipFill rotWithShape="1">
                <a:blip r:embed="rId1"/>
                <a:stretch>
                  <a:fillRect l="-2" t="-11" r="-1448" b="-10767"/>
                </a:stretch>
              </a:blipFill>
            </p:spPr>
            <p:txBody>
              <a:bodyPr/>
              <a:lstStyle/>
              <a:p>
                <a:r>
                  <a:rPr lang="zh-CN" altLang="en-US">
                    <a:noFill/>
                  </a:rPr>
                  <a:t> </a:t>
                </a:r>
              </a:p>
            </p:txBody>
          </p:sp>
        </mc:Fallback>
      </mc:AlternateContent>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5690" y="3473648"/>
            <a:ext cx="5972175" cy="3790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视场角</a:t>
            </a:r>
            <a:endParaRPr lang="zh-CN" altLang="en-US" dirty="0"/>
          </a:p>
        </p:txBody>
      </p:sp>
      <p:sp>
        <p:nvSpPr>
          <p:cNvPr id="3" name="TextBox 2"/>
          <p:cNvSpPr txBox="1"/>
          <p:nvPr/>
        </p:nvSpPr>
        <p:spPr>
          <a:xfrm>
            <a:off x="1037102" y="4913808"/>
            <a:ext cx="10369152" cy="230832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摄像机的视场角也就是</a:t>
            </a:r>
            <a:r>
              <a:rPr lang="zh-CN" altLang="en-US" sz="2400" b="1" dirty="0" smtClean="0">
                <a:solidFill>
                  <a:schemeClr val="accent5"/>
                </a:solidFill>
                <a:latin typeface="仿宋" panose="02010609060101010101" pitchFamily="49" charset="-122"/>
                <a:ea typeface="仿宋" panose="02010609060101010101" pitchFamily="49" charset="-122"/>
              </a:rPr>
              <a:t>视野范围</a:t>
            </a:r>
            <a:r>
              <a:rPr lang="zh-CN" altLang="en-US" sz="2400" dirty="0" smtClean="0">
                <a:latin typeface="仿宋" panose="02010609060101010101" pitchFamily="49" charset="-122"/>
                <a:ea typeface="仿宋" panose="02010609060101010101" pitchFamily="49" charset="-122"/>
              </a:rPr>
              <a:t>，用</a:t>
            </a:r>
            <a:r>
              <a:rPr lang="en-US" altLang="zh-CN" sz="2400" dirty="0">
                <a:latin typeface="仿宋" panose="02010609060101010101" pitchFamily="49" charset="-122"/>
                <a:ea typeface="仿宋" panose="02010609060101010101" pitchFamily="49" charset="-122"/>
              </a:rPr>
              <a:t>FOV</a:t>
            </a:r>
            <a:r>
              <a:rPr lang="zh-CN" altLang="en-US" sz="2400" dirty="0" smtClean="0">
                <a:latin typeface="仿宋" panose="02010609060101010101" pitchFamily="49" charset="-122"/>
                <a:ea typeface="仿宋" panose="02010609060101010101" pitchFamily="49" charset="-122"/>
              </a:rPr>
              <a:t>表示。</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水平视场角</a:t>
            </a:r>
            <a:r>
              <a:rPr lang="en-US" altLang="zh-CN" sz="2400" dirty="0" smtClean="0">
                <a:latin typeface="仿宋" panose="02010609060101010101" pitchFamily="49" charset="-122"/>
                <a:ea typeface="仿宋" panose="02010609060101010101" pitchFamily="49" charset="-122"/>
              </a:rPr>
              <a:t>HFOV</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垂直视场角</a:t>
            </a:r>
            <a:r>
              <a:rPr lang="en-US" altLang="zh-CN" sz="2400" dirty="0" smtClean="0">
                <a:latin typeface="仿宋" panose="02010609060101010101" pitchFamily="49" charset="-122"/>
                <a:ea typeface="仿宋" panose="02010609060101010101" pitchFamily="49" charset="-122"/>
              </a:rPr>
              <a:t>VFOV</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对角线视场角</a:t>
            </a:r>
            <a:r>
              <a:rPr lang="en-US" altLang="zh-CN" sz="2400" dirty="0" smtClean="0">
                <a:latin typeface="仿宋" panose="02010609060101010101" pitchFamily="49" charset="-122"/>
                <a:ea typeface="仿宋" panose="02010609060101010101" pitchFamily="49" charset="-122"/>
              </a:rPr>
              <a:t>DFOV</a:t>
            </a:r>
            <a:endParaRPr lang="en-US" altLang="zh-CN" sz="2400" dirty="0" smtClean="0">
              <a:latin typeface="仿宋" panose="02010609060101010101" pitchFamily="49" charset="-122"/>
              <a:ea typeface="仿宋" panose="02010609060101010101" pitchFamily="49" charset="-122"/>
            </a:endParaRPr>
          </a:p>
        </p:txBody>
      </p:sp>
      <p:pic>
        <p:nvPicPr>
          <p:cNvPr id="5170" name="Picture 50" descr="C:\Users\07285yzl\Desktop\红外镜头设计简介\新建文件夹\d31b0ef41bd5ad6e3656baf881cb39dbb6fd3c7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49315" y="773113"/>
            <a:ext cx="6782840" cy="3499945"/>
          </a:xfrm>
          <a:prstGeom prst="rect">
            <a:avLst/>
          </a:prstGeom>
          <a:noFill/>
          <a:extLst>
            <a:ext uri="{909E8E84-426E-40DD-AFC4-6F175D3DCCD1}">
              <a14:hiddenFill xmlns:a14="http://schemas.microsoft.com/office/drawing/2010/main">
                <a:solidFill>
                  <a:srgbClr val="FFFFFF"/>
                </a:solidFill>
              </a14:hiddenFill>
            </a:ext>
          </a:extLst>
        </p:spPr>
      </p:pic>
      <p:pic>
        <p:nvPicPr>
          <p:cNvPr id="5171" name="Picture 51" descr="C:\Users\07285yzl\Desktop\红外镜头设计简介\新建文件夹\ac345982b2b7d0a26e0b3fefcbef76094a369a8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36210" y="1644158"/>
            <a:ext cx="5715000" cy="26289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视场角计算</a:t>
            </a:r>
            <a:endParaRPr lang="zh-CN" altLang="en-US" dirty="0"/>
          </a:p>
        </p:txBody>
      </p:sp>
      <mc:AlternateContent xmlns:mc="http://schemas.openxmlformats.org/markup-compatibility/2006">
        <mc:Choice xmlns:a14="http://schemas.microsoft.com/office/drawing/2010/main" Requires="a14">
          <p:sp>
            <p:nvSpPr>
              <p:cNvPr id="3" name="TextBox 2"/>
              <p:cNvSpPr txBox="1"/>
              <p:nvPr/>
            </p:nvSpPr>
            <p:spPr>
              <a:xfrm>
                <a:off x="935411" y="3913576"/>
                <a:ext cx="10945215" cy="387798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物方视场角</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像</a:t>
                </a:r>
                <a:r>
                  <a:rPr lang="zh-CN" altLang="en-US" sz="2400" dirty="0" smtClean="0">
                    <a:latin typeface="仿宋" panose="02010609060101010101" pitchFamily="49" charset="-122"/>
                    <a:ea typeface="仿宋" panose="02010609060101010101" pitchFamily="49" charset="-122"/>
                  </a:rPr>
                  <a:t>方视场角</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长焦距</a:t>
                </a:r>
                <a:r>
                  <a:rPr lang="zh-CN" altLang="en-US" sz="2400" dirty="0" smtClean="0">
                    <a:latin typeface="仿宋" panose="02010609060101010101" pitchFamily="49" charset="-122"/>
                    <a:ea typeface="仿宋" panose="02010609060101010101" pitchFamily="49" charset="-122"/>
                  </a:rPr>
                  <a:t>，</a:t>
                </a:r>
                <a:r>
                  <a:rPr lang="zh-CN" altLang="en-US" sz="2400" dirty="0">
                    <a:latin typeface="仿宋" panose="02010609060101010101" pitchFamily="49" charset="-122"/>
                    <a:ea typeface="仿宋" panose="02010609060101010101" pitchFamily="49" charset="-122"/>
                  </a:rPr>
                  <a:t>小</a:t>
                </a:r>
                <a:r>
                  <a:rPr lang="zh-CN" altLang="en-US" sz="2400" dirty="0" smtClean="0">
                    <a:latin typeface="仿宋" panose="02010609060101010101" pitchFamily="49" charset="-122"/>
                    <a:ea typeface="仿宋" panose="02010609060101010101" pitchFamily="49" charset="-122"/>
                  </a:rPr>
                  <a:t>视场</a:t>
                </a:r>
                <a:r>
                  <a:rPr lang="zh-CN" altLang="en-US" sz="2400" dirty="0">
                    <a:latin typeface="仿宋" panose="02010609060101010101" pitchFamily="49" charset="-122"/>
                    <a:ea typeface="仿宋" panose="02010609060101010101" pitchFamily="49" charset="-122"/>
                  </a:rPr>
                  <a:t>镜头，光学畸变较小时，物方视场角和像方视场角差异较小，可直接通过公式</a:t>
                </a:r>
                <a:r>
                  <a:rPr lang="zh-CN" altLang="en-US" sz="2400" dirty="0" smtClean="0">
                    <a:latin typeface="仿宋" panose="02010609060101010101" pitchFamily="49" charset="-122"/>
                    <a:ea typeface="仿宋" panose="02010609060101010101" pitchFamily="49" charset="-122"/>
                  </a:rPr>
                  <a:t>计算：</a:t>
                </a:r>
                <a:endParaRPr lang="en-US" altLang="zh-CN" sz="2400" dirty="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a:latin typeface="仿宋" panose="02010609060101010101" pitchFamily="49" charset="-122"/>
                    <a:ea typeface="仿宋" panose="02010609060101010101" pitchFamily="49" charset="-122"/>
                  </a:rPr>
                  <a:t>水平视场角</a:t>
                </a:r>
                <a:r>
                  <a:rPr lang="en-US" altLang="zh-CN" sz="2400" dirty="0">
                    <a:latin typeface="仿宋" panose="02010609060101010101" pitchFamily="49" charset="-122"/>
                    <a:ea typeface="仿宋" panose="02010609060101010101" pitchFamily="49" charset="-122"/>
                  </a:rPr>
                  <a:t>=</a:t>
                </a:r>
                <a:r>
                  <a:rPr lang="en-US" altLang="zh-CN" sz="2400" dirty="0" smtClean="0">
                    <a:latin typeface="仿宋" panose="02010609060101010101" pitchFamily="49" charset="-122"/>
                    <a:ea typeface="仿宋" panose="02010609060101010101" pitchFamily="49" charset="-122"/>
                  </a:rPr>
                  <a:t>2arctan(H/</a:t>
                </a:r>
                <a14:m>
                  <m:oMath xmlns:m="http://schemas.openxmlformats.org/officeDocument/2006/math">
                    <m:sSup>
                      <m:sSupPr>
                        <m:ctrlPr>
                          <a:rPr lang="en-US" altLang="zh-CN" sz="2400" i="1">
                            <a:latin typeface="Cambria Math" panose="02040503050406030204" pitchFamily="18" charset="0"/>
                            <a:ea typeface="仿宋" panose="02010609060101010101" pitchFamily="49" charset="-122"/>
                          </a:rPr>
                        </m:ctrlPr>
                      </m:sSupPr>
                      <m:e>
                        <m:r>
                          <a:rPr lang="en-US" altLang="zh-CN" sz="2400" i="1">
                            <a:latin typeface="Cambria Math" panose="02040503050406030204"/>
                            <a:ea typeface="仿宋" panose="02010609060101010101" pitchFamily="49" charset="-122"/>
                          </a:rPr>
                          <m:t>𝑓</m:t>
                        </m:r>
                      </m:e>
                      <m:sup>
                        <m:r>
                          <a:rPr lang="en-US" altLang="zh-CN" sz="2400" i="1">
                            <a:latin typeface="Cambria Math" panose="02040503050406030204"/>
                            <a:ea typeface="仿宋" panose="02010609060101010101" pitchFamily="49" charset="-122"/>
                          </a:rPr>
                          <m:t>′</m:t>
                        </m:r>
                      </m:sup>
                    </m:sSup>
                  </m:oMath>
                </a14:m>
                <a:r>
                  <a:rPr lang="en-US" altLang="zh-CN" sz="2400" dirty="0" smtClean="0">
                    <a:latin typeface="仿宋" panose="02010609060101010101" pitchFamily="49" charset="-122"/>
                    <a:ea typeface="仿宋" panose="02010609060101010101" pitchFamily="49" charset="-122"/>
                  </a:rPr>
                  <a:t>)</a:t>
                </a:r>
                <a:r>
                  <a:rPr lang="zh-CN" altLang="en-US" sz="2400" dirty="0" smtClean="0">
                    <a:latin typeface="仿宋" panose="02010609060101010101" pitchFamily="49" charset="-122"/>
                    <a:ea typeface="仿宋" panose="02010609060101010101" pitchFamily="49" charset="-122"/>
                  </a:rPr>
                  <a:t>，</a:t>
                </a:r>
                <a:r>
                  <a:rPr lang="en-US" altLang="zh-CN" sz="2400" dirty="0" smtClean="0">
                    <a:latin typeface="仿宋" panose="02010609060101010101" pitchFamily="49" charset="-122"/>
                    <a:ea typeface="仿宋" panose="02010609060101010101" pitchFamily="49" charset="-122"/>
                  </a:rPr>
                  <a:t>H=320×30um/2</a:t>
                </a:r>
                <a:r>
                  <a:rPr lang="zh-CN" altLang="en-US" sz="2400" dirty="0" smtClean="0">
                    <a:latin typeface="仿宋" panose="02010609060101010101" pitchFamily="49" charset="-122"/>
                    <a:ea typeface="仿宋" panose="02010609060101010101" pitchFamily="49" charset="-122"/>
                  </a:rPr>
                  <a:t>，</a:t>
                </a:r>
                <a:r>
                  <a:rPr lang="en-US" altLang="zh-CN" sz="2400" dirty="0">
                    <a:ea typeface="仿宋" panose="02010609060101010101" pitchFamily="49" charset="-122"/>
                  </a:rPr>
                  <a:t> </a:t>
                </a:r>
                <a14:m>
                  <m:oMath xmlns:m="http://schemas.openxmlformats.org/officeDocument/2006/math">
                    <m:sSup>
                      <m:sSupPr>
                        <m:ctrlPr>
                          <a:rPr lang="en-US" altLang="zh-CN" sz="2400" i="1">
                            <a:latin typeface="Cambria Math" panose="02040503050406030204" pitchFamily="18" charset="0"/>
                            <a:ea typeface="仿宋" panose="02010609060101010101" pitchFamily="49" charset="-122"/>
                          </a:rPr>
                        </m:ctrlPr>
                      </m:sSupPr>
                      <m:e>
                        <m:r>
                          <a:rPr lang="en-US" altLang="zh-CN" sz="2400" i="1">
                            <a:latin typeface="Cambria Math" panose="02040503050406030204"/>
                            <a:ea typeface="仿宋" panose="02010609060101010101" pitchFamily="49" charset="-122"/>
                          </a:rPr>
                          <m:t>𝑓</m:t>
                        </m:r>
                      </m:e>
                      <m:sup>
                        <m:r>
                          <a:rPr lang="en-US" altLang="zh-CN" sz="2400" i="1">
                            <a:latin typeface="Cambria Math" panose="02040503050406030204"/>
                            <a:ea typeface="仿宋" panose="02010609060101010101" pitchFamily="49" charset="-122"/>
                          </a:rPr>
                          <m:t>′</m:t>
                        </m:r>
                      </m:sup>
                    </m:sSup>
                    <m:r>
                      <a:rPr lang="en-US" altLang="zh-CN" sz="2400" i="1">
                        <a:latin typeface="Cambria Math" panose="02040503050406030204"/>
                        <a:ea typeface="仿宋" panose="02010609060101010101" pitchFamily="49" charset="-122"/>
                      </a:rPr>
                      <m:t> </m:t>
                    </m:r>
                  </m:oMath>
                </a14:m>
                <a:r>
                  <a:rPr lang="zh-CN" altLang="en-US" sz="2400" dirty="0" smtClean="0">
                    <a:latin typeface="仿宋" panose="02010609060101010101" pitchFamily="49" charset="-122"/>
                    <a:ea typeface="仿宋" panose="02010609060101010101" pitchFamily="49" charset="-122"/>
                  </a:rPr>
                  <a:t>：焦距</a:t>
                </a:r>
                <a:endParaRPr lang="en-US" altLang="zh-CN" sz="2400" dirty="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400" dirty="0">
                    <a:latin typeface="仿宋" panose="02010609060101010101" pitchFamily="49" charset="-122"/>
                    <a:ea typeface="仿宋" panose="02010609060101010101" pitchFamily="49" charset="-122"/>
                  </a:rPr>
                  <a:t>垂直视场角</a:t>
                </a:r>
                <a:r>
                  <a:rPr lang="en-US" altLang="zh-CN" sz="2400" dirty="0">
                    <a:latin typeface="仿宋" panose="02010609060101010101" pitchFamily="49" charset="-122"/>
                    <a:ea typeface="仿宋" panose="02010609060101010101" pitchFamily="49" charset="-122"/>
                  </a:rPr>
                  <a:t>=</a:t>
                </a:r>
                <a:r>
                  <a:rPr lang="en-US" altLang="zh-CN" sz="2400" dirty="0" smtClean="0">
                    <a:latin typeface="仿宋" panose="02010609060101010101" pitchFamily="49" charset="-122"/>
                    <a:ea typeface="仿宋" panose="02010609060101010101" pitchFamily="49" charset="-122"/>
                  </a:rPr>
                  <a:t>2arctan(V/</a:t>
                </a:r>
                <a14:m>
                  <m:oMath xmlns:m="http://schemas.openxmlformats.org/officeDocument/2006/math">
                    <m:sSup>
                      <m:sSupPr>
                        <m:ctrlPr>
                          <a:rPr lang="en-US" altLang="zh-CN" sz="2400" i="1">
                            <a:latin typeface="Cambria Math" panose="02040503050406030204" pitchFamily="18" charset="0"/>
                            <a:ea typeface="仿宋" panose="02010609060101010101" pitchFamily="49" charset="-122"/>
                          </a:rPr>
                        </m:ctrlPr>
                      </m:sSupPr>
                      <m:e>
                        <m:r>
                          <a:rPr lang="en-US" altLang="zh-CN" sz="2400" i="1">
                            <a:latin typeface="Cambria Math" panose="02040503050406030204"/>
                            <a:ea typeface="仿宋" panose="02010609060101010101" pitchFamily="49" charset="-122"/>
                          </a:rPr>
                          <m:t>𝑓</m:t>
                        </m:r>
                      </m:e>
                      <m:sup>
                        <m:r>
                          <a:rPr lang="en-US" altLang="zh-CN" sz="2400" i="1">
                            <a:latin typeface="Cambria Math" panose="02040503050406030204"/>
                            <a:ea typeface="仿宋" panose="02010609060101010101" pitchFamily="49" charset="-122"/>
                          </a:rPr>
                          <m:t>′</m:t>
                        </m:r>
                      </m:sup>
                    </m:sSup>
                  </m:oMath>
                </a14:m>
                <a:r>
                  <a:rPr lang="en-US" altLang="zh-CN" sz="2400" dirty="0" smtClean="0">
                    <a:latin typeface="仿宋" panose="02010609060101010101" pitchFamily="49" charset="-122"/>
                    <a:ea typeface="仿宋" panose="02010609060101010101" pitchFamily="49" charset="-122"/>
                  </a:rPr>
                  <a:t>)</a:t>
                </a:r>
                <a:r>
                  <a:rPr lang="zh-CN" altLang="en-US" sz="2400" dirty="0" smtClean="0">
                    <a:latin typeface="仿宋" panose="02010609060101010101" pitchFamily="49" charset="-122"/>
                    <a:ea typeface="仿宋" panose="02010609060101010101" pitchFamily="49" charset="-122"/>
                  </a:rPr>
                  <a:t>，</a:t>
                </a:r>
                <a:r>
                  <a:rPr lang="en-US" altLang="zh-CN" sz="2400" dirty="0" smtClean="0">
                    <a:latin typeface="仿宋" panose="02010609060101010101" pitchFamily="49" charset="-122"/>
                    <a:ea typeface="仿宋" panose="02010609060101010101" pitchFamily="49" charset="-122"/>
                  </a:rPr>
                  <a:t>V=256×30um/2</a:t>
                </a:r>
                <a:r>
                  <a:rPr lang="zh-CN" altLang="en-US" sz="2400" dirty="0" smtClean="0">
                    <a:latin typeface="仿宋" panose="02010609060101010101" pitchFamily="49" charset="-122"/>
                    <a:ea typeface="仿宋" panose="02010609060101010101" pitchFamily="49" charset="-122"/>
                  </a:rPr>
                  <a:t>，</a:t>
                </a:r>
                <a:r>
                  <a:rPr lang="en-US" altLang="zh-CN" sz="2400" dirty="0">
                    <a:ea typeface="仿宋" panose="02010609060101010101" pitchFamily="49" charset="-122"/>
                  </a:rPr>
                  <a:t> </a:t>
                </a:r>
                <a14:m>
                  <m:oMath xmlns:m="http://schemas.openxmlformats.org/officeDocument/2006/math">
                    <m:sSup>
                      <m:sSupPr>
                        <m:ctrlPr>
                          <a:rPr lang="en-US" altLang="zh-CN" sz="2400" i="1">
                            <a:latin typeface="Cambria Math" panose="02040503050406030204" pitchFamily="18" charset="0"/>
                            <a:ea typeface="仿宋" panose="02010609060101010101" pitchFamily="49" charset="-122"/>
                          </a:rPr>
                        </m:ctrlPr>
                      </m:sSupPr>
                      <m:e>
                        <m:r>
                          <a:rPr lang="en-US" altLang="zh-CN" sz="2400" i="1">
                            <a:latin typeface="Cambria Math" panose="02040503050406030204"/>
                            <a:ea typeface="仿宋" panose="02010609060101010101" pitchFamily="49" charset="-122"/>
                          </a:rPr>
                          <m:t>𝑓</m:t>
                        </m:r>
                      </m:e>
                      <m:sup>
                        <m:r>
                          <a:rPr lang="en-US" altLang="zh-CN" sz="2400" i="1">
                            <a:latin typeface="Cambria Math" panose="02040503050406030204"/>
                            <a:ea typeface="仿宋" panose="02010609060101010101" pitchFamily="49" charset="-122"/>
                          </a:rPr>
                          <m:t>′</m:t>
                        </m:r>
                      </m:sup>
                    </m:sSup>
                    <m:r>
                      <a:rPr lang="en-US" altLang="zh-CN" sz="2400" i="1">
                        <a:latin typeface="Cambria Math" panose="02040503050406030204"/>
                        <a:ea typeface="仿宋" panose="02010609060101010101" pitchFamily="49" charset="-122"/>
                      </a:rPr>
                      <m:t> </m:t>
                    </m:r>
                  </m:oMath>
                </a14:m>
                <a:r>
                  <a:rPr lang="zh-CN" altLang="en-US" sz="2400" dirty="0" smtClean="0">
                    <a:latin typeface="仿宋" panose="02010609060101010101" pitchFamily="49" charset="-122"/>
                    <a:ea typeface="仿宋" panose="02010609060101010101" pitchFamily="49" charset="-122"/>
                  </a:rPr>
                  <a:t>：</a:t>
                </a:r>
                <a:r>
                  <a:rPr lang="zh-CN" altLang="en-US" sz="2400" dirty="0">
                    <a:latin typeface="仿宋" panose="02010609060101010101" pitchFamily="49" charset="-122"/>
                    <a:ea typeface="仿宋" panose="02010609060101010101" pitchFamily="49" charset="-122"/>
                  </a:rPr>
                  <a:t>焦距</a:t>
                </a:r>
                <a:endParaRPr lang="en-US" altLang="zh-CN" sz="2400" dirty="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endParaRPr lang="en-US" altLang="zh-CN" sz="2000" dirty="0">
                  <a:latin typeface="仿宋" panose="02010609060101010101" pitchFamily="49" charset="-122"/>
                  <a:ea typeface="仿宋" panose="02010609060101010101" pitchFamily="49" charset="-122"/>
                </a:endParaRPr>
              </a:p>
            </p:txBody>
          </p:sp>
        </mc:Choice>
        <mc:Fallback>
          <p:sp>
            <p:nvSpPr>
              <p:cNvPr id="3" name="TextBox 2"/>
              <p:cNvSpPr txBox="1">
                <a:spLocks noRot="1" noChangeAspect="1" noMove="1" noResize="1" noEditPoints="1" noAdjustHandles="1" noChangeArrowheads="1" noChangeShapeType="1" noTextEdit="1"/>
              </p:cNvSpPr>
              <p:nvPr/>
            </p:nvSpPr>
            <p:spPr>
              <a:xfrm>
                <a:off x="935411" y="3913576"/>
                <a:ext cx="10945215" cy="3877985"/>
              </a:xfrm>
              <a:prstGeom prst="rect">
                <a:avLst/>
              </a:prstGeom>
              <a:blipFill rotWithShape="1">
                <a:blip r:embed="rId1"/>
                <a:stretch>
                  <a:fillRect l="-1" t="-2" r="4" b="3"/>
                </a:stretch>
              </a:blipFill>
            </p:spPr>
            <p:txBody>
              <a:bodyPr/>
              <a:lstStyle/>
              <a:p>
                <a:r>
                  <a:rPr lang="zh-CN" altLang="en-US">
                    <a:noFill/>
                  </a:rPr>
                  <a:t> </a:t>
                </a:r>
              </a:p>
            </p:txBody>
          </p:sp>
        </mc:Fallback>
      </mc:AlternateContent>
      <p:pic>
        <p:nvPicPr>
          <p:cNvPr id="6491" name="Picture 34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3563" y="879934"/>
            <a:ext cx="3343059" cy="288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494" name="Picture 3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9360" y="881360"/>
            <a:ext cx="5454328" cy="288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视场角</a:t>
            </a:r>
            <a:r>
              <a:rPr lang="zh-CN" altLang="en-US" dirty="0" smtClean="0"/>
              <a:t>计算实例</a:t>
            </a:r>
            <a:endParaRPr lang="zh-CN" altLang="en-US" dirty="0"/>
          </a:p>
        </p:txBody>
      </p:sp>
      <p:sp>
        <p:nvSpPr>
          <p:cNvPr id="4" name="矩形 3"/>
          <p:cNvSpPr/>
          <p:nvPr/>
        </p:nvSpPr>
        <p:spPr>
          <a:xfrm>
            <a:off x="1511474" y="1071200"/>
            <a:ext cx="11809312" cy="830997"/>
          </a:xfrm>
          <a:prstGeom prst="rect">
            <a:avLst/>
          </a:prstGeom>
        </p:spPr>
        <p:txBody>
          <a:bodyPr wrap="square">
            <a:spAutoFit/>
          </a:bodyPr>
          <a:lstStyle/>
          <a:p>
            <a:pPr indent="539750">
              <a:lnSpc>
                <a:spcPct val="150000"/>
              </a:lnSpc>
            </a:pPr>
            <a:r>
              <a:rPr lang="zh-CN" altLang="en-US" sz="3200" kern="0" dirty="0">
                <a:latin typeface="华文楷体" panose="02010600040101010101" pitchFamily="2" charset="-122"/>
                <a:ea typeface="华文楷体" panose="02010600040101010101" pitchFamily="2" charset="-122"/>
              </a:rPr>
              <a:t>例：</a:t>
            </a:r>
            <a:r>
              <a:rPr lang="en-US" altLang="zh-CN" sz="3200" kern="0" dirty="0">
                <a:latin typeface="华文楷体" panose="02010600040101010101" pitchFamily="2" charset="-122"/>
                <a:ea typeface="华文楷体" panose="02010600040101010101" pitchFamily="2" charset="-122"/>
              </a:rPr>
              <a:t>35mm</a:t>
            </a:r>
            <a:r>
              <a:rPr lang="zh-CN" altLang="en-US" sz="3200" kern="0" dirty="0">
                <a:latin typeface="华文楷体" panose="02010600040101010101" pitchFamily="2" charset="-122"/>
                <a:ea typeface="华文楷体" panose="02010600040101010101" pitchFamily="2" charset="-122"/>
              </a:rPr>
              <a:t>镜头</a:t>
            </a:r>
            <a:r>
              <a:rPr lang="zh-CN" altLang="en-US" sz="3200" kern="0" dirty="0" smtClean="0">
                <a:latin typeface="华文楷体" panose="02010600040101010101" pitchFamily="2" charset="-122"/>
                <a:ea typeface="华文楷体" panose="02010600040101010101" pitchFamily="2" charset="-122"/>
              </a:rPr>
              <a:t>配</a:t>
            </a:r>
            <a:r>
              <a:rPr lang="en-US" altLang="zh-CN" sz="3200" kern="0" dirty="0" smtClean="0">
                <a:latin typeface="华文楷体" panose="02010600040101010101" pitchFamily="2" charset="-122"/>
                <a:ea typeface="华文楷体" panose="02010600040101010101" pitchFamily="2" charset="-122"/>
              </a:rPr>
              <a:t>1280x1024@12μm</a:t>
            </a:r>
            <a:r>
              <a:rPr lang="zh-CN" altLang="en-US" sz="3200" kern="0" dirty="0">
                <a:latin typeface="华文楷体" panose="02010600040101010101" pitchFamily="2" charset="-122"/>
                <a:ea typeface="华文楷体" panose="02010600040101010101" pitchFamily="2" charset="-122"/>
              </a:rPr>
              <a:t>探测器，视场角分别为</a:t>
            </a:r>
            <a:r>
              <a:rPr lang="zh-CN" altLang="en-US" sz="3200" kern="0" dirty="0" smtClean="0">
                <a:latin typeface="华文楷体" panose="02010600040101010101" pitchFamily="2" charset="-122"/>
                <a:ea typeface="华文楷体" panose="02010600040101010101" pitchFamily="2" charset="-122"/>
              </a:rPr>
              <a:t>：</a:t>
            </a:r>
            <a:endParaRPr lang="en-US" altLang="zh-CN" sz="3200" kern="0" dirty="0">
              <a:latin typeface="华文楷体" panose="02010600040101010101" pitchFamily="2" charset="-122"/>
              <a:ea typeface="华文楷体" panose="02010600040101010101" pitchFamily="2" charset="-122"/>
            </a:endParaRPr>
          </a:p>
        </p:txBody>
      </p:sp>
      <p:graphicFrame>
        <p:nvGraphicFramePr>
          <p:cNvPr id="7" name="对象 6"/>
          <p:cNvGraphicFramePr>
            <a:graphicFrameLocks noChangeAspect="1"/>
          </p:cNvGraphicFramePr>
          <p:nvPr/>
        </p:nvGraphicFramePr>
        <p:xfrm>
          <a:off x="2792413" y="2444750"/>
          <a:ext cx="8882062" cy="949325"/>
        </p:xfrm>
        <a:graphic>
          <a:graphicData uri="http://schemas.openxmlformats.org/presentationml/2006/ole">
            <mc:AlternateContent xmlns:mc="http://schemas.openxmlformats.org/markup-compatibility/2006">
              <mc:Choice xmlns:v="urn:schemas-microsoft-com:vml" Requires="v">
                <p:oleObj spid="_x0000_s14347" name="公式" r:id="rId1" imgW="92659200" imgH="9753600" progId="Equation.3">
                  <p:embed/>
                </p:oleObj>
              </mc:Choice>
              <mc:Fallback>
                <p:oleObj name="公式" r:id="rId1" imgW="92659200" imgH="9753600" progId="Equation.3">
                  <p:embed/>
                  <p:pic>
                    <p:nvPicPr>
                      <p:cNvPr id="0" name="图片 14346"/>
                      <p:cNvPicPr>
                        <a:picLocks noChangeAspect="1" noChangeArrowheads="1"/>
                      </p:cNvPicPr>
                      <p:nvPr/>
                    </p:nvPicPr>
                    <p:blipFill>
                      <a:blip r:embed="rId2"/>
                      <a:srcRect/>
                      <a:stretch>
                        <a:fillRect/>
                      </a:stretch>
                    </p:blipFill>
                    <p:spPr bwMode="auto">
                      <a:xfrm>
                        <a:off x="2792413" y="2444750"/>
                        <a:ext cx="8882062" cy="949325"/>
                      </a:xfrm>
                      <a:prstGeom prst="rect">
                        <a:avLst/>
                      </a:prstGeom>
                      <a:noFill/>
                    </p:spPr>
                  </p:pic>
                </p:oleObj>
              </mc:Fallback>
            </mc:AlternateContent>
          </a:graphicData>
        </a:graphic>
      </p:graphicFrame>
      <p:graphicFrame>
        <p:nvGraphicFramePr>
          <p:cNvPr id="8" name="对象 7"/>
          <p:cNvGraphicFramePr>
            <a:graphicFrameLocks noChangeAspect="1"/>
          </p:cNvGraphicFramePr>
          <p:nvPr/>
        </p:nvGraphicFramePr>
        <p:xfrm>
          <a:off x="2579688" y="3938588"/>
          <a:ext cx="9063037" cy="904875"/>
        </p:xfrm>
        <a:graphic>
          <a:graphicData uri="http://schemas.openxmlformats.org/presentationml/2006/ole">
            <mc:AlternateContent xmlns:mc="http://schemas.openxmlformats.org/markup-compatibility/2006">
              <mc:Choice xmlns:v="urn:schemas-microsoft-com:vml" Requires="v">
                <p:oleObj spid="_x0000_s14348" name="公式" r:id="rId3" imgW="101193600" imgH="10058400" progId="Equation.3">
                  <p:embed/>
                </p:oleObj>
              </mc:Choice>
              <mc:Fallback>
                <p:oleObj name="公式" r:id="rId3" imgW="101193600" imgH="10058400" progId="Equation.3">
                  <p:embed/>
                  <p:pic>
                    <p:nvPicPr>
                      <p:cNvPr id="0" name="图片 14347"/>
                      <p:cNvPicPr>
                        <a:picLocks noChangeAspect="1" noChangeArrowheads="1"/>
                      </p:cNvPicPr>
                      <p:nvPr/>
                    </p:nvPicPr>
                    <p:blipFill>
                      <a:blip r:embed="rId4"/>
                      <a:srcRect/>
                      <a:stretch>
                        <a:fillRect/>
                      </a:stretch>
                    </p:blipFill>
                    <p:spPr bwMode="auto">
                      <a:xfrm>
                        <a:off x="2579688" y="3938588"/>
                        <a:ext cx="9063037" cy="904875"/>
                      </a:xfrm>
                      <a:prstGeom prst="rect">
                        <a:avLst/>
                      </a:prstGeom>
                      <a:noFill/>
                    </p:spPr>
                  </p:pic>
                </p:oleObj>
              </mc:Fallback>
            </mc:AlternateContent>
          </a:graphicData>
        </a:graphic>
      </p:graphicFrame>
      <p:graphicFrame>
        <p:nvGraphicFramePr>
          <p:cNvPr id="9" name="对象 8"/>
          <p:cNvGraphicFramePr>
            <a:graphicFrameLocks noChangeAspect="1"/>
          </p:cNvGraphicFramePr>
          <p:nvPr/>
        </p:nvGraphicFramePr>
        <p:xfrm>
          <a:off x="2727325" y="5489575"/>
          <a:ext cx="9255125" cy="936625"/>
        </p:xfrm>
        <a:graphic>
          <a:graphicData uri="http://schemas.openxmlformats.org/presentationml/2006/ole">
            <mc:AlternateContent xmlns:mc="http://schemas.openxmlformats.org/markup-compatibility/2006">
              <mc:Choice xmlns:v="urn:schemas-microsoft-com:vml" Requires="v">
                <p:oleObj spid="_x0000_s14349" name="公式" r:id="rId5" imgW="101193600" imgH="10058400" progId="Equation.3">
                  <p:embed/>
                </p:oleObj>
              </mc:Choice>
              <mc:Fallback>
                <p:oleObj name="公式" r:id="rId5" imgW="101193600" imgH="10058400" progId="Equation.3">
                  <p:embed/>
                  <p:pic>
                    <p:nvPicPr>
                      <p:cNvPr id="0" name="图片 14348"/>
                      <p:cNvPicPr>
                        <a:picLocks noChangeAspect="1" noChangeArrowheads="1"/>
                      </p:cNvPicPr>
                      <p:nvPr/>
                    </p:nvPicPr>
                    <p:blipFill>
                      <a:blip r:embed="rId6"/>
                      <a:srcRect/>
                      <a:stretch>
                        <a:fillRect/>
                      </a:stretch>
                    </p:blipFill>
                    <p:spPr bwMode="auto">
                      <a:xfrm>
                        <a:off x="2727325" y="5489575"/>
                        <a:ext cx="9255125" cy="936625"/>
                      </a:xfrm>
                      <a:prstGeom prst="rect">
                        <a:avLst/>
                      </a:prstGeom>
                      <a:noFill/>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焦距和视场角的关系</a:t>
            </a:r>
            <a:endParaRPr lang="zh-CN" altLang="en-US" dirty="0"/>
          </a:p>
        </p:txBody>
      </p:sp>
      <p:sp>
        <p:nvSpPr>
          <p:cNvPr id="5" name="TextBox 4"/>
          <p:cNvSpPr txBox="1"/>
          <p:nvPr/>
        </p:nvSpPr>
        <p:spPr>
          <a:xfrm>
            <a:off x="503362" y="861296"/>
            <a:ext cx="6070893" cy="461665"/>
          </a:xfrm>
          <a:prstGeom prst="rect">
            <a:avLst/>
          </a:prstGeom>
          <a:noFill/>
        </p:spPr>
        <p:txBody>
          <a:bodyPr wrap="none" rtlCol="0">
            <a:spAutoFit/>
          </a:bodyPr>
          <a:lstStyle/>
          <a:p>
            <a:pPr marL="342900" indent="-342900">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视场角和镜头焦距、探测器靶面大小有关</a:t>
            </a:r>
            <a:endParaRPr lang="zh-CN" altLang="en-US" sz="2400" dirty="0">
              <a:latin typeface="仿宋" panose="02010609060101010101" pitchFamily="49" charset="-122"/>
              <a:ea typeface="仿宋" panose="02010609060101010101" pitchFamily="49" charset="-122"/>
            </a:endParaRPr>
          </a:p>
        </p:txBody>
      </p:sp>
      <p:graphicFrame>
        <p:nvGraphicFramePr>
          <p:cNvPr id="6" name="对象 5"/>
          <p:cNvGraphicFramePr>
            <a:graphicFrameLocks noChangeAspect="1"/>
          </p:cNvGraphicFramePr>
          <p:nvPr/>
        </p:nvGraphicFramePr>
        <p:xfrm>
          <a:off x="351805" y="1673448"/>
          <a:ext cx="8243888" cy="4062413"/>
        </p:xfrm>
        <a:graphic>
          <a:graphicData uri="http://schemas.openxmlformats.org/presentationml/2006/ole">
            <mc:AlternateContent xmlns:mc="http://schemas.openxmlformats.org/markup-compatibility/2006">
              <mc:Choice xmlns:v="urn:schemas-microsoft-com:vml" Requires="v">
                <p:oleObj spid="_x0000_s13595" name="Visio" r:id="rId1" imgW="6143625" imgH="3038475" progId="Visio.Drawing.11">
                  <p:embed/>
                </p:oleObj>
              </mc:Choice>
              <mc:Fallback>
                <p:oleObj name="Visio" r:id="rId1" imgW="6143625" imgH="3038475" progId="Visio.Drawing.11">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805" y="1673448"/>
                        <a:ext cx="8243888" cy="406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541" name="Picture 469" descr="C:\Users\07285yzl\Desktop\红外镜头设计简介\新建文件夹\src=http___img.doc.docsou.com_pic_4e2bf489ffeefc50598dcb53_1-761-png_6_0_0_0_0_0_0_892.439_1262.879-662-0-57-662.jpg&amp;refer=http___im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68259" y="1457424"/>
            <a:ext cx="4896543" cy="563620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863402" y="6209952"/>
            <a:ext cx="6801862" cy="1200329"/>
          </a:xfrm>
          <a:prstGeom prst="rect">
            <a:avLst/>
          </a:prstGeom>
          <a:noFill/>
        </p:spPr>
        <p:txBody>
          <a:bodyPr wrap="none" rtlCol="0">
            <a:spAutoFit/>
          </a:bodyPr>
          <a:lstStyle/>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探测器</a:t>
            </a:r>
            <a:r>
              <a:rPr lang="zh-CN" altLang="en-US" sz="2400" dirty="0">
                <a:latin typeface="仿宋" panose="02010609060101010101" pitchFamily="49" charset="-122"/>
                <a:ea typeface="仿宋" panose="02010609060101010101" pitchFamily="49" charset="-122"/>
              </a:rPr>
              <a:t>靶</a:t>
            </a:r>
            <a:r>
              <a:rPr lang="zh-CN" altLang="en-US" sz="2400" dirty="0" smtClean="0">
                <a:latin typeface="仿宋" panose="02010609060101010101" pitchFamily="49" charset="-122"/>
                <a:ea typeface="仿宋" panose="02010609060101010101" pitchFamily="49" charset="-122"/>
              </a:rPr>
              <a:t>面大小不变</a:t>
            </a:r>
            <a:r>
              <a:rPr lang="zh-CN" altLang="en-US" sz="2400" dirty="0">
                <a:latin typeface="仿宋" panose="02010609060101010101" pitchFamily="49" charset="-122"/>
                <a:ea typeface="仿宋" panose="02010609060101010101" pitchFamily="49" charset="-122"/>
              </a:rPr>
              <a:t>，焦距越长，视场角越小</a:t>
            </a:r>
            <a:endParaRPr lang="zh-CN" altLang="en-US" sz="2400" dirty="0"/>
          </a:p>
          <a:p>
            <a:pPr marL="342900" indent="-342900">
              <a:lnSpc>
                <a:spcPct val="150000"/>
              </a:lnSpc>
              <a:buFont typeface="Wingdings" panose="05000000000000000000" pitchFamily="2" charset="2"/>
              <a:buChar char="Ø"/>
            </a:pPr>
            <a:r>
              <a:rPr lang="zh-CN" altLang="en-US" sz="2400" dirty="0" smtClean="0">
                <a:latin typeface="仿宋" panose="02010609060101010101" pitchFamily="49" charset="-122"/>
                <a:ea typeface="仿宋" panose="02010609060101010101" pitchFamily="49" charset="-122"/>
              </a:rPr>
              <a:t>焦距不变，探测器靶面大小越大，视场角越大</a:t>
            </a:r>
            <a:endParaRPr lang="en-US" altLang="zh-CN" sz="2400" dirty="0" smtClean="0">
              <a:latin typeface="仿宋" panose="02010609060101010101" pitchFamily="49" charset="-122"/>
              <a:ea typeface="仿宋" panose="02010609060101010101" pitchFamily="49" charset="-122"/>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t>
            </a:r>
            <a:r>
              <a:rPr lang="zh-CN" altLang="en-US" dirty="0" smtClean="0"/>
              <a:t>数</a:t>
            </a:r>
            <a:endParaRPr lang="zh-CN" altLang="en-US" dirty="0"/>
          </a:p>
        </p:txBody>
      </p:sp>
      <p:sp>
        <p:nvSpPr>
          <p:cNvPr id="4" name="TextBox 3"/>
          <p:cNvSpPr txBox="1"/>
          <p:nvPr/>
        </p:nvSpPr>
        <p:spPr>
          <a:xfrm>
            <a:off x="719386" y="929274"/>
            <a:ext cx="11737304" cy="2400657"/>
          </a:xfrm>
          <a:prstGeom prst="rect">
            <a:avLst/>
          </a:prstGeom>
          <a:noFill/>
        </p:spPr>
        <p:txBody>
          <a:bodyPr wrap="square" rtlCol="0">
            <a:spAutoFit/>
          </a:bodyPr>
          <a:lstStyle/>
          <a:p>
            <a:pPr indent="-342900">
              <a:lnSpc>
                <a:spcPct val="150000"/>
              </a:lnSpc>
              <a:buFont typeface="Arial" panose="020B0604020202020204" pitchFamily="34" charset="0"/>
              <a:buChar char="•"/>
            </a:pPr>
            <a:r>
              <a:rPr lang="zh-CN" altLang="en-US" sz="2000" dirty="0" smtClean="0">
                <a:latin typeface="仿宋" panose="02010609060101010101" pitchFamily="49" charset="-122"/>
                <a:ea typeface="仿宋" panose="02010609060101010101" pitchFamily="49" charset="-122"/>
              </a:rPr>
              <a:t>光学</a:t>
            </a:r>
            <a:r>
              <a:rPr lang="zh-CN" altLang="en-US" sz="2000" dirty="0">
                <a:latin typeface="仿宋" panose="02010609060101010101" pitchFamily="49" charset="-122"/>
                <a:ea typeface="仿宋" panose="02010609060101010101" pitchFamily="49" charset="-122"/>
              </a:rPr>
              <a:t>系统的通光孔径与其焦距的比值(</a:t>
            </a:r>
            <a:r>
              <a:rPr lang="en-US" altLang="zh-CN" sz="2000" dirty="0" smtClean="0">
                <a:latin typeface="仿宋" panose="02010609060101010101" pitchFamily="49" charset="-122"/>
                <a:ea typeface="仿宋" panose="02010609060101010101" pitchFamily="49" charset="-122"/>
              </a:rPr>
              <a:t>D/ƒ′)</a:t>
            </a:r>
            <a:r>
              <a:rPr lang="zh-CN" altLang="en-US" sz="2000" dirty="0">
                <a:latin typeface="仿宋" panose="02010609060101010101" pitchFamily="49" charset="-122"/>
                <a:ea typeface="仿宋" panose="02010609060101010101" pitchFamily="49" charset="-122"/>
              </a:rPr>
              <a:t>称为</a:t>
            </a:r>
            <a:r>
              <a:rPr lang="zh-CN" altLang="en-US" sz="2000" b="1" dirty="0" smtClean="0">
                <a:solidFill>
                  <a:schemeClr val="accent5"/>
                </a:solidFill>
                <a:latin typeface="仿宋" panose="02010609060101010101" pitchFamily="49" charset="-122"/>
                <a:ea typeface="仿宋" panose="02010609060101010101" pitchFamily="49" charset="-122"/>
              </a:rPr>
              <a:t>相对孔径</a:t>
            </a:r>
            <a:r>
              <a:rPr lang="zh-CN" altLang="en-US" sz="2000" dirty="0" smtClean="0">
                <a:latin typeface="仿宋" panose="02010609060101010101" pitchFamily="49" charset="-122"/>
                <a:ea typeface="仿宋" panose="02010609060101010101" pitchFamily="49" charset="-122"/>
              </a:rPr>
              <a:t>，相对孔径</a:t>
            </a:r>
            <a:r>
              <a:rPr lang="zh-CN" altLang="en-US" sz="2000" dirty="0">
                <a:latin typeface="仿宋" panose="02010609060101010101" pitchFamily="49" charset="-122"/>
                <a:ea typeface="仿宋" panose="02010609060101010101" pitchFamily="49" charset="-122"/>
              </a:rPr>
              <a:t>的大小表示</a:t>
            </a:r>
            <a:r>
              <a:rPr lang="zh-CN" altLang="en-US" sz="2000" dirty="0" smtClean="0">
                <a:latin typeface="仿宋" panose="02010609060101010101" pitchFamily="49" charset="-122"/>
                <a:ea typeface="仿宋" panose="02010609060101010101" pitchFamily="49" charset="-122"/>
              </a:rPr>
              <a:t>镜头进光量的</a:t>
            </a:r>
            <a:r>
              <a:rPr lang="zh-CN" altLang="en-US" sz="2000" dirty="0">
                <a:latin typeface="仿宋" panose="02010609060101010101" pitchFamily="49" charset="-122"/>
                <a:ea typeface="仿宋" panose="02010609060101010101" pitchFamily="49" charset="-122"/>
              </a:rPr>
              <a:t>多少</a:t>
            </a:r>
            <a:r>
              <a:rPr lang="zh-CN" altLang="en-US" sz="2000" dirty="0" smtClean="0">
                <a:latin typeface="仿宋" panose="02010609060101010101" pitchFamily="49" charset="-122"/>
                <a:ea typeface="仿宋" panose="02010609060101010101" pitchFamily="49" charset="-122"/>
              </a:rPr>
              <a:t>。</a:t>
            </a:r>
            <a:endParaRPr lang="en-US" altLang="zh-CN" sz="2000" dirty="0" smtClean="0">
              <a:latin typeface="仿宋" panose="02010609060101010101" pitchFamily="49" charset="-122"/>
              <a:ea typeface="仿宋" panose="02010609060101010101" pitchFamily="49" charset="-122"/>
            </a:endParaRPr>
          </a:p>
          <a:p>
            <a:pPr indent="-342900">
              <a:lnSpc>
                <a:spcPct val="150000"/>
              </a:lnSpc>
              <a:buFont typeface="Arial" panose="020B0604020202020204" pitchFamily="34" charset="0"/>
              <a:buChar char="•"/>
            </a:pPr>
            <a:r>
              <a:rPr lang="zh-CN" altLang="en-US" sz="2000" dirty="0" smtClean="0">
                <a:latin typeface="仿宋" panose="02010609060101010101" pitchFamily="49" charset="-122"/>
                <a:ea typeface="仿宋" panose="02010609060101010101" pitchFamily="49" charset="-122"/>
              </a:rPr>
              <a:t>相对孔径</a:t>
            </a:r>
            <a:r>
              <a:rPr lang="zh-CN" altLang="en-US" sz="2000" dirty="0">
                <a:latin typeface="仿宋" panose="02010609060101010101" pitchFamily="49" charset="-122"/>
                <a:ea typeface="仿宋" panose="02010609060101010101" pitchFamily="49" charset="-122"/>
              </a:rPr>
              <a:t>的倒数</a:t>
            </a:r>
            <a:r>
              <a:rPr lang="zh-CN" altLang="en-US" sz="2000" dirty="0" smtClean="0">
                <a:latin typeface="仿宋" panose="02010609060101010101" pitchFamily="49" charset="-122"/>
                <a:ea typeface="仿宋" panose="02010609060101010101" pitchFamily="49" charset="-122"/>
              </a:rPr>
              <a:t>称</a:t>
            </a:r>
            <a:r>
              <a:rPr lang="zh-CN" altLang="en-US" sz="2000" b="1" dirty="0" smtClean="0">
                <a:solidFill>
                  <a:schemeClr val="accent5"/>
                </a:solidFill>
                <a:latin typeface="仿宋" panose="02010609060101010101" pitchFamily="49" charset="-122"/>
                <a:ea typeface="仿宋" panose="02010609060101010101" pitchFamily="49" charset="-122"/>
              </a:rPr>
              <a:t>光圈</a:t>
            </a:r>
            <a:r>
              <a:rPr lang="en-US" altLang="zh-CN" sz="2000" b="1" dirty="0" smtClean="0">
                <a:solidFill>
                  <a:schemeClr val="accent5"/>
                </a:solidFill>
                <a:latin typeface="仿宋" panose="02010609060101010101" pitchFamily="49" charset="-122"/>
                <a:ea typeface="仿宋" panose="02010609060101010101" pitchFamily="49" charset="-122"/>
              </a:rPr>
              <a:t>F</a:t>
            </a:r>
            <a:r>
              <a:rPr lang="zh-CN" altLang="en-US" sz="2000" b="1" dirty="0" smtClean="0">
                <a:solidFill>
                  <a:schemeClr val="accent5"/>
                </a:solidFill>
                <a:latin typeface="仿宋" panose="02010609060101010101" pitchFamily="49" charset="-122"/>
                <a:ea typeface="仿宋" panose="02010609060101010101" pitchFamily="49" charset="-122"/>
              </a:rPr>
              <a:t>数</a:t>
            </a:r>
            <a:r>
              <a:rPr lang="zh-CN" altLang="en-US" sz="2000" dirty="0" smtClean="0">
                <a:latin typeface="仿宋" panose="02010609060101010101" pitchFamily="49" charset="-122"/>
                <a:ea typeface="仿宋" panose="02010609060101010101" pitchFamily="49" charset="-122"/>
              </a:rPr>
              <a:t>。</a:t>
            </a:r>
            <a:endParaRPr lang="en-US" altLang="zh-CN" sz="2000" dirty="0" smtClean="0">
              <a:latin typeface="仿宋" panose="02010609060101010101" pitchFamily="49" charset="-122"/>
              <a:ea typeface="仿宋" panose="02010609060101010101" pitchFamily="49" charset="-122"/>
            </a:endParaRPr>
          </a:p>
          <a:p>
            <a:pPr indent="-342900">
              <a:lnSpc>
                <a:spcPct val="150000"/>
              </a:lnSpc>
              <a:buFont typeface="Arial" panose="020B0604020202020204" pitchFamily="34" charset="0"/>
              <a:buChar char="•"/>
            </a:pPr>
            <a:r>
              <a:rPr lang="zh-CN" altLang="en-US" sz="2000" b="1" dirty="0" smtClean="0">
                <a:solidFill>
                  <a:schemeClr val="accent5"/>
                </a:solidFill>
                <a:latin typeface="仿宋" panose="02010609060101010101" pitchFamily="49" charset="-122"/>
                <a:ea typeface="仿宋" panose="02010609060101010101" pitchFamily="49" charset="-122"/>
              </a:rPr>
              <a:t>相对孔径</a:t>
            </a:r>
            <a:r>
              <a:rPr lang="en-US" altLang="zh-CN" sz="2000" b="1" dirty="0" smtClean="0">
                <a:solidFill>
                  <a:schemeClr val="accent5"/>
                </a:solidFill>
                <a:latin typeface="仿宋" panose="02010609060101010101" pitchFamily="49" charset="-122"/>
                <a:ea typeface="仿宋" panose="02010609060101010101" pitchFamily="49" charset="-122"/>
              </a:rPr>
              <a:t>D/</a:t>
            </a:r>
            <a:r>
              <a:rPr lang="en-US" altLang="zh-CN" sz="2000" b="1" dirty="0">
                <a:solidFill>
                  <a:schemeClr val="accent5"/>
                </a:solidFill>
                <a:latin typeface="仿宋" panose="02010609060101010101" pitchFamily="49" charset="-122"/>
                <a:ea typeface="仿宋" panose="02010609060101010101" pitchFamily="49" charset="-122"/>
              </a:rPr>
              <a:t>ƒ</a:t>
            </a:r>
            <a:r>
              <a:rPr lang="en-US" altLang="zh-CN" sz="2000" b="1" dirty="0" smtClean="0">
                <a:solidFill>
                  <a:schemeClr val="accent5"/>
                </a:solidFill>
                <a:latin typeface="仿宋" panose="02010609060101010101" pitchFamily="49" charset="-122"/>
                <a:ea typeface="仿宋" panose="02010609060101010101" pitchFamily="49" charset="-122"/>
              </a:rPr>
              <a:t>′=1/F</a:t>
            </a:r>
            <a:r>
              <a:rPr lang="zh-CN" altLang="en-US" sz="2000" b="1" dirty="0" smtClean="0">
                <a:solidFill>
                  <a:schemeClr val="accent5"/>
                </a:solidFill>
                <a:latin typeface="仿宋" panose="02010609060101010101" pitchFamily="49" charset="-122"/>
                <a:ea typeface="仿宋" panose="02010609060101010101" pitchFamily="49" charset="-122"/>
              </a:rPr>
              <a:t>数</a:t>
            </a:r>
            <a:endParaRPr lang="en-US" altLang="zh-CN" sz="2000" b="1" dirty="0" smtClean="0">
              <a:solidFill>
                <a:schemeClr val="accent5"/>
              </a:solidFill>
              <a:latin typeface="仿宋" panose="02010609060101010101" pitchFamily="49" charset="-122"/>
              <a:ea typeface="仿宋" panose="02010609060101010101" pitchFamily="49" charset="-122"/>
            </a:endParaRPr>
          </a:p>
          <a:p>
            <a:pPr>
              <a:lnSpc>
                <a:spcPct val="150000"/>
              </a:lnSpc>
            </a:pPr>
            <a:r>
              <a:rPr lang="en-US" altLang="zh-CN" sz="2000" dirty="0" smtClean="0">
                <a:latin typeface="仿宋" panose="02010609060101010101" pitchFamily="49" charset="-122"/>
                <a:ea typeface="仿宋" panose="02010609060101010101" pitchFamily="49" charset="-122"/>
              </a:rPr>
              <a:t>   ƒ′</a:t>
            </a:r>
            <a:r>
              <a:rPr lang="zh-CN" altLang="en-US" sz="2000" dirty="0" smtClean="0">
                <a:latin typeface="仿宋" panose="02010609060101010101" pitchFamily="49" charset="-122"/>
                <a:ea typeface="仿宋" panose="02010609060101010101" pitchFamily="49" charset="-122"/>
              </a:rPr>
              <a:t>：</a:t>
            </a:r>
            <a:r>
              <a:rPr lang="zh-CN" altLang="en-US" sz="2000" dirty="0">
                <a:latin typeface="仿宋" panose="02010609060101010101" pitchFamily="49" charset="-122"/>
                <a:ea typeface="仿宋" panose="02010609060101010101" pitchFamily="49" charset="-122"/>
              </a:rPr>
              <a:t>光学系统的焦距</a:t>
            </a:r>
            <a:endParaRPr lang="zh-CN" altLang="en-US" sz="2000" dirty="0">
              <a:latin typeface="仿宋" panose="02010609060101010101" pitchFamily="49" charset="-122"/>
              <a:ea typeface="仿宋" panose="02010609060101010101" pitchFamily="49" charset="-122"/>
            </a:endParaRPr>
          </a:p>
          <a:p>
            <a:pPr>
              <a:lnSpc>
                <a:spcPct val="150000"/>
              </a:lnSpc>
              <a:buFont typeface="Wingdings" panose="05000000000000000000" pitchFamily="2" charset="2"/>
              <a:buNone/>
            </a:pPr>
            <a:r>
              <a:rPr lang="en-US" altLang="zh-CN" sz="2000" dirty="0" smtClean="0">
                <a:latin typeface="仿宋" panose="02010609060101010101" pitchFamily="49" charset="-122"/>
                <a:ea typeface="仿宋" panose="02010609060101010101" pitchFamily="49" charset="-122"/>
              </a:rPr>
              <a:t>   D  </a:t>
            </a:r>
            <a:r>
              <a:rPr lang="zh-CN" altLang="en-US" sz="2000" dirty="0" smtClean="0">
                <a:latin typeface="仿宋" panose="02010609060101010101" pitchFamily="49" charset="-122"/>
                <a:ea typeface="仿宋" panose="02010609060101010101" pitchFamily="49" charset="-122"/>
              </a:rPr>
              <a:t>：光学</a:t>
            </a:r>
            <a:r>
              <a:rPr lang="zh-CN" altLang="en-US" sz="2000" dirty="0">
                <a:latin typeface="仿宋" panose="02010609060101010101" pitchFamily="49" charset="-122"/>
                <a:ea typeface="仿宋" panose="02010609060101010101" pitchFamily="49" charset="-122"/>
              </a:rPr>
              <a:t>系统的入瞳直径，</a:t>
            </a:r>
            <a:r>
              <a:rPr lang="zh-CN" altLang="en-US" sz="2000" b="1" dirty="0">
                <a:solidFill>
                  <a:schemeClr val="accent5"/>
                </a:solidFill>
                <a:latin typeface="仿宋" panose="02010609060101010101" pitchFamily="49" charset="-122"/>
                <a:ea typeface="仿宋" panose="02010609060101010101" pitchFamily="49" charset="-122"/>
              </a:rPr>
              <a:t>而不一定是第一透镜的直径</a:t>
            </a:r>
            <a:r>
              <a:rPr lang="zh-CN" altLang="en-US" sz="2000" b="1" dirty="0" smtClean="0">
                <a:solidFill>
                  <a:schemeClr val="accent5"/>
                </a:solidFill>
                <a:latin typeface="仿宋" panose="02010609060101010101" pitchFamily="49" charset="-122"/>
                <a:ea typeface="仿宋" panose="02010609060101010101" pitchFamily="49" charset="-122"/>
              </a:rPr>
              <a:t>。 </a:t>
            </a:r>
            <a:endParaRPr lang="en-US" altLang="zh-CN" sz="2000" b="1" dirty="0">
              <a:solidFill>
                <a:schemeClr val="accent5"/>
              </a:solidFill>
              <a:latin typeface="仿宋" panose="02010609060101010101" pitchFamily="49" charset="-122"/>
              <a:ea typeface="仿宋" panose="02010609060101010101" pitchFamily="49" charset="-122"/>
            </a:endParaRPr>
          </a:p>
        </p:txBody>
      </p:sp>
      <p:sp>
        <p:nvSpPr>
          <p:cNvPr id="3" name="TextBox 2"/>
          <p:cNvSpPr txBox="1"/>
          <p:nvPr/>
        </p:nvSpPr>
        <p:spPr>
          <a:xfrm>
            <a:off x="947717" y="4767887"/>
            <a:ext cx="3608680" cy="1477328"/>
          </a:xfrm>
          <a:prstGeom prst="rect">
            <a:avLst/>
          </a:prstGeom>
          <a:noFill/>
        </p:spPr>
        <p:txBody>
          <a:bodyPr wrap="none" rtlCol="0">
            <a:spAutoFit/>
          </a:bodyPr>
          <a:lstStyle/>
          <a:p>
            <a:pPr marL="342900" indent="-342900">
              <a:lnSpc>
                <a:spcPct val="150000"/>
              </a:lnSpc>
              <a:buFont typeface="Wingdings" panose="05000000000000000000" pitchFamily="2" charset="2"/>
              <a:buChar char="Ø"/>
            </a:pPr>
            <a:r>
              <a:rPr lang="zh-CN" altLang="en-US" sz="2000" dirty="0">
                <a:latin typeface="仿宋" panose="02010609060101010101" pitchFamily="49" charset="-122"/>
                <a:ea typeface="仿宋" panose="02010609060101010101" pitchFamily="49" charset="-122"/>
              </a:rPr>
              <a:t>像方</a:t>
            </a:r>
            <a:r>
              <a:rPr lang="en-US" altLang="zh-CN" sz="2000" dirty="0">
                <a:latin typeface="仿宋" panose="02010609060101010101" pitchFamily="49" charset="-122"/>
                <a:ea typeface="仿宋" panose="02010609060101010101" pitchFamily="49" charset="-122"/>
              </a:rPr>
              <a:t>F</a:t>
            </a:r>
            <a:r>
              <a:rPr lang="zh-CN" altLang="en-US" sz="2000" dirty="0">
                <a:latin typeface="仿宋" panose="02010609060101010101" pitchFamily="49" charset="-122"/>
                <a:ea typeface="仿宋" panose="02010609060101010101" pitchFamily="49" charset="-122"/>
              </a:rPr>
              <a:t>数</a:t>
            </a:r>
            <a:r>
              <a:rPr lang="zh-CN" altLang="en-US" sz="2000" dirty="0" smtClean="0">
                <a:latin typeface="仿宋" panose="02010609060101010101" pitchFamily="49" charset="-122"/>
                <a:ea typeface="仿宋" panose="02010609060101010101" pitchFamily="49" charset="-122"/>
              </a:rPr>
              <a:t>：</a:t>
            </a:r>
            <a:r>
              <a:rPr lang="en-US" altLang="zh-CN" sz="2000" dirty="0" smtClean="0">
                <a:latin typeface="仿宋" panose="02010609060101010101" pitchFamily="49" charset="-122"/>
                <a:ea typeface="仿宋" panose="02010609060101010101" pitchFamily="49" charset="-122"/>
              </a:rPr>
              <a:t>F#=ƒ</a:t>
            </a:r>
            <a:r>
              <a:rPr lang="en-US" altLang="zh-CN" sz="2000" dirty="0">
                <a:latin typeface="仿宋" panose="02010609060101010101" pitchFamily="49" charset="-122"/>
                <a:ea typeface="仿宋" panose="02010609060101010101" pitchFamily="49" charset="-122"/>
              </a:rPr>
              <a:t>′/</a:t>
            </a:r>
            <a:r>
              <a:rPr lang="en-US" altLang="zh-CN" sz="2000" dirty="0" smtClean="0">
                <a:latin typeface="仿宋" panose="02010609060101010101" pitchFamily="49" charset="-122"/>
                <a:ea typeface="仿宋" panose="02010609060101010101" pitchFamily="49" charset="-122"/>
              </a:rPr>
              <a:t>D</a:t>
            </a:r>
            <a:endParaRPr lang="en-US" altLang="zh-CN" sz="20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000" dirty="0" smtClean="0">
                <a:latin typeface="仿宋" panose="02010609060101010101" pitchFamily="49" charset="-122"/>
                <a:ea typeface="仿宋" panose="02010609060101010101" pitchFamily="49" charset="-122"/>
              </a:rPr>
              <a:t>近轴工作</a:t>
            </a:r>
            <a:r>
              <a:rPr lang="en-US" altLang="zh-CN" sz="2000" dirty="0" smtClean="0">
                <a:latin typeface="仿宋" panose="02010609060101010101" pitchFamily="49" charset="-122"/>
                <a:ea typeface="仿宋" panose="02010609060101010101" pitchFamily="49" charset="-122"/>
              </a:rPr>
              <a:t>F</a:t>
            </a:r>
            <a:r>
              <a:rPr lang="zh-CN" altLang="en-US" sz="2000" dirty="0" smtClean="0">
                <a:latin typeface="仿宋" panose="02010609060101010101" pitchFamily="49" charset="-122"/>
                <a:ea typeface="仿宋" panose="02010609060101010101" pitchFamily="49" charset="-122"/>
              </a:rPr>
              <a:t>数：</a:t>
            </a:r>
            <a:r>
              <a:rPr lang="en-US" altLang="zh-CN" sz="2000" dirty="0" smtClean="0">
                <a:latin typeface="仿宋" panose="02010609060101010101" pitchFamily="49" charset="-122"/>
                <a:ea typeface="仿宋" panose="02010609060101010101" pitchFamily="49" charset="-122"/>
              </a:rPr>
              <a:t>F=1/2ntanθ</a:t>
            </a:r>
            <a:endParaRPr lang="en-US" altLang="zh-CN" sz="20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000" dirty="0" smtClean="0">
                <a:latin typeface="仿宋" panose="02010609060101010101" pitchFamily="49" charset="-122"/>
                <a:ea typeface="仿宋" panose="02010609060101010101" pitchFamily="49" charset="-122"/>
              </a:rPr>
              <a:t>工作</a:t>
            </a:r>
            <a:r>
              <a:rPr lang="en-US" altLang="zh-CN" sz="2000" dirty="0" smtClean="0">
                <a:latin typeface="仿宋" panose="02010609060101010101" pitchFamily="49" charset="-122"/>
                <a:ea typeface="仿宋" panose="02010609060101010101" pitchFamily="49" charset="-122"/>
              </a:rPr>
              <a:t>F</a:t>
            </a:r>
            <a:r>
              <a:rPr lang="zh-CN" altLang="en-US" sz="2000" dirty="0" smtClean="0">
                <a:latin typeface="仿宋" panose="02010609060101010101" pitchFamily="49" charset="-122"/>
                <a:ea typeface="仿宋" panose="02010609060101010101" pitchFamily="49" charset="-122"/>
              </a:rPr>
              <a:t>数：</a:t>
            </a:r>
            <a:r>
              <a:rPr lang="en-US" altLang="zh-CN" sz="2000" dirty="0" smtClean="0">
                <a:latin typeface="仿宋" panose="02010609060101010101" pitchFamily="49" charset="-122"/>
                <a:ea typeface="仿宋" panose="02010609060101010101" pitchFamily="49" charset="-122"/>
              </a:rPr>
              <a:t>F=1/2nsinθ</a:t>
            </a:r>
            <a:endParaRPr lang="zh-CN" altLang="en-US" sz="2000" dirty="0">
              <a:latin typeface="仿宋" panose="02010609060101010101" pitchFamily="49" charset="-122"/>
              <a:ea typeface="仿宋" panose="02010609060101010101" pitchFamily="49" charset="-122"/>
            </a:endParaRPr>
          </a:p>
        </p:txBody>
      </p:sp>
      <p:pic>
        <p:nvPicPr>
          <p:cNvPr id="4427" name="Picture 33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39866" y="3833688"/>
            <a:ext cx="6330612" cy="360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图片 5"/>
          <p:cNvPicPr>
            <a:picLocks noChangeAspect="1"/>
          </p:cNvPicPr>
          <p:nvPr/>
        </p:nvPicPr>
        <p:blipFill>
          <a:blip r:embed="rId2"/>
          <a:stretch>
            <a:fillRect/>
          </a:stretch>
        </p:blipFill>
        <p:spPr>
          <a:xfrm>
            <a:off x="8483003" y="1601440"/>
            <a:ext cx="4283745" cy="1878453"/>
          </a:xfrm>
          <a:prstGeom prst="rect">
            <a:avLst/>
          </a:prstGeom>
        </p:spPr>
      </p:pic>
      <p:sp>
        <p:nvSpPr>
          <p:cNvPr id="5" name="矩形 4"/>
          <p:cNvSpPr/>
          <p:nvPr/>
        </p:nvSpPr>
        <p:spPr>
          <a:xfrm>
            <a:off x="8639573" y="3445640"/>
            <a:ext cx="4249165" cy="369332"/>
          </a:xfrm>
          <a:prstGeom prst="rect">
            <a:avLst/>
          </a:prstGeom>
        </p:spPr>
        <p:txBody>
          <a:bodyPr wrap="square">
            <a:spAutoFit/>
          </a:bodyPr>
          <a:lstStyle/>
          <a:p>
            <a:r>
              <a:rPr lang="zh-CN" altLang="en-US" sz="1800" kern="0">
                <a:solidFill>
                  <a:srgbClr val="FF0000"/>
                </a:solidFill>
                <a:latin typeface="华文楷体" panose="02010600040101010101" pitchFamily="2" charset="-122"/>
                <a:ea typeface="华文楷体" panose="02010600040101010101" pitchFamily="2" charset="-122"/>
              </a:rPr>
              <a:t>入瞳直径为孔径光阑在物空间所成的像。</a:t>
            </a:r>
            <a:endParaRPr lang="zh-CN" altLang="en-US" sz="1800">
              <a:solidFill>
                <a:srgbClr val="FF0000"/>
              </a:solidFill>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a:t>
            </a:r>
            <a:r>
              <a:rPr lang="zh-CN" altLang="en-US" dirty="0" smtClean="0"/>
              <a:t>数</a:t>
            </a:r>
            <a:endParaRPr lang="zh-CN" altLang="en-US" dirty="0"/>
          </a:p>
        </p:txBody>
      </p:sp>
      <mc:AlternateContent xmlns:mc="http://schemas.openxmlformats.org/markup-compatibility/2006">
        <mc:Choice xmlns:a14="http://schemas.microsoft.com/office/drawing/2010/main" Requires="a14">
          <p:sp>
            <p:nvSpPr>
              <p:cNvPr id="6" name="文本框 5"/>
              <p:cNvSpPr txBox="1"/>
              <p:nvPr/>
            </p:nvSpPr>
            <p:spPr>
              <a:xfrm>
                <a:off x="2807618" y="1097384"/>
                <a:ext cx="8928992" cy="5283241"/>
              </a:xfrm>
              <a:prstGeom prst="rect">
                <a:avLst/>
              </a:prstGeom>
              <a:noFill/>
            </p:spPr>
            <p:txBody>
              <a:bodyPr wrap="square" rtlCol="0">
                <a:spAutoFit/>
              </a:bodyPr>
              <a:lstStyle/>
              <a:p>
                <a:pPr marL="0" indent="539750">
                  <a:lnSpc>
                    <a:spcPct val="150000"/>
                  </a:lnSpc>
                  <a:buNone/>
                </a:pPr>
                <a:r>
                  <a:rPr lang="zh-CN" altLang="en-US" sz="3200" b="1" kern="0" dirty="0">
                    <a:solidFill>
                      <a:srgbClr val="FF0000"/>
                    </a:solidFill>
                    <a:latin typeface="华文楷体" panose="02010600040101010101" pitchFamily="2" charset="-122"/>
                    <a:ea typeface="华文楷体" panose="02010600040101010101" pitchFamily="2" charset="-122"/>
                  </a:rPr>
                  <a:t>为何红外系统要求</a:t>
                </a:r>
                <a:r>
                  <a:rPr lang="en-US" altLang="zh-CN" sz="3200" b="1" kern="0" dirty="0">
                    <a:solidFill>
                      <a:srgbClr val="FF0000"/>
                    </a:solidFill>
                    <a:latin typeface="华文楷体" panose="02010600040101010101" pitchFamily="2" charset="-122"/>
                    <a:ea typeface="华文楷体" panose="02010600040101010101" pitchFamily="2" charset="-122"/>
                  </a:rPr>
                  <a:t>F/#</a:t>
                </a:r>
                <a:r>
                  <a:rPr lang="zh-CN" altLang="en-US" sz="3200" b="1" kern="0" dirty="0">
                    <a:solidFill>
                      <a:srgbClr val="FF0000"/>
                    </a:solidFill>
                    <a:latin typeface="华文楷体" panose="02010600040101010101" pitchFamily="2" charset="-122"/>
                    <a:ea typeface="华文楷体" panose="02010600040101010101" pitchFamily="2" charset="-122"/>
                  </a:rPr>
                  <a:t>越小越好</a:t>
                </a:r>
                <a:r>
                  <a:rPr lang="zh-CN" altLang="en-US" sz="3200" b="1" kern="0" dirty="0" smtClean="0">
                    <a:solidFill>
                      <a:srgbClr val="FF0000"/>
                    </a:solidFill>
                    <a:latin typeface="华文楷体" panose="02010600040101010101" pitchFamily="2" charset="-122"/>
                    <a:ea typeface="华文楷体" panose="02010600040101010101" pitchFamily="2" charset="-122"/>
                  </a:rPr>
                  <a:t>？</a:t>
                </a:r>
                <a:endParaRPr lang="en-US" altLang="zh-CN" sz="3200" b="1" kern="0" dirty="0" smtClean="0">
                  <a:solidFill>
                    <a:srgbClr val="FF0000"/>
                  </a:solidFill>
                  <a:latin typeface="华文楷体" panose="02010600040101010101" pitchFamily="2" charset="-122"/>
                  <a:ea typeface="华文楷体" panose="02010600040101010101" pitchFamily="2" charset="-122"/>
                </a:endParaRPr>
              </a:p>
              <a:p>
                <a:pPr marL="0" indent="539750">
                  <a:lnSpc>
                    <a:spcPct val="150000"/>
                  </a:lnSpc>
                  <a:buNone/>
                </a:pPr>
                <a:endParaRPr lang="en-US" altLang="zh-CN" sz="3200" b="1" kern="0" dirty="0">
                  <a:solidFill>
                    <a:srgbClr val="FF0000"/>
                  </a:solidFill>
                  <a:latin typeface="华文楷体" panose="02010600040101010101" pitchFamily="2" charset="-122"/>
                  <a:ea typeface="华文楷体" panose="02010600040101010101" pitchFamily="2" charset="-122"/>
                </a:endParaRPr>
              </a:p>
              <a:p>
                <a:pPr marL="0" indent="539750">
                  <a:spcBef>
                    <a:spcPts val="0"/>
                  </a:spcBef>
                  <a:buFontTx/>
                  <a:buNone/>
                </a:pPr>
                <a:r>
                  <a:rPr lang="zh-CN" altLang="en-US" kern="0" dirty="0">
                    <a:latin typeface="华文楷体" panose="02010600040101010101" pitchFamily="2" charset="-122"/>
                    <a:ea typeface="华文楷体" panose="02010600040101010101" pitchFamily="2" charset="-122"/>
                  </a:rPr>
                  <a:t>红外系统的信噪比</a:t>
                </a:r>
                <a:r>
                  <a:rPr lang="en-US" altLang="zh-CN" kern="0" dirty="0">
                    <a:latin typeface="华文楷体" panose="02010600040101010101" pitchFamily="2" charset="-122"/>
                    <a:ea typeface="华文楷体" panose="02010600040101010101" pitchFamily="2" charset="-122"/>
                  </a:rPr>
                  <a:t>:   </a:t>
                </a:r>
                <a14:m>
                  <m:oMath xmlns:m="http://schemas.openxmlformats.org/officeDocument/2006/math">
                    <m:f>
                      <m:fPr>
                        <m:type m:val="lin"/>
                        <m:ctrlPr>
                          <a:rPr lang="en-US" altLang="zh-CN" i="1" kern="0">
                            <a:latin typeface="Cambria Math" panose="02040503050406030204" pitchFamily="18" charset="0"/>
                            <a:ea typeface="华文楷体" panose="02010600040101010101" pitchFamily="2" charset="-122"/>
                          </a:rPr>
                        </m:ctrlPr>
                      </m:fPr>
                      <m:num>
                        <m:r>
                          <a:rPr lang="en-US" altLang="zh-CN" kern="0">
                            <a:latin typeface="Cambria Math" panose="02040503050406030204" pitchFamily="18" charset="0"/>
                            <a:ea typeface="华文楷体" panose="02010600040101010101" pitchFamily="2" charset="-122"/>
                          </a:rPr>
                          <m:t>𝑆</m:t>
                        </m:r>
                      </m:num>
                      <m:den>
                        <m:r>
                          <a:rPr lang="en-US" altLang="zh-CN" kern="0">
                            <a:latin typeface="Cambria Math" panose="02040503050406030204" pitchFamily="18" charset="0"/>
                            <a:ea typeface="华文楷体" panose="02010600040101010101" pitchFamily="2" charset="-122"/>
                          </a:rPr>
                          <m:t>𝑁</m:t>
                        </m:r>
                      </m:den>
                    </m:f>
                    <m:r>
                      <a:rPr lang="en-US" altLang="zh-CN" kern="0">
                        <a:latin typeface="Cambria Math" panose="02040503050406030204" pitchFamily="18" charset="0"/>
                        <a:ea typeface="华文楷体" panose="02010600040101010101" pitchFamily="2" charset="-122"/>
                      </a:rPr>
                      <m:t>=</m:t>
                    </m:r>
                    <m:d>
                      <m:dPr>
                        <m:ctrlPr>
                          <a:rPr lang="en-US" altLang="zh-CN" i="1" kern="0">
                            <a:latin typeface="Cambria Math" panose="02040503050406030204" pitchFamily="18" charset="0"/>
                            <a:ea typeface="华文楷体" panose="02010600040101010101" pitchFamily="2" charset="-122"/>
                          </a:rPr>
                        </m:ctrlPr>
                      </m:dPr>
                      <m:e>
                        <m:sSub>
                          <m:sSubPr>
                            <m:ctrlPr>
                              <a:rPr lang="en-US" altLang="zh-CN" i="1" kern="0">
                                <a:latin typeface="Cambria Math" panose="02040503050406030204" pitchFamily="18" charset="0"/>
                                <a:ea typeface="华文楷体" panose="02010600040101010101" pitchFamily="2" charset="-122"/>
                              </a:rPr>
                            </m:ctrlPr>
                          </m:sSubPr>
                          <m:e>
                            <m:r>
                              <a:rPr lang="en-US" altLang="zh-CN" kern="0">
                                <a:latin typeface="Cambria Math" panose="02040503050406030204" pitchFamily="18" charset="0"/>
                                <a:ea typeface="华文楷体" panose="02010600040101010101" pitchFamily="2" charset="-122"/>
                              </a:rPr>
                              <m:t>𝑊</m:t>
                            </m:r>
                          </m:e>
                          <m:sub>
                            <m:r>
                              <a:rPr lang="en-US" altLang="zh-CN" kern="0">
                                <a:latin typeface="Cambria Math" panose="02040503050406030204" pitchFamily="18" charset="0"/>
                                <a:ea typeface="华文楷体" panose="02010600040101010101" pitchFamily="2" charset="-122"/>
                              </a:rPr>
                              <m:t>𝑇</m:t>
                            </m:r>
                          </m:sub>
                        </m:sSub>
                        <m:sSub>
                          <m:sSubPr>
                            <m:ctrlPr>
                              <a:rPr lang="en-US" altLang="zh-CN" i="1" kern="0">
                                <a:latin typeface="Cambria Math" panose="02040503050406030204" pitchFamily="18" charset="0"/>
                                <a:ea typeface="华文楷体" panose="02010600040101010101" pitchFamily="2" charset="-122"/>
                              </a:rPr>
                            </m:ctrlPr>
                          </m:sSubPr>
                          <m:e>
                            <m:r>
                              <a:rPr lang="zh-CN" altLang="en-US" kern="0">
                                <a:latin typeface="Cambria Math" panose="02040503050406030204" pitchFamily="18" charset="0"/>
                                <a:ea typeface="华文楷体" panose="02010600040101010101" pitchFamily="2" charset="-122"/>
                              </a:rPr>
                              <m:t>𝜀</m:t>
                            </m:r>
                          </m:e>
                          <m:sub>
                            <m:r>
                              <a:rPr lang="en-US" altLang="zh-CN" kern="0">
                                <a:latin typeface="Cambria Math" panose="02040503050406030204" pitchFamily="18" charset="0"/>
                                <a:ea typeface="华文楷体" panose="02010600040101010101" pitchFamily="2" charset="-122"/>
                              </a:rPr>
                              <m:t>𝑇</m:t>
                            </m:r>
                          </m:sub>
                        </m:sSub>
                        <m:r>
                          <a:rPr lang="en-US" altLang="zh-CN" kern="0">
                            <a:latin typeface="Cambria Math" panose="02040503050406030204" pitchFamily="18" charset="0"/>
                            <a:ea typeface="华文楷体" panose="02010600040101010101" pitchFamily="2" charset="-122"/>
                          </a:rPr>
                          <m:t>−</m:t>
                        </m:r>
                        <m:sSub>
                          <m:sSubPr>
                            <m:ctrlPr>
                              <a:rPr lang="en-US" altLang="zh-CN" i="1" kern="0">
                                <a:latin typeface="Cambria Math" panose="02040503050406030204" pitchFamily="18" charset="0"/>
                                <a:ea typeface="华文楷体" panose="02010600040101010101" pitchFamily="2" charset="-122"/>
                              </a:rPr>
                            </m:ctrlPr>
                          </m:sSubPr>
                          <m:e>
                            <m:r>
                              <a:rPr lang="en-US" altLang="zh-CN" kern="0">
                                <a:latin typeface="Cambria Math" panose="02040503050406030204" pitchFamily="18" charset="0"/>
                                <a:ea typeface="华文楷体" panose="02010600040101010101" pitchFamily="2" charset="-122"/>
                              </a:rPr>
                              <m:t>𝑊</m:t>
                            </m:r>
                          </m:e>
                          <m:sub>
                            <m:r>
                              <a:rPr lang="en-US" altLang="zh-CN" kern="0">
                                <a:latin typeface="Cambria Math" panose="02040503050406030204" pitchFamily="18" charset="0"/>
                                <a:ea typeface="华文楷体" panose="02010600040101010101" pitchFamily="2" charset="-122"/>
                              </a:rPr>
                              <m:t>𝐵</m:t>
                            </m:r>
                          </m:sub>
                        </m:sSub>
                        <m:sSub>
                          <m:sSubPr>
                            <m:ctrlPr>
                              <a:rPr lang="en-US" altLang="zh-CN" i="1" kern="0">
                                <a:latin typeface="Cambria Math" panose="02040503050406030204" pitchFamily="18" charset="0"/>
                                <a:ea typeface="华文楷体" panose="02010600040101010101" pitchFamily="2" charset="-122"/>
                              </a:rPr>
                            </m:ctrlPr>
                          </m:sSubPr>
                          <m:e>
                            <m:r>
                              <a:rPr lang="zh-CN" altLang="en-US" kern="0">
                                <a:latin typeface="Cambria Math" panose="02040503050406030204" pitchFamily="18" charset="0"/>
                                <a:ea typeface="华文楷体" panose="02010600040101010101" pitchFamily="2" charset="-122"/>
                              </a:rPr>
                              <m:t>𝜀</m:t>
                            </m:r>
                          </m:e>
                          <m:sub>
                            <m:r>
                              <a:rPr lang="en-US" altLang="zh-CN" kern="0">
                                <a:latin typeface="Cambria Math" panose="02040503050406030204" pitchFamily="18" charset="0"/>
                                <a:ea typeface="华文楷体" panose="02010600040101010101" pitchFamily="2" charset="-122"/>
                              </a:rPr>
                              <m:t>𝐵</m:t>
                            </m:r>
                          </m:sub>
                        </m:sSub>
                      </m:e>
                    </m:d>
                    <m:d>
                      <m:dPr>
                        <m:ctrlPr>
                          <a:rPr lang="en-US" altLang="zh-CN" i="1" kern="0">
                            <a:latin typeface="Cambria Math" panose="02040503050406030204" pitchFamily="18" charset="0"/>
                            <a:ea typeface="华文楷体" panose="02010600040101010101" pitchFamily="2" charset="-122"/>
                          </a:rPr>
                        </m:ctrlPr>
                      </m:dPr>
                      <m:e>
                        <m:r>
                          <a:rPr lang="zh-CN" altLang="en-US" kern="0">
                            <a:latin typeface="Cambria Math" panose="02040503050406030204" pitchFamily="18" charset="0"/>
                            <a:ea typeface="华文楷体" panose="02010600040101010101" pitchFamily="2" charset="-122"/>
                          </a:rPr>
                          <m:t>𝜏</m:t>
                        </m:r>
                      </m:e>
                    </m:d>
                    <m:d>
                      <m:dPr>
                        <m:ctrlPr>
                          <a:rPr lang="en-US" altLang="zh-CN" i="1" kern="0">
                            <a:latin typeface="Cambria Math" panose="02040503050406030204" pitchFamily="18" charset="0"/>
                            <a:ea typeface="华文楷体" panose="02010600040101010101" pitchFamily="2" charset="-122"/>
                          </a:rPr>
                        </m:ctrlPr>
                      </m:dPr>
                      <m:e>
                        <m:f>
                          <m:fPr>
                            <m:ctrlPr>
                              <a:rPr lang="en-US" altLang="zh-CN" i="1" kern="0">
                                <a:latin typeface="Cambria Math" panose="02040503050406030204" pitchFamily="18" charset="0"/>
                                <a:ea typeface="华文楷体" panose="02010600040101010101" pitchFamily="2" charset="-122"/>
                              </a:rPr>
                            </m:ctrlPr>
                          </m:fPr>
                          <m:num>
                            <m:sSup>
                              <m:sSupPr>
                                <m:ctrlPr>
                                  <a:rPr lang="en-US" altLang="zh-CN" i="1" kern="0">
                                    <a:latin typeface="Cambria Math" panose="02040503050406030204" pitchFamily="18" charset="0"/>
                                    <a:ea typeface="华文楷体" panose="02010600040101010101" pitchFamily="2" charset="-122"/>
                                  </a:rPr>
                                </m:ctrlPr>
                              </m:sSupPr>
                              <m:e>
                                <m:r>
                                  <a:rPr lang="en-US" altLang="zh-CN" kern="0">
                                    <a:latin typeface="Cambria Math" panose="02040503050406030204" pitchFamily="18" charset="0"/>
                                    <a:ea typeface="华文楷体" panose="02010600040101010101" pitchFamily="2" charset="-122"/>
                                  </a:rPr>
                                  <m:t>𝐷</m:t>
                                </m:r>
                              </m:e>
                              <m:sup>
                                <m:r>
                                  <a:rPr lang="en-US" altLang="zh-CN" kern="0">
                                    <a:latin typeface="Cambria Math" panose="02040503050406030204" pitchFamily="18" charset="0"/>
                                    <a:ea typeface="华文楷体" panose="02010600040101010101" pitchFamily="2" charset="-122"/>
                                  </a:rPr>
                                  <m:t>∗</m:t>
                                </m:r>
                              </m:sup>
                            </m:sSup>
                          </m:num>
                          <m:den>
                            <m:rad>
                              <m:radPr>
                                <m:degHide m:val="on"/>
                                <m:ctrlPr>
                                  <a:rPr lang="en-US" altLang="zh-CN" i="1" kern="0">
                                    <a:latin typeface="Cambria Math" panose="02040503050406030204" pitchFamily="18" charset="0"/>
                                    <a:ea typeface="华文楷体" panose="02010600040101010101" pitchFamily="2" charset="-122"/>
                                  </a:rPr>
                                </m:ctrlPr>
                              </m:radPr>
                              <m:deg/>
                              <m:e>
                                <m:r>
                                  <a:rPr lang="en-US" altLang="zh-CN" kern="0">
                                    <a:latin typeface="Cambria Math" panose="02040503050406030204" pitchFamily="18" charset="0"/>
                                    <a:ea typeface="华文楷体" panose="02010600040101010101" pitchFamily="2" charset="-122"/>
                                  </a:rPr>
                                  <m:t>∆</m:t>
                                </m:r>
                                <m:r>
                                  <a:rPr lang="en-US" altLang="zh-CN" kern="0">
                                    <a:latin typeface="Cambria Math" panose="02040503050406030204" pitchFamily="18" charset="0"/>
                                    <a:ea typeface="华文楷体" panose="02010600040101010101" pitchFamily="2" charset="-122"/>
                                  </a:rPr>
                                  <m:t>𝑓</m:t>
                                </m:r>
                              </m:e>
                            </m:rad>
                          </m:den>
                        </m:f>
                      </m:e>
                    </m:d>
                    <m:r>
                      <a:rPr lang="en-US" altLang="zh-CN" kern="0">
                        <a:latin typeface="Cambria Math" panose="02040503050406030204" pitchFamily="18" charset="0"/>
                        <a:ea typeface="华文楷体" panose="02010600040101010101" pitchFamily="2" charset="-122"/>
                      </a:rPr>
                      <m:t>[</m:t>
                    </m:r>
                    <m:f>
                      <m:fPr>
                        <m:ctrlPr>
                          <a:rPr lang="en-US" altLang="zh-CN" i="1" kern="0">
                            <a:latin typeface="Cambria Math" panose="02040503050406030204" pitchFamily="18" charset="0"/>
                            <a:ea typeface="华文楷体" panose="02010600040101010101" pitchFamily="2" charset="-122"/>
                          </a:rPr>
                        </m:ctrlPr>
                      </m:fPr>
                      <m:num>
                        <m:r>
                          <a:rPr lang="zh-CN" altLang="en-US" kern="0">
                            <a:latin typeface="Cambria Math" panose="02040503050406030204" pitchFamily="18" charset="0"/>
                            <a:ea typeface="华文楷体" panose="02010600040101010101" pitchFamily="2" charset="-122"/>
                          </a:rPr>
                          <m:t>𝜏</m:t>
                        </m:r>
                        <m:sSup>
                          <m:sSupPr>
                            <m:ctrlPr>
                              <a:rPr lang="en-US" altLang="zh-CN" i="1" kern="0">
                                <a:latin typeface="Cambria Math" panose="02040503050406030204" pitchFamily="18" charset="0"/>
                                <a:ea typeface="华文楷体" panose="02010600040101010101" pitchFamily="2" charset="-122"/>
                              </a:rPr>
                            </m:ctrlPr>
                          </m:sSupPr>
                          <m:e>
                            <m:r>
                              <a:rPr lang="en-US" altLang="zh-CN" kern="0">
                                <a:latin typeface="Cambria Math" panose="02040503050406030204" pitchFamily="18" charset="0"/>
                                <a:ea typeface="华文楷体" panose="02010600040101010101" pitchFamily="2" charset="-122"/>
                              </a:rPr>
                              <m:t>𝑑</m:t>
                            </m:r>
                          </m:e>
                          <m:sup>
                            <m:r>
                              <a:rPr lang="en-US" altLang="zh-CN" kern="0">
                                <a:latin typeface="Cambria Math" panose="02040503050406030204" pitchFamily="18" charset="0"/>
                                <a:ea typeface="华文楷体" panose="02010600040101010101" pitchFamily="2" charset="-122"/>
                              </a:rPr>
                              <m:t>′</m:t>
                            </m:r>
                          </m:sup>
                        </m:sSup>
                      </m:num>
                      <m:den>
                        <m:r>
                          <a:rPr lang="en-US" altLang="zh-CN" kern="0">
                            <a:latin typeface="Cambria Math" panose="02040503050406030204" pitchFamily="18" charset="0"/>
                            <a:ea typeface="华文楷体" panose="02010600040101010101" pitchFamily="2" charset="-122"/>
                          </a:rPr>
                          <m:t>4</m:t>
                        </m:r>
                        <m:sSup>
                          <m:sSupPr>
                            <m:ctrlPr>
                              <a:rPr lang="en-US" altLang="zh-CN" i="1" kern="0">
                                <a:latin typeface="Cambria Math" panose="02040503050406030204" pitchFamily="18" charset="0"/>
                                <a:ea typeface="华文楷体" panose="02010600040101010101" pitchFamily="2" charset="-122"/>
                              </a:rPr>
                            </m:ctrlPr>
                          </m:sSupPr>
                          <m:e>
                            <m:d>
                              <m:dPr>
                                <m:begChr m:val="（"/>
                                <m:endChr m:val="）"/>
                                <m:ctrlPr>
                                  <a:rPr lang="zh-CN" altLang="en-US" i="1" kern="0">
                                    <a:latin typeface="Cambria Math" panose="02040503050406030204" pitchFamily="18" charset="0"/>
                                    <a:ea typeface="华文楷体" panose="02010600040101010101" pitchFamily="2" charset="-122"/>
                                  </a:rPr>
                                </m:ctrlPr>
                              </m:dPr>
                              <m:e>
                                <m:f>
                                  <m:fPr>
                                    <m:type m:val="lin"/>
                                    <m:ctrlPr>
                                      <a:rPr lang="zh-CN" altLang="en-US" i="1" kern="0">
                                        <a:latin typeface="Cambria Math" panose="02040503050406030204" pitchFamily="18" charset="0"/>
                                        <a:ea typeface="华文楷体" panose="02010600040101010101" pitchFamily="2" charset="-122"/>
                                      </a:rPr>
                                    </m:ctrlPr>
                                  </m:fPr>
                                  <m:num>
                                    <m:r>
                                      <a:rPr lang="en-US" altLang="zh-CN" kern="0">
                                        <a:latin typeface="Cambria Math" panose="02040503050406030204" pitchFamily="18" charset="0"/>
                                        <a:ea typeface="华文楷体" panose="02010600040101010101" pitchFamily="2" charset="-122"/>
                                      </a:rPr>
                                      <m:t>𝐹</m:t>
                                    </m:r>
                                  </m:num>
                                  <m:den>
                                    <m:r>
                                      <a:rPr lang="en-US" altLang="zh-CN" kern="0">
                                        <a:latin typeface="Cambria Math" panose="02040503050406030204" pitchFamily="18" charset="0"/>
                                        <a:ea typeface="华文楷体" panose="02010600040101010101" pitchFamily="2" charset="-122"/>
                                      </a:rPr>
                                      <m:t>#</m:t>
                                    </m:r>
                                  </m:den>
                                </m:f>
                              </m:e>
                            </m:d>
                          </m:e>
                          <m:sup>
                            <m:r>
                              <a:rPr lang="en-US" altLang="zh-CN" kern="0">
                                <a:latin typeface="Cambria Math" panose="02040503050406030204" pitchFamily="18" charset="0"/>
                                <a:ea typeface="华文楷体" panose="02010600040101010101" pitchFamily="2" charset="-122"/>
                              </a:rPr>
                              <m:t>2</m:t>
                            </m:r>
                          </m:sup>
                        </m:sSup>
                      </m:den>
                    </m:f>
                    <m:r>
                      <a:rPr lang="en-US" altLang="zh-CN" kern="0">
                        <a:latin typeface="Cambria Math" panose="02040503050406030204" pitchFamily="18" charset="0"/>
                        <a:ea typeface="华文楷体" panose="02010600040101010101" pitchFamily="2" charset="-122"/>
                      </a:rPr>
                      <m:t>]</m:t>
                    </m:r>
                  </m:oMath>
                </a14:m>
                <a:endParaRPr lang="en-US" altLang="zh-CN" kern="0" dirty="0">
                  <a:latin typeface="华文楷体" panose="02010600040101010101" pitchFamily="2" charset="-122"/>
                  <a:ea typeface="华文楷体" panose="02010600040101010101" pitchFamily="2" charset="-122"/>
                </a:endParaRPr>
              </a:p>
              <a:p>
                <a:pPr marL="0" indent="539750">
                  <a:lnSpc>
                    <a:spcPct val="150000"/>
                  </a:lnSpc>
                  <a:buNone/>
                </a:pPr>
                <a:r>
                  <a:rPr lang="zh-CN" altLang="en-US" kern="0" dirty="0">
                    <a:latin typeface="华文楷体" panose="02010600040101010101" pitchFamily="2" charset="-122"/>
                    <a:ea typeface="华文楷体" panose="02010600040101010101" pitchFamily="2" charset="-122"/>
                  </a:rPr>
                  <a:t>式中</a:t>
                </a:r>
                <a14:m>
                  <m:oMath xmlns:m="http://schemas.openxmlformats.org/officeDocument/2006/math">
                    <m:r>
                      <a:rPr lang="zh-CN" altLang="en-US" kern="0">
                        <a:latin typeface="Cambria Math" panose="02040503050406030204" pitchFamily="18" charset="0"/>
                        <a:ea typeface="华文楷体" panose="02010600040101010101" pitchFamily="2" charset="-122"/>
                      </a:rPr>
                      <m:t>𝜀</m:t>
                    </m:r>
                  </m:oMath>
                </a14:m>
                <a:r>
                  <a:rPr lang="zh-CN" altLang="en-US" kern="0" dirty="0">
                    <a:latin typeface="华文楷体" panose="02010600040101010101" pitchFamily="2" charset="-122"/>
                    <a:ea typeface="华文楷体" panose="02010600040101010101" pitchFamily="2" charset="-122"/>
                  </a:rPr>
                  <a:t>为发射比，</a:t>
                </a:r>
                <a:r>
                  <a:rPr lang="en-US" altLang="zh-CN" kern="0" dirty="0">
                    <a:latin typeface="华文楷体" panose="02010600040101010101" pitchFamily="2" charset="-122"/>
                    <a:ea typeface="华文楷体" panose="02010600040101010101" pitchFamily="2" charset="-122"/>
                  </a:rPr>
                  <a:t>W</a:t>
                </a:r>
                <a:r>
                  <a:rPr lang="zh-CN" altLang="en-US" kern="0" dirty="0">
                    <a:latin typeface="华文楷体" panose="02010600040101010101" pitchFamily="2" charset="-122"/>
                    <a:ea typeface="华文楷体" panose="02010600040101010101" pitchFamily="2" charset="-122"/>
                  </a:rPr>
                  <a:t>为辐射出射度，</a:t>
                </a:r>
                <a14:m>
                  <m:oMath xmlns:m="http://schemas.openxmlformats.org/officeDocument/2006/math">
                    <m:sSub>
                      <m:sSubPr>
                        <m:ctrlPr>
                          <a:rPr lang="en-US" altLang="zh-CN" i="1" kern="0">
                            <a:latin typeface="Cambria Math" panose="02040503050406030204" pitchFamily="18" charset="0"/>
                            <a:ea typeface="华文楷体" panose="02010600040101010101" pitchFamily="2" charset="-122"/>
                          </a:rPr>
                        </m:ctrlPr>
                      </m:sSubPr>
                      <m:e>
                        <m:r>
                          <a:rPr lang="en-US" altLang="zh-CN" kern="0">
                            <a:latin typeface="Cambria Math" panose="02040503050406030204" pitchFamily="18" charset="0"/>
                            <a:ea typeface="华文楷体" panose="02010600040101010101" pitchFamily="2" charset="-122"/>
                          </a:rPr>
                          <m:t>𝑊</m:t>
                        </m:r>
                      </m:e>
                      <m:sub>
                        <m:r>
                          <a:rPr lang="en-US" altLang="zh-CN" kern="0">
                            <a:latin typeface="Cambria Math" panose="02040503050406030204" pitchFamily="18" charset="0"/>
                            <a:ea typeface="华文楷体" panose="02010600040101010101" pitchFamily="2" charset="-122"/>
                          </a:rPr>
                          <m:t>𝑇</m:t>
                        </m:r>
                      </m:sub>
                    </m:sSub>
                  </m:oMath>
                </a14:m>
                <a:r>
                  <a:rPr lang="zh-CN" altLang="en-US" kern="0" dirty="0">
                    <a:latin typeface="华文楷体" panose="02010600040101010101" pitchFamily="2" charset="-122"/>
                    <a:ea typeface="华文楷体" panose="02010600040101010101" pitchFamily="2" charset="-122"/>
                  </a:rPr>
                  <a:t>为目标出射度，</a:t>
                </a:r>
                <a14:m>
                  <m:oMath xmlns:m="http://schemas.openxmlformats.org/officeDocument/2006/math">
                    <m:sSub>
                      <m:sSubPr>
                        <m:ctrlPr>
                          <a:rPr lang="en-US" altLang="zh-CN" i="1" kern="0">
                            <a:latin typeface="Cambria Math" panose="02040503050406030204" pitchFamily="18" charset="0"/>
                            <a:ea typeface="华文楷体" panose="02010600040101010101" pitchFamily="2" charset="-122"/>
                          </a:rPr>
                        </m:ctrlPr>
                      </m:sSubPr>
                      <m:e>
                        <m:r>
                          <a:rPr lang="zh-CN" altLang="en-US" kern="0">
                            <a:latin typeface="Cambria Math" panose="02040503050406030204" pitchFamily="18" charset="0"/>
                            <a:ea typeface="华文楷体" panose="02010600040101010101" pitchFamily="2" charset="-122"/>
                          </a:rPr>
                          <m:t>𝜀</m:t>
                        </m:r>
                      </m:e>
                      <m:sub>
                        <m:r>
                          <a:rPr lang="en-US" altLang="zh-CN" kern="0">
                            <a:latin typeface="Cambria Math" panose="02040503050406030204" pitchFamily="18" charset="0"/>
                            <a:ea typeface="华文楷体" panose="02010600040101010101" pitchFamily="2" charset="-122"/>
                          </a:rPr>
                          <m:t>𝑇</m:t>
                        </m:r>
                      </m:sub>
                    </m:sSub>
                  </m:oMath>
                </a14:m>
                <a:r>
                  <a:rPr lang="zh-CN" altLang="en-US" kern="0" dirty="0">
                    <a:latin typeface="华文楷体" panose="02010600040101010101" pitchFamily="2" charset="-122"/>
                    <a:ea typeface="华文楷体" panose="02010600040101010101" pitchFamily="2" charset="-122"/>
                  </a:rPr>
                  <a:t>为目标发射比</a:t>
                </a:r>
                <a:r>
                  <a:rPr lang="zh-CN" altLang="en-US" kern="0" dirty="0" smtClean="0">
                    <a:latin typeface="华文楷体" panose="02010600040101010101" pitchFamily="2" charset="-122"/>
                    <a:ea typeface="华文楷体" panose="02010600040101010101" pitchFamily="2" charset="-122"/>
                  </a:rPr>
                  <a:t>，</a:t>
                </a:r>
                <a14:m>
                  <m:oMath xmlns:m="http://schemas.openxmlformats.org/officeDocument/2006/math">
                    <m:sSub>
                      <m:sSubPr>
                        <m:ctrlPr>
                          <a:rPr lang="en-US" altLang="zh-CN" i="1" kern="0">
                            <a:latin typeface="Cambria Math" panose="02040503050406030204" pitchFamily="18" charset="0"/>
                            <a:ea typeface="华文楷体" panose="02010600040101010101" pitchFamily="2" charset="-122"/>
                          </a:rPr>
                        </m:ctrlPr>
                      </m:sSubPr>
                      <m:e>
                        <m:r>
                          <a:rPr lang="en-US" altLang="zh-CN" kern="0">
                            <a:latin typeface="Cambria Math" panose="02040503050406030204" pitchFamily="18" charset="0"/>
                            <a:ea typeface="华文楷体" panose="02010600040101010101" pitchFamily="2" charset="-122"/>
                          </a:rPr>
                          <m:t>𝑊</m:t>
                        </m:r>
                      </m:e>
                      <m:sub>
                        <m:r>
                          <a:rPr lang="en-US" altLang="zh-CN" kern="0">
                            <a:latin typeface="Cambria Math" panose="02040503050406030204" pitchFamily="18" charset="0"/>
                            <a:ea typeface="华文楷体" panose="02010600040101010101" pitchFamily="2" charset="-122"/>
                          </a:rPr>
                          <m:t>𝐵</m:t>
                        </m:r>
                      </m:sub>
                    </m:sSub>
                  </m:oMath>
                </a14:m>
                <a:r>
                  <a:rPr lang="zh-CN" altLang="en-US" kern="0" dirty="0">
                    <a:latin typeface="华文楷体" panose="02010600040101010101" pitchFamily="2" charset="-122"/>
                    <a:ea typeface="华文楷体" panose="02010600040101010101" pitchFamily="2" charset="-122"/>
                  </a:rPr>
                  <a:t>为背景出射度，</a:t>
                </a:r>
                <a14:m>
                  <m:oMath xmlns:m="http://schemas.openxmlformats.org/officeDocument/2006/math">
                    <m:sSub>
                      <m:sSubPr>
                        <m:ctrlPr>
                          <a:rPr lang="en-US" altLang="zh-CN" i="1" kern="0">
                            <a:latin typeface="Cambria Math" panose="02040503050406030204" pitchFamily="18" charset="0"/>
                            <a:ea typeface="华文楷体" panose="02010600040101010101" pitchFamily="2" charset="-122"/>
                          </a:rPr>
                        </m:ctrlPr>
                      </m:sSubPr>
                      <m:e>
                        <m:r>
                          <a:rPr lang="zh-CN" altLang="en-US" kern="0">
                            <a:latin typeface="Cambria Math" panose="02040503050406030204" pitchFamily="18" charset="0"/>
                            <a:ea typeface="华文楷体" panose="02010600040101010101" pitchFamily="2" charset="-122"/>
                          </a:rPr>
                          <m:t>𝜀</m:t>
                        </m:r>
                      </m:e>
                      <m:sub>
                        <m:r>
                          <a:rPr lang="en-US" altLang="zh-CN" kern="0">
                            <a:latin typeface="Cambria Math" panose="02040503050406030204" pitchFamily="18" charset="0"/>
                            <a:ea typeface="华文楷体" panose="02010600040101010101" pitchFamily="2" charset="-122"/>
                          </a:rPr>
                          <m:t>𝐵</m:t>
                        </m:r>
                      </m:sub>
                    </m:sSub>
                  </m:oMath>
                </a14:m>
                <a:r>
                  <a:rPr lang="zh-CN" altLang="en-US" kern="0" dirty="0">
                    <a:latin typeface="华文楷体" panose="02010600040101010101" pitchFamily="2" charset="-122"/>
                    <a:ea typeface="华文楷体" panose="02010600040101010101" pitchFamily="2" charset="-122"/>
                  </a:rPr>
                  <a:t>为背景发射比，</a:t>
                </a:r>
                <a14:m>
                  <m:oMath xmlns:m="http://schemas.openxmlformats.org/officeDocument/2006/math">
                    <m:sSup>
                      <m:sSupPr>
                        <m:ctrlPr>
                          <a:rPr lang="en-US" altLang="zh-CN" i="1" kern="0">
                            <a:latin typeface="Cambria Math" panose="02040503050406030204" pitchFamily="18" charset="0"/>
                            <a:ea typeface="华文楷体" panose="02010600040101010101" pitchFamily="2" charset="-122"/>
                          </a:rPr>
                        </m:ctrlPr>
                      </m:sSupPr>
                      <m:e>
                        <m:r>
                          <a:rPr lang="en-US" altLang="zh-CN" kern="0">
                            <a:latin typeface="Cambria Math" panose="02040503050406030204" pitchFamily="18" charset="0"/>
                            <a:ea typeface="华文楷体" panose="02010600040101010101" pitchFamily="2" charset="-122"/>
                          </a:rPr>
                          <m:t>𝐷</m:t>
                        </m:r>
                      </m:e>
                      <m:sup>
                        <m:r>
                          <a:rPr lang="en-US" altLang="zh-CN" kern="0">
                            <a:latin typeface="Cambria Math" panose="02040503050406030204" pitchFamily="18" charset="0"/>
                            <a:ea typeface="华文楷体" panose="02010600040101010101" pitchFamily="2" charset="-122"/>
                          </a:rPr>
                          <m:t>∗</m:t>
                        </m:r>
                      </m:sup>
                    </m:sSup>
                  </m:oMath>
                </a14:m>
                <a:r>
                  <a:rPr lang="zh-CN" altLang="en-US" kern="0" dirty="0">
                    <a:latin typeface="华文楷体" panose="02010600040101010101" pitchFamily="2" charset="-122"/>
                    <a:ea typeface="华文楷体" panose="02010600040101010101" pitchFamily="2" charset="-122"/>
                  </a:rPr>
                  <a:t>为探测器的可探测比，</a:t>
                </a:r>
                <a:r>
                  <a:rPr lang="en-US" altLang="zh-CN" kern="0" dirty="0">
                    <a:latin typeface="华文楷体" panose="02010600040101010101" pitchFamily="2" charset="-122"/>
                    <a:ea typeface="华文楷体" panose="02010600040101010101" pitchFamily="2" charset="-122"/>
                  </a:rPr>
                  <a:t> </a:t>
                </a:r>
                <a14:m>
                  <m:oMath xmlns:m="http://schemas.openxmlformats.org/officeDocument/2006/math">
                    <m:r>
                      <a:rPr lang="en-US" altLang="zh-CN" kern="0">
                        <a:latin typeface="Cambria Math" panose="02040503050406030204" pitchFamily="18" charset="0"/>
                        <a:ea typeface="华文楷体" panose="02010600040101010101" pitchFamily="2" charset="-122"/>
                      </a:rPr>
                      <m:t>∆</m:t>
                    </m:r>
                    <m:r>
                      <a:rPr lang="en-US" altLang="zh-CN" kern="0">
                        <a:latin typeface="Cambria Math" panose="02040503050406030204" pitchFamily="18" charset="0"/>
                        <a:ea typeface="华文楷体" panose="02010600040101010101" pitchFamily="2" charset="-122"/>
                      </a:rPr>
                      <m:t>𝑓</m:t>
                    </m:r>
                  </m:oMath>
                </a14:m>
                <a:r>
                  <a:rPr lang="zh-CN" altLang="en-US" kern="0" dirty="0">
                    <a:latin typeface="华文楷体" panose="02010600040101010101" pitchFamily="2" charset="-122"/>
                    <a:ea typeface="华文楷体" panose="02010600040101010101" pitchFamily="2" charset="-122"/>
                  </a:rPr>
                  <a:t>为</a:t>
                </a:r>
                <a:r>
                  <a:rPr lang="zh-CN" altLang="en-US" kern="0" dirty="0" smtClean="0">
                    <a:latin typeface="华文楷体" panose="02010600040101010101" pitchFamily="2" charset="-122"/>
                    <a:ea typeface="华文楷体" panose="02010600040101010101" pitchFamily="2" charset="-122"/>
                  </a:rPr>
                  <a:t>噪声</a:t>
                </a:r>
                <a:r>
                  <a:rPr lang="zh-CN" altLang="en-US" kern="0" dirty="0">
                    <a:latin typeface="华文楷体" panose="02010600040101010101" pitchFamily="2" charset="-122"/>
                    <a:ea typeface="华文楷体" panose="02010600040101010101" pitchFamily="2" charset="-122"/>
                  </a:rPr>
                  <a:t>等效带宽，</a:t>
                </a:r>
                <a14:m>
                  <m:oMath xmlns:m="http://schemas.openxmlformats.org/officeDocument/2006/math">
                    <m:r>
                      <a:rPr lang="zh-CN" altLang="en-US" kern="0">
                        <a:latin typeface="Cambria Math" panose="02040503050406030204" pitchFamily="18" charset="0"/>
                        <a:ea typeface="华文楷体" panose="02010600040101010101" pitchFamily="2" charset="-122"/>
                      </a:rPr>
                      <m:t>𝜏</m:t>
                    </m:r>
                  </m:oMath>
                </a14:m>
                <a:r>
                  <a:rPr lang="zh-CN" altLang="en-US" kern="0" dirty="0">
                    <a:latin typeface="华文楷体" panose="02010600040101010101" pitchFamily="2" charset="-122"/>
                    <a:ea typeface="华文楷体" panose="02010600040101010101" pitchFamily="2" charset="-122"/>
                  </a:rPr>
                  <a:t>为透射比，</a:t>
                </a:r>
                <a14:m>
                  <m:oMath xmlns:m="http://schemas.openxmlformats.org/officeDocument/2006/math">
                    <m:sSup>
                      <m:sSupPr>
                        <m:ctrlPr>
                          <a:rPr lang="en-US" altLang="zh-CN" i="1" kern="0">
                            <a:latin typeface="Cambria Math" panose="02040503050406030204" pitchFamily="18" charset="0"/>
                            <a:ea typeface="华文楷体" panose="02010600040101010101" pitchFamily="2" charset="-122"/>
                          </a:rPr>
                        </m:ctrlPr>
                      </m:sSupPr>
                      <m:e>
                        <m:r>
                          <a:rPr lang="en-US" altLang="zh-CN" kern="0">
                            <a:latin typeface="Cambria Math" panose="02040503050406030204" pitchFamily="18" charset="0"/>
                            <a:ea typeface="华文楷体" panose="02010600040101010101" pitchFamily="2" charset="-122"/>
                          </a:rPr>
                          <m:t>𝑑</m:t>
                        </m:r>
                      </m:e>
                      <m:sup>
                        <m:r>
                          <a:rPr lang="en-US" altLang="zh-CN" kern="0">
                            <a:latin typeface="Cambria Math" panose="02040503050406030204" pitchFamily="18" charset="0"/>
                            <a:ea typeface="华文楷体" panose="02010600040101010101" pitchFamily="2" charset="-122"/>
                          </a:rPr>
                          <m:t>′</m:t>
                        </m:r>
                      </m:sup>
                    </m:sSup>
                  </m:oMath>
                </a14:m>
                <a:r>
                  <a:rPr lang="zh-CN" altLang="en-US" kern="0" dirty="0">
                    <a:latin typeface="华文楷体" panose="02010600040101010101" pitchFamily="2" charset="-122"/>
                    <a:ea typeface="华文楷体" panose="02010600040101010101" pitchFamily="2" charset="-122"/>
                  </a:rPr>
                  <a:t>为探测器尺寸。</a:t>
                </a:r>
                <a:endParaRPr lang="en-US" altLang="zh-CN" kern="0" dirty="0">
                  <a:latin typeface="华文楷体" panose="02010600040101010101" pitchFamily="2" charset="-122"/>
                  <a:ea typeface="华文楷体" panose="02010600040101010101" pitchFamily="2" charset="-122"/>
                </a:endParaRPr>
              </a:p>
              <a:p>
                <a:pPr marL="0" indent="539750">
                  <a:lnSpc>
                    <a:spcPct val="150000"/>
                  </a:lnSpc>
                  <a:buNone/>
                </a:pPr>
                <a:r>
                  <a:rPr lang="zh-CN" altLang="en-US" kern="0" dirty="0">
                    <a:latin typeface="华文楷体" panose="02010600040101010101" pitchFamily="2" charset="-122"/>
                    <a:ea typeface="华文楷体" panose="02010600040101010101" pitchFamily="2" charset="-122"/>
                  </a:rPr>
                  <a:t>由上式可知，</a:t>
                </a:r>
                <a:r>
                  <a:rPr lang="zh-CN" altLang="en-US" b="1" i="1" kern="0" dirty="0">
                    <a:solidFill>
                      <a:srgbClr val="0000FF"/>
                    </a:solidFill>
                    <a:latin typeface="华文楷体" panose="02010600040101010101" pitchFamily="2" charset="-122"/>
                    <a:ea typeface="华文楷体" panose="02010600040101010101" pitchFamily="2" charset="-122"/>
                  </a:rPr>
                  <a:t>信噪比与</a:t>
                </a:r>
                <a:r>
                  <a:rPr lang="en-US" altLang="zh-CN" b="1" i="1" kern="0" dirty="0">
                    <a:solidFill>
                      <a:srgbClr val="0000FF"/>
                    </a:solidFill>
                    <a:latin typeface="华文楷体" panose="02010600040101010101" pitchFamily="2" charset="-122"/>
                    <a:ea typeface="华文楷体" panose="02010600040101010101" pitchFamily="2" charset="-122"/>
                  </a:rPr>
                  <a:t>F/#</a:t>
                </a:r>
                <a:r>
                  <a:rPr lang="zh-CN" altLang="en-US" b="1" i="1" kern="0" dirty="0">
                    <a:solidFill>
                      <a:srgbClr val="0000FF"/>
                    </a:solidFill>
                    <a:latin typeface="华文楷体" panose="02010600040101010101" pitchFamily="2" charset="-122"/>
                    <a:ea typeface="华文楷体" panose="02010600040101010101" pitchFamily="2" charset="-122"/>
                  </a:rPr>
                  <a:t>成反比</a:t>
                </a:r>
                <a:r>
                  <a:rPr lang="zh-CN" altLang="en-US" kern="0" dirty="0">
                    <a:latin typeface="华文楷体" panose="02010600040101010101" pitchFamily="2" charset="-122"/>
                    <a:ea typeface="华文楷体" panose="02010600040101010101" pitchFamily="2" charset="-122"/>
                  </a:rPr>
                  <a:t>，故需要将</a:t>
                </a:r>
                <a:r>
                  <a:rPr lang="en-US" altLang="zh-CN" kern="0" dirty="0">
                    <a:latin typeface="华文楷体" panose="02010600040101010101" pitchFamily="2" charset="-122"/>
                    <a:ea typeface="华文楷体" panose="02010600040101010101" pitchFamily="2" charset="-122"/>
                  </a:rPr>
                  <a:t>F/#</a:t>
                </a:r>
                <a:r>
                  <a:rPr lang="zh-CN" altLang="en-US" kern="0" dirty="0">
                    <a:latin typeface="华文楷体" panose="02010600040101010101" pitchFamily="2" charset="-122"/>
                    <a:ea typeface="华文楷体" panose="02010600040101010101" pitchFamily="2" charset="-122"/>
                  </a:rPr>
                  <a:t>数尽量做小，以便获得更多的能量。</a:t>
                </a:r>
                <a:endParaRPr lang="en-US" altLang="zh-CN" kern="0" dirty="0">
                  <a:latin typeface="华文楷体" panose="02010600040101010101" pitchFamily="2" charset="-122"/>
                  <a:ea typeface="华文楷体" panose="02010600040101010101" pitchFamily="2" charset="-122"/>
                </a:endParaRPr>
              </a:p>
              <a:p>
                <a:endParaRPr lang="zh-CN" altLang="en-US" dirty="0"/>
              </a:p>
            </p:txBody>
          </p:sp>
        </mc:Choice>
        <mc:Fallback>
          <p:sp>
            <p:nvSpPr>
              <p:cNvPr id="6" name="文本框 5"/>
              <p:cNvSpPr txBox="1">
                <a:spLocks noRot="1" noChangeAspect="1" noMove="1" noResize="1" noEditPoints="1" noAdjustHandles="1" noChangeArrowheads="1" noChangeShapeType="1" noTextEdit="1"/>
              </p:cNvSpPr>
              <p:nvPr/>
            </p:nvSpPr>
            <p:spPr>
              <a:xfrm>
                <a:off x="2807618" y="1097384"/>
                <a:ext cx="8928992" cy="5283241"/>
              </a:xfrm>
              <a:prstGeom prst="rect">
                <a:avLst/>
              </a:prstGeom>
              <a:blipFill rotWithShape="1">
                <a:blip r:embed="rId1"/>
                <a:stretch>
                  <a:fillRect l="-3" t="-2" r="6" b="3"/>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景深</a:t>
            </a:r>
            <a:endParaRPr lang="zh-CN" altLang="en-US" dirty="0"/>
          </a:p>
        </p:txBody>
      </p:sp>
      <p:pic>
        <p:nvPicPr>
          <p:cNvPr id="5122" name="Picture 2" descr="C:\Users\07285yzl\Desktop\红外镜头设计简介\新建文件夹\depth1.gif"/>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4103762" y="737344"/>
            <a:ext cx="5715000" cy="29051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804220" y="3833688"/>
            <a:ext cx="8856984" cy="147732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kern="0" dirty="0" smtClean="0">
                <a:latin typeface="仿宋" panose="02010609060101010101" pitchFamily="49" charset="-122"/>
                <a:ea typeface="仿宋" panose="02010609060101010101" pitchFamily="49" charset="-122"/>
              </a:rPr>
              <a:t>能</a:t>
            </a:r>
            <a:r>
              <a:rPr lang="zh-CN" altLang="en-US" sz="2000" kern="0" dirty="0">
                <a:latin typeface="仿宋" panose="02010609060101010101" pitchFamily="49" charset="-122"/>
                <a:ea typeface="仿宋" panose="02010609060101010101" pitchFamily="49" charset="-122"/>
              </a:rPr>
              <a:t>在像平面上获得清晰像的物方空间深度范围称为</a:t>
            </a:r>
            <a:r>
              <a:rPr lang="zh-CN" altLang="en-US" sz="2000" b="1" kern="0" dirty="0">
                <a:solidFill>
                  <a:schemeClr val="accent5"/>
                </a:solidFill>
                <a:latin typeface="仿宋" panose="02010609060101010101" pitchFamily="49" charset="-122"/>
                <a:ea typeface="仿宋" panose="02010609060101010101" pitchFamily="49" charset="-122"/>
              </a:rPr>
              <a:t>景深</a:t>
            </a:r>
            <a:r>
              <a:rPr lang="zh-CN" altLang="en-US" sz="2000" kern="0" dirty="0">
                <a:latin typeface="仿宋" panose="02010609060101010101" pitchFamily="49" charset="-122"/>
                <a:ea typeface="仿宋" panose="02010609060101010101" pitchFamily="49" charset="-122"/>
              </a:rPr>
              <a:t>。能成清晰像的最远的物平面称为远景平面；能成清晰像的最近的物平面称为近景平面，景深</a:t>
            </a:r>
            <a:r>
              <a:rPr lang="en-US" altLang="zh-CN" sz="2000" kern="0" dirty="0">
                <a:latin typeface="仿宋" panose="02010609060101010101" pitchFamily="49" charset="-122"/>
                <a:ea typeface="仿宋" panose="02010609060101010101" pitchFamily="49" charset="-122"/>
              </a:rPr>
              <a:t>=</a:t>
            </a:r>
            <a:r>
              <a:rPr lang="zh-CN" altLang="en-US" sz="2000" kern="0" dirty="0">
                <a:latin typeface="仿宋" panose="02010609060101010101" pitchFamily="49" charset="-122"/>
                <a:ea typeface="仿宋" panose="02010609060101010101" pitchFamily="49" charset="-122"/>
              </a:rPr>
              <a:t>远景深度</a:t>
            </a:r>
            <a:r>
              <a:rPr lang="en-US" altLang="zh-CN" sz="2000" kern="0" dirty="0">
                <a:latin typeface="仿宋" panose="02010609060101010101" pitchFamily="49" charset="-122"/>
                <a:ea typeface="仿宋" panose="02010609060101010101" pitchFamily="49" charset="-122"/>
              </a:rPr>
              <a:t>+</a:t>
            </a:r>
            <a:r>
              <a:rPr lang="zh-CN" altLang="en-US" sz="2000" kern="0" dirty="0">
                <a:latin typeface="仿宋" panose="02010609060101010101" pitchFamily="49" charset="-122"/>
                <a:ea typeface="仿宋" panose="02010609060101010101" pitchFamily="49" charset="-122"/>
              </a:rPr>
              <a:t>近景深度</a:t>
            </a:r>
            <a:r>
              <a:rPr lang="zh-CN" altLang="en-US" sz="2000" kern="0" dirty="0" smtClean="0">
                <a:latin typeface="仿宋" panose="02010609060101010101" pitchFamily="49" charset="-122"/>
                <a:ea typeface="仿宋" panose="02010609060101010101" pitchFamily="49" charset="-122"/>
              </a:rPr>
              <a:t>。</a:t>
            </a:r>
            <a:endParaRPr lang="zh-CN" altLang="en-US" sz="2000" kern="0" dirty="0">
              <a:latin typeface="仿宋" panose="02010609060101010101" pitchFamily="49" charset="-122"/>
              <a:ea typeface="仿宋" panose="02010609060101010101" pitchFamily="49" charset="-122"/>
            </a:endParaRPr>
          </a:p>
        </p:txBody>
      </p:sp>
      <p:sp>
        <p:nvSpPr>
          <p:cNvPr id="6" name="TextBox 5"/>
          <p:cNvSpPr txBox="1"/>
          <p:nvPr/>
        </p:nvSpPr>
        <p:spPr>
          <a:xfrm>
            <a:off x="2776042" y="5417864"/>
            <a:ext cx="8714667" cy="186685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b="1" dirty="0" smtClean="0">
                <a:solidFill>
                  <a:schemeClr val="accent5"/>
                </a:solidFill>
                <a:latin typeface="仿宋" panose="02010609060101010101" pitchFamily="49" charset="-122"/>
                <a:ea typeface="仿宋" panose="02010609060101010101" pitchFamily="49" charset="-122"/>
              </a:rPr>
              <a:t>影响景深的因素：</a:t>
            </a:r>
            <a:endParaRPr lang="en-US" altLang="zh-CN" sz="2000" b="1" dirty="0" smtClean="0">
              <a:solidFill>
                <a:schemeClr val="accent5"/>
              </a:solidFill>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000" dirty="0" smtClean="0">
                <a:latin typeface="仿宋" panose="02010609060101010101" pitchFamily="49" charset="-122"/>
                <a:ea typeface="仿宋" panose="02010609060101010101" pitchFamily="49" charset="-122"/>
              </a:rPr>
              <a:t>焦距越长，景深越小，焦距越短，景深越大</a:t>
            </a:r>
            <a:endParaRPr lang="en-US" altLang="zh-CN" sz="20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000" dirty="0">
                <a:latin typeface="仿宋" panose="02010609060101010101" pitchFamily="49" charset="-122"/>
                <a:ea typeface="仿宋" panose="02010609060101010101" pitchFamily="49" charset="-122"/>
              </a:rPr>
              <a:t>拍摄距离越近，景深越小；拍摄距离越远，景深越大</a:t>
            </a:r>
            <a:endParaRPr lang="en-US" altLang="zh-CN" sz="2000" dirty="0">
              <a:latin typeface="仿宋" panose="02010609060101010101" pitchFamily="49" charset="-122"/>
              <a:ea typeface="仿宋" panose="02010609060101010101" pitchFamily="49" charset="-122"/>
            </a:endParaRPr>
          </a:p>
          <a:p>
            <a:pPr marL="342900" indent="-342900" eaLnBrk="0" hangingPunct="0">
              <a:lnSpc>
                <a:spcPct val="150000"/>
              </a:lnSpc>
              <a:buFont typeface="Wingdings" panose="05000000000000000000" pitchFamily="2" charset="2"/>
              <a:buChar char="Ø"/>
            </a:pPr>
            <a:r>
              <a:rPr lang="zh-CN" altLang="en-US" sz="2000" kern="0" dirty="0" smtClean="0">
                <a:latin typeface="仿宋" panose="02010609060101010101" pitchFamily="49" charset="-122"/>
                <a:ea typeface="仿宋" panose="02010609060101010101" pitchFamily="49" charset="-122"/>
              </a:rPr>
              <a:t>光圈</a:t>
            </a:r>
            <a:r>
              <a:rPr lang="zh-CN" altLang="en-US" sz="2000" kern="0" dirty="0">
                <a:latin typeface="仿宋" panose="02010609060101010101" pitchFamily="49" charset="-122"/>
                <a:ea typeface="仿宋" panose="02010609060101010101" pitchFamily="49" charset="-122"/>
              </a:rPr>
              <a:t>越大</a:t>
            </a:r>
            <a:r>
              <a:rPr lang="en-US" altLang="zh-CN" sz="2000" kern="0" dirty="0">
                <a:latin typeface="仿宋" panose="02010609060101010101" pitchFamily="49" charset="-122"/>
                <a:ea typeface="仿宋" panose="02010609060101010101" pitchFamily="49" charset="-122"/>
              </a:rPr>
              <a:t>(F</a:t>
            </a:r>
            <a:r>
              <a:rPr lang="zh-CN" altLang="en-US" sz="2000" kern="0" dirty="0">
                <a:latin typeface="仿宋" panose="02010609060101010101" pitchFamily="49" charset="-122"/>
                <a:ea typeface="仿宋" panose="02010609060101010101" pitchFamily="49" charset="-122"/>
              </a:rPr>
              <a:t>数越小</a:t>
            </a:r>
            <a:r>
              <a:rPr lang="en-US" altLang="zh-CN" sz="2000" kern="0" dirty="0">
                <a:latin typeface="仿宋" panose="02010609060101010101" pitchFamily="49" charset="-122"/>
                <a:ea typeface="仿宋" panose="02010609060101010101" pitchFamily="49" charset="-122"/>
              </a:rPr>
              <a:t>)</a:t>
            </a:r>
            <a:r>
              <a:rPr lang="zh-CN" altLang="en-US" sz="2000" kern="0" dirty="0">
                <a:latin typeface="仿宋" panose="02010609060101010101" pitchFamily="49" charset="-122"/>
                <a:ea typeface="仿宋" panose="02010609060101010101" pitchFamily="49" charset="-122"/>
              </a:rPr>
              <a:t>，景深越小；反之光圈越小</a:t>
            </a:r>
            <a:r>
              <a:rPr lang="en-US" altLang="zh-CN" sz="2000" kern="0" dirty="0">
                <a:latin typeface="仿宋" panose="02010609060101010101" pitchFamily="49" charset="-122"/>
                <a:ea typeface="仿宋" panose="02010609060101010101" pitchFamily="49" charset="-122"/>
              </a:rPr>
              <a:t>(F</a:t>
            </a:r>
            <a:r>
              <a:rPr lang="zh-CN" altLang="en-US" sz="2000" kern="0" dirty="0">
                <a:latin typeface="仿宋" panose="02010609060101010101" pitchFamily="49" charset="-122"/>
                <a:ea typeface="仿宋" panose="02010609060101010101" pitchFamily="49" charset="-122"/>
              </a:rPr>
              <a:t>数越大</a:t>
            </a:r>
            <a:r>
              <a:rPr lang="en-US" altLang="zh-CN" sz="2000" kern="0" dirty="0">
                <a:latin typeface="仿宋" panose="02010609060101010101" pitchFamily="49" charset="-122"/>
                <a:ea typeface="仿宋" panose="02010609060101010101" pitchFamily="49" charset="-122"/>
              </a:rPr>
              <a:t>)</a:t>
            </a:r>
            <a:r>
              <a:rPr lang="zh-CN" altLang="en-US" sz="2000" kern="0" dirty="0">
                <a:latin typeface="仿宋" panose="02010609060101010101" pitchFamily="49" charset="-122"/>
                <a:ea typeface="仿宋" panose="02010609060101010101" pitchFamily="49" charset="-122"/>
              </a:rPr>
              <a:t>，景深越</a:t>
            </a:r>
            <a:r>
              <a:rPr lang="zh-CN" altLang="en-US" sz="2000" kern="0" dirty="0" smtClean="0">
                <a:latin typeface="仿宋" panose="02010609060101010101" pitchFamily="49" charset="-122"/>
                <a:ea typeface="仿宋" panose="02010609060101010101" pitchFamily="49" charset="-122"/>
              </a:rPr>
              <a:t>大</a:t>
            </a:r>
            <a:endParaRPr lang="zh-CN" altLang="en-US" sz="2000" kern="0" dirty="0">
              <a:latin typeface="仿宋" panose="02010609060101010101" pitchFamily="49" charset="-122"/>
              <a:ea typeface="仿宋" panose="02010609060101010101" pitchFamily="49" charset="-122"/>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C:\Users\07285yzl\Desktop\红外镜头设计简介\新建文件夹\src=http___pic2.zhimg.com_v2-5d0d95ebd39b58698578e0f0a5e87c99_b.jpg&amp;refer=http___pic2.zhimg.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32677" y="849684"/>
            <a:ext cx="4966706" cy="5760000"/>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3311674" y="6786016"/>
            <a:ext cx="6408712" cy="559769"/>
          </a:xfrm>
          <a:prstGeom prst="rect">
            <a:avLst/>
          </a:prstGeom>
        </p:spPr>
        <p:txBody>
          <a:bodyPr wrap="square">
            <a:spAutoFit/>
          </a:bodyPr>
          <a:lstStyle/>
          <a:p>
            <a:pPr marL="342900" indent="-342900">
              <a:lnSpc>
                <a:spcPct val="150000"/>
              </a:lnSpc>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焦距越长，景深越小，焦距越短，景深越大</a:t>
            </a:r>
            <a:endParaRPr lang="en-US" altLang="zh-CN" sz="2400" dirty="0">
              <a:latin typeface="仿宋" panose="02010609060101010101" pitchFamily="49" charset="-122"/>
              <a:ea typeface="仿宋" panose="02010609060101010101" pitchFamily="49" charset="-122"/>
            </a:endParaRPr>
          </a:p>
        </p:txBody>
      </p:sp>
      <p:sp>
        <p:nvSpPr>
          <p:cNvPr id="7" name="标题 1"/>
          <p:cNvSpPr>
            <a:spLocks noGrp="1"/>
          </p:cNvSpPr>
          <p:nvPr>
            <p:ph type="title"/>
          </p:nvPr>
        </p:nvSpPr>
        <p:spPr>
          <a:xfrm>
            <a:off x="503362" y="1"/>
            <a:ext cx="12241360" cy="665336"/>
          </a:xfrm>
        </p:spPr>
        <p:txBody>
          <a:bodyPr/>
          <a:lstStyle/>
          <a:p>
            <a:r>
              <a:rPr lang="zh-CN" altLang="en-US" dirty="0" smtClean="0"/>
              <a:t>景深影响因素</a:t>
            </a:r>
            <a:r>
              <a:rPr lang="en-US" altLang="zh-CN" dirty="0" smtClean="0"/>
              <a:t>——</a:t>
            </a:r>
            <a:r>
              <a:rPr lang="zh-CN" altLang="en-US" dirty="0" smtClean="0"/>
              <a:t>焦距</a:t>
            </a: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Users\07285yzl\Desktop\红外镜头设计简介\新建文件夹\64380cd7912397dd60cb6a053ee9ceb1d1a287f7.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04962" y="1169392"/>
            <a:ext cx="6096000" cy="43719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383682" y="6065936"/>
            <a:ext cx="7609776" cy="461665"/>
          </a:xfrm>
          <a:prstGeom prst="rect">
            <a:avLst/>
          </a:prstGeom>
          <a:noFill/>
        </p:spPr>
        <p:txBody>
          <a:bodyPr wrap="none" rtlCol="0">
            <a:spAutoFit/>
          </a:bodyPr>
          <a:lstStyle/>
          <a:p>
            <a:pPr marL="342900" indent="-342900">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拍摄距离越近，景深越</a:t>
            </a:r>
            <a:r>
              <a:rPr lang="zh-CN" altLang="en-US" sz="2400" dirty="0" smtClean="0">
                <a:latin typeface="仿宋" panose="02010609060101010101" pitchFamily="49" charset="-122"/>
                <a:ea typeface="仿宋" panose="02010609060101010101" pitchFamily="49" charset="-122"/>
              </a:rPr>
              <a:t>小；拍摄距离越远，景深越大</a:t>
            </a:r>
            <a:endParaRPr lang="en-US" altLang="zh-CN" sz="2400" dirty="0">
              <a:latin typeface="仿宋" panose="02010609060101010101" pitchFamily="49" charset="-122"/>
              <a:ea typeface="仿宋" panose="02010609060101010101" pitchFamily="49" charset="-122"/>
            </a:endParaRPr>
          </a:p>
        </p:txBody>
      </p:sp>
      <p:sp>
        <p:nvSpPr>
          <p:cNvPr id="6" name="标题 1"/>
          <p:cNvSpPr>
            <a:spLocks noGrp="1"/>
          </p:cNvSpPr>
          <p:nvPr>
            <p:ph type="title"/>
          </p:nvPr>
        </p:nvSpPr>
        <p:spPr>
          <a:xfrm>
            <a:off x="503362" y="1"/>
            <a:ext cx="12241360" cy="665336"/>
          </a:xfrm>
        </p:spPr>
        <p:txBody>
          <a:bodyPr/>
          <a:lstStyle/>
          <a:p>
            <a:r>
              <a:rPr lang="zh-CN" altLang="en-US" dirty="0" smtClean="0"/>
              <a:t>景深影响因素</a:t>
            </a:r>
            <a:r>
              <a:rPr lang="en-US" altLang="zh-CN" dirty="0" smtClean="0"/>
              <a:t>——</a:t>
            </a:r>
            <a:r>
              <a:rPr lang="zh-CN" altLang="en-US" dirty="0" smtClean="0"/>
              <a:t>拍摄距离</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71514" y="6919457"/>
            <a:ext cx="10071988" cy="559769"/>
          </a:xfrm>
          <a:prstGeom prst="rect">
            <a:avLst/>
          </a:prstGeom>
          <a:noFill/>
        </p:spPr>
        <p:txBody>
          <a:bodyPr wrap="none" rtlCol="0">
            <a:spAutoFit/>
          </a:bodyPr>
          <a:lstStyle/>
          <a:p>
            <a:pPr marL="342900" indent="-342900" eaLnBrk="0" hangingPunct="0">
              <a:lnSpc>
                <a:spcPct val="150000"/>
              </a:lnSpc>
              <a:buFont typeface="Arial" panose="020B0604020202020204" pitchFamily="34" charset="0"/>
              <a:buChar char="•"/>
            </a:pPr>
            <a:r>
              <a:rPr lang="zh-CN" altLang="en-US" sz="2400" kern="0" dirty="0">
                <a:latin typeface="仿宋" panose="02010609060101010101" pitchFamily="49" charset="-122"/>
                <a:ea typeface="仿宋" panose="02010609060101010101" pitchFamily="49" charset="-122"/>
              </a:rPr>
              <a:t>光圈越大</a:t>
            </a:r>
            <a:r>
              <a:rPr lang="en-US" altLang="zh-CN" sz="2400" kern="0" dirty="0">
                <a:latin typeface="仿宋" panose="02010609060101010101" pitchFamily="49" charset="-122"/>
                <a:ea typeface="仿宋" panose="02010609060101010101" pitchFamily="49" charset="-122"/>
              </a:rPr>
              <a:t>(F</a:t>
            </a:r>
            <a:r>
              <a:rPr lang="zh-CN" altLang="en-US" sz="2400" kern="0" dirty="0">
                <a:latin typeface="仿宋" panose="02010609060101010101" pitchFamily="49" charset="-122"/>
                <a:ea typeface="仿宋" panose="02010609060101010101" pitchFamily="49" charset="-122"/>
              </a:rPr>
              <a:t>数越小</a:t>
            </a:r>
            <a:r>
              <a:rPr lang="en-US" altLang="zh-CN" sz="2400" kern="0" dirty="0">
                <a:latin typeface="仿宋" panose="02010609060101010101" pitchFamily="49" charset="-122"/>
                <a:ea typeface="仿宋" panose="02010609060101010101" pitchFamily="49" charset="-122"/>
              </a:rPr>
              <a:t>)</a:t>
            </a:r>
            <a:r>
              <a:rPr lang="zh-CN" altLang="en-US" sz="2400" kern="0" dirty="0">
                <a:latin typeface="仿宋" panose="02010609060101010101" pitchFamily="49" charset="-122"/>
                <a:ea typeface="仿宋" panose="02010609060101010101" pitchFamily="49" charset="-122"/>
              </a:rPr>
              <a:t>，景深越小；反之光圈越小</a:t>
            </a:r>
            <a:r>
              <a:rPr lang="en-US" altLang="zh-CN" sz="2400" kern="0" dirty="0">
                <a:latin typeface="仿宋" panose="02010609060101010101" pitchFamily="49" charset="-122"/>
                <a:ea typeface="仿宋" panose="02010609060101010101" pitchFamily="49" charset="-122"/>
              </a:rPr>
              <a:t>(F</a:t>
            </a:r>
            <a:r>
              <a:rPr lang="zh-CN" altLang="en-US" sz="2400" kern="0" dirty="0">
                <a:latin typeface="仿宋" panose="02010609060101010101" pitchFamily="49" charset="-122"/>
                <a:ea typeface="仿宋" panose="02010609060101010101" pitchFamily="49" charset="-122"/>
              </a:rPr>
              <a:t>数越大</a:t>
            </a:r>
            <a:r>
              <a:rPr lang="en-US" altLang="zh-CN" sz="2400" kern="0" dirty="0">
                <a:latin typeface="仿宋" panose="02010609060101010101" pitchFamily="49" charset="-122"/>
                <a:ea typeface="仿宋" panose="02010609060101010101" pitchFamily="49" charset="-122"/>
              </a:rPr>
              <a:t>)</a:t>
            </a:r>
            <a:r>
              <a:rPr lang="zh-CN" altLang="en-US" sz="2400" kern="0" dirty="0">
                <a:latin typeface="仿宋" panose="02010609060101010101" pitchFamily="49" charset="-122"/>
                <a:ea typeface="仿宋" panose="02010609060101010101" pitchFamily="49" charset="-122"/>
              </a:rPr>
              <a:t>，景深越大。</a:t>
            </a:r>
            <a:endParaRPr lang="zh-CN" altLang="en-US" sz="2400" kern="0" dirty="0">
              <a:latin typeface="仿宋" panose="02010609060101010101" pitchFamily="49" charset="-122"/>
              <a:ea typeface="仿宋" panose="02010609060101010101" pitchFamily="49" charset="-122"/>
            </a:endParaRPr>
          </a:p>
        </p:txBody>
      </p:sp>
      <p:pic>
        <p:nvPicPr>
          <p:cNvPr id="9218" name="Picture 2" descr="C:\Users\07285yzl\Desktop\红外镜头设计简介\新建文件夹\src=http___ww1.sinaimg.cn_crop.0.0.718.403.1000_9f128f33jw1fa39m6ht0ij20jy0ccta4.jpg&amp;refer=http___www.sina.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11674" y="743459"/>
            <a:ext cx="6404963" cy="3600000"/>
          </a:xfrm>
          <a:prstGeom prst="rect">
            <a:avLst/>
          </a:prstGeom>
          <a:noFill/>
          <a:extLst>
            <a:ext uri="{909E8E84-426E-40DD-AFC4-6F175D3DCCD1}">
              <a14:hiddenFill xmlns:a14="http://schemas.microsoft.com/office/drawing/2010/main">
                <a:solidFill>
                  <a:srgbClr val="FFFFFF"/>
                </a:solidFill>
              </a14:hiddenFill>
            </a:ext>
          </a:extLst>
        </p:spPr>
      </p:pic>
      <p:sp>
        <p:nvSpPr>
          <p:cNvPr id="7" name="标题 1"/>
          <p:cNvSpPr>
            <a:spLocks noGrp="1"/>
          </p:cNvSpPr>
          <p:nvPr>
            <p:ph type="title"/>
          </p:nvPr>
        </p:nvSpPr>
        <p:spPr>
          <a:xfrm>
            <a:off x="503362" y="1"/>
            <a:ext cx="12241360" cy="665336"/>
          </a:xfrm>
        </p:spPr>
        <p:txBody>
          <a:bodyPr/>
          <a:lstStyle/>
          <a:p>
            <a:r>
              <a:rPr lang="zh-CN" altLang="en-US" dirty="0" smtClean="0"/>
              <a:t>景深影响因素</a:t>
            </a:r>
            <a:r>
              <a:rPr lang="en-US" altLang="zh-CN" dirty="0" smtClean="0"/>
              <a:t>——F</a:t>
            </a:r>
            <a:r>
              <a:rPr lang="zh-CN" altLang="en-US" dirty="0" smtClean="0"/>
              <a:t>数</a:t>
            </a:r>
            <a:endParaRPr lang="zh-CN" altLang="en-US" dirty="0"/>
          </a:p>
        </p:txBody>
      </p:sp>
      <p:pic>
        <p:nvPicPr>
          <p:cNvPr id="9219" name="Picture 3" descr="C:\Users\07285yzl\Desktop\红外镜头设计简介\新建文件夹\src=http___5b0988e595225.cdn.sohucs.com_images_20191020_4aa9d505f85f4c4f863ee6293c1e71d3.jpeg&amp;refer=http___5b0988e595225.cdn.sohuc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7618" y="4625776"/>
            <a:ext cx="6781397" cy="216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焦深</a:t>
            </a:r>
            <a:endParaRPr lang="zh-CN" altLang="en-US" dirty="0"/>
          </a:p>
        </p:txBody>
      </p:sp>
      <p:sp>
        <p:nvSpPr>
          <p:cNvPr id="4" name="TextBox 3"/>
          <p:cNvSpPr txBox="1"/>
          <p:nvPr/>
        </p:nvSpPr>
        <p:spPr>
          <a:xfrm>
            <a:off x="3023642" y="4049712"/>
            <a:ext cx="9161482" cy="3785652"/>
          </a:xfrm>
          <a:prstGeom prst="rect">
            <a:avLst/>
          </a:prstGeom>
          <a:noFill/>
        </p:spPr>
        <p:txBody>
          <a:bodyPr wrap="none" rtlCol="0">
            <a:spAutoFit/>
          </a:bodyPr>
          <a:lstStyle/>
          <a:p>
            <a:pPr>
              <a:lnSpc>
                <a:spcPct val="150000"/>
              </a:lnSpc>
            </a:pPr>
            <a:r>
              <a:rPr lang="zh-CN" altLang="en-US" sz="2000" b="1" dirty="0" smtClean="0">
                <a:solidFill>
                  <a:schemeClr val="accent5"/>
                </a:solidFill>
                <a:latin typeface="仿宋" panose="02010609060101010101" pitchFamily="49" charset="-122"/>
                <a:ea typeface="仿宋" panose="02010609060101010101" pitchFamily="49" charset="-122"/>
              </a:rPr>
              <a:t>焦深：</a:t>
            </a:r>
            <a:r>
              <a:rPr lang="zh-CN" altLang="en-US" sz="2000" dirty="0" smtClean="0">
                <a:latin typeface="仿宋" panose="02010609060101010101" pitchFamily="49" charset="-122"/>
                <a:ea typeface="仿宋" panose="02010609060101010101" pitchFamily="49" charset="-122"/>
              </a:rPr>
              <a:t>是</a:t>
            </a:r>
            <a:r>
              <a:rPr lang="zh-CN" altLang="en-US" sz="2000" dirty="0">
                <a:latin typeface="仿宋" panose="02010609060101010101" pitchFamily="49" charset="-122"/>
                <a:ea typeface="仿宋" panose="02010609060101010101" pitchFamily="49" charset="-122"/>
              </a:rPr>
              <a:t>指在保持影像较为清晰的前提下，焦点沿着镜头光轴所允许移动的距离</a:t>
            </a:r>
            <a:endParaRPr lang="en-US" altLang="zh-CN" sz="2000" dirty="0">
              <a:latin typeface="仿宋" panose="02010609060101010101" pitchFamily="49" charset="-122"/>
              <a:ea typeface="仿宋" panose="02010609060101010101" pitchFamily="49" charset="-122"/>
            </a:endParaRPr>
          </a:p>
          <a:p>
            <a:pPr>
              <a:lnSpc>
                <a:spcPct val="150000"/>
              </a:lnSpc>
            </a:pPr>
            <a:r>
              <a:rPr lang="zh-CN" altLang="en-US" sz="2000" b="1" dirty="0" smtClean="0">
                <a:solidFill>
                  <a:schemeClr val="accent5"/>
                </a:solidFill>
                <a:latin typeface="仿宋" panose="02010609060101010101" pitchFamily="49" charset="-122"/>
                <a:ea typeface="仿宋" panose="02010609060101010101" pitchFamily="49" charset="-122"/>
              </a:rPr>
              <a:t>影响焦深的因素：</a:t>
            </a:r>
            <a:endParaRPr lang="en-US" altLang="zh-CN" sz="2000" b="1" dirty="0" smtClean="0">
              <a:solidFill>
                <a:schemeClr val="accent5"/>
              </a:solidFill>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000" dirty="0" smtClean="0">
                <a:latin typeface="仿宋" panose="02010609060101010101" pitchFamily="49" charset="-122"/>
                <a:ea typeface="仿宋" panose="02010609060101010101" pitchFamily="49" charset="-122"/>
              </a:rPr>
              <a:t>焦距越长，焦深越大，焦距越短，焦深越小</a:t>
            </a:r>
            <a:endParaRPr lang="en-US" altLang="zh-CN" sz="20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000" dirty="0" smtClean="0">
                <a:latin typeface="仿宋" panose="02010609060101010101" pitchFamily="49" charset="-122"/>
                <a:ea typeface="仿宋" panose="02010609060101010101" pitchFamily="49" charset="-122"/>
              </a:rPr>
              <a:t>拍摄距离越近，焦深越大，拍摄距离越远，焦深越小</a:t>
            </a:r>
            <a:endParaRPr lang="en-US" altLang="zh-CN" sz="20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000" dirty="0" smtClean="0">
                <a:latin typeface="仿宋" panose="02010609060101010101" pitchFamily="49" charset="-122"/>
                <a:ea typeface="仿宋" panose="02010609060101010101" pitchFamily="49" charset="-122"/>
              </a:rPr>
              <a:t>光圈越小</a:t>
            </a:r>
            <a:r>
              <a:rPr lang="en-US" altLang="zh-CN" sz="2000" dirty="0" smtClean="0">
                <a:latin typeface="仿宋" panose="02010609060101010101" pitchFamily="49" charset="-122"/>
                <a:ea typeface="仿宋" panose="02010609060101010101" pitchFamily="49" charset="-122"/>
              </a:rPr>
              <a:t>(F</a:t>
            </a:r>
            <a:r>
              <a:rPr lang="zh-CN" altLang="en-US" sz="2000" dirty="0" smtClean="0">
                <a:latin typeface="仿宋" panose="02010609060101010101" pitchFamily="49" charset="-122"/>
                <a:ea typeface="仿宋" panose="02010609060101010101" pitchFamily="49" charset="-122"/>
              </a:rPr>
              <a:t>数越大</a:t>
            </a:r>
            <a:r>
              <a:rPr lang="zh-CN" altLang="en-US" sz="2000" dirty="0">
                <a:latin typeface="仿宋" panose="02010609060101010101" pitchFamily="49" charset="-122"/>
                <a:ea typeface="仿宋" panose="02010609060101010101" pitchFamily="49" charset="-122"/>
              </a:rPr>
              <a:t>）</a:t>
            </a:r>
            <a:r>
              <a:rPr lang="zh-CN" altLang="en-US" sz="2000" dirty="0" smtClean="0">
                <a:latin typeface="仿宋" panose="02010609060101010101" pitchFamily="49" charset="-122"/>
                <a:ea typeface="仿宋" panose="02010609060101010101" pitchFamily="49" charset="-122"/>
              </a:rPr>
              <a:t>，焦深越大，光圈越大</a:t>
            </a:r>
            <a:r>
              <a:rPr lang="en-US" altLang="zh-CN" sz="2000" dirty="0" smtClean="0">
                <a:latin typeface="仿宋" panose="02010609060101010101" pitchFamily="49" charset="-122"/>
                <a:ea typeface="仿宋" panose="02010609060101010101" pitchFamily="49" charset="-122"/>
              </a:rPr>
              <a:t>(F</a:t>
            </a:r>
            <a:r>
              <a:rPr lang="zh-CN" altLang="en-US" sz="2000" dirty="0" smtClean="0">
                <a:latin typeface="仿宋" panose="02010609060101010101" pitchFamily="49" charset="-122"/>
                <a:ea typeface="仿宋" panose="02010609060101010101" pitchFamily="49" charset="-122"/>
              </a:rPr>
              <a:t>数越小</a:t>
            </a:r>
            <a:r>
              <a:rPr lang="en-US" altLang="zh-CN" sz="2000" dirty="0" smtClean="0">
                <a:latin typeface="仿宋" panose="02010609060101010101" pitchFamily="49" charset="-122"/>
                <a:ea typeface="仿宋" panose="02010609060101010101" pitchFamily="49" charset="-122"/>
              </a:rPr>
              <a:t>)</a:t>
            </a:r>
            <a:r>
              <a:rPr lang="zh-CN" altLang="en-US" sz="2000" dirty="0" smtClean="0">
                <a:latin typeface="仿宋" panose="02010609060101010101" pitchFamily="49" charset="-122"/>
                <a:ea typeface="仿宋" panose="02010609060101010101" pitchFamily="49" charset="-122"/>
              </a:rPr>
              <a:t>，焦深越小</a:t>
            </a:r>
            <a:endParaRPr lang="en-US" altLang="zh-CN" sz="20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000" dirty="0" smtClean="0">
                <a:latin typeface="仿宋" panose="02010609060101010101" pitchFamily="49" charset="-122"/>
                <a:ea typeface="仿宋" panose="02010609060101010101" pitchFamily="49" charset="-122"/>
              </a:rPr>
              <a:t>容许弥散圆直径越大，焦深越大</a:t>
            </a:r>
            <a:endParaRPr lang="en-US" altLang="zh-CN" sz="2000" dirty="0" smtClean="0">
              <a:latin typeface="仿宋" panose="02010609060101010101" pitchFamily="49" charset="-122"/>
              <a:ea typeface="仿宋" panose="02010609060101010101" pitchFamily="49" charset="-122"/>
            </a:endParaRPr>
          </a:p>
          <a:p>
            <a:pPr>
              <a:lnSpc>
                <a:spcPct val="150000"/>
              </a:lnSpc>
            </a:pPr>
            <a:r>
              <a:rPr lang="zh-CN" altLang="en-US" sz="2000" b="1" dirty="0" smtClean="0">
                <a:solidFill>
                  <a:schemeClr val="accent5"/>
                </a:solidFill>
                <a:latin typeface="仿宋" panose="02010609060101010101" pitchFamily="49" charset="-122"/>
                <a:ea typeface="仿宋" panose="02010609060101010101" pitchFamily="49" charset="-122"/>
              </a:rPr>
              <a:t>物理</a:t>
            </a:r>
            <a:r>
              <a:rPr lang="zh-CN" altLang="en-US" sz="2000" b="1" dirty="0">
                <a:solidFill>
                  <a:schemeClr val="accent5"/>
                </a:solidFill>
                <a:latin typeface="仿宋" panose="02010609060101010101" pitchFamily="49" charset="-122"/>
                <a:ea typeface="仿宋" panose="02010609060101010101" pitchFamily="49" charset="-122"/>
              </a:rPr>
              <a:t>焦深</a:t>
            </a:r>
            <a:r>
              <a:rPr lang="el-GR" altLang="zh-CN" sz="2000" b="1" dirty="0">
                <a:solidFill>
                  <a:schemeClr val="accent5"/>
                </a:solidFill>
                <a:latin typeface="仿宋" panose="02010609060101010101" pitchFamily="49" charset="-122"/>
                <a:ea typeface="仿宋" panose="02010609060101010101" pitchFamily="49" charset="-122"/>
              </a:rPr>
              <a:t>δ </a:t>
            </a:r>
            <a:r>
              <a:rPr lang="en-US" altLang="zh-CN" sz="2000" b="1" dirty="0">
                <a:solidFill>
                  <a:schemeClr val="accent5"/>
                </a:solidFill>
                <a:latin typeface="仿宋" panose="02010609060101010101" pitchFamily="49" charset="-122"/>
                <a:ea typeface="仿宋" panose="02010609060101010101" pitchFamily="49" charset="-122"/>
              </a:rPr>
              <a:t>=4</a:t>
            </a:r>
            <a:r>
              <a:rPr lang="el-GR" altLang="zh-CN" sz="2000" b="1" dirty="0">
                <a:solidFill>
                  <a:schemeClr val="accent5"/>
                </a:solidFill>
                <a:latin typeface="仿宋" panose="02010609060101010101" pitchFamily="49" charset="-122"/>
                <a:ea typeface="仿宋" panose="02010609060101010101" pitchFamily="49" charset="-122"/>
              </a:rPr>
              <a:t>λ</a:t>
            </a:r>
            <a:r>
              <a:rPr lang="en-US" altLang="zh-CN" sz="2000" b="1" dirty="0">
                <a:solidFill>
                  <a:schemeClr val="accent5"/>
                </a:solidFill>
                <a:latin typeface="仿宋" panose="02010609060101010101" pitchFamily="49" charset="-122"/>
                <a:ea typeface="仿宋" panose="02010609060101010101" pitchFamily="49" charset="-122"/>
              </a:rPr>
              <a:t>F^2</a:t>
            </a:r>
            <a:r>
              <a:rPr lang="zh-CN" altLang="en-US" sz="2000" b="1" dirty="0">
                <a:solidFill>
                  <a:schemeClr val="accent5"/>
                </a:solidFill>
                <a:latin typeface="仿宋" panose="02010609060101010101" pitchFamily="49" charset="-122"/>
                <a:ea typeface="仿宋" panose="02010609060101010101" pitchFamily="49" charset="-122"/>
              </a:rPr>
              <a:t>，</a:t>
            </a:r>
            <a:r>
              <a:rPr lang="el-GR" altLang="zh-CN" sz="2000" b="1" dirty="0">
                <a:solidFill>
                  <a:schemeClr val="accent5"/>
                </a:solidFill>
                <a:latin typeface="仿宋" panose="02010609060101010101" pitchFamily="49" charset="-122"/>
                <a:ea typeface="仿宋" panose="02010609060101010101" pitchFamily="49" charset="-122"/>
              </a:rPr>
              <a:t> λ</a:t>
            </a:r>
            <a:r>
              <a:rPr lang="zh-CN" altLang="en-US" sz="2000" b="1" dirty="0">
                <a:solidFill>
                  <a:schemeClr val="accent5"/>
                </a:solidFill>
                <a:latin typeface="仿宋" panose="02010609060101010101" pitchFamily="49" charset="-122"/>
                <a:ea typeface="仿宋" panose="02010609060101010101" pitchFamily="49" charset="-122"/>
              </a:rPr>
              <a:t>：中心波长，</a:t>
            </a:r>
            <a:r>
              <a:rPr lang="en-US" altLang="zh-CN" sz="2000" b="1" dirty="0">
                <a:solidFill>
                  <a:schemeClr val="accent5"/>
                </a:solidFill>
                <a:latin typeface="仿宋" panose="02010609060101010101" pitchFamily="49" charset="-122"/>
                <a:ea typeface="仿宋" panose="02010609060101010101" pitchFamily="49" charset="-122"/>
              </a:rPr>
              <a:t>F</a:t>
            </a:r>
            <a:r>
              <a:rPr lang="zh-CN" altLang="en-US" sz="2000" b="1" dirty="0">
                <a:solidFill>
                  <a:schemeClr val="accent5"/>
                </a:solidFill>
                <a:latin typeface="仿宋" panose="02010609060101010101" pitchFamily="49" charset="-122"/>
                <a:ea typeface="仿宋" panose="02010609060101010101" pitchFamily="49" charset="-122"/>
              </a:rPr>
              <a:t>：镜头</a:t>
            </a:r>
            <a:r>
              <a:rPr lang="en-US" altLang="zh-CN" sz="2000" b="1" dirty="0">
                <a:solidFill>
                  <a:schemeClr val="accent5"/>
                </a:solidFill>
                <a:latin typeface="仿宋" panose="02010609060101010101" pitchFamily="49" charset="-122"/>
                <a:ea typeface="仿宋" panose="02010609060101010101" pitchFamily="49" charset="-122"/>
              </a:rPr>
              <a:t>F</a:t>
            </a:r>
            <a:r>
              <a:rPr lang="zh-CN" altLang="en-US" sz="2000" b="1" dirty="0">
                <a:solidFill>
                  <a:schemeClr val="accent5"/>
                </a:solidFill>
                <a:latin typeface="仿宋" panose="02010609060101010101" pitchFamily="49" charset="-122"/>
                <a:ea typeface="仿宋" panose="02010609060101010101" pitchFamily="49" charset="-122"/>
              </a:rPr>
              <a:t>数</a:t>
            </a:r>
            <a:endParaRPr lang="zh-CN" altLang="en-US" sz="2000" b="1" dirty="0">
              <a:solidFill>
                <a:schemeClr val="accent5"/>
              </a:solidFill>
              <a:latin typeface="仿宋" panose="02010609060101010101" pitchFamily="49" charset="-122"/>
              <a:ea typeface="仿宋" panose="02010609060101010101" pitchFamily="49" charset="-122"/>
            </a:endParaRPr>
          </a:p>
          <a:p>
            <a:pPr>
              <a:lnSpc>
                <a:spcPct val="150000"/>
              </a:lnSpc>
            </a:pPr>
            <a:endParaRPr lang="zh-CN" altLang="en-US" sz="2000" dirty="0">
              <a:latin typeface="仿宋" panose="02010609060101010101" pitchFamily="49" charset="-122"/>
              <a:ea typeface="仿宋" panose="02010609060101010101" pitchFamily="49" charset="-122"/>
            </a:endParaRPr>
          </a:p>
        </p:txBody>
      </p:sp>
      <p:pic>
        <p:nvPicPr>
          <p:cNvPr id="6" name="Picture 2" descr="C:\Users\07285yzl\Desktop\红外镜头设计简介\新建文件夹\depth1.gif"/>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3887738" y="809352"/>
            <a:ext cx="5715000" cy="2905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红外材料</a:t>
            </a:r>
            <a:endParaRPr lang="zh-CN" altLang="en-US" dirty="0"/>
          </a:p>
        </p:txBody>
      </p:sp>
      <p:sp>
        <p:nvSpPr>
          <p:cNvPr id="3" name="内容占位符 2"/>
          <p:cNvSpPr>
            <a:spLocks noGrp="1"/>
          </p:cNvSpPr>
          <p:nvPr>
            <p:ph idx="1"/>
          </p:nvPr>
        </p:nvSpPr>
        <p:spPr>
          <a:xfrm>
            <a:off x="791394" y="4409687"/>
            <a:ext cx="12818190" cy="3168352"/>
          </a:xfrm>
        </p:spPr>
        <p:txBody>
          <a:bodyPr/>
          <a:lstStyle/>
          <a:p>
            <a:pPr>
              <a:lnSpc>
                <a:spcPct val="150000"/>
              </a:lnSpc>
            </a:pPr>
            <a:r>
              <a:rPr lang="zh-CN" altLang="en-US" sz="2000" b="1" dirty="0" smtClean="0">
                <a:solidFill>
                  <a:schemeClr val="accent5"/>
                </a:solidFill>
                <a:latin typeface="仿宋" panose="02010609060101010101" pitchFamily="49" charset="-122"/>
                <a:ea typeface="仿宋" panose="02010609060101010101" pitchFamily="49" charset="-122"/>
              </a:rPr>
              <a:t>单晶锗：</a:t>
            </a:r>
            <a:r>
              <a:rPr lang="zh-CN" altLang="en-US" sz="2000" dirty="0" smtClean="0">
                <a:solidFill>
                  <a:schemeClr val="tx1"/>
                </a:solidFill>
                <a:latin typeface="仿宋" panose="02010609060101010101" pitchFamily="49" charset="-122"/>
                <a:ea typeface="仿宋" panose="02010609060101010101" pitchFamily="49" charset="-122"/>
              </a:rPr>
              <a:t>最常见的红外材料，可用在</a:t>
            </a:r>
            <a:r>
              <a:rPr lang="en-US" altLang="zh-CN" sz="2000" dirty="0">
                <a:solidFill>
                  <a:schemeClr val="tx1"/>
                </a:solidFill>
                <a:latin typeface="仿宋" panose="02010609060101010101" pitchFamily="49" charset="-122"/>
                <a:ea typeface="仿宋" panose="02010609060101010101" pitchFamily="49" charset="-122"/>
              </a:rPr>
              <a:t>MWIR</a:t>
            </a:r>
            <a:r>
              <a:rPr lang="zh-CN" altLang="en-US" sz="2000" dirty="0">
                <a:solidFill>
                  <a:schemeClr val="tx1"/>
                </a:solidFill>
                <a:latin typeface="仿宋" panose="02010609060101010101" pitchFamily="49" charset="-122"/>
                <a:ea typeface="仿宋" panose="02010609060101010101" pitchFamily="49" charset="-122"/>
              </a:rPr>
              <a:t>和</a:t>
            </a:r>
            <a:r>
              <a:rPr lang="en-US" altLang="zh-CN" sz="2000" dirty="0" smtClean="0">
                <a:solidFill>
                  <a:schemeClr val="tx1"/>
                </a:solidFill>
                <a:latin typeface="仿宋" panose="02010609060101010101" pitchFamily="49" charset="-122"/>
                <a:ea typeface="仿宋" panose="02010609060101010101" pitchFamily="49" charset="-122"/>
              </a:rPr>
              <a:t>LWIR</a:t>
            </a:r>
            <a:r>
              <a:rPr lang="zh-CN" altLang="en-US" sz="2000" dirty="0" smtClean="0">
                <a:solidFill>
                  <a:schemeClr val="tx1"/>
                </a:solidFill>
                <a:latin typeface="仿宋" panose="02010609060101010101" pitchFamily="49" charset="-122"/>
                <a:ea typeface="仿宋" panose="02010609060101010101" pitchFamily="49" charset="-122"/>
              </a:rPr>
              <a:t>，高温</a:t>
            </a:r>
            <a:r>
              <a:rPr lang="en-US" altLang="zh-CN" sz="2000" dirty="0" smtClean="0">
                <a:solidFill>
                  <a:schemeClr val="tx1"/>
                </a:solidFill>
                <a:latin typeface="仿宋" panose="02010609060101010101" pitchFamily="49" charset="-122"/>
                <a:ea typeface="仿宋" panose="02010609060101010101" pitchFamily="49" charset="-122"/>
              </a:rPr>
              <a:t>200</a:t>
            </a:r>
            <a:r>
              <a:rPr lang="zh-CN" altLang="en-US" sz="2000" dirty="0" smtClean="0">
                <a:solidFill>
                  <a:schemeClr val="tx1"/>
                </a:solidFill>
                <a:latin typeface="仿宋" panose="02010609060101010101" pitchFamily="49" charset="-122"/>
                <a:ea typeface="仿宋" panose="02010609060101010101" pitchFamily="49" charset="-122"/>
              </a:rPr>
              <a:t>℃，失透</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pPr>
            <a:r>
              <a:rPr lang="zh-CN" altLang="en-US" sz="2000" b="1" dirty="0" smtClean="0">
                <a:solidFill>
                  <a:schemeClr val="accent5"/>
                </a:solidFill>
                <a:latin typeface="仿宋" panose="02010609060101010101" pitchFamily="49" charset="-122"/>
                <a:ea typeface="仿宋" panose="02010609060101010101" pitchFamily="49" charset="-122"/>
              </a:rPr>
              <a:t>单晶硅</a:t>
            </a:r>
            <a:r>
              <a:rPr lang="zh-CN" altLang="en-US" sz="2000" dirty="0" smtClean="0">
                <a:solidFill>
                  <a:schemeClr val="tx1"/>
                </a:solidFill>
                <a:latin typeface="仿宋" panose="02010609060101010101" pitchFamily="49" charset="-122"/>
                <a:ea typeface="仿宋" panose="02010609060101010101" pitchFamily="49" charset="-122"/>
              </a:rPr>
              <a:t>：</a:t>
            </a:r>
            <a:r>
              <a:rPr lang="en-US" altLang="zh-CN" sz="2000" dirty="0" smtClean="0">
                <a:solidFill>
                  <a:schemeClr val="tx1"/>
                </a:solidFill>
                <a:latin typeface="仿宋" panose="02010609060101010101" pitchFamily="49" charset="-122"/>
                <a:ea typeface="仿宋" panose="02010609060101010101" pitchFamily="49" charset="-122"/>
              </a:rPr>
              <a:t>LWIR</a:t>
            </a:r>
            <a:r>
              <a:rPr lang="zh-CN" altLang="en-US" sz="2000" dirty="0" smtClean="0">
                <a:solidFill>
                  <a:schemeClr val="tx1"/>
                </a:solidFill>
                <a:latin typeface="仿宋" panose="02010609060101010101" pitchFamily="49" charset="-122"/>
                <a:ea typeface="仿宋" panose="02010609060101010101" pitchFamily="49" charset="-122"/>
              </a:rPr>
              <a:t>存在吸收，主要用在</a:t>
            </a:r>
            <a:r>
              <a:rPr lang="en-US" altLang="zh-CN" sz="2000" dirty="0" smtClean="0">
                <a:solidFill>
                  <a:schemeClr val="tx1"/>
                </a:solidFill>
                <a:latin typeface="仿宋" panose="02010609060101010101" pitchFamily="49" charset="-122"/>
                <a:ea typeface="仿宋" panose="02010609060101010101" pitchFamily="49" charset="-122"/>
              </a:rPr>
              <a:t>MWIR</a:t>
            </a:r>
            <a:r>
              <a:rPr lang="zh-CN" altLang="en-US" sz="2000" dirty="0" smtClean="0">
                <a:solidFill>
                  <a:schemeClr val="tx1"/>
                </a:solidFill>
                <a:latin typeface="仿宋" panose="02010609060101010101" pitchFamily="49" charset="-122"/>
                <a:ea typeface="仿宋" panose="02010609060101010101" pitchFamily="49" charset="-122"/>
              </a:rPr>
              <a:t>，硅质地较脆，尽量不用非球面，不能用衍射面</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pPr>
            <a:r>
              <a:rPr lang="zh-CN" altLang="en-US" sz="2000" b="1" dirty="0">
                <a:solidFill>
                  <a:schemeClr val="accent5"/>
                </a:solidFill>
                <a:latin typeface="仿宋" panose="02010609060101010101" pitchFamily="49" charset="-122"/>
                <a:ea typeface="仿宋" panose="02010609060101010101" pitchFamily="49" charset="-122"/>
              </a:rPr>
              <a:t>硫系</a:t>
            </a:r>
            <a:r>
              <a:rPr lang="zh-CN" altLang="en-US" sz="2000" b="1" dirty="0" smtClean="0">
                <a:solidFill>
                  <a:schemeClr val="accent5"/>
                </a:solidFill>
                <a:latin typeface="仿宋" panose="02010609060101010101" pitchFamily="49" charset="-122"/>
                <a:ea typeface="仿宋" panose="02010609060101010101" pitchFamily="49" charset="-122"/>
              </a:rPr>
              <a:t>玻璃</a:t>
            </a:r>
            <a:r>
              <a:rPr lang="zh-CN" altLang="en-US" sz="2000" dirty="0" smtClean="0">
                <a:solidFill>
                  <a:schemeClr val="tx1"/>
                </a:solidFill>
                <a:latin typeface="仿宋" panose="02010609060101010101" pitchFamily="49" charset="-122"/>
                <a:ea typeface="仿宋" panose="02010609060101010101" pitchFamily="49" charset="-122"/>
              </a:rPr>
              <a:t>：锗、砷、硒按比例生产的玻璃质</a:t>
            </a:r>
            <a:r>
              <a:rPr lang="zh-CN" altLang="en-US" sz="2000" dirty="0">
                <a:solidFill>
                  <a:schemeClr val="tx1"/>
                </a:solidFill>
                <a:latin typeface="仿宋" panose="02010609060101010101" pitchFamily="49" charset="-122"/>
                <a:ea typeface="仿宋" panose="02010609060101010101" pitchFamily="49" charset="-122"/>
              </a:rPr>
              <a:t>材料，可用在</a:t>
            </a:r>
            <a:r>
              <a:rPr lang="en-US" altLang="zh-CN" sz="2000" dirty="0">
                <a:solidFill>
                  <a:schemeClr val="tx1"/>
                </a:solidFill>
                <a:latin typeface="仿宋" panose="02010609060101010101" pitchFamily="49" charset="-122"/>
                <a:ea typeface="仿宋" panose="02010609060101010101" pitchFamily="49" charset="-122"/>
              </a:rPr>
              <a:t>MWIR</a:t>
            </a:r>
            <a:r>
              <a:rPr lang="zh-CN" altLang="en-US" sz="2000" dirty="0">
                <a:solidFill>
                  <a:schemeClr val="tx1"/>
                </a:solidFill>
                <a:latin typeface="仿宋" panose="02010609060101010101" pitchFamily="49" charset="-122"/>
                <a:ea typeface="仿宋" panose="02010609060101010101" pitchFamily="49" charset="-122"/>
              </a:rPr>
              <a:t>和</a:t>
            </a:r>
            <a:r>
              <a:rPr lang="en-US" altLang="zh-CN" sz="2000" dirty="0">
                <a:solidFill>
                  <a:schemeClr val="tx1"/>
                </a:solidFill>
                <a:latin typeface="仿宋" panose="02010609060101010101" pitchFamily="49" charset="-122"/>
                <a:ea typeface="仿宋" panose="02010609060101010101" pitchFamily="49" charset="-122"/>
              </a:rPr>
              <a:t>LWIR </a:t>
            </a:r>
            <a:r>
              <a:rPr lang="zh-CN" altLang="en-US" sz="2000" dirty="0" smtClean="0">
                <a:solidFill>
                  <a:schemeClr val="tx1"/>
                </a:solidFill>
                <a:latin typeface="仿宋" panose="02010609060101010101" pitchFamily="49" charset="-122"/>
                <a:ea typeface="仿宋" panose="02010609060101010101" pitchFamily="49" charset="-122"/>
              </a:rPr>
              <a:t>，</a:t>
            </a:r>
            <a:r>
              <a:rPr lang="en-US" altLang="zh-CN" sz="2000" dirty="0" err="1" smtClean="0">
                <a:solidFill>
                  <a:schemeClr val="tx1"/>
                </a:solidFill>
                <a:latin typeface="仿宋" panose="02010609060101010101" pitchFamily="49" charset="-122"/>
                <a:ea typeface="仿宋" panose="02010609060101010101" pitchFamily="49" charset="-122"/>
              </a:rPr>
              <a:t>dn</a:t>
            </a:r>
            <a:r>
              <a:rPr lang="en-US" altLang="zh-CN" sz="2000" dirty="0" smtClean="0">
                <a:solidFill>
                  <a:schemeClr val="tx1"/>
                </a:solidFill>
                <a:latin typeface="仿宋" panose="02010609060101010101" pitchFamily="49" charset="-122"/>
                <a:ea typeface="仿宋" panose="02010609060101010101" pitchFamily="49" charset="-122"/>
              </a:rPr>
              <a:t>/</a:t>
            </a:r>
            <a:r>
              <a:rPr lang="en-US" altLang="zh-CN" sz="2000" dirty="0" err="1" smtClean="0">
                <a:solidFill>
                  <a:schemeClr val="tx1"/>
                </a:solidFill>
                <a:latin typeface="仿宋" panose="02010609060101010101" pitchFamily="49" charset="-122"/>
                <a:ea typeface="仿宋" panose="02010609060101010101" pitchFamily="49" charset="-122"/>
              </a:rPr>
              <a:t>dt</a:t>
            </a:r>
            <a:r>
              <a:rPr lang="zh-CN" altLang="en-US" sz="2000" dirty="0" smtClean="0">
                <a:solidFill>
                  <a:schemeClr val="tx1"/>
                </a:solidFill>
                <a:latin typeface="仿宋" panose="02010609060101010101" pitchFamily="49" charset="-122"/>
                <a:ea typeface="仿宋" panose="02010609060101010101" pitchFamily="49" charset="-122"/>
              </a:rPr>
              <a:t>较小，光学</a:t>
            </a:r>
            <a:r>
              <a:rPr lang="zh-CN" altLang="en-US" sz="2000" dirty="0">
                <a:solidFill>
                  <a:schemeClr val="tx1"/>
                </a:solidFill>
                <a:latin typeface="仿宋" panose="02010609060101010101" pitchFamily="49" charset="-122"/>
                <a:ea typeface="仿宋" panose="02010609060101010101" pitchFamily="49" charset="-122"/>
              </a:rPr>
              <a:t>无热化材料</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pPr>
            <a:r>
              <a:rPr lang="zh-CN" altLang="en-US" sz="2000" b="1" dirty="0" smtClean="0">
                <a:solidFill>
                  <a:schemeClr val="accent5"/>
                </a:solidFill>
                <a:latin typeface="仿宋" panose="02010609060101010101" pitchFamily="49" charset="-122"/>
                <a:ea typeface="仿宋" panose="02010609060101010101" pitchFamily="49" charset="-122"/>
              </a:rPr>
              <a:t>硫化锌</a:t>
            </a:r>
            <a:r>
              <a:rPr lang="en-US" altLang="zh-CN" sz="2000" b="1" dirty="0" err="1" smtClean="0">
                <a:solidFill>
                  <a:schemeClr val="accent5"/>
                </a:solidFill>
                <a:latin typeface="仿宋" panose="02010609060101010101" pitchFamily="49" charset="-122"/>
                <a:ea typeface="仿宋" panose="02010609060101010101" pitchFamily="49" charset="-122"/>
              </a:rPr>
              <a:t>ZnS</a:t>
            </a:r>
            <a:r>
              <a:rPr lang="zh-CN" altLang="en-US" sz="2000" dirty="0" smtClean="0">
                <a:solidFill>
                  <a:schemeClr val="tx1"/>
                </a:solidFill>
                <a:latin typeface="仿宋" panose="02010609060101010101" pitchFamily="49" charset="-122"/>
                <a:ea typeface="仿宋" panose="02010609060101010101" pitchFamily="49" charset="-122"/>
              </a:rPr>
              <a:t>：</a:t>
            </a:r>
            <a:r>
              <a:rPr lang="en-US" altLang="zh-CN" sz="2000" dirty="0" smtClean="0">
                <a:solidFill>
                  <a:schemeClr val="tx1"/>
                </a:solidFill>
                <a:latin typeface="仿宋" panose="02010609060101010101" pitchFamily="49" charset="-122"/>
                <a:ea typeface="仿宋" panose="02010609060101010101" pitchFamily="49" charset="-122"/>
              </a:rPr>
              <a:t>MWIR</a:t>
            </a:r>
            <a:r>
              <a:rPr lang="zh-CN" altLang="en-US" sz="2000" dirty="0" smtClean="0">
                <a:solidFill>
                  <a:schemeClr val="tx1"/>
                </a:solidFill>
                <a:latin typeface="仿宋" panose="02010609060101010101" pitchFamily="49" charset="-122"/>
                <a:ea typeface="仿宋" panose="02010609060101010101" pitchFamily="49" charset="-122"/>
              </a:rPr>
              <a:t>和</a:t>
            </a:r>
            <a:r>
              <a:rPr lang="en-US" altLang="zh-CN" sz="2000" dirty="0" smtClean="0">
                <a:solidFill>
                  <a:schemeClr val="tx1"/>
                </a:solidFill>
                <a:latin typeface="仿宋" panose="02010609060101010101" pitchFamily="49" charset="-122"/>
                <a:ea typeface="仿宋" panose="02010609060101010101" pitchFamily="49" charset="-122"/>
              </a:rPr>
              <a:t>LWIR</a:t>
            </a:r>
            <a:r>
              <a:rPr lang="zh-CN" altLang="en-US" sz="2000" dirty="0" smtClean="0">
                <a:solidFill>
                  <a:schemeClr val="tx1"/>
                </a:solidFill>
                <a:latin typeface="仿宋" panose="02010609060101010101" pitchFamily="49" charset="-122"/>
                <a:ea typeface="仿宋" panose="02010609060101010101" pitchFamily="49" charset="-122"/>
              </a:rPr>
              <a:t>常用材料，</a:t>
            </a:r>
            <a:r>
              <a:rPr lang="en-US" altLang="zh-CN" sz="2000" dirty="0" smtClean="0">
                <a:solidFill>
                  <a:schemeClr val="tx1"/>
                </a:solidFill>
                <a:latin typeface="仿宋" panose="02010609060101010101" pitchFamily="49" charset="-122"/>
                <a:ea typeface="仿宋" panose="02010609060101010101" pitchFamily="49" charset="-122"/>
              </a:rPr>
              <a:t>CVD </a:t>
            </a:r>
            <a:r>
              <a:rPr lang="en-US" altLang="zh-CN" sz="2000" dirty="0" err="1" smtClean="0">
                <a:solidFill>
                  <a:schemeClr val="tx1"/>
                </a:solidFill>
                <a:latin typeface="仿宋" panose="02010609060101010101" pitchFamily="49" charset="-122"/>
                <a:ea typeface="仿宋" panose="02010609060101010101" pitchFamily="49" charset="-122"/>
              </a:rPr>
              <a:t>ZnS</a:t>
            </a:r>
            <a:r>
              <a:rPr lang="zh-CN" altLang="en-US" sz="2000" dirty="0" smtClean="0">
                <a:solidFill>
                  <a:schemeClr val="tx1"/>
                </a:solidFill>
                <a:latin typeface="仿宋" panose="02010609060101010101" pitchFamily="49" charset="-122"/>
                <a:ea typeface="仿宋" panose="02010609060101010101" pitchFamily="49" charset="-122"/>
              </a:rPr>
              <a:t>，热压</a:t>
            </a:r>
            <a:r>
              <a:rPr lang="en-US" altLang="zh-CN" sz="2000" dirty="0" err="1" smtClean="0">
                <a:solidFill>
                  <a:schemeClr val="tx1"/>
                </a:solidFill>
                <a:latin typeface="仿宋" panose="02010609060101010101" pitchFamily="49" charset="-122"/>
                <a:ea typeface="仿宋" panose="02010609060101010101" pitchFamily="49" charset="-122"/>
              </a:rPr>
              <a:t>ZnS</a:t>
            </a:r>
            <a:r>
              <a:rPr lang="zh-CN" altLang="en-US" sz="2000" dirty="0" smtClean="0">
                <a:solidFill>
                  <a:schemeClr val="tx1"/>
                </a:solidFill>
                <a:latin typeface="仿宋" panose="02010609060101010101" pitchFamily="49" charset="-122"/>
                <a:ea typeface="仿宋" panose="02010609060101010101" pitchFamily="49" charset="-122"/>
              </a:rPr>
              <a:t>：可见光到</a:t>
            </a:r>
            <a:r>
              <a:rPr lang="en-US" altLang="zh-CN" sz="2000" dirty="0" smtClean="0">
                <a:solidFill>
                  <a:schemeClr val="tx1"/>
                </a:solidFill>
                <a:latin typeface="仿宋" panose="02010609060101010101" pitchFamily="49" charset="-122"/>
                <a:ea typeface="仿宋" panose="02010609060101010101" pitchFamily="49" charset="-122"/>
              </a:rPr>
              <a:t>LWIR</a:t>
            </a:r>
            <a:r>
              <a:rPr lang="zh-CN" altLang="en-US" sz="2000" dirty="0" smtClean="0">
                <a:solidFill>
                  <a:schemeClr val="tx1"/>
                </a:solidFill>
                <a:latin typeface="仿宋" panose="02010609060101010101" pitchFamily="49" charset="-122"/>
                <a:ea typeface="仿宋" panose="02010609060101010101" pitchFamily="49" charset="-122"/>
              </a:rPr>
              <a:t>波段的多光谱窗口和透镜。</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pPr>
            <a:r>
              <a:rPr lang="zh-CN" altLang="en-US" sz="2000" b="1" dirty="0" smtClean="0">
                <a:solidFill>
                  <a:schemeClr val="accent5"/>
                </a:solidFill>
                <a:latin typeface="仿宋" panose="02010609060101010101" pitchFamily="49" charset="-122"/>
                <a:ea typeface="仿宋" panose="02010609060101010101" pitchFamily="49" charset="-122"/>
              </a:rPr>
              <a:t>硒化锌</a:t>
            </a:r>
            <a:r>
              <a:rPr lang="en-US" altLang="zh-CN" sz="2000" b="1" dirty="0" err="1" smtClean="0">
                <a:solidFill>
                  <a:schemeClr val="accent5"/>
                </a:solidFill>
                <a:latin typeface="仿宋" panose="02010609060101010101" pitchFamily="49" charset="-122"/>
                <a:ea typeface="仿宋" panose="02010609060101010101" pitchFamily="49" charset="-122"/>
              </a:rPr>
              <a:t>ZnSe</a:t>
            </a:r>
            <a:r>
              <a:rPr lang="zh-CN" altLang="en-US" sz="2000" b="1" dirty="0" smtClean="0">
                <a:solidFill>
                  <a:schemeClr val="accent5"/>
                </a:solidFill>
                <a:latin typeface="仿宋" panose="02010609060101010101" pitchFamily="49" charset="-122"/>
                <a:ea typeface="仿宋" panose="02010609060101010101" pitchFamily="49" charset="-122"/>
              </a:rPr>
              <a:t>：</a:t>
            </a:r>
            <a:r>
              <a:rPr lang="zh-CN" altLang="en-US" sz="2000" dirty="0" smtClean="0">
                <a:solidFill>
                  <a:schemeClr val="tx1"/>
                </a:solidFill>
                <a:latin typeface="仿宋" panose="02010609060101010101" pitchFamily="49" charset="-122"/>
                <a:ea typeface="仿宋" panose="02010609060101010101" pitchFamily="49" charset="-122"/>
              </a:rPr>
              <a:t>很多</a:t>
            </a:r>
            <a:r>
              <a:rPr lang="zh-CN" altLang="en-US" sz="2000" dirty="0">
                <a:solidFill>
                  <a:schemeClr val="tx1"/>
                </a:solidFill>
                <a:latin typeface="仿宋" panose="02010609060101010101" pitchFamily="49" charset="-122"/>
                <a:ea typeface="仿宋" panose="02010609060101010101" pitchFamily="49" charset="-122"/>
              </a:rPr>
              <a:t>方面和硫化锌</a:t>
            </a:r>
            <a:r>
              <a:rPr lang="zh-CN" altLang="en-US" sz="2000" dirty="0" smtClean="0">
                <a:solidFill>
                  <a:schemeClr val="tx1"/>
                </a:solidFill>
                <a:latin typeface="仿宋" panose="02010609060101010101" pitchFamily="49" charset="-122"/>
                <a:ea typeface="仿宋" panose="02010609060101010101" pitchFamily="49" charset="-122"/>
              </a:rPr>
              <a:t>相似，折射率比硫化锌略高，结构不如硫化锌牢固。</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pPr>
            <a:r>
              <a:rPr lang="zh-CN" altLang="en-US" sz="2000" b="1" dirty="0">
                <a:solidFill>
                  <a:schemeClr val="accent5"/>
                </a:solidFill>
                <a:latin typeface="仿宋" panose="02010609060101010101" pitchFamily="49" charset="-122"/>
                <a:ea typeface="仿宋" panose="02010609060101010101" pitchFamily="49" charset="-122"/>
              </a:rPr>
              <a:t>其他可用</a:t>
            </a:r>
            <a:r>
              <a:rPr lang="zh-CN" altLang="en-US" sz="2000" b="1" dirty="0" smtClean="0">
                <a:solidFill>
                  <a:schemeClr val="accent5"/>
                </a:solidFill>
                <a:latin typeface="仿宋" panose="02010609060101010101" pitchFamily="49" charset="-122"/>
                <a:ea typeface="仿宋" panose="02010609060101010101" pitchFamily="49" charset="-122"/>
              </a:rPr>
              <a:t>材料：</a:t>
            </a:r>
            <a:r>
              <a:rPr lang="zh-CN" altLang="en-US" sz="2000" dirty="0" smtClean="0">
                <a:solidFill>
                  <a:schemeClr val="tx1"/>
                </a:solidFill>
                <a:latin typeface="仿宋" panose="02010609060101010101" pitchFamily="49" charset="-122"/>
                <a:ea typeface="仿宋" panose="02010609060101010101" pitchFamily="49" charset="-122"/>
              </a:rPr>
              <a:t>氟化镁、蓝宝石、氟化钙、氟化钡等</a:t>
            </a:r>
            <a:endParaRPr lang="en-US" altLang="zh-CN" sz="2000" dirty="0" smtClean="0">
              <a:solidFill>
                <a:schemeClr val="tx1"/>
              </a:solidFill>
              <a:latin typeface="仿宋" panose="02010609060101010101" pitchFamily="49" charset="-122"/>
              <a:ea typeface="仿宋" panose="02010609060101010101" pitchFamily="49" charset="-122"/>
            </a:endParaRPr>
          </a:p>
        </p:txBody>
      </p:sp>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31355" y="776932"/>
            <a:ext cx="4887047" cy="360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3900" y="665336"/>
            <a:ext cx="5789189" cy="360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消色差</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791394" y="737344"/>
                <a:ext cx="12818190" cy="6480720"/>
              </a:xfrm>
            </p:spPr>
            <p:txBody>
              <a:bodyPr/>
              <a:lstStyle/>
              <a:p>
                <a:pPr>
                  <a:lnSpc>
                    <a:spcPct val="150000"/>
                  </a:lnSpc>
                  <a:buFont typeface="Wingdings" panose="05000000000000000000" pitchFamily="2" charset="2"/>
                  <a:buChar char="p"/>
                </a:pPr>
                <a:r>
                  <a:rPr lang="zh-CN" altLang="en-US" sz="2000" b="1" dirty="0" smtClean="0">
                    <a:solidFill>
                      <a:schemeClr val="accent5"/>
                    </a:solidFill>
                    <a:latin typeface="仿宋" panose="02010609060101010101" pitchFamily="49" charset="-122"/>
                    <a:ea typeface="仿宋" panose="02010609060101010101" pitchFamily="49" charset="-122"/>
                  </a:rPr>
                  <a:t>色差产生的原因：材料的色散</a:t>
                </a:r>
                <a:endParaRPr lang="en-US" altLang="zh-CN" sz="2000" b="1" dirty="0" smtClean="0">
                  <a:solidFill>
                    <a:schemeClr val="accent5"/>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p"/>
                </a:pPr>
                <a:r>
                  <a:rPr lang="zh-CN" altLang="en-US" sz="2000" b="1" dirty="0" smtClean="0">
                    <a:solidFill>
                      <a:schemeClr val="accent5"/>
                    </a:solidFill>
                    <a:latin typeface="仿宋" panose="02010609060101010101" pitchFamily="49" charset="-122"/>
                    <a:ea typeface="仿宋" panose="02010609060101010101" pitchFamily="49" charset="-122"/>
                  </a:rPr>
                  <a:t>色散：</a:t>
                </a:r>
                <a:r>
                  <a:rPr lang="zh-CN" altLang="en-US" sz="2000" dirty="0">
                    <a:solidFill>
                      <a:schemeClr val="tx1"/>
                    </a:solidFill>
                    <a:latin typeface="仿宋" panose="02010609060101010101" pitchFamily="49" charset="-122"/>
                    <a:ea typeface="仿宋" panose="02010609060101010101" pitchFamily="49" charset="-122"/>
                  </a:rPr>
                  <a:t>同一光学介质，对不同波长光的折射率是不同的，比如太阳光经过三棱镜的折射会显示出七色光，这就是色散现象</a:t>
                </a:r>
                <a:r>
                  <a:rPr lang="zh-CN" altLang="en-US" sz="2000" dirty="0" smtClean="0">
                    <a:solidFill>
                      <a:schemeClr val="tx1"/>
                    </a:solidFill>
                    <a:latin typeface="仿宋" panose="02010609060101010101" pitchFamily="49" charset="-122"/>
                    <a:ea typeface="仿宋" panose="02010609060101010101" pitchFamily="49" charset="-122"/>
                  </a:rPr>
                  <a:t>。</a:t>
                </a:r>
                <a:r>
                  <a:rPr lang="zh-CN" altLang="en-US" sz="2000" dirty="0">
                    <a:solidFill>
                      <a:schemeClr val="tx1"/>
                    </a:solidFill>
                    <a:latin typeface="仿宋" panose="02010609060101010101" pitchFamily="49" charset="-122"/>
                    <a:ea typeface="仿宋" panose="02010609060101010101" pitchFamily="49" charset="-122"/>
                  </a:rPr>
                  <a:t>光的色散分为正常色散和</a:t>
                </a:r>
                <a:r>
                  <a:rPr lang="zh-CN" altLang="en-US" sz="2000" dirty="0" smtClean="0">
                    <a:solidFill>
                      <a:schemeClr val="tx1"/>
                    </a:solidFill>
                    <a:latin typeface="仿宋" panose="02010609060101010101" pitchFamily="49" charset="-122"/>
                    <a:ea typeface="仿宋" panose="02010609060101010101" pitchFamily="49" charset="-122"/>
                  </a:rPr>
                  <a:t>反常色散。</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p"/>
                </a:pPr>
                <a:endParaRPr lang="en-US" altLang="zh-CN" sz="2000" dirty="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p"/>
                </a:pP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p"/>
                </a:pPr>
                <a:endParaRPr lang="en-US" altLang="zh-CN" sz="2000" dirty="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p"/>
                </a:pP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p"/>
                </a:pPr>
                <a:endParaRPr lang="en-US" altLang="zh-CN" sz="2000" dirty="0">
                  <a:solidFill>
                    <a:schemeClr val="tx1"/>
                  </a:solidFill>
                  <a:latin typeface="仿宋" panose="02010609060101010101" pitchFamily="49" charset="-122"/>
                  <a:ea typeface="仿宋" panose="02010609060101010101" pitchFamily="49" charset="-122"/>
                </a:endParaRPr>
              </a:p>
              <a:p>
                <a:pPr marL="0" indent="0">
                  <a:lnSpc>
                    <a:spcPct val="150000"/>
                  </a:lnSpc>
                </a:pPr>
                <a:endParaRPr lang="en-US" altLang="zh-CN" sz="2000" b="1" dirty="0" smtClean="0">
                  <a:solidFill>
                    <a:schemeClr val="accent5"/>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p"/>
                </a:pPr>
                <a:r>
                  <a:rPr lang="zh-CN" altLang="en-US" sz="2000" b="1" dirty="0" smtClean="0">
                    <a:solidFill>
                      <a:schemeClr val="accent5"/>
                    </a:solidFill>
                    <a:latin typeface="仿宋" panose="02010609060101010101" pitchFamily="49" charset="-122"/>
                    <a:ea typeface="仿宋" panose="02010609060101010101" pitchFamily="49" charset="-122"/>
                  </a:rPr>
                  <a:t>阿贝数：</a:t>
                </a:r>
                <a:r>
                  <a:rPr lang="zh-CN" altLang="en-US" sz="2000" dirty="0">
                    <a:solidFill>
                      <a:schemeClr val="tx1"/>
                    </a:solidFill>
                    <a:latin typeface="仿宋" panose="02010609060101010101" pitchFamily="49" charset="-122"/>
                    <a:ea typeface="仿宋" panose="02010609060101010101" pitchFamily="49" charset="-122"/>
                  </a:rPr>
                  <a:t>也称</a:t>
                </a:r>
                <a:r>
                  <a:rPr lang="zh-CN" altLang="en-US" sz="2000" dirty="0" smtClean="0">
                    <a:solidFill>
                      <a:schemeClr val="tx1"/>
                    </a:solidFill>
                    <a:latin typeface="仿宋" panose="02010609060101010101" pitchFamily="49" charset="-122"/>
                    <a:ea typeface="仿宋" panose="02010609060101010101" pitchFamily="49" charset="-122"/>
                  </a:rPr>
                  <a:t>“色散系数”，</a:t>
                </a:r>
                <a:r>
                  <a:rPr lang="zh-CN" altLang="en-US" sz="2000" dirty="0">
                    <a:solidFill>
                      <a:schemeClr val="tx1"/>
                    </a:solidFill>
                    <a:latin typeface="仿宋" panose="02010609060101010101" pitchFamily="49" charset="-122"/>
                    <a:ea typeface="仿宋" panose="02010609060101010101" pitchFamily="49" charset="-122"/>
                  </a:rPr>
                  <a:t>用来衡量透明介质的光线色散程度。</a:t>
                </a:r>
                <a14:m>
                  <m:oMath xmlns:m="http://schemas.openxmlformats.org/officeDocument/2006/math">
                    <m:r>
                      <a:rPr lang="el-GR" altLang="zh-CN" sz="2000">
                        <a:solidFill>
                          <a:schemeClr val="tx1"/>
                        </a:solidFill>
                        <a:latin typeface="Cambria Math" panose="02040503050406030204"/>
                        <a:ea typeface="仿宋" panose="02010609060101010101" pitchFamily="49" charset="-122"/>
                      </a:rPr>
                      <m:t>𝝊</m:t>
                    </m:r>
                    <m:r>
                      <a:rPr lang="en-US" altLang="zh-CN" sz="2000">
                        <a:solidFill>
                          <a:schemeClr val="tx1"/>
                        </a:solidFill>
                        <a:latin typeface="Cambria Math" panose="02040503050406030204"/>
                        <a:ea typeface="仿宋" panose="02010609060101010101" pitchFamily="49" charset="-122"/>
                      </a:rPr>
                      <m:t>=</m:t>
                    </m:r>
                    <m:f>
                      <m:fPr>
                        <m:ctrlPr>
                          <a:rPr lang="en-US" altLang="zh-CN" sz="2000" i="1">
                            <a:solidFill>
                              <a:schemeClr val="tx1"/>
                            </a:solidFill>
                            <a:latin typeface="Cambria Math" panose="02040503050406030204" pitchFamily="18" charset="0"/>
                            <a:ea typeface="仿宋" panose="02010609060101010101" pitchFamily="49" charset="-122"/>
                          </a:rPr>
                        </m:ctrlPr>
                      </m:fPr>
                      <m:num>
                        <m:sSub>
                          <m:sSubPr>
                            <m:ctrlPr>
                              <a:rPr lang="en-US" altLang="zh-CN" sz="2000" i="1">
                                <a:solidFill>
                                  <a:schemeClr val="tx1"/>
                                </a:solidFill>
                                <a:latin typeface="Cambria Math" panose="02040503050406030204" pitchFamily="18" charset="0"/>
                                <a:ea typeface="仿宋" panose="02010609060101010101" pitchFamily="49" charset="-122"/>
                              </a:rPr>
                            </m:ctrlPr>
                          </m:sSubPr>
                          <m:e>
                            <m:r>
                              <a:rPr lang="en-US" altLang="zh-CN" sz="2000">
                                <a:solidFill>
                                  <a:schemeClr val="tx1"/>
                                </a:solidFill>
                                <a:latin typeface="Cambria Math" panose="02040503050406030204"/>
                                <a:ea typeface="仿宋" panose="02010609060101010101" pitchFamily="49" charset="-122"/>
                              </a:rPr>
                              <m:t>𝑛</m:t>
                            </m:r>
                          </m:e>
                          <m:sub>
                            <m:r>
                              <a:rPr lang="en-US" altLang="zh-CN" sz="2000">
                                <a:solidFill>
                                  <a:schemeClr val="tx1"/>
                                </a:solidFill>
                                <a:latin typeface="Cambria Math" panose="02040503050406030204"/>
                                <a:ea typeface="仿宋" panose="02010609060101010101" pitchFamily="49" charset="-122"/>
                              </a:rPr>
                              <m:t>𝑑</m:t>
                            </m:r>
                          </m:sub>
                        </m:sSub>
                        <m:r>
                          <a:rPr lang="en-US" altLang="zh-CN" sz="2000">
                            <a:solidFill>
                              <a:schemeClr val="tx1"/>
                            </a:solidFill>
                            <a:latin typeface="Cambria Math" panose="02040503050406030204"/>
                            <a:ea typeface="仿宋" panose="02010609060101010101" pitchFamily="49" charset="-122"/>
                          </a:rPr>
                          <m:t>−</m:t>
                        </m:r>
                        <m:r>
                          <a:rPr lang="en-US" altLang="zh-CN" sz="2000">
                            <a:solidFill>
                              <a:schemeClr val="tx1"/>
                            </a:solidFill>
                            <a:latin typeface="Cambria Math" panose="02040503050406030204"/>
                            <a:ea typeface="仿宋" panose="02010609060101010101" pitchFamily="49" charset="-122"/>
                          </a:rPr>
                          <m:t>1</m:t>
                        </m:r>
                      </m:num>
                      <m:den>
                        <m:sSub>
                          <m:sSubPr>
                            <m:ctrlPr>
                              <a:rPr lang="en-US" altLang="zh-CN" sz="2000" i="1">
                                <a:solidFill>
                                  <a:schemeClr val="tx1"/>
                                </a:solidFill>
                                <a:latin typeface="Cambria Math" panose="02040503050406030204" pitchFamily="18" charset="0"/>
                                <a:ea typeface="仿宋" panose="02010609060101010101" pitchFamily="49" charset="-122"/>
                              </a:rPr>
                            </m:ctrlPr>
                          </m:sSubPr>
                          <m:e>
                            <m:r>
                              <a:rPr lang="en-US" altLang="zh-CN" sz="2000">
                                <a:solidFill>
                                  <a:schemeClr val="tx1"/>
                                </a:solidFill>
                                <a:latin typeface="Cambria Math" panose="02040503050406030204"/>
                                <a:ea typeface="仿宋" panose="02010609060101010101" pitchFamily="49" charset="-122"/>
                              </a:rPr>
                              <m:t>𝑛</m:t>
                            </m:r>
                          </m:e>
                          <m:sub>
                            <m:r>
                              <a:rPr lang="en-US" altLang="zh-CN" sz="2000">
                                <a:solidFill>
                                  <a:schemeClr val="tx1"/>
                                </a:solidFill>
                                <a:latin typeface="Cambria Math" panose="02040503050406030204"/>
                                <a:ea typeface="仿宋" panose="02010609060101010101" pitchFamily="49" charset="-122"/>
                              </a:rPr>
                              <m:t>𝐹</m:t>
                            </m:r>
                          </m:sub>
                        </m:sSub>
                        <m:r>
                          <a:rPr lang="en-US" altLang="zh-CN" sz="2000">
                            <a:solidFill>
                              <a:schemeClr val="tx1"/>
                            </a:solidFill>
                            <a:latin typeface="Cambria Math" panose="02040503050406030204"/>
                            <a:ea typeface="仿宋" panose="02010609060101010101" pitchFamily="49" charset="-122"/>
                          </a:rPr>
                          <m:t>−</m:t>
                        </m:r>
                        <m:sSub>
                          <m:sSubPr>
                            <m:ctrlPr>
                              <a:rPr lang="en-US" altLang="zh-CN" sz="2000" i="1">
                                <a:solidFill>
                                  <a:schemeClr val="tx1"/>
                                </a:solidFill>
                                <a:latin typeface="Cambria Math" panose="02040503050406030204" pitchFamily="18" charset="0"/>
                                <a:ea typeface="仿宋" panose="02010609060101010101" pitchFamily="49" charset="-122"/>
                              </a:rPr>
                            </m:ctrlPr>
                          </m:sSubPr>
                          <m:e>
                            <m:r>
                              <a:rPr lang="en-US" altLang="zh-CN" sz="2000">
                                <a:solidFill>
                                  <a:schemeClr val="tx1"/>
                                </a:solidFill>
                                <a:latin typeface="Cambria Math" panose="02040503050406030204"/>
                                <a:ea typeface="仿宋" panose="02010609060101010101" pitchFamily="49" charset="-122"/>
                              </a:rPr>
                              <m:t>𝑛</m:t>
                            </m:r>
                          </m:e>
                          <m:sub>
                            <m:r>
                              <a:rPr lang="en-US" altLang="zh-CN" sz="2000">
                                <a:solidFill>
                                  <a:schemeClr val="tx1"/>
                                </a:solidFill>
                                <a:latin typeface="Cambria Math" panose="02040503050406030204"/>
                                <a:ea typeface="仿宋" panose="02010609060101010101" pitchFamily="49" charset="-122"/>
                              </a:rPr>
                              <m:t>𝐶</m:t>
                            </m:r>
                          </m:sub>
                        </m:sSub>
                      </m:den>
                    </m:f>
                  </m:oMath>
                </a14:m>
                <a:r>
                  <a:rPr lang="en-US" altLang="zh-CN" sz="2000" dirty="0" smtClean="0">
                    <a:solidFill>
                      <a:schemeClr val="tx1"/>
                    </a:solidFill>
                    <a:latin typeface="仿宋" panose="02010609060101010101" pitchFamily="49" charset="-122"/>
                    <a:ea typeface="仿宋" panose="02010609060101010101" pitchFamily="49" charset="-122"/>
                  </a:rPr>
                  <a:t> </a:t>
                </a:r>
                <a:r>
                  <a:rPr lang="zh-CN" altLang="en-US" sz="2000" dirty="0" smtClean="0">
                    <a:solidFill>
                      <a:schemeClr val="tx1"/>
                    </a:solidFill>
                    <a:latin typeface="仿宋" panose="02010609060101010101" pitchFamily="49" charset="-122"/>
                    <a:ea typeface="仿宋" panose="02010609060101010101" pitchFamily="49" charset="-122"/>
                  </a:rPr>
                  <a:t>，</a:t>
                </a:r>
                <a:r>
                  <a:rPr lang="en-US" altLang="zh-CN" sz="2000" dirty="0" err="1">
                    <a:solidFill>
                      <a:schemeClr val="tx1"/>
                    </a:solidFill>
                    <a:latin typeface="仿宋" panose="02010609060101010101" pitchFamily="49" charset="-122"/>
                    <a:ea typeface="仿宋" panose="02010609060101010101" pitchFamily="49" charset="-122"/>
                  </a:rPr>
                  <a:t>nd</a:t>
                </a:r>
                <a:r>
                  <a:rPr lang="zh-CN" altLang="en-US" sz="2000" dirty="0">
                    <a:solidFill>
                      <a:schemeClr val="tx1"/>
                    </a:solidFill>
                    <a:latin typeface="仿宋" panose="02010609060101010101" pitchFamily="49" charset="-122"/>
                    <a:ea typeface="仿宋" panose="02010609060101010101" pitchFamily="49" charset="-122"/>
                  </a:rPr>
                  <a:t>、</a:t>
                </a:r>
                <a:r>
                  <a:rPr lang="en-US" altLang="zh-CN" sz="2000" dirty="0" err="1">
                    <a:solidFill>
                      <a:schemeClr val="tx1"/>
                    </a:solidFill>
                    <a:latin typeface="仿宋" panose="02010609060101010101" pitchFamily="49" charset="-122"/>
                    <a:ea typeface="仿宋" panose="02010609060101010101" pitchFamily="49" charset="-122"/>
                  </a:rPr>
                  <a:t>nF</a:t>
                </a:r>
                <a:r>
                  <a:rPr lang="zh-CN" altLang="en-US" sz="2000" dirty="0">
                    <a:solidFill>
                      <a:schemeClr val="tx1"/>
                    </a:solidFill>
                    <a:latin typeface="仿宋" panose="02010609060101010101" pitchFamily="49" charset="-122"/>
                    <a:ea typeface="仿宋" panose="02010609060101010101" pitchFamily="49" charset="-122"/>
                  </a:rPr>
                  <a:t>和</a:t>
                </a:r>
                <a:r>
                  <a:rPr lang="en-US" altLang="zh-CN" sz="2000" dirty="0" err="1">
                    <a:solidFill>
                      <a:schemeClr val="tx1"/>
                    </a:solidFill>
                    <a:latin typeface="仿宋" panose="02010609060101010101" pitchFamily="49" charset="-122"/>
                    <a:ea typeface="仿宋" panose="02010609060101010101" pitchFamily="49" charset="-122"/>
                  </a:rPr>
                  <a:t>nC</a:t>
                </a:r>
                <a:r>
                  <a:rPr lang="zh-CN" altLang="en-US" sz="2000" dirty="0">
                    <a:solidFill>
                      <a:schemeClr val="tx1"/>
                    </a:solidFill>
                    <a:latin typeface="仿宋" panose="02010609060101010101" pitchFamily="49" charset="-122"/>
                    <a:ea typeface="仿宋" panose="02010609060101010101" pitchFamily="49" charset="-122"/>
                  </a:rPr>
                  <a:t>分别是</a:t>
                </a:r>
                <a:r>
                  <a:rPr lang="en-US" altLang="zh-CN" sz="2000" dirty="0">
                    <a:solidFill>
                      <a:schemeClr val="tx1"/>
                    </a:solidFill>
                    <a:latin typeface="仿宋" panose="02010609060101010101" pitchFamily="49" charset="-122"/>
                    <a:ea typeface="仿宋" panose="02010609060101010101" pitchFamily="49" charset="-122"/>
                  </a:rPr>
                  <a:t>d</a:t>
                </a:r>
                <a:r>
                  <a:rPr lang="zh-CN" altLang="en-US" sz="2000" dirty="0">
                    <a:solidFill>
                      <a:schemeClr val="tx1"/>
                    </a:solidFill>
                    <a:latin typeface="仿宋" panose="02010609060101010101" pitchFamily="49" charset="-122"/>
                    <a:ea typeface="仿宋" panose="02010609060101010101" pitchFamily="49" charset="-122"/>
                  </a:rPr>
                  <a:t>光、</a:t>
                </a:r>
                <a:r>
                  <a:rPr lang="en-US" altLang="zh-CN" sz="2000" dirty="0">
                    <a:solidFill>
                      <a:schemeClr val="tx1"/>
                    </a:solidFill>
                    <a:latin typeface="仿宋" panose="02010609060101010101" pitchFamily="49" charset="-122"/>
                    <a:ea typeface="仿宋" panose="02010609060101010101" pitchFamily="49" charset="-122"/>
                  </a:rPr>
                  <a:t>F</a:t>
                </a:r>
                <a:r>
                  <a:rPr lang="zh-CN" altLang="en-US" sz="2000" dirty="0">
                    <a:solidFill>
                      <a:schemeClr val="tx1"/>
                    </a:solidFill>
                    <a:latin typeface="仿宋" panose="02010609060101010101" pitchFamily="49" charset="-122"/>
                    <a:ea typeface="仿宋" panose="02010609060101010101" pitchFamily="49" charset="-122"/>
                  </a:rPr>
                  <a:t>光和</a:t>
                </a:r>
                <a:r>
                  <a:rPr lang="en-US" altLang="zh-CN" sz="2000" dirty="0">
                    <a:solidFill>
                      <a:schemeClr val="tx1"/>
                    </a:solidFill>
                    <a:latin typeface="仿宋" panose="02010609060101010101" pitchFamily="49" charset="-122"/>
                    <a:ea typeface="仿宋" panose="02010609060101010101" pitchFamily="49" charset="-122"/>
                  </a:rPr>
                  <a:t>C</a:t>
                </a:r>
                <a:r>
                  <a:rPr lang="zh-CN" altLang="en-US" sz="2000" dirty="0">
                    <a:solidFill>
                      <a:schemeClr val="tx1"/>
                    </a:solidFill>
                    <a:latin typeface="仿宋" panose="02010609060101010101" pitchFamily="49" charset="-122"/>
                    <a:ea typeface="仿宋" panose="02010609060101010101" pitchFamily="49" charset="-122"/>
                  </a:rPr>
                  <a:t>光的</a:t>
                </a:r>
                <a:r>
                  <a:rPr lang="zh-CN" altLang="en-US" sz="2000" dirty="0" smtClean="0">
                    <a:solidFill>
                      <a:schemeClr val="tx1"/>
                    </a:solidFill>
                    <a:latin typeface="仿宋" panose="02010609060101010101" pitchFamily="49" charset="-122"/>
                    <a:ea typeface="仿宋" panose="02010609060101010101" pitchFamily="49" charset="-122"/>
                  </a:rPr>
                  <a:t>折射率，</a:t>
                </a:r>
                <a14:m>
                  <m:oMath xmlns:m="http://schemas.openxmlformats.org/officeDocument/2006/math">
                    <m:sSub>
                      <m:sSubPr>
                        <m:ctrlPr>
                          <a:rPr lang="en-US" altLang="zh-CN" sz="2000" i="1">
                            <a:solidFill>
                              <a:schemeClr val="tx1"/>
                            </a:solidFill>
                            <a:latin typeface="Cambria Math" panose="02040503050406030204" pitchFamily="18" charset="0"/>
                            <a:ea typeface="微软雅黑" panose="020B0503020204020204" pitchFamily="34" charset="-122"/>
                          </a:rPr>
                        </m:ctrlPr>
                      </m:sSubPr>
                      <m:e>
                        <m:r>
                          <a:rPr lang="en-US" altLang="zh-CN" sz="2000" i="1">
                            <a:solidFill>
                              <a:schemeClr val="tx1"/>
                            </a:solidFill>
                            <a:latin typeface="Cambria Math" panose="02040503050406030204"/>
                            <a:ea typeface="微软雅黑" panose="020B0503020204020204" pitchFamily="34" charset="-122"/>
                          </a:rPr>
                          <m:t>𝑛</m:t>
                        </m:r>
                      </m:e>
                      <m:sub>
                        <m:r>
                          <a:rPr lang="en-US" altLang="zh-CN" sz="2000" i="1">
                            <a:solidFill>
                              <a:schemeClr val="tx1"/>
                            </a:solidFill>
                            <a:latin typeface="Cambria Math" panose="02040503050406030204"/>
                            <a:ea typeface="微软雅黑" panose="020B0503020204020204" pitchFamily="34" charset="-122"/>
                          </a:rPr>
                          <m:t>𝐹</m:t>
                        </m:r>
                      </m:sub>
                    </m:sSub>
                    <m:r>
                      <a:rPr lang="en-US" altLang="zh-CN" sz="2000" i="1">
                        <a:solidFill>
                          <a:schemeClr val="tx1"/>
                        </a:solidFill>
                        <a:latin typeface="Cambria Math" panose="02040503050406030204"/>
                        <a:ea typeface="微软雅黑" panose="020B0503020204020204" pitchFamily="34" charset="-122"/>
                      </a:rPr>
                      <m:t>−</m:t>
                    </m:r>
                    <m:sSub>
                      <m:sSubPr>
                        <m:ctrlPr>
                          <a:rPr lang="en-US" altLang="zh-CN" sz="2000" i="1">
                            <a:solidFill>
                              <a:schemeClr val="tx1"/>
                            </a:solidFill>
                            <a:latin typeface="Cambria Math" panose="02040503050406030204" pitchFamily="18" charset="0"/>
                            <a:ea typeface="微软雅黑" panose="020B0503020204020204" pitchFamily="34" charset="-122"/>
                          </a:rPr>
                        </m:ctrlPr>
                      </m:sSubPr>
                      <m:e>
                        <m:r>
                          <a:rPr lang="en-US" altLang="zh-CN" sz="2000" i="1">
                            <a:solidFill>
                              <a:schemeClr val="tx1"/>
                            </a:solidFill>
                            <a:latin typeface="Cambria Math" panose="02040503050406030204"/>
                            <a:ea typeface="微软雅黑" panose="020B0503020204020204" pitchFamily="34" charset="-122"/>
                          </a:rPr>
                          <m:t>𝑛</m:t>
                        </m:r>
                      </m:e>
                      <m:sub>
                        <m:r>
                          <a:rPr lang="en-US" altLang="zh-CN" sz="2000" i="1">
                            <a:solidFill>
                              <a:schemeClr val="tx1"/>
                            </a:solidFill>
                            <a:latin typeface="Cambria Math" panose="02040503050406030204"/>
                            <a:ea typeface="微软雅黑" panose="020B0503020204020204" pitchFamily="34" charset="-122"/>
                          </a:rPr>
                          <m:t>𝐶</m:t>
                        </m:r>
                      </m:sub>
                    </m:sSub>
                  </m:oMath>
                </a14:m>
                <a:r>
                  <a:rPr lang="zh-CN" altLang="en-US" sz="2000" dirty="0" smtClean="0">
                    <a:solidFill>
                      <a:schemeClr val="tx1"/>
                    </a:solidFill>
                    <a:latin typeface="仿宋" panose="02010609060101010101" pitchFamily="49" charset="-122"/>
                    <a:ea typeface="仿宋" panose="02010609060101010101" pitchFamily="49" charset="-122"/>
                  </a:rPr>
                  <a:t>称为中部色散</a:t>
                </a:r>
                <a:endParaRPr lang="en-US" altLang="zh-CN" sz="2000"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000" dirty="0" smtClean="0">
                    <a:solidFill>
                      <a:schemeClr val="tx1"/>
                    </a:solidFill>
                    <a:latin typeface="仿宋" panose="02010609060101010101" pitchFamily="49" charset="-122"/>
                    <a:ea typeface="仿宋" panose="02010609060101010101" pitchFamily="49" charset="-122"/>
                  </a:rPr>
                  <a:t>阿贝数越大，色散越小，阿贝数越小，色散越大</a:t>
                </a:r>
                <a:endParaRPr lang="en-US" altLang="zh-CN" sz="2000" dirty="0" smtClean="0">
                  <a:solidFill>
                    <a:schemeClr val="tx1"/>
                  </a:solidFill>
                  <a:latin typeface="仿宋" panose="02010609060101010101" pitchFamily="49" charset="-122"/>
                  <a:ea typeface="仿宋" panose="02010609060101010101" pitchFamily="49" charset="-122"/>
                </a:endParaRPr>
              </a:p>
              <a:p>
                <a:endParaRPr lang="zh-CN" altLang="en-US" sz="2000" dirty="0">
                  <a:latin typeface="仿宋" panose="02010609060101010101" pitchFamily="49" charset="-122"/>
                  <a:ea typeface="仿宋" panose="02010609060101010101" pitchFamily="49"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791394" y="737344"/>
                <a:ext cx="12818190" cy="6480720"/>
              </a:xfrm>
              <a:blipFill rotWithShape="1">
                <a:blip r:embed="rId1"/>
                <a:stretch>
                  <a:fillRect l="-1" t="-2" r="2" b="-4037"/>
                </a:stretch>
              </a:blipFill>
            </p:spPr>
            <p:txBody>
              <a:bodyPr/>
              <a:lstStyle/>
              <a:p>
                <a:r>
                  <a:rPr lang="zh-CN" altLang="en-US">
                    <a:noFill/>
                  </a:rPr>
                  <a:t> </a:t>
                </a:r>
              </a:p>
            </p:txBody>
          </p:sp>
        </mc:Fallback>
      </mc:AlternateContent>
      <p:pic>
        <p:nvPicPr>
          <p:cNvPr id="9218" name="Picture 2" descr="C:\Users\07285yzl\Desktop\红外镜头设计简介\新建文件夹\c83d70cf3bc79f3d885d803fbaa1cd11728b2904.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83482" y="2455156"/>
            <a:ext cx="3600000" cy="2880000"/>
          </a:xfrm>
          <a:prstGeom prst="rect">
            <a:avLst/>
          </a:prstGeom>
          <a:noFill/>
          <a:extLst>
            <a:ext uri="{909E8E84-426E-40DD-AFC4-6F175D3DCCD1}">
              <a14:hiddenFill xmlns:a14="http://schemas.microsoft.com/office/drawing/2010/main">
                <a:solidFill>
                  <a:srgbClr val="FFFFFF"/>
                </a:solidFill>
              </a14:hiddenFill>
            </a:ext>
          </a:extLst>
        </p:spPr>
      </p:pic>
      <p:pic>
        <p:nvPicPr>
          <p:cNvPr id="14338" name="Picture 2" descr="D:\工作\工作2022\红外镜头设计简介\新建文件夹\src=http___img57.chem17.com_9_20140630_635397180425227309273.png&amp;refer=http___img57.chem1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45052" y="1889552"/>
            <a:ext cx="5670028" cy="360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消色差</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a:lnSpc>
                    <a:spcPct val="150000"/>
                  </a:lnSpc>
                  <a:buFont typeface="Wingdings" panose="05000000000000000000" pitchFamily="2" charset="2"/>
                  <a:buChar char="p"/>
                </a:pPr>
                <a:r>
                  <a:rPr lang="zh-CN" altLang="en-US" sz="2000" b="1" dirty="0">
                    <a:solidFill>
                      <a:schemeClr val="accent5"/>
                    </a:solidFill>
                    <a:latin typeface="仿宋" panose="02010609060101010101" pitchFamily="49" charset="-122"/>
                    <a:ea typeface="仿宋" panose="02010609060101010101" pitchFamily="49" charset="-122"/>
                  </a:rPr>
                  <a:t>可见光消色差原理：</a:t>
                </a:r>
                <a:endParaRPr lang="en-US" altLang="zh-CN" sz="2000" b="1" dirty="0">
                  <a:solidFill>
                    <a:schemeClr val="accent5"/>
                  </a:solidFill>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000" dirty="0">
                    <a:solidFill>
                      <a:schemeClr val="tx1"/>
                    </a:solidFill>
                    <a:latin typeface="仿宋" panose="02010609060101010101" pitchFamily="49" charset="-122"/>
                    <a:ea typeface="仿宋" panose="02010609060101010101" pitchFamily="49" charset="-122"/>
                  </a:rPr>
                  <a:t>双胶合透镜消色差条件：</a:t>
                </a:r>
                <a14:m>
                  <m:oMath xmlns:m="http://schemas.openxmlformats.org/officeDocument/2006/math">
                    <m:f>
                      <m:fPr>
                        <m:ctrlPr>
                          <a:rPr lang="en-US" altLang="zh-CN" sz="2000" i="1">
                            <a:solidFill>
                              <a:schemeClr val="tx1"/>
                            </a:solidFill>
                            <a:latin typeface="Cambria Math" panose="02040503050406030204" pitchFamily="18" charset="0"/>
                            <a:ea typeface="微软雅黑" panose="020B0503020204020204" pitchFamily="34" charset="-122"/>
                          </a:rPr>
                        </m:ctrlPr>
                      </m:fPr>
                      <m:num>
                        <m:sSub>
                          <m:sSubPr>
                            <m:ctrlPr>
                              <a:rPr lang="en-US" altLang="zh-CN" sz="2000" i="1">
                                <a:solidFill>
                                  <a:schemeClr val="tx1"/>
                                </a:solidFill>
                                <a:latin typeface="Cambria Math" panose="02040503050406030204" pitchFamily="18" charset="0"/>
                                <a:ea typeface="微软雅黑" panose="020B0503020204020204" pitchFamily="34" charset="-122"/>
                              </a:rPr>
                            </m:ctrlPr>
                          </m:sSubPr>
                          <m:e>
                            <m:r>
                              <a:rPr lang="el-GR" altLang="zh-CN" sz="2000" i="1">
                                <a:solidFill>
                                  <a:schemeClr val="tx1"/>
                                </a:solidFill>
                                <a:latin typeface="Cambria Math" panose="02040503050406030204"/>
                                <a:ea typeface="微软雅黑" panose="020B0503020204020204" pitchFamily="34" charset="-122"/>
                              </a:rPr>
                              <m:t>𝛷</m:t>
                            </m:r>
                          </m:e>
                          <m:sub>
                            <m:r>
                              <a:rPr lang="en-US" altLang="zh-CN" sz="2000" i="1">
                                <a:solidFill>
                                  <a:schemeClr val="tx1"/>
                                </a:solidFill>
                                <a:latin typeface="Cambria Math" panose="02040503050406030204"/>
                                <a:ea typeface="微软雅黑" panose="020B0503020204020204" pitchFamily="34" charset="-122"/>
                              </a:rPr>
                              <m:t>1</m:t>
                            </m:r>
                          </m:sub>
                        </m:sSub>
                      </m:num>
                      <m:den>
                        <m:sSub>
                          <m:sSubPr>
                            <m:ctrlPr>
                              <a:rPr lang="en-US" altLang="zh-CN" sz="2000" i="1">
                                <a:solidFill>
                                  <a:schemeClr val="tx1"/>
                                </a:solidFill>
                                <a:latin typeface="Cambria Math" panose="02040503050406030204" pitchFamily="18" charset="0"/>
                                <a:ea typeface="微软雅黑" panose="020B0503020204020204" pitchFamily="34" charset="-122"/>
                              </a:rPr>
                            </m:ctrlPr>
                          </m:sSubPr>
                          <m:e>
                            <m:r>
                              <a:rPr lang="el-GR" altLang="zh-CN" sz="2000" i="1">
                                <a:solidFill>
                                  <a:schemeClr val="tx1"/>
                                </a:solidFill>
                                <a:latin typeface="Cambria Math" panose="02040503050406030204"/>
                                <a:ea typeface="微软雅黑" panose="020B0503020204020204" pitchFamily="34" charset="-122"/>
                              </a:rPr>
                              <m:t>𝜐</m:t>
                            </m:r>
                          </m:e>
                          <m:sub>
                            <m:r>
                              <a:rPr lang="en-US" altLang="zh-CN" sz="2000" i="1">
                                <a:solidFill>
                                  <a:schemeClr val="tx1"/>
                                </a:solidFill>
                                <a:latin typeface="Cambria Math" panose="02040503050406030204"/>
                                <a:ea typeface="微软雅黑" panose="020B0503020204020204" pitchFamily="34" charset="-122"/>
                              </a:rPr>
                              <m:t>1</m:t>
                            </m:r>
                          </m:sub>
                        </m:sSub>
                      </m:den>
                    </m:f>
                    <m:r>
                      <a:rPr lang="en-US" altLang="zh-CN" sz="2000" i="1">
                        <a:solidFill>
                          <a:schemeClr val="tx1"/>
                        </a:solidFill>
                        <a:latin typeface="Cambria Math" panose="02040503050406030204"/>
                        <a:ea typeface="微软雅黑" panose="020B0503020204020204" pitchFamily="34" charset="-122"/>
                      </a:rPr>
                      <m:t>+</m:t>
                    </m:r>
                    <m:f>
                      <m:fPr>
                        <m:ctrlPr>
                          <a:rPr lang="en-US" altLang="zh-CN" sz="2000" i="1">
                            <a:solidFill>
                              <a:schemeClr val="tx1"/>
                            </a:solidFill>
                            <a:latin typeface="Cambria Math" panose="02040503050406030204" pitchFamily="18" charset="0"/>
                            <a:ea typeface="微软雅黑" panose="020B0503020204020204" pitchFamily="34" charset="-122"/>
                          </a:rPr>
                        </m:ctrlPr>
                      </m:fPr>
                      <m:num>
                        <m:sSub>
                          <m:sSubPr>
                            <m:ctrlPr>
                              <a:rPr lang="en-US" altLang="zh-CN" sz="2000" i="1">
                                <a:solidFill>
                                  <a:schemeClr val="tx1"/>
                                </a:solidFill>
                                <a:latin typeface="Cambria Math" panose="02040503050406030204" pitchFamily="18" charset="0"/>
                                <a:ea typeface="微软雅黑" panose="020B0503020204020204" pitchFamily="34" charset="-122"/>
                              </a:rPr>
                            </m:ctrlPr>
                          </m:sSubPr>
                          <m:e>
                            <m:r>
                              <a:rPr lang="el-GR" altLang="zh-CN" sz="2000" i="1">
                                <a:solidFill>
                                  <a:schemeClr val="tx1"/>
                                </a:solidFill>
                                <a:latin typeface="Cambria Math" panose="02040503050406030204"/>
                                <a:ea typeface="微软雅黑" panose="020B0503020204020204" pitchFamily="34" charset="-122"/>
                              </a:rPr>
                              <m:t>𝛷</m:t>
                            </m:r>
                          </m:e>
                          <m:sub>
                            <m:r>
                              <a:rPr lang="en-US" altLang="zh-CN" sz="2000" i="1">
                                <a:solidFill>
                                  <a:schemeClr val="tx1"/>
                                </a:solidFill>
                                <a:latin typeface="Cambria Math" panose="02040503050406030204"/>
                                <a:ea typeface="微软雅黑" panose="020B0503020204020204" pitchFamily="34" charset="-122"/>
                              </a:rPr>
                              <m:t>2</m:t>
                            </m:r>
                          </m:sub>
                        </m:sSub>
                      </m:num>
                      <m:den>
                        <m:sSub>
                          <m:sSubPr>
                            <m:ctrlPr>
                              <a:rPr lang="en-US" altLang="zh-CN" sz="2000" i="1">
                                <a:solidFill>
                                  <a:schemeClr val="tx1"/>
                                </a:solidFill>
                                <a:latin typeface="Cambria Math" panose="02040503050406030204" pitchFamily="18" charset="0"/>
                                <a:ea typeface="微软雅黑" panose="020B0503020204020204" pitchFamily="34" charset="-122"/>
                              </a:rPr>
                            </m:ctrlPr>
                          </m:sSubPr>
                          <m:e>
                            <m:r>
                              <a:rPr lang="el-GR" altLang="zh-CN" sz="2000" i="1">
                                <a:solidFill>
                                  <a:schemeClr val="tx1"/>
                                </a:solidFill>
                                <a:latin typeface="Cambria Math" panose="02040503050406030204"/>
                                <a:ea typeface="微软雅黑" panose="020B0503020204020204" pitchFamily="34" charset="-122"/>
                              </a:rPr>
                              <m:t>𝜐</m:t>
                            </m:r>
                          </m:e>
                          <m:sub>
                            <m:r>
                              <a:rPr lang="en-US" altLang="zh-CN" sz="2000" i="1">
                                <a:solidFill>
                                  <a:schemeClr val="tx1"/>
                                </a:solidFill>
                                <a:latin typeface="Cambria Math" panose="02040503050406030204"/>
                                <a:ea typeface="微软雅黑" panose="020B0503020204020204" pitchFamily="34" charset="-122"/>
                              </a:rPr>
                              <m:t>2</m:t>
                            </m:r>
                          </m:sub>
                        </m:sSub>
                      </m:den>
                    </m:f>
                    <m:r>
                      <a:rPr lang="en-US" altLang="zh-CN" sz="2000" i="1">
                        <a:solidFill>
                          <a:schemeClr val="tx1"/>
                        </a:solidFill>
                        <a:latin typeface="Cambria Math" panose="02040503050406030204"/>
                        <a:ea typeface="微软雅黑" panose="020B0503020204020204" pitchFamily="34" charset="-122"/>
                      </a:rPr>
                      <m:t>=</m:t>
                    </m:r>
                  </m:oMath>
                </a14:m>
                <a:r>
                  <a:rPr lang="en-US" altLang="zh-CN" sz="2000" dirty="0">
                    <a:solidFill>
                      <a:schemeClr val="tx1"/>
                    </a:solidFill>
                    <a:latin typeface="仿宋" panose="02010609060101010101" pitchFamily="49" charset="-122"/>
                    <a:ea typeface="仿宋" panose="02010609060101010101" pitchFamily="49" charset="-122"/>
                  </a:rPr>
                  <a:t>0</a:t>
                </a:r>
                <a:r>
                  <a:rPr lang="zh-CN" altLang="en-US" sz="2000" dirty="0">
                    <a:solidFill>
                      <a:schemeClr val="tx1"/>
                    </a:solidFill>
                    <a:latin typeface="仿宋" panose="02010609060101010101" pitchFamily="49" charset="-122"/>
                    <a:ea typeface="仿宋" panose="02010609060101010101" pitchFamily="49" charset="-122"/>
                  </a:rPr>
                  <a:t>，</a:t>
                </a:r>
                <a:r>
                  <a:rPr lang="el-GR" altLang="zh-CN" sz="2000" dirty="0">
                    <a:solidFill>
                      <a:schemeClr val="tx1"/>
                    </a:solidFill>
                    <a:latin typeface="仿宋" panose="02010609060101010101" pitchFamily="49" charset="-122"/>
                    <a:ea typeface="仿宋" panose="02010609060101010101" pitchFamily="49" charset="-122"/>
                  </a:rPr>
                  <a:t>Φ</a:t>
                </a:r>
                <a:r>
                  <a:rPr lang="en-US" altLang="zh-CN" sz="2000" dirty="0">
                    <a:solidFill>
                      <a:schemeClr val="tx1"/>
                    </a:solidFill>
                    <a:latin typeface="仿宋" panose="02010609060101010101" pitchFamily="49" charset="-122"/>
                    <a:ea typeface="仿宋" panose="02010609060101010101" pitchFamily="49" charset="-122"/>
                  </a:rPr>
                  <a:t>=</a:t>
                </a:r>
                <a14:m>
                  <m:oMath xmlns:m="http://schemas.openxmlformats.org/officeDocument/2006/math">
                    <m:sSub>
                      <m:sSubPr>
                        <m:ctrlPr>
                          <a:rPr lang="en-US" altLang="zh-CN" sz="2000" i="1">
                            <a:solidFill>
                              <a:schemeClr val="tx1"/>
                            </a:solidFill>
                            <a:latin typeface="Cambria Math" panose="02040503050406030204" pitchFamily="18" charset="0"/>
                            <a:ea typeface="微软雅黑" panose="020B0503020204020204" pitchFamily="34" charset="-122"/>
                          </a:rPr>
                        </m:ctrlPr>
                      </m:sSubPr>
                      <m:e>
                        <m:r>
                          <a:rPr lang="el-GR" altLang="zh-CN" sz="2000" i="1">
                            <a:solidFill>
                              <a:schemeClr val="tx1"/>
                            </a:solidFill>
                            <a:latin typeface="Cambria Math" panose="02040503050406030204"/>
                            <a:ea typeface="微软雅黑" panose="020B0503020204020204" pitchFamily="34" charset="-122"/>
                          </a:rPr>
                          <m:t>𝛷</m:t>
                        </m:r>
                      </m:e>
                      <m:sub>
                        <m:r>
                          <a:rPr lang="en-US" altLang="zh-CN" sz="2000" i="1">
                            <a:solidFill>
                              <a:schemeClr val="tx1"/>
                            </a:solidFill>
                            <a:latin typeface="Cambria Math" panose="02040503050406030204"/>
                            <a:ea typeface="微软雅黑" panose="020B0503020204020204" pitchFamily="34" charset="-122"/>
                          </a:rPr>
                          <m:t>1</m:t>
                        </m:r>
                      </m:sub>
                    </m:sSub>
                  </m:oMath>
                </a14:m>
                <a:r>
                  <a:rPr lang="en-US" altLang="zh-CN" sz="2000" dirty="0">
                    <a:solidFill>
                      <a:schemeClr val="tx1"/>
                    </a:solidFill>
                    <a:latin typeface="仿宋" panose="02010609060101010101" pitchFamily="49" charset="-122"/>
                    <a:ea typeface="仿宋" panose="02010609060101010101" pitchFamily="49" charset="-122"/>
                  </a:rPr>
                  <a:t>+</a:t>
                </a:r>
                <a14:m>
                  <m:oMath xmlns:m="http://schemas.openxmlformats.org/officeDocument/2006/math">
                    <m:sSub>
                      <m:sSubPr>
                        <m:ctrlPr>
                          <a:rPr lang="en-US" altLang="zh-CN" sz="2000" i="1">
                            <a:solidFill>
                              <a:schemeClr val="tx1"/>
                            </a:solidFill>
                            <a:latin typeface="Cambria Math" panose="02040503050406030204" pitchFamily="18" charset="0"/>
                            <a:ea typeface="微软雅黑" panose="020B0503020204020204" pitchFamily="34" charset="-122"/>
                          </a:rPr>
                        </m:ctrlPr>
                      </m:sSubPr>
                      <m:e>
                        <m:r>
                          <a:rPr lang="el-GR" altLang="zh-CN" sz="2000" i="1">
                            <a:solidFill>
                              <a:schemeClr val="tx1"/>
                            </a:solidFill>
                            <a:latin typeface="Cambria Math" panose="02040503050406030204"/>
                            <a:ea typeface="微软雅黑" panose="020B0503020204020204" pitchFamily="34" charset="-122"/>
                          </a:rPr>
                          <m:t>𝛷</m:t>
                        </m:r>
                      </m:e>
                      <m:sub>
                        <m:r>
                          <a:rPr lang="en-US" altLang="zh-CN" sz="2000" i="1">
                            <a:solidFill>
                              <a:schemeClr val="tx1"/>
                            </a:solidFill>
                            <a:latin typeface="Cambria Math" panose="02040503050406030204"/>
                            <a:ea typeface="微软雅黑" panose="020B0503020204020204" pitchFamily="34" charset="-122"/>
                          </a:rPr>
                          <m:t>2</m:t>
                        </m:r>
                      </m:sub>
                    </m:sSub>
                  </m:oMath>
                </a14:m>
                <a:r>
                  <a:rPr lang="zh-CN" altLang="en-US" sz="2000" dirty="0">
                    <a:solidFill>
                      <a:schemeClr val="tx1"/>
                    </a:solidFill>
                    <a:latin typeface="仿宋" panose="02010609060101010101" pitchFamily="49" charset="-122"/>
                    <a:ea typeface="仿宋" panose="02010609060101010101" pitchFamily="49" charset="-122"/>
                  </a:rPr>
                  <a:t>＞</a:t>
                </a:r>
                <a:r>
                  <a:rPr lang="en-US" altLang="zh-CN" sz="2000" dirty="0" smtClean="0">
                    <a:solidFill>
                      <a:schemeClr val="tx1"/>
                    </a:solidFill>
                    <a:latin typeface="仿宋" panose="02010609060101010101" pitchFamily="49" charset="-122"/>
                    <a:ea typeface="仿宋" panose="02010609060101010101" pitchFamily="49" charset="-122"/>
                  </a:rPr>
                  <a:t>0</a:t>
                </a:r>
                <a:endParaRPr lang="en-US" altLang="zh-CN" sz="2000"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000" dirty="0">
                    <a:solidFill>
                      <a:schemeClr val="tx1"/>
                    </a:solidFill>
                    <a:latin typeface="仿宋" panose="02010609060101010101" pitchFamily="49" charset="-122"/>
                    <a:ea typeface="仿宋" panose="02010609060101010101" pitchFamily="49" charset="-122"/>
                  </a:rPr>
                  <a:t>得到</a:t>
                </a:r>
                <a:r>
                  <a:rPr lang="zh-CN" altLang="en-US" sz="2000" dirty="0" smtClean="0">
                    <a:solidFill>
                      <a:schemeClr val="tx1"/>
                    </a:solidFill>
                    <a:latin typeface="仿宋" panose="02010609060101010101" pitchFamily="49" charset="-122"/>
                    <a:ea typeface="仿宋" panose="02010609060101010101" pitchFamily="49" charset="-122"/>
                  </a:rPr>
                  <a:t>结论：</a:t>
                </a:r>
                <a14:m>
                  <m:oMath xmlns:m="http://schemas.openxmlformats.org/officeDocument/2006/math">
                    <m:sSub>
                      <m:sSubPr>
                        <m:ctrlPr>
                          <a:rPr lang="en-US" altLang="zh-CN" sz="2000" i="1">
                            <a:solidFill>
                              <a:schemeClr val="tx1"/>
                            </a:solidFill>
                            <a:latin typeface="Cambria Math" panose="02040503050406030204" pitchFamily="18" charset="0"/>
                            <a:ea typeface="微软雅黑" panose="020B0503020204020204" pitchFamily="34" charset="-122"/>
                          </a:rPr>
                        </m:ctrlPr>
                      </m:sSubPr>
                      <m:e>
                        <m:r>
                          <a:rPr lang="el-GR" altLang="zh-CN" sz="2000" i="1">
                            <a:solidFill>
                              <a:schemeClr val="tx1"/>
                            </a:solidFill>
                            <a:latin typeface="Cambria Math" panose="02040503050406030204"/>
                            <a:ea typeface="微软雅黑" panose="020B0503020204020204" pitchFamily="34" charset="-122"/>
                          </a:rPr>
                          <m:t>𝛷</m:t>
                        </m:r>
                      </m:e>
                      <m:sub>
                        <m:r>
                          <a:rPr lang="en-US" altLang="zh-CN" sz="2000" i="1">
                            <a:solidFill>
                              <a:schemeClr val="tx1"/>
                            </a:solidFill>
                            <a:latin typeface="Cambria Math" panose="02040503050406030204"/>
                            <a:ea typeface="微软雅黑" panose="020B0503020204020204" pitchFamily="34" charset="-122"/>
                          </a:rPr>
                          <m:t>1</m:t>
                        </m:r>
                      </m:sub>
                    </m:sSub>
                  </m:oMath>
                </a14:m>
                <a:r>
                  <a:rPr lang="zh-CN" altLang="en-US" sz="2000" dirty="0" smtClean="0">
                    <a:solidFill>
                      <a:schemeClr val="accent5"/>
                    </a:solidFill>
                    <a:latin typeface="仿宋" panose="02010609060101010101" pitchFamily="49" charset="-122"/>
                    <a:ea typeface="仿宋" panose="02010609060101010101" pitchFamily="49" charset="-122"/>
                  </a:rPr>
                  <a:t>＞</a:t>
                </a:r>
                <a14:m>
                  <m:oMath xmlns:m="http://schemas.openxmlformats.org/officeDocument/2006/math">
                    <m:sSub>
                      <m:sSubPr>
                        <m:ctrlPr>
                          <a:rPr lang="en-US" altLang="zh-CN" sz="2000" i="1">
                            <a:solidFill>
                              <a:schemeClr val="tx1"/>
                            </a:solidFill>
                            <a:latin typeface="Cambria Math" panose="02040503050406030204" pitchFamily="18" charset="0"/>
                            <a:ea typeface="微软雅黑" panose="020B0503020204020204" pitchFamily="34" charset="-122"/>
                          </a:rPr>
                        </m:ctrlPr>
                      </m:sSubPr>
                      <m:e>
                        <m:r>
                          <a:rPr lang="el-GR" altLang="zh-CN" sz="2000" i="1">
                            <a:solidFill>
                              <a:schemeClr val="tx1"/>
                            </a:solidFill>
                            <a:latin typeface="Cambria Math" panose="02040503050406030204"/>
                            <a:ea typeface="微软雅黑" panose="020B0503020204020204" pitchFamily="34" charset="-122"/>
                          </a:rPr>
                          <m:t>𝛷</m:t>
                        </m:r>
                      </m:e>
                      <m:sub>
                        <m:r>
                          <a:rPr lang="en-US" altLang="zh-CN" sz="2000" i="1">
                            <a:solidFill>
                              <a:schemeClr val="tx1"/>
                            </a:solidFill>
                            <a:latin typeface="Cambria Math" panose="02040503050406030204"/>
                            <a:ea typeface="微软雅黑" panose="020B0503020204020204" pitchFamily="34" charset="-122"/>
                          </a:rPr>
                          <m:t>2</m:t>
                        </m:r>
                      </m:sub>
                    </m:sSub>
                  </m:oMath>
                </a14:m>
                <a:r>
                  <a:rPr lang="zh-CN" altLang="en-US" sz="2000" dirty="0" smtClean="0">
                    <a:solidFill>
                      <a:schemeClr val="accent5"/>
                    </a:solidFill>
                    <a:latin typeface="仿宋" panose="02010609060101010101" pitchFamily="49" charset="-122"/>
                    <a:ea typeface="仿宋" panose="02010609060101010101" pitchFamily="49" charset="-122"/>
                  </a:rPr>
                  <a:t>，</a:t>
                </a:r>
                <a14:m>
                  <m:oMath xmlns:m="http://schemas.openxmlformats.org/officeDocument/2006/math">
                    <m:sSub>
                      <m:sSubPr>
                        <m:ctrlPr>
                          <a:rPr lang="en-US" altLang="zh-CN" sz="2000" i="1">
                            <a:solidFill>
                              <a:schemeClr val="tx1"/>
                            </a:solidFill>
                            <a:latin typeface="Cambria Math" panose="02040503050406030204" pitchFamily="18" charset="0"/>
                            <a:ea typeface="微软雅黑" panose="020B0503020204020204" pitchFamily="34" charset="-122"/>
                          </a:rPr>
                        </m:ctrlPr>
                      </m:sSubPr>
                      <m:e>
                        <m:r>
                          <a:rPr lang="el-GR" altLang="zh-CN" sz="2000" i="1">
                            <a:solidFill>
                              <a:schemeClr val="tx1"/>
                            </a:solidFill>
                            <a:latin typeface="Cambria Math" panose="02040503050406030204"/>
                            <a:ea typeface="微软雅黑" panose="020B0503020204020204" pitchFamily="34" charset="-122"/>
                          </a:rPr>
                          <m:t>𝜐</m:t>
                        </m:r>
                      </m:e>
                      <m:sub>
                        <m:r>
                          <a:rPr lang="en-US" altLang="zh-CN" sz="2000" i="1">
                            <a:solidFill>
                              <a:schemeClr val="tx1"/>
                            </a:solidFill>
                            <a:latin typeface="Cambria Math" panose="02040503050406030204"/>
                            <a:ea typeface="微软雅黑" panose="020B0503020204020204" pitchFamily="34" charset="-122"/>
                          </a:rPr>
                          <m:t>1</m:t>
                        </m:r>
                      </m:sub>
                    </m:sSub>
                  </m:oMath>
                </a14:m>
                <a:r>
                  <a:rPr lang="zh-CN" altLang="en-US" sz="2000" dirty="0" smtClean="0">
                    <a:solidFill>
                      <a:schemeClr val="accent5"/>
                    </a:solidFill>
                    <a:latin typeface="仿宋" panose="02010609060101010101" pitchFamily="49" charset="-122"/>
                    <a:ea typeface="仿宋" panose="02010609060101010101" pitchFamily="49" charset="-122"/>
                  </a:rPr>
                  <a:t>＞</a:t>
                </a:r>
                <a14:m>
                  <m:oMath xmlns:m="http://schemas.openxmlformats.org/officeDocument/2006/math">
                    <m:sSub>
                      <m:sSubPr>
                        <m:ctrlPr>
                          <a:rPr lang="en-US" altLang="zh-CN" sz="2000" i="1">
                            <a:solidFill>
                              <a:schemeClr val="tx1"/>
                            </a:solidFill>
                            <a:latin typeface="Cambria Math" panose="02040503050406030204" pitchFamily="18" charset="0"/>
                            <a:ea typeface="微软雅黑" panose="020B0503020204020204" pitchFamily="34" charset="-122"/>
                          </a:rPr>
                        </m:ctrlPr>
                      </m:sSubPr>
                      <m:e>
                        <m:r>
                          <a:rPr lang="el-GR" altLang="zh-CN" sz="2000" i="1">
                            <a:solidFill>
                              <a:schemeClr val="tx1"/>
                            </a:solidFill>
                            <a:latin typeface="Cambria Math" panose="02040503050406030204"/>
                            <a:ea typeface="微软雅黑" panose="020B0503020204020204" pitchFamily="34" charset="-122"/>
                          </a:rPr>
                          <m:t>𝜐</m:t>
                        </m:r>
                      </m:e>
                      <m:sub>
                        <m:r>
                          <a:rPr lang="en-US" altLang="zh-CN" sz="2000" i="1">
                            <a:solidFill>
                              <a:schemeClr val="tx1"/>
                            </a:solidFill>
                            <a:latin typeface="Cambria Math" panose="02040503050406030204"/>
                            <a:ea typeface="微软雅黑" panose="020B0503020204020204" pitchFamily="34" charset="-122"/>
                          </a:rPr>
                          <m:t>2</m:t>
                        </m:r>
                      </m:sub>
                    </m:sSub>
                  </m:oMath>
                </a14:m>
                <a:endParaRPr lang="en-US" altLang="zh-CN" sz="2000" dirty="0" smtClean="0">
                  <a:solidFill>
                    <a:schemeClr val="accent5"/>
                  </a:solidFill>
                  <a:latin typeface="仿宋" panose="02010609060101010101" pitchFamily="49" charset="-122"/>
                  <a:ea typeface="仿宋" panose="02010609060101010101" pitchFamily="49" charset="-122"/>
                </a:endParaRPr>
              </a:p>
              <a:p>
                <a:pPr marL="0" indent="0">
                  <a:lnSpc>
                    <a:spcPct val="150000"/>
                  </a:lnSpc>
                </a:pPr>
                <a:endParaRPr lang="en-US" altLang="zh-CN" sz="2000" dirty="0" smtClean="0">
                  <a:solidFill>
                    <a:schemeClr val="accent5"/>
                  </a:solidFill>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r>
                  <a:rPr lang="zh-CN" altLang="en-US" sz="2000" b="1" dirty="0" smtClean="0">
                    <a:solidFill>
                      <a:schemeClr val="accent5"/>
                    </a:solidFill>
                    <a:latin typeface="仿宋" panose="02010609060101010101" pitchFamily="49" charset="-122"/>
                    <a:ea typeface="仿宋" panose="02010609060101010101" pitchFamily="49" charset="-122"/>
                  </a:rPr>
                  <a:t>冕牌玻璃：</a:t>
                </a:r>
                <a:r>
                  <a:rPr lang="zh-CN" altLang="en-US" sz="2000" dirty="0" smtClean="0">
                    <a:solidFill>
                      <a:schemeClr val="tx1"/>
                    </a:solidFill>
                    <a:latin typeface="仿宋" panose="02010609060101010101" pitchFamily="49" charset="-122"/>
                    <a:ea typeface="仿宋" panose="02010609060101010101" pitchFamily="49" charset="-122"/>
                  </a:rPr>
                  <a:t>低色散，大阿贝数，消色差正透镜</a:t>
                </a:r>
                <a:endParaRPr lang="en-US" altLang="zh-CN" sz="2000"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spcBef>
                    <a:spcPts val="0"/>
                  </a:spcBef>
                  <a:buFont typeface="Wingdings" panose="05000000000000000000" pitchFamily="2" charset="2"/>
                  <a:buChar char="p"/>
                </a:pPr>
                <a:r>
                  <a:rPr lang="zh-CN" altLang="en-US" sz="2000" b="1" dirty="0" smtClean="0">
                    <a:solidFill>
                      <a:schemeClr val="accent5"/>
                    </a:solidFill>
                    <a:latin typeface="仿宋" panose="02010609060101010101" pitchFamily="49" charset="-122"/>
                    <a:ea typeface="仿宋" panose="02010609060101010101" pitchFamily="49" charset="-122"/>
                  </a:rPr>
                  <a:t>火石玻璃：</a:t>
                </a:r>
                <a:r>
                  <a:rPr lang="zh-CN" altLang="en-US" sz="2000" dirty="0" smtClean="0">
                    <a:solidFill>
                      <a:schemeClr val="tx1"/>
                    </a:solidFill>
                    <a:latin typeface="仿宋" panose="02010609060101010101" pitchFamily="49" charset="-122"/>
                    <a:ea typeface="仿宋" panose="02010609060101010101" pitchFamily="49" charset="-122"/>
                  </a:rPr>
                  <a:t>高色散，小阿</a:t>
                </a:r>
                <a:r>
                  <a:rPr lang="zh-CN" altLang="en-US" sz="2000" dirty="0">
                    <a:solidFill>
                      <a:schemeClr val="tx1"/>
                    </a:solidFill>
                    <a:latin typeface="仿宋" panose="02010609060101010101" pitchFamily="49" charset="-122"/>
                    <a:ea typeface="仿宋" panose="02010609060101010101" pitchFamily="49" charset="-122"/>
                  </a:rPr>
                  <a:t>贝数</a:t>
                </a:r>
                <a:r>
                  <a:rPr lang="zh-CN" altLang="en-US" sz="2000" dirty="0" smtClean="0">
                    <a:solidFill>
                      <a:schemeClr val="tx1"/>
                    </a:solidFill>
                    <a:latin typeface="仿宋" panose="02010609060101010101" pitchFamily="49" charset="-122"/>
                    <a:ea typeface="仿宋" panose="02010609060101010101" pitchFamily="49" charset="-122"/>
                  </a:rPr>
                  <a:t>，消色差负透镜</a:t>
                </a:r>
                <a:endParaRPr lang="en-US" altLang="zh-CN" sz="2000"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spcBef>
                    <a:spcPts val="0"/>
                  </a:spcBef>
                  <a:buFont typeface="Wingdings" panose="05000000000000000000" pitchFamily="2" charset="2"/>
                  <a:buChar char="p"/>
                </a:pPr>
                <a:endParaRPr lang="en-US" altLang="zh-CN" sz="2000" dirty="0" smtClean="0">
                  <a:solidFill>
                    <a:schemeClr val="tx1"/>
                  </a:solidFill>
                  <a:latin typeface="微软雅黑" panose="020B0503020204020204" pitchFamily="34" charset="-122"/>
                  <a:ea typeface="微软雅黑" panose="020B0503020204020204" pitchFamily="34" charset="-122"/>
                </a:endParaRPr>
              </a:p>
              <a:p>
                <a:pPr marL="342900" indent="-342900">
                  <a:lnSpc>
                    <a:spcPct val="150000"/>
                  </a:lnSpc>
                  <a:spcBef>
                    <a:spcPts val="0"/>
                  </a:spcBef>
                  <a:buFont typeface="Wingdings" panose="05000000000000000000" pitchFamily="2" charset="2"/>
                  <a:buChar char="ü"/>
                </a:pPr>
                <a:r>
                  <a:rPr lang="zh-CN" altLang="en-US" sz="2000" dirty="0" smtClean="0">
                    <a:solidFill>
                      <a:schemeClr val="tx1"/>
                    </a:solidFill>
                    <a:latin typeface="仿宋" panose="02010609060101010101" pitchFamily="49" charset="-122"/>
                    <a:ea typeface="仿宋" panose="02010609060101010101" pitchFamily="49" charset="-122"/>
                  </a:rPr>
                  <a:t>所有材料的阿贝数</a:t>
                </a:r>
                <a14:m>
                  <m:oMath xmlns:m="http://schemas.openxmlformats.org/officeDocument/2006/math">
                    <m:r>
                      <a:rPr lang="el-GR" altLang="zh-CN" sz="2000" i="1">
                        <a:solidFill>
                          <a:schemeClr val="tx1"/>
                        </a:solidFill>
                        <a:latin typeface="Cambria Math" panose="02040503050406030204"/>
                        <a:ea typeface="微软雅黑" panose="020B0503020204020204" pitchFamily="34" charset="-122"/>
                      </a:rPr>
                      <m:t>𝜐</m:t>
                    </m:r>
                  </m:oMath>
                </a14:m>
                <a:r>
                  <a:rPr lang="zh-CN" altLang="en-US" sz="2000" dirty="0" smtClean="0">
                    <a:solidFill>
                      <a:schemeClr val="tx1"/>
                    </a:solidFill>
                    <a:latin typeface="仿宋" panose="02010609060101010101" pitchFamily="49" charset="-122"/>
                    <a:ea typeface="仿宋" panose="02010609060101010101" pitchFamily="49" charset="-122"/>
                  </a:rPr>
                  <a:t>为正值，衍射面</a:t>
                </a:r>
                <a14:m>
                  <m:oMath xmlns:m="http://schemas.openxmlformats.org/officeDocument/2006/math">
                    <m:r>
                      <a:rPr lang="el-GR" altLang="zh-CN" sz="2000" i="1">
                        <a:solidFill>
                          <a:schemeClr val="tx1"/>
                        </a:solidFill>
                        <a:latin typeface="Cambria Math" panose="02040503050406030204"/>
                        <a:ea typeface="微软雅黑" panose="020B0503020204020204" pitchFamily="34" charset="-122"/>
                      </a:rPr>
                      <m:t>𝜐</m:t>
                    </m:r>
                  </m:oMath>
                </a14:m>
                <a:r>
                  <a:rPr lang="zh-CN" altLang="en-US" sz="2000" dirty="0" smtClean="0">
                    <a:solidFill>
                      <a:schemeClr val="tx1"/>
                    </a:solidFill>
                    <a:latin typeface="仿宋" panose="02010609060101010101" pitchFamily="49" charset="-122"/>
                    <a:ea typeface="仿宋" panose="02010609060101010101" pitchFamily="49" charset="-122"/>
                  </a:rPr>
                  <a:t>为负值，所以衍射面消色差有很大的优势</a:t>
                </a:r>
                <a:endParaRPr lang="en-US" altLang="zh-CN" sz="2000"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spcBef>
                    <a:spcPts val="0"/>
                  </a:spcBef>
                  <a:buFont typeface="Wingdings" panose="05000000000000000000" pitchFamily="2" charset="2"/>
                  <a:buChar char="ü"/>
                </a:pPr>
                <a:r>
                  <a:rPr lang="zh-CN" altLang="en-US" sz="2000" dirty="0" smtClean="0">
                    <a:solidFill>
                      <a:schemeClr val="tx1"/>
                    </a:solidFill>
                    <a:latin typeface="仿宋" panose="02010609060101010101" pitchFamily="49" charset="-122"/>
                    <a:ea typeface="仿宋" panose="02010609060101010101" pitchFamily="49" charset="-122"/>
                  </a:rPr>
                  <a:t>用衍射面主要是消色差、消热差，红外消色差原理一样，只是不胶合。</a:t>
                </a:r>
                <a:endParaRPr lang="en-US" altLang="zh-CN" sz="2000" dirty="0" smtClean="0">
                  <a:solidFill>
                    <a:schemeClr val="tx1"/>
                  </a:solidFill>
                  <a:latin typeface="仿宋" panose="02010609060101010101" pitchFamily="49" charset="-122"/>
                  <a:ea typeface="仿宋" panose="02010609060101010101" pitchFamily="49" charset="-122"/>
                </a:endParaRPr>
              </a:p>
              <a:p>
                <a:endParaRPr lang="zh-CN" altLang="en-US" sz="2000" dirty="0">
                  <a:latin typeface="仿宋" panose="02010609060101010101" pitchFamily="49" charset="-122"/>
                  <a:ea typeface="仿宋" panose="02010609060101010101" pitchFamily="49"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l="-2" t="-4" r="3" b="9"/>
                </a:stretch>
              </a:blipFill>
            </p:spPr>
            <p:txBody>
              <a:bodyPr/>
              <a:lstStyle/>
              <a:p>
                <a:r>
                  <a:rPr lang="zh-CN" altLang="en-US">
                    <a:noFill/>
                  </a:rPr>
                  <a:t> </a:t>
                </a:r>
              </a:p>
            </p:txBody>
          </p:sp>
        </mc:Fallback>
      </mc:AlternateContent>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0186" y="881360"/>
            <a:ext cx="4155286" cy="360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无热化</a:t>
            </a:r>
            <a:endParaRPr lang="zh-CN" altLang="en-US" dirty="0"/>
          </a:p>
        </p:txBody>
      </p:sp>
      <p:sp>
        <p:nvSpPr>
          <p:cNvPr id="3" name="内容占位符 2"/>
          <p:cNvSpPr>
            <a:spLocks noGrp="1"/>
          </p:cNvSpPr>
          <p:nvPr>
            <p:ph idx="1"/>
          </p:nvPr>
        </p:nvSpPr>
        <p:spPr/>
        <p:txBody>
          <a:bodyPr/>
          <a:lstStyle/>
          <a:p>
            <a:pPr>
              <a:lnSpc>
                <a:spcPct val="150000"/>
              </a:lnSpc>
              <a:buFont typeface="Wingdings" panose="05000000000000000000" pitchFamily="2" charset="2"/>
              <a:buChar char="p"/>
            </a:pPr>
            <a:r>
              <a:rPr lang="zh-CN" altLang="en-US" sz="2000" b="1" dirty="0">
                <a:solidFill>
                  <a:schemeClr val="accent5"/>
                </a:solidFill>
                <a:latin typeface="仿宋" panose="02010609060101010101" pitchFamily="49" charset="-122"/>
                <a:ea typeface="仿宋" panose="02010609060101010101" pitchFamily="49" charset="-122"/>
              </a:rPr>
              <a:t>产生原因</a:t>
            </a:r>
            <a:endParaRPr lang="en-US" altLang="zh-CN" sz="2000" b="1" dirty="0">
              <a:solidFill>
                <a:schemeClr val="accent5"/>
              </a:solidFill>
              <a:latin typeface="仿宋" panose="02010609060101010101" pitchFamily="49" charset="-122"/>
              <a:ea typeface="仿宋" panose="02010609060101010101" pitchFamily="49" charset="-122"/>
            </a:endParaRPr>
          </a:p>
          <a:p>
            <a:pPr>
              <a:lnSpc>
                <a:spcPct val="150000"/>
              </a:lnSpc>
              <a:buFont typeface="Arial" panose="020B0604020202020204" pitchFamily="34" charset="0"/>
              <a:buChar char="•"/>
            </a:pPr>
            <a:r>
              <a:rPr lang="zh-CN" altLang="en-US" sz="2000" dirty="0" smtClean="0">
                <a:solidFill>
                  <a:schemeClr val="tx1"/>
                </a:solidFill>
                <a:latin typeface="仿宋" panose="02010609060101010101" pitchFamily="49" charset="-122"/>
                <a:ea typeface="仿宋" panose="02010609060101010101" pitchFamily="49" charset="-122"/>
              </a:rPr>
              <a:t>镜片、结构件热胀冷缩</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buFont typeface="Arial" panose="020B0604020202020204" pitchFamily="34" charset="0"/>
              <a:buChar char="•"/>
            </a:pPr>
            <a:r>
              <a:rPr lang="zh-CN" altLang="en-US" sz="2000" dirty="0" smtClean="0">
                <a:solidFill>
                  <a:schemeClr val="tx1"/>
                </a:solidFill>
                <a:latin typeface="仿宋" panose="02010609060101010101" pitchFamily="49" charset="-122"/>
                <a:ea typeface="仿宋" panose="02010609060101010101" pitchFamily="49" charset="-122"/>
              </a:rPr>
              <a:t>常见红外材料折射率温度系数</a:t>
            </a:r>
            <a:r>
              <a:rPr lang="en-US" altLang="zh-CN" sz="2000" dirty="0" err="1" smtClean="0">
                <a:solidFill>
                  <a:schemeClr val="tx1"/>
                </a:solidFill>
                <a:latin typeface="仿宋" panose="02010609060101010101" pitchFamily="49" charset="-122"/>
                <a:ea typeface="仿宋" panose="02010609060101010101" pitchFamily="49" charset="-122"/>
              </a:rPr>
              <a:t>dn</a:t>
            </a:r>
            <a:r>
              <a:rPr lang="en-US" altLang="zh-CN" sz="2000" dirty="0" smtClean="0">
                <a:solidFill>
                  <a:schemeClr val="tx1"/>
                </a:solidFill>
                <a:latin typeface="仿宋" panose="02010609060101010101" pitchFamily="49" charset="-122"/>
                <a:ea typeface="仿宋" panose="02010609060101010101" pitchFamily="49" charset="-122"/>
              </a:rPr>
              <a:t>/</a:t>
            </a:r>
            <a:r>
              <a:rPr lang="en-US" altLang="zh-CN" sz="2000" dirty="0" err="1" smtClean="0">
                <a:solidFill>
                  <a:schemeClr val="tx1"/>
                </a:solidFill>
                <a:latin typeface="仿宋" panose="02010609060101010101" pitchFamily="49" charset="-122"/>
                <a:ea typeface="仿宋" panose="02010609060101010101" pitchFamily="49" charset="-122"/>
              </a:rPr>
              <a:t>dt</a:t>
            </a:r>
            <a:r>
              <a:rPr lang="zh-CN" altLang="en-US" sz="2000" dirty="0" smtClean="0">
                <a:solidFill>
                  <a:schemeClr val="tx1"/>
                </a:solidFill>
                <a:latin typeface="仿宋" panose="02010609060101010101" pitchFamily="49" charset="-122"/>
                <a:ea typeface="仿宋" panose="02010609060101010101" pitchFamily="49" charset="-122"/>
              </a:rPr>
              <a:t>较高，锗</a:t>
            </a:r>
            <a:r>
              <a:rPr lang="zh-CN" altLang="en-US" sz="2000" dirty="0">
                <a:solidFill>
                  <a:schemeClr val="tx1"/>
                </a:solidFill>
                <a:latin typeface="仿宋" panose="02010609060101010101" pitchFamily="49" charset="-122"/>
                <a:ea typeface="仿宋" panose="02010609060101010101" pitchFamily="49" charset="-122"/>
              </a:rPr>
              <a:t>：</a:t>
            </a:r>
            <a:r>
              <a:rPr lang="en-US" altLang="zh-CN" sz="2000" dirty="0">
                <a:solidFill>
                  <a:schemeClr val="tx1"/>
                </a:solidFill>
                <a:latin typeface="仿宋" panose="02010609060101010101" pitchFamily="49" charset="-122"/>
                <a:ea typeface="仿宋" panose="02010609060101010101" pitchFamily="49" charset="-122"/>
              </a:rPr>
              <a:t>3.96×10-4</a:t>
            </a:r>
            <a:r>
              <a:rPr lang="zh-CN" altLang="en-US" sz="2000" dirty="0" smtClean="0">
                <a:solidFill>
                  <a:schemeClr val="tx1"/>
                </a:solidFill>
                <a:latin typeface="仿宋" panose="02010609060101010101" pitchFamily="49" charset="-122"/>
                <a:ea typeface="仿宋" panose="02010609060101010101" pitchFamily="49" charset="-122"/>
              </a:rPr>
              <a:t>，</a:t>
            </a:r>
            <a:r>
              <a:rPr lang="en-US" altLang="zh-CN" sz="2000" dirty="0" smtClean="0">
                <a:solidFill>
                  <a:schemeClr val="tx1"/>
                </a:solidFill>
                <a:latin typeface="仿宋" panose="02010609060101010101" pitchFamily="49" charset="-122"/>
                <a:ea typeface="仿宋" panose="02010609060101010101" pitchFamily="49" charset="-122"/>
              </a:rPr>
              <a:t>k9</a:t>
            </a:r>
            <a:r>
              <a:rPr lang="zh-CN" altLang="en-US" sz="2000" dirty="0" smtClean="0">
                <a:solidFill>
                  <a:schemeClr val="tx1"/>
                </a:solidFill>
                <a:latin typeface="仿宋" panose="02010609060101010101" pitchFamily="49" charset="-122"/>
                <a:ea typeface="仿宋" panose="02010609060101010101" pitchFamily="49" charset="-122"/>
              </a:rPr>
              <a:t>：</a:t>
            </a:r>
            <a:r>
              <a:rPr lang="en-US" altLang="zh-CN" sz="2000" dirty="0">
                <a:solidFill>
                  <a:schemeClr val="tx1"/>
                </a:solidFill>
                <a:latin typeface="仿宋" panose="02010609060101010101" pitchFamily="49" charset="-122"/>
                <a:ea typeface="仿宋" panose="02010609060101010101" pitchFamily="49" charset="-122"/>
              </a:rPr>
              <a:t>3.6×10-6</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pPr>
            <a:r>
              <a:rPr lang="zh-CN" altLang="en-US" sz="2000" dirty="0" smtClean="0">
                <a:solidFill>
                  <a:schemeClr val="tx1"/>
                </a:solidFill>
                <a:latin typeface="仿宋" panose="02010609060101010101" pitchFamily="49" charset="-122"/>
                <a:ea typeface="仿宋" panose="02010609060101010101" pitchFamily="49" charset="-122"/>
              </a:rPr>
              <a:t>    由于上述两种原因，导致光学像面发生离焦，导致图像模糊</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pP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p"/>
            </a:pPr>
            <a:r>
              <a:rPr lang="zh-CN" altLang="en-US" sz="2000" b="1" dirty="0" smtClean="0">
                <a:solidFill>
                  <a:schemeClr val="accent5"/>
                </a:solidFill>
                <a:latin typeface="仿宋" panose="02010609060101010101" pitchFamily="49" charset="-122"/>
                <a:ea typeface="仿宋" panose="02010609060101010101" pitchFamily="49" charset="-122"/>
              </a:rPr>
              <a:t>无热化种类：</a:t>
            </a:r>
            <a:endParaRPr lang="en-US" altLang="zh-CN" sz="2000" b="1" dirty="0">
              <a:solidFill>
                <a:schemeClr val="accent5"/>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ü"/>
            </a:pPr>
            <a:r>
              <a:rPr lang="zh-CN" altLang="en-US" sz="2000" dirty="0" smtClean="0">
                <a:solidFill>
                  <a:schemeClr val="tx1"/>
                </a:solidFill>
                <a:latin typeface="仿宋" panose="02010609060101010101" pitchFamily="49" charset="-122"/>
                <a:ea typeface="仿宋" panose="02010609060101010101" pitchFamily="49" charset="-122"/>
              </a:rPr>
              <a:t>光学主动消热（调焦）</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ü"/>
            </a:pPr>
            <a:r>
              <a:rPr lang="zh-CN" altLang="en-US" sz="2000" dirty="0">
                <a:solidFill>
                  <a:schemeClr val="tx1"/>
                </a:solidFill>
                <a:latin typeface="仿宋" panose="02010609060101010101" pitchFamily="49" charset="-122"/>
                <a:ea typeface="仿宋" panose="02010609060101010101" pitchFamily="49" charset="-122"/>
              </a:rPr>
              <a:t>机械被动消</a:t>
            </a:r>
            <a:r>
              <a:rPr lang="zh-CN" altLang="en-US" sz="2000" dirty="0" smtClean="0">
                <a:solidFill>
                  <a:schemeClr val="tx1"/>
                </a:solidFill>
                <a:latin typeface="仿宋" panose="02010609060101010101" pitchFamily="49" charset="-122"/>
                <a:ea typeface="仿宋" panose="02010609060101010101" pitchFamily="49" charset="-122"/>
              </a:rPr>
              <a:t>热（利用两种不同膨胀系数的机械元件）</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ü"/>
            </a:pPr>
            <a:r>
              <a:rPr lang="zh-CN" altLang="en-US" sz="2000" dirty="0" smtClean="0">
                <a:solidFill>
                  <a:schemeClr val="tx1"/>
                </a:solidFill>
                <a:latin typeface="仿宋" panose="02010609060101010101" pitchFamily="49" charset="-122"/>
                <a:ea typeface="仿宋" panose="02010609060101010101" pitchFamily="49" charset="-122"/>
              </a:rPr>
              <a:t>光学被动消热差（利用光学材料热特性间的差异，通过不同材料组合）</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ü"/>
            </a:pPr>
            <a:r>
              <a:rPr lang="zh-CN" altLang="en-US" sz="2000" dirty="0">
                <a:solidFill>
                  <a:schemeClr val="tx1"/>
                </a:solidFill>
                <a:latin typeface="仿宋" panose="02010609060101010101" pitchFamily="49" charset="-122"/>
                <a:ea typeface="仿宋" panose="02010609060101010101" pitchFamily="49" charset="-122"/>
              </a:rPr>
              <a:t>电子</a:t>
            </a:r>
            <a:r>
              <a:rPr lang="zh-CN" altLang="en-US" sz="2000" dirty="0" smtClean="0">
                <a:solidFill>
                  <a:schemeClr val="tx1"/>
                </a:solidFill>
                <a:latin typeface="仿宋" panose="02010609060101010101" pitchFamily="49" charset="-122"/>
                <a:ea typeface="仿宋" panose="02010609060101010101" pitchFamily="49" charset="-122"/>
              </a:rPr>
              <a:t>主动式（利用温度传感器探测使用环境温度变化量，</a:t>
            </a:r>
            <a:r>
              <a:rPr lang="zh-CN" altLang="en-US" sz="2000" dirty="0">
                <a:solidFill>
                  <a:schemeClr val="tx1"/>
                </a:solidFill>
                <a:latin typeface="仿宋" panose="02010609060101010101" pitchFamily="49" charset="-122"/>
                <a:ea typeface="仿宋" panose="02010609060101010101" pitchFamily="49" charset="-122"/>
              </a:rPr>
              <a:t>然后计算由此温度变化产生的像面位移量，并利用电机驱动透镜沿光轴方向移动</a:t>
            </a:r>
            <a:r>
              <a:rPr lang="zh-CN" altLang="en-US" sz="2000" dirty="0" smtClean="0">
                <a:solidFill>
                  <a:schemeClr val="tx1"/>
                </a:solidFill>
                <a:latin typeface="仿宋" panose="02010609060101010101" pitchFamily="49" charset="-122"/>
                <a:ea typeface="仿宋" panose="02010609060101010101" pitchFamily="49" charset="-122"/>
              </a:rPr>
              <a:t>）</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ü"/>
            </a:pPr>
            <a:r>
              <a:rPr lang="zh-CN" altLang="en-US" sz="2000" dirty="0" smtClean="0">
                <a:solidFill>
                  <a:schemeClr val="tx1"/>
                </a:solidFill>
                <a:latin typeface="仿宋" panose="02010609060101010101" pitchFamily="49" charset="-122"/>
                <a:ea typeface="仿宋" panose="02010609060101010101" pitchFamily="49" charset="-122"/>
              </a:rPr>
              <a:t>光学被动式和机电式组合</a:t>
            </a:r>
            <a:endParaRPr lang="zh-CN" altLang="en-US" sz="2000" dirty="0">
              <a:solidFill>
                <a:schemeClr val="tx1"/>
              </a:solidFill>
              <a:latin typeface="仿宋" panose="02010609060101010101" pitchFamily="49" charset="-122"/>
              <a:ea typeface="仿宋" panose="02010609060101010101" pitchFamily="49" charset="-122"/>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非制冷和制冷</a:t>
            </a:r>
            <a:endParaRPr lang="zh-CN" altLang="en-US" dirty="0"/>
          </a:p>
        </p:txBody>
      </p:sp>
      <p:sp>
        <p:nvSpPr>
          <p:cNvPr id="3" name="内容占位符 2"/>
          <p:cNvSpPr>
            <a:spLocks noGrp="1"/>
          </p:cNvSpPr>
          <p:nvPr>
            <p:ph idx="1"/>
          </p:nvPr>
        </p:nvSpPr>
        <p:spPr>
          <a:xfrm>
            <a:off x="863402" y="809352"/>
            <a:ext cx="12818190" cy="6281744"/>
          </a:xfrm>
        </p:spPr>
        <p:txBody>
          <a:bodyPr/>
          <a:lstStyle/>
          <a:p>
            <a:pPr marL="342900" indent="-342900">
              <a:lnSpc>
                <a:spcPct val="150000"/>
              </a:lnSpc>
              <a:buFont typeface="Wingdings" panose="05000000000000000000" pitchFamily="2" charset="2"/>
              <a:buChar char="p"/>
            </a:pPr>
            <a:r>
              <a:rPr lang="zh-CN" altLang="en-US" sz="2000" b="1" dirty="0" smtClean="0">
                <a:solidFill>
                  <a:schemeClr val="accent5"/>
                </a:solidFill>
                <a:latin typeface="仿宋" panose="02010609060101010101" pitchFamily="49" charset="-122"/>
                <a:ea typeface="仿宋" panose="02010609060101010101" pitchFamily="49" charset="-122"/>
              </a:rPr>
              <a:t>制冷探测器</a:t>
            </a:r>
            <a:endParaRPr lang="en-US" altLang="zh-CN" sz="2000" b="1" dirty="0" smtClean="0">
              <a:solidFill>
                <a:schemeClr val="accent5"/>
              </a:solidFill>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endParaRPr lang="en-US" altLang="zh-CN" sz="2000" dirty="0">
              <a:solidFill>
                <a:schemeClr val="tx1"/>
              </a:solidFill>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endParaRPr lang="en-US" altLang="zh-CN" sz="2000"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endParaRPr lang="en-US" altLang="zh-CN" sz="2000" dirty="0">
              <a:solidFill>
                <a:schemeClr val="tx1"/>
              </a:solidFill>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endParaRPr lang="en-US" altLang="zh-CN" sz="2000"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endParaRPr lang="en-US" altLang="zh-CN" sz="2000" dirty="0">
              <a:solidFill>
                <a:schemeClr val="tx1"/>
              </a:solidFill>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endParaRPr lang="en-US" altLang="zh-CN" sz="2000"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endParaRPr lang="en-US" altLang="zh-CN" sz="2000"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r>
              <a:rPr lang="zh-CN" altLang="en-US" sz="2000" b="1" dirty="0" smtClean="0">
                <a:solidFill>
                  <a:schemeClr val="accent5"/>
                </a:solidFill>
                <a:latin typeface="仿宋" panose="02010609060101010101" pitchFamily="49" charset="-122"/>
                <a:ea typeface="仿宋" panose="02010609060101010101" pitchFamily="49" charset="-122"/>
              </a:rPr>
              <a:t>波段</a:t>
            </a:r>
            <a:endParaRPr lang="en-US" altLang="zh-CN" sz="2000" b="1" dirty="0" smtClean="0">
              <a:solidFill>
                <a:schemeClr val="accent5"/>
              </a:solidFill>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000" dirty="0" smtClean="0">
                <a:solidFill>
                  <a:schemeClr val="tx1"/>
                </a:solidFill>
                <a:latin typeface="仿宋" panose="02010609060101010101" pitchFamily="49" charset="-122"/>
                <a:ea typeface="仿宋" panose="02010609060101010101" pitchFamily="49" charset="-122"/>
              </a:rPr>
              <a:t>长波非制冷：</a:t>
            </a:r>
            <a:r>
              <a:rPr lang="en-US" altLang="zh-CN" sz="2000" dirty="0" smtClean="0">
                <a:solidFill>
                  <a:schemeClr val="tx1"/>
                </a:solidFill>
                <a:latin typeface="仿宋" panose="02010609060101010101" pitchFamily="49" charset="-122"/>
                <a:ea typeface="仿宋" panose="02010609060101010101" pitchFamily="49" charset="-122"/>
              </a:rPr>
              <a:t>8~12um</a:t>
            </a:r>
            <a:endParaRPr lang="en-US" altLang="zh-CN" sz="2000"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000" dirty="0" smtClean="0">
                <a:solidFill>
                  <a:schemeClr val="tx1"/>
                </a:solidFill>
                <a:latin typeface="仿宋" panose="02010609060101010101" pitchFamily="49" charset="-122"/>
                <a:ea typeface="仿宋" panose="02010609060101010101" pitchFamily="49" charset="-122"/>
              </a:rPr>
              <a:t>中波制冷：</a:t>
            </a:r>
            <a:r>
              <a:rPr lang="en-US" altLang="zh-CN" sz="2000" dirty="0" smtClean="0">
                <a:solidFill>
                  <a:schemeClr val="tx1"/>
                </a:solidFill>
                <a:latin typeface="仿宋" panose="02010609060101010101" pitchFamily="49" charset="-122"/>
                <a:ea typeface="仿宋" panose="02010609060101010101" pitchFamily="49" charset="-122"/>
              </a:rPr>
              <a:t>3~5um</a:t>
            </a:r>
            <a:endParaRPr lang="en-US" altLang="zh-CN" sz="2000"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000" dirty="0" smtClean="0">
                <a:solidFill>
                  <a:schemeClr val="tx1"/>
                </a:solidFill>
                <a:latin typeface="仿宋" panose="02010609060101010101" pitchFamily="49" charset="-122"/>
                <a:ea typeface="仿宋" panose="02010609060101010101" pitchFamily="49" charset="-122"/>
              </a:rPr>
              <a:t>长波制冷</a:t>
            </a:r>
            <a:endParaRPr lang="en-US" altLang="zh-CN" sz="2000" dirty="0" smtClean="0">
              <a:solidFill>
                <a:schemeClr val="tx1"/>
              </a:solidFill>
              <a:latin typeface="仿宋" panose="02010609060101010101" pitchFamily="49" charset="-122"/>
              <a:ea typeface="仿宋" panose="02010609060101010101" pitchFamily="49" charset="-122"/>
            </a:endParaRPr>
          </a:p>
        </p:txBody>
      </p:sp>
      <p:pic>
        <p:nvPicPr>
          <p:cNvPr id="1638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31752" y="1385416"/>
            <a:ext cx="5648325" cy="365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非制冷和制冷</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63402" y="809352"/>
                <a:ext cx="12818190" cy="6281744"/>
              </a:xfrm>
            </p:spPr>
            <p:txBody>
              <a:bodyPr/>
              <a:lstStyle/>
              <a:p>
                <a:pPr marL="342900" indent="-342900">
                  <a:lnSpc>
                    <a:spcPct val="150000"/>
                  </a:lnSpc>
                  <a:buFont typeface="Wingdings" panose="05000000000000000000" pitchFamily="2" charset="2"/>
                  <a:buChar char="p"/>
                </a:pPr>
                <a:r>
                  <a:rPr lang="zh-CN" altLang="en-US" sz="2000" b="1" dirty="0" smtClean="0">
                    <a:solidFill>
                      <a:schemeClr val="accent5"/>
                    </a:solidFill>
                    <a:latin typeface="仿宋" panose="02010609060101010101" pitchFamily="49" charset="-122"/>
                    <a:ea typeface="仿宋" panose="02010609060101010101" pitchFamily="49" charset="-122"/>
                  </a:rPr>
                  <a:t>非制冷和制冷的主要区别：</a:t>
                </a:r>
                <a:endParaRPr lang="en-US" altLang="zh-CN" sz="2000" b="1" dirty="0" smtClean="0">
                  <a:solidFill>
                    <a:schemeClr val="accent5"/>
                  </a:solidFill>
                  <a:latin typeface="仿宋" panose="02010609060101010101" pitchFamily="49" charset="-122"/>
                  <a:ea typeface="仿宋" panose="02010609060101010101" pitchFamily="49" charset="-122"/>
                </a:endParaRPr>
              </a:p>
              <a:p>
                <a:pPr marL="0" indent="0">
                  <a:lnSpc>
                    <a:spcPct val="150000"/>
                  </a:lnSpc>
                </a:pPr>
                <a:r>
                  <a:rPr lang="zh-CN" altLang="en-US" sz="2000" dirty="0" smtClean="0">
                    <a:solidFill>
                      <a:schemeClr val="tx1"/>
                    </a:solidFill>
                    <a:latin typeface="仿宋" panose="02010609060101010101" pitchFamily="49" charset="-122"/>
                    <a:ea typeface="仿宋" panose="02010609060101010101" pitchFamily="49" charset="-122"/>
                  </a:rPr>
                  <a:t>   辐照度</a:t>
                </a:r>
                <a:r>
                  <a:rPr lang="en-US" altLang="zh-CN" sz="2000" dirty="0">
                    <a:solidFill>
                      <a:schemeClr val="tx1"/>
                    </a:solidFill>
                    <a:latin typeface="仿宋" panose="02010609060101010101" pitchFamily="49" charset="-122"/>
                    <a:ea typeface="仿宋" panose="02010609060101010101" pitchFamily="49" charset="-122"/>
                  </a:rPr>
                  <a:t>E∝</a:t>
                </a:r>
                <a14:m>
                  <m:oMath xmlns:m="http://schemas.openxmlformats.org/officeDocument/2006/math">
                    <m:f>
                      <m:fPr>
                        <m:ctrlPr>
                          <a:rPr lang="en-US" altLang="zh-CN" sz="2000" i="1">
                            <a:solidFill>
                              <a:schemeClr val="tx1"/>
                            </a:solidFill>
                            <a:latin typeface="Cambria Math" panose="02040503050406030204" pitchFamily="18" charset="0"/>
                          </a:rPr>
                        </m:ctrlPr>
                      </m:fPr>
                      <m:num>
                        <m:r>
                          <a:rPr lang="en-US" altLang="zh-CN" sz="2000" i="1">
                            <a:solidFill>
                              <a:schemeClr val="tx1"/>
                            </a:solidFill>
                            <a:latin typeface="Cambria Math" panose="02040503050406030204"/>
                          </a:rPr>
                          <m:t>1</m:t>
                        </m:r>
                      </m:num>
                      <m:den>
                        <m:sSup>
                          <m:sSupPr>
                            <m:ctrlPr>
                              <a:rPr lang="en-US" altLang="zh-CN" sz="2000" i="1">
                                <a:solidFill>
                                  <a:schemeClr val="tx1"/>
                                </a:solidFill>
                                <a:latin typeface="Cambria Math" panose="02040503050406030204" pitchFamily="18" charset="0"/>
                              </a:rPr>
                            </m:ctrlPr>
                          </m:sSupPr>
                          <m:e>
                            <m:r>
                              <a:rPr lang="en-US" altLang="zh-CN" sz="2000" i="1">
                                <a:solidFill>
                                  <a:schemeClr val="tx1"/>
                                </a:solidFill>
                                <a:latin typeface="Cambria Math" panose="02040503050406030204"/>
                              </a:rPr>
                              <m:t>4</m:t>
                            </m:r>
                            <m:r>
                              <a:rPr lang="en-US" altLang="zh-CN" sz="2000" i="1">
                                <a:solidFill>
                                  <a:schemeClr val="tx1"/>
                                </a:solidFill>
                                <a:latin typeface="Cambria Math" panose="02040503050406030204"/>
                              </a:rPr>
                              <m:t>𝐹</m:t>
                            </m:r>
                          </m:e>
                          <m:sup>
                            <m:r>
                              <a:rPr lang="en-US" altLang="zh-CN" sz="2000" i="1">
                                <a:solidFill>
                                  <a:schemeClr val="tx1"/>
                                </a:solidFill>
                                <a:latin typeface="Cambria Math" panose="02040503050406030204"/>
                              </a:rPr>
                              <m:t>2</m:t>
                            </m:r>
                          </m:sup>
                        </m:sSup>
                      </m:den>
                    </m:f>
                  </m:oMath>
                </a14:m>
                <a:r>
                  <a:rPr lang="en-US" altLang="zh-CN" sz="2000" dirty="0">
                    <a:solidFill>
                      <a:schemeClr val="tx1"/>
                    </a:solidFill>
                    <a:latin typeface="仿宋" panose="02010609060101010101" pitchFamily="49" charset="-122"/>
                    <a:ea typeface="仿宋" panose="02010609060101010101" pitchFamily="49" charset="-122"/>
                  </a:rPr>
                  <a:t> </a:t>
                </a:r>
                <a:r>
                  <a:rPr lang="zh-CN" altLang="en-US" sz="2000" dirty="0">
                    <a:solidFill>
                      <a:schemeClr val="tx1"/>
                    </a:solidFill>
                    <a:latin typeface="仿宋" panose="02010609060101010101" pitchFamily="49" charset="-122"/>
                    <a:ea typeface="仿宋" panose="02010609060101010101" pitchFamily="49" charset="-122"/>
                  </a:rPr>
                  <a:t>，</a:t>
                </a:r>
                <a:r>
                  <a:rPr lang="en-US" altLang="zh-CN" sz="2000" dirty="0">
                    <a:solidFill>
                      <a:schemeClr val="tx1"/>
                    </a:solidFill>
                    <a:latin typeface="仿宋" panose="02010609060101010101" pitchFamily="49" charset="-122"/>
                    <a:ea typeface="仿宋" panose="02010609060101010101" pitchFamily="49" charset="-122"/>
                  </a:rPr>
                  <a:t>F</a:t>
                </a:r>
                <a:r>
                  <a:rPr lang="zh-CN" altLang="en-US" sz="2000" dirty="0">
                    <a:solidFill>
                      <a:schemeClr val="tx1"/>
                    </a:solidFill>
                    <a:latin typeface="仿宋" panose="02010609060101010101" pitchFamily="49" charset="-122"/>
                    <a:ea typeface="仿宋" panose="02010609060101010101" pitchFamily="49" charset="-122"/>
                  </a:rPr>
                  <a:t>为镜头</a:t>
                </a:r>
                <a:r>
                  <a:rPr lang="en-US" altLang="zh-CN" sz="2000" dirty="0">
                    <a:solidFill>
                      <a:schemeClr val="tx1"/>
                    </a:solidFill>
                    <a:latin typeface="仿宋" panose="02010609060101010101" pitchFamily="49" charset="-122"/>
                    <a:ea typeface="仿宋" panose="02010609060101010101" pitchFamily="49" charset="-122"/>
                  </a:rPr>
                  <a:t>F</a:t>
                </a:r>
                <a:r>
                  <a:rPr lang="zh-CN" altLang="en-US" sz="2000" dirty="0" smtClean="0">
                    <a:solidFill>
                      <a:schemeClr val="tx1"/>
                    </a:solidFill>
                    <a:latin typeface="仿宋" panose="02010609060101010101" pitchFamily="49" charset="-122"/>
                    <a:ea typeface="仿宋" panose="02010609060101010101" pitchFamily="49" charset="-122"/>
                  </a:rPr>
                  <a:t>数</a:t>
                </a:r>
                <a:endParaRPr lang="en-US" altLang="zh-CN" sz="2000" b="1" dirty="0">
                  <a:solidFill>
                    <a:schemeClr val="accent5"/>
                  </a:solidFill>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en-US" altLang="zh-CN" sz="2000" b="1" dirty="0" smtClean="0">
                    <a:solidFill>
                      <a:schemeClr val="accent5"/>
                    </a:solidFill>
                    <a:latin typeface="仿宋" panose="02010609060101010101" pitchFamily="49" charset="-122"/>
                    <a:ea typeface="仿宋" panose="02010609060101010101" pitchFamily="49" charset="-122"/>
                  </a:rPr>
                  <a:t>F</a:t>
                </a:r>
                <a:r>
                  <a:rPr lang="zh-CN" altLang="en-US" sz="2000" b="1" dirty="0" smtClean="0">
                    <a:solidFill>
                      <a:schemeClr val="accent5"/>
                    </a:solidFill>
                    <a:latin typeface="仿宋" panose="02010609060101010101" pitchFamily="49" charset="-122"/>
                    <a:ea typeface="仿宋" panose="02010609060101010101" pitchFamily="49" charset="-122"/>
                  </a:rPr>
                  <a:t>数的区别</a:t>
                </a:r>
                <a:endParaRPr lang="en-US" altLang="zh-CN" sz="2000" b="1" dirty="0" smtClean="0">
                  <a:solidFill>
                    <a:schemeClr val="accent5"/>
                  </a:solidFill>
                  <a:latin typeface="仿宋" panose="02010609060101010101" pitchFamily="49" charset="-122"/>
                  <a:ea typeface="仿宋" panose="02010609060101010101" pitchFamily="49" charset="-122"/>
                </a:endParaRPr>
              </a:p>
              <a:p>
                <a:pPr marL="0" indent="0">
                  <a:lnSpc>
                    <a:spcPct val="150000"/>
                  </a:lnSpc>
                </a:pPr>
                <a:r>
                  <a:rPr lang="zh-CN" altLang="en-US" sz="2000" dirty="0" smtClean="0">
                    <a:solidFill>
                      <a:schemeClr val="tx1"/>
                    </a:solidFill>
                    <a:latin typeface="仿宋" panose="02010609060101010101" pitchFamily="49" charset="-122"/>
                    <a:ea typeface="仿宋" panose="02010609060101010101" pitchFamily="49" charset="-122"/>
                  </a:rPr>
                  <a:t>   非制冷探测率低，非</a:t>
                </a:r>
                <a:r>
                  <a:rPr lang="zh-CN" altLang="en-US" sz="2000" dirty="0">
                    <a:solidFill>
                      <a:schemeClr val="tx1"/>
                    </a:solidFill>
                    <a:latin typeface="仿宋" panose="02010609060101010101" pitchFamily="49" charset="-122"/>
                    <a:ea typeface="仿宋" panose="02010609060101010101" pitchFamily="49" charset="-122"/>
                  </a:rPr>
                  <a:t>制冷</a:t>
                </a:r>
                <a:r>
                  <a:rPr lang="en-US" altLang="zh-CN" sz="2000" dirty="0">
                    <a:solidFill>
                      <a:schemeClr val="tx1"/>
                    </a:solidFill>
                    <a:latin typeface="仿宋" panose="02010609060101010101" pitchFamily="49" charset="-122"/>
                    <a:ea typeface="仿宋" panose="02010609060101010101" pitchFamily="49" charset="-122"/>
                  </a:rPr>
                  <a:t>F</a:t>
                </a:r>
                <a:r>
                  <a:rPr lang="zh-CN" altLang="en-US" sz="2000" dirty="0">
                    <a:solidFill>
                      <a:schemeClr val="tx1"/>
                    </a:solidFill>
                    <a:latin typeface="仿宋" panose="02010609060101010101" pitchFamily="49" charset="-122"/>
                    <a:ea typeface="仿宋" panose="02010609060101010101" pitchFamily="49" charset="-122"/>
                  </a:rPr>
                  <a:t>数：</a:t>
                </a:r>
                <a:r>
                  <a:rPr lang="en-US" altLang="zh-CN" sz="2000" dirty="0">
                    <a:solidFill>
                      <a:schemeClr val="tx1"/>
                    </a:solidFill>
                    <a:latin typeface="仿宋" panose="02010609060101010101" pitchFamily="49" charset="-122"/>
                    <a:ea typeface="仿宋" panose="02010609060101010101" pitchFamily="49" charset="-122"/>
                  </a:rPr>
                  <a:t>F0.8~F1.3</a:t>
                </a:r>
                <a:r>
                  <a:rPr lang="zh-CN" altLang="en-US" sz="2000" dirty="0" smtClean="0">
                    <a:solidFill>
                      <a:schemeClr val="tx1"/>
                    </a:solidFill>
                    <a:latin typeface="仿宋" panose="02010609060101010101" pitchFamily="49" charset="-122"/>
                    <a:ea typeface="仿宋" panose="02010609060101010101" pitchFamily="49" charset="-122"/>
                  </a:rPr>
                  <a:t>，</a:t>
                </a:r>
                <a:r>
                  <a:rPr lang="zh-CN" altLang="en-US" sz="2000" dirty="0">
                    <a:solidFill>
                      <a:schemeClr val="tx1"/>
                    </a:solidFill>
                    <a:latin typeface="仿宋" panose="02010609060101010101" pitchFamily="49" charset="-122"/>
                    <a:ea typeface="仿宋" panose="02010609060101010101" pitchFamily="49" charset="-122"/>
                  </a:rPr>
                  <a:t>典型</a:t>
                </a:r>
                <a:r>
                  <a:rPr lang="en-US" altLang="zh-CN" sz="2000" dirty="0" smtClean="0">
                    <a:solidFill>
                      <a:schemeClr val="tx1"/>
                    </a:solidFill>
                    <a:latin typeface="仿宋" panose="02010609060101010101" pitchFamily="49" charset="-122"/>
                    <a:ea typeface="仿宋" panose="02010609060101010101" pitchFamily="49" charset="-122"/>
                  </a:rPr>
                  <a:t>F1.0</a:t>
                </a:r>
                <a:r>
                  <a:rPr lang="zh-CN" altLang="en-US" sz="2000" dirty="0" smtClean="0">
                    <a:solidFill>
                      <a:schemeClr val="tx1"/>
                    </a:solidFill>
                    <a:latin typeface="仿宋" panose="02010609060101010101" pitchFamily="49" charset="-122"/>
                    <a:ea typeface="仿宋" panose="02010609060101010101" pitchFamily="49" charset="-122"/>
                  </a:rPr>
                  <a:t>。</a:t>
                </a:r>
                <a:endParaRPr lang="en-US" altLang="zh-CN" sz="2000" dirty="0" smtClean="0">
                  <a:solidFill>
                    <a:schemeClr val="tx1"/>
                  </a:solidFill>
                  <a:latin typeface="仿宋" panose="02010609060101010101" pitchFamily="49" charset="-122"/>
                  <a:ea typeface="仿宋" panose="02010609060101010101" pitchFamily="49" charset="-122"/>
                </a:endParaRPr>
              </a:p>
              <a:p>
                <a:pPr marL="0" indent="0">
                  <a:lnSpc>
                    <a:spcPct val="150000"/>
                  </a:lnSpc>
                </a:pPr>
                <a:r>
                  <a:rPr lang="en-US" altLang="zh-CN" sz="2000" dirty="0">
                    <a:solidFill>
                      <a:schemeClr val="tx1"/>
                    </a:solidFill>
                    <a:latin typeface="仿宋" panose="02010609060101010101" pitchFamily="49" charset="-122"/>
                    <a:ea typeface="仿宋" panose="02010609060101010101" pitchFamily="49" charset="-122"/>
                  </a:rPr>
                  <a:t> </a:t>
                </a:r>
                <a:r>
                  <a:rPr lang="en-US" altLang="zh-CN" sz="2000" dirty="0" smtClean="0">
                    <a:solidFill>
                      <a:schemeClr val="tx1"/>
                    </a:solidFill>
                    <a:latin typeface="仿宋" panose="02010609060101010101" pitchFamily="49" charset="-122"/>
                    <a:ea typeface="仿宋" panose="02010609060101010101" pitchFamily="49" charset="-122"/>
                  </a:rPr>
                  <a:t>  </a:t>
                </a:r>
                <a:r>
                  <a:rPr lang="zh-CN" altLang="en-US" sz="2000" dirty="0" smtClean="0">
                    <a:solidFill>
                      <a:schemeClr val="tx1"/>
                    </a:solidFill>
                    <a:latin typeface="仿宋" panose="02010609060101010101" pitchFamily="49" charset="-122"/>
                    <a:ea typeface="仿宋" panose="02010609060101010101" pitchFamily="49" charset="-122"/>
                  </a:rPr>
                  <a:t>制冷探测率高，制冷</a:t>
                </a:r>
                <a:r>
                  <a:rPr lang="en-US" altLang="zh-CN" sz="2000" dirty="0">
                    <a:solidFill>
                      <a:schemeClr val="tx1"/>
                    </a:solidFill>
                    <a:latin typeface="仿宋" panose="02010609060101010101" pitchFamily="49" charset="-122"/>
                    <a:ea typeface="仿宋" panose="02010609060101010101" pitchFamily="49" charset="-122"/>
                  </a:rPr>
                  <a:t>F</a:t>
                </a:r>
                <a:r>
                  <a:rPr lang="zh-CN" altLang="en-US" sz="2000" dirty="0">
                    <a:solidFill>
                      <a:schemeClr val="tx1"/>
                    </a:solidFill>
                    <a:latin typeface="仿宋" panose="02010609060101010101" pitchFamily="49" charset="-122"/>
                    <a:ea typeface="仿宋" panose="02010609060101010101" pitchFamily="49" charset="-122"/>
                  </a:rPr>
                  <a:t>数：典型</a:t>
                </a:r>
                <a:r>
                  <a:rPr lang="en-US" altLang="zh-CN" sz="2000" dirty="0" smtClean="0">
                    <a:solidFill>
                      <a:schemeClr val="tx1"/>
                    </a:solidFill>
                    <a:latin typeface="仿宋" panose="02010609060101010101" pitchFamily="49" charset="-122"/>
                    <a:ea typeface="仿宋" panose="02010609060101010101" pitchFamily="49" charset="-122"/>
                  </a:rPr>
                  <a:t>F2.0~F4.0</a:t>
                </a:r>
                <a:r>
                  <a:rPr lang="zh-CN" altLang="en-US" sz="2000" dirty="0" smtClean="0">
                    <a:solidFill>
                      <a:schemeClr val="tx1"/>
                    </a:solidFill>
                    <a:latin typeface="仿宋" panose="02010609060101010101" pitchFamily="49" charset="-122"/>
                    <a:ea typeface="仿宋" panose="02010609060101010101" pitchFamily="49" charset="-122"/>
                  </a:rPr>
                  <a:t>。</a:t>
                </a:r>
                <a:endParaRPr lang="en-US" altLang="zh-CN" sz="2000" dirty="0">
                  <a:solidFill>
                    <a:schemeClr val="tx1"/>
                  </a:solidFill>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000" b="1" dirty="0" smtClean="0">
                    <a:solidFill>
                      <a:schemeClr val="accent5"/>
                    </a:solidFill>
                    <a:latin typeface="仿宋" panose="02010609060101010101" pitchFamily="49" charset="-122"/>
                    <a:ea typeface="仿宋" panose="02010609060101010101" pitchFamily="49" charset="-122"/>
                  </a:rPr>
                  <a:t>冷屏匹配</a:t>
                </a:r>
                <a:endParaRPr lang="en-US" altLang="zh-CN" sz="2000" b="1" dirty="0" smtClean="0">
                  <a:solidFill>
                    <a:schemeClr val="accent5"/>
                  </a:solidFill>
                  <a:latin typeface="仿宋" panose="02010609060101010101" pitchFamily="49" charset="-122"/>
                  <a:ea typeface="仿宋" panose="02010609060101010101" pitchFamily="49" charset="-122"/>
                </a:endParaRPr>
              </a:p>
              <a:p>
                <a:pPr marL="0" indent="0">
                  <a:lnSpc>
                    <a:spcPct val="150000"/>
                  </a:lnSpc>
                </a:pPr>
                <a:r>
                  <a:rPr lang="zh-CN" altLang="en-US" sz="2000" dirty="0" smtClean="0">
                    <a:solidFill>
                      <a:schemeClr val="tx1"/>
                    </a:solidFill>
                    <a:latin typeface="仿宋" panose="02010609060101010101" pitchFamily="49" charset="-122"/>
                    <a:ea typeface="仿宋" panose="02010609060101010101" pitchFamily="49" charset="-122"/>
                  </a:rPr>
                  <a:t>   制冷</a:t>
                </a:r>
                <a:r>
                  <a:rPr lang="zh-CN" altLang="en-US" sz="2000" dirty="0">
                    <a:solidFill>
                      <a:schemeClr val="tx1"/>
                    </a:solidFill>
                    <a:latin typeface="仿宋" panose="02010609060101010101" pitchFamily="49" charset="-122"/>
                    <a:ea typeface="仿宋" panose="02010609060101010101" pitchFamily="49" charset="-122"/>
                  </a:rPr>
                  <a:t>探测器探测率高（比非制冷高</a:t>
                </a:r>
                <a:r>
                  <a:rPr lang="en-US" altLang="zh-CN" sz="2000" dirty="0">
                    <a:solidFill>
                      <a:schemeClr val="tx1"/>
                    </a:solidFill>
                    <a:latin typeface="仿宋" panose="02010609060101010101" pitchFamily="49" charset="-122"/>
                    <a:ea typeface="仿宋" panose="02010609060101010101" pitchFamily="49" charset="-122"/>
                  </a:rPr>
                  <a:t>1~2</a:t>
                </a:r>
                <a:r>
                  <a:rPr lang="zh-CN" altLang="en-US" sz="2000" dirty="0">
                    <a:solidFill>
                      <a:schemeClr val="tx1"/>
                    </a:solidFill>
                    <a:latin typeface="仿宋" panose="02010609060101010101" pitchFamily="49" charset="-122"/>
                    <a:ea typeface="仿宋" panose="02010609060101010101" pitchFamily="49" charset="-122"/>
                  </a:rPr>
                  <a:t>个数量级</a:t>
                </a:r>
                <a:r>
                  <a:rPr lang="zh-CN" altLang="en-US" sz="2000" dirty="0" smtClean="0">
                    <a:solidFill>
                      <a:schemeClr val="tx1"/>
                    </a:solidFill>
                    <a:latin typeface="仿宋" panose="02010609060101010101" pitchFamily="49" charset="-122"/>
                    <a:ea typeface="仿宋" panose="02010609060101010101" pitchFamily="49" charset="-122"/>
                  </a:rPr>
                  <a:t>），</a:t>
                </a:r>
                <a:r>
                  <a:rPr lang="zh-CN" altLang="en-US" sz="2000" dirty="0">
                    <a:solidFill>
                      <a:schemeClr val="tx1"/>
                    </a:solidFill>
                    <a:latin typeface="仿宋" panose="02010609060101010101" pitchFamily="49" charset="-122"/>
                    <a:ea typeface="仿宋" panose="02010609060101010101" pitchFamily="49" charset="-122"/>
                  </a:rPr>
                  <a:t>镜筒内壁以及镜筒内部元件辐射、反射或散射的任何来自成像目标之外的热辐射如果被探测器“看到”，都会降低图像的对比度</a:t>
                </a:r>
                <a:r>
                  <a:rPr lang="zh-CN" altLang="en-US" sz="2000" dirty="0" smtClean="0">
                    <a:solidFill>
                      <a:schemeClr val="tx1"/>
                    </a:solidFill>
                    <a:latin typeface="仿宋" panose="02010609060101010101" pitchFamily="49" charset="-122"/>
                    <a:ea typeface="仿宋" panose="02010609060101010101" pitchFamily="49" charset="-122"/>
                  </a:rPr>
                  <a:t>，所以</a:t>
                </a:r>
                <a:r>
                  <a:rPr lang="zh-CN" altLang="en-US" sz="2000" dirty="0">
                    <a:solidFill>
                      <a:schemeClr val="tx1"/>
                    </a:solidFill>
                    <a:latin typeface="仿宋" panose="02010609060101010101" pitchFamily="49" charset="-122"/>
                    <a:ea typeface="仿宋" panose="02010609060101010101" pitchFamily="49" charset="-122"/>
                  </a:rPr>
                  <a:t>制冷光学设计要将光阑放在冷屏处，进行冷屏匹配，最大程度抑制内部杂散光</a:t>
                </a:r>
                <a:r>
                  <a:rPr lang="zh-CN" altLang="en-US" sz="2000" dirty="0" smtClean="0">
                    <a:solidFill>
                      <a:schemeClr val="tx1"/>
                    </a:solidFill>
                    <a:latin typeface="仿宋" panose="02010609060101010101" pitchFamily="49" charset="-122"/>
                    <a:ea typeface="仿宋" panose="02010609060101010101" pitchFamily="49" charset="-122"/>
                  </a:rPr>
                  <a:t>。</a:t>
                </a:r>
                <a:endParaRPr lang="en-US" altLang="zh-CN" sz="2000"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r>
                  <a:rPr lang="zh-CN" altLang="en-US" sz="2000" b="1" dirty="0">
                    <a:solidFill>
                      <a:schemeClr val="accent5"/>
                    </a:solidFill>
                    <a:latin typeface="仿宋" panose="02010609060101010101" pitchFamily="49" charset="-122"/>
                    <a:ea typeface="仿宋" panose="02010609060101010101" pitchFamily="49" charset="-122"/>
                  </a:rPr>
                  <a:t>冷</a:t>
                </a:r>
                <a:r>
                  <a:rPr lang="zh-CN" altLang="en-US" sz="2000" b="1" dirty="0" smtClean="0">
                    <a:solidFill>
                      <a:schemeClr val="accent5"/>
                    </a:solidFill>
                    <a:latin typeface="仿宋" panose="02010609060101010101" pitchFamily="49" charset="-122"/>
                    <a:ea typeface="仿宋" panose="02010609060101010101" pitchFamily="49" charset="-122"/>
                  </a:rPr>
                  <a:t>反射</a:t>
                </a:r>
                <a:endParaRPr lang="en-US" altLang="zh-CN" sz="2000" b="1" dirty="0" smtClean="0">
                  <a:solidFill>
                    <a:schemeClr val="accent5"/>
                  </a:solidFill>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r>
                  <a:rPr lang="zh-CN" altLang="en-US" sz="2000" b="1" dirty="0" smtClean="0">
                    <a:solidFill>
                      <a:schemeClr val="accent5"/>
                    </a:solidFill>
                    <a:latin typeface="仿宋" panose="02010609060101010101" pitchFamily="49" charset="-122"/>
                    <a:ea typeface="仿宋" panose="02010609060101010101" pitchFamily="49" charset="-122"/>
                  </a:rPr>
                  <a:t>二次成像   </a:t>
                </a:r>
                <a:endParaRPr lang="en-US" altLang="zh-CN" sz="2000" b="1" dirty="0" smtClean="0">
                  <a:solidFill>
                    <a:schemeClr val="accent5"/>
                  </a:solidFill>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000" dirty="0" smtClean="0">
                    <a:solidFill>
                      <a:schemeClr val="tx1"/>
                    </a:solidFill>
                    <a:latin typeface="仿宋" panose="02010609060101010101" pitchFamily="49" charset="-122"/>
                    <a:ea typeface="仿宋" panose="02010609060101010101" pitchFamily="49" charset="-122"/>
                  </a:rPr>
                  <a:t>长波</a:t>
                </a:r>
                <a:r>
                  <a:rPr lang="zh-CN" altLang="en-US" sz="2000" dirty="0">
                    <a:solidFill>
                      <a:schemeClr val="tx1"/>
                    </a:solidFill>
                    <a:latin typeface="仿宋" panose="02010609060101010101" pitchFamily="49" charset="-122"/>
                    <a:ea typeface="仿宋" panose="02010609060101010101" pitchFamily="49" charset="-122"/>
                  </a:rPr>
                  <a:t>非</a:t>
                </a:r>
                <a:r>
                  <a:rPr lang="zh-CN" altLang="en-US" sz="2000" dirty="0" smtClean="0">
                    <a:solidFill>
                      <a:schemeClr val="tx1"/>
                    </a:solidFill>
                    <a:latin typeface="仿宋" panose="02010609060101010101" pitchFamily="49" charset="-122"/>
                    <a:ea typeface="仿宋" panose="02010609060101010101" pitchFamily="49" charset="-122"/>
                  </a:rPr>
                  <a:t>制冷：</a:t>
                </a:r>
                <a:r>
                  <a:rPr lang="en-US" altLang="zh-CN" sz="2000" dirty="0" smtClean="0">
                    <a:solidFill>
                      <a:schemeClr val="tx1"/>
                    </a:solidFill>
                    <a:latin typeface="仿宋" panose="02010609060101010101" pitchFamily="49" charset="-122"/>
                    <a:ea typeface="仿宋" panose="02010609060101010101" pitchFamily="49" charset="-122"/>
                  </a:rPr>
                  <a:t>F</a:t>
                </a:r>
                <a:r>
                  <a:rPr lang="zh-CN" altLang="en-US" sz="2000" dirty="0" smtClean="0">
                    <a:solidFill>
                      <a:schemeClr val="tx1"/>
                    </a:solidFill>
                    <a:latin typeface="仿宋" panose="02010609060101010101" pitchFamily="49" charset="-122"/>
                    <a:ea typeface="仿宋" panose="02010609060101010101" pitchFamily="49" charset="-122"/>
                  </a:rPr>
                  <a:t>数一般</a:t>
                </a:r>
                <a:r>
                  <a:rPr lang="zh-CN" altLang="en-US" sz="2000" dirty="0">
                    <a:solidFill>
                      <a:schemeClr val="tx1"/>
                    </a:solidFill>
                    <a:latin typeface="仿宋" panose="02010609060101010101" pitchFamily="49" charset="-122"/>
                    <a:ea typeface="仿宋" panose="02010609060101010101" pitchFamily="49" charset="-122"/>
                  </a:rPr>
                  <a:t>为</a:t>
                </a:r>
                <a:r>
                  <a:rPr lang="en-US" altLang="zh-CN" sz="2000" dirty="0" smtClean="0">
                    <a:solidFill>
                      <a:schemeClr val="tx1"/>
                    </a:solidFill>
                    <a:latin typeface="仿宋" panose="02010609060101010101" pitchFamily="49" charset="-122"/>
                    <a:ea typeface="仿宋" panose="02010609060101010101" pitchFamily="49" charset="-122"/>
                  </a:rPr>
                  <a:t>1.0</a:t>
                </a:r>
                <a:r>
                  <a:rPr lang="zh-CN" altLang="en-US" sz="2000" dirty="0" smtClean="0">
                    <a:solidFill>
                      <a:schemeClr val="tx1"/>
                    </a:solidFill>
                    <a:latin typeface="仿宋" panose="02010609060101010101" pitchFamily="49" charset="-122"/>
                    <a:ea typeface="仿宋" panose="02010609060101010101" pitchFamily="49" charset="-122"/>
                  </a:rPr>
                  <a:t>，长焦距时头片口径非常大，焦距做不长。</a:t>
                </a:r>
                <a:endParaRPr lang="en-US" altLang="zh-CN" sz="2000"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000" dirty="0" smtClean="0">
                    <a:solidFill>
                      <a:schemeClr val="tx1"/>
                    </a:solidFill>
                    <a:latin typeface="仿宋" panose="02010609060101010101" pitchFamily="49" charset="-122"/>
                    <a:ea typeface="仿宋" panose="02010609060101010101" pitchFamily="49" charset="-122"/>
                  </a:rPr>
                  <a:t>制冷：</a:t>
                </a:r>
                <a:r>
                  <a:rPr lang="en-US" altLang="zh-CN" sz="2000" dirty="0" smtClean="0">
                    <a:solidFill>
                      <a:schemeClr val="tx1"/>
                    </a:solidFill>
                    <a:latin typeface="仿宋" panose="02010609060101010101" pitchFamily="49" charset="-122"/>
                    <a:ea typeface="仿宋" panose="02010609060101010101" pitchFamily="49" charset="-122"/>
                  </a:rPr>
                  <a:t>F</a:t>
                </a:r>
                <a:r>
                  <a:rPr lang="zh-CN" altLang="en-US" sz="2000" dirty="0" smtClean="0">
                    <a:solidFill>
                      <a:schemeClr val="tx1"/>
                    </a:solidFill>
                    <a:latin typeface="仿宋" panose="02010609060101010101" pitchFamily="49" charset="-122"/>
                    <a:ea typeface="仿宋" panose="02010609060101010101" pitchFamily="49" charset="-122"/>
                  </a:rPr>
                  <a:t>数一般</a:t>
                </a:r>
                <a:r>
                  <a:rPr lang="en-US" altLang="zh-CN" sz="2000" dirty="0" smtClean="0">
                    <a:solidFill>
                      <a:schemeClr val="tx1"/>
                    </a:solidFill>
                    <a:latin typeface="仿宋" panose="02010609060101010101" pitchFamily="49" charset="-122"/>
                    <a:ea typeface="仿宋" panose="02010609060101010101" pitchFamily="49" charset="-122"/>
                  </a:rPr>
                  <a:t>2~4</a:t>
                </a:r>
                <a:r>
                  <a:rPr lang="zh-CN" altLang="en-US" sz="2000" dirty="0" smtClean="0">
                    <a:solidFill>
                      <a:schemeClr val="tx1"/>
                    </a:solidFill>
                    <a:latin typeface="仿宋" panose="02010609060101010101" pitchFamily="49" charset="-122"/>
                    <a:ea typeface="仿宋" panose="02010609060101010101" pitchFamily="49" charset="-122"/>
                  </a:rPr>
                  <a:t>，可获得口径较小的设计</a:t>
                </a:r>
                <a:r>
                  <a:rPr lang="zh-CN" altLang="en-US" sz="2000" dirty="0">
                    <a:solidFill>
                      <a:schemeClr val="tx1"/>
                    </a:solidFill>
                    <a:latin typeface="仿宋" panose="02010609060101010101" pitchFamily="49" charset="-122"/>
                    <a:ea typeface="仿宋" panose="02010609060101010101" pitchFamily="49" charset="-122"/>
                  </a:rPr>
                  <a:t>，</a:t>
                </a:r>
                <a:r>
                  <a:rPr lang="zh-CN" altLang="en-US" sz="2000" dirty="0" smtClean="0">
                    <a:solidFill>
                      <a:schemeClr val="tx1"/>
                    </a:solidFill>
                    <a:latin typeface="仿宋" panose="02010609060101010101" pitchFamily="49" charset="-122"/>
                    <a:ea typeface="仿宋" panose="02010609060101010101" pitchFamily="49" charset="-122"/>
                  </a:rPr>
                  <a:t>长焦距通过二次成像控制头片口径。    </a:t>
                </a:r>
                <a:endParaRPr lang="zh-CN" altLang="en-US" dirty="0">
                  <a:latin typeface="仿宋" panose="02010609060101010101" pitchFamily="49" charset="-122"/>
                  <a:ea typeface="仿宋" panose="02010609060101010101" pitchFamily="49"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863402" y="809352"/>
                <a:ext cx="12818190" cy="6281744"/>
              </a:xfrm>
              <a:blipFill rotWithShape="1">
                <a:blip r:embed="rId1"/>
                <a:stretch>
                  <a:fillRect l="-3" t="-6" r="4" b="-8662"/>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光学后截距</a:t>
            </a:r>
            <a:r>
              <a:rPr lang="en-US" altLang="zh-CN" dirty="0" smtClean="0"/>
              <a:t>BFL</a:t>
            </a:r>
            <a:r>
              <a:rPr lang="zh-CN" altLang="en-US" dirty="0" smtClean="0"/>
              <a:t>、后靠距</a:t>
            </a:r>
            <a:endParaRPr lang="zh-CN" altLang="en-US" dirty="0"/>
          </a:p>
        </p:txBody>
      </p:sp>
      <p:sp>
        <p:nvSpPr>
          <p:cNvPr id="3" name="内容占位符 2"/>
          <p:cNvSpPr>
            <a:spLocks noGrp="1"/>
          </p:cNvSpPr>
          <p:nvPr>
            <p:ph idx="1"/>
          </p:nvPr>
        </p:nvSpPr>
        <p:spPr/>
        <p:txBody>
          <a:bodyPr/>
          <a:lstStyle/>
          <a:p>
            <a:pPr>
              <a:lnSpc>
                <a:spcPct val="150000"/>
              </a:lnSpc>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光学后截距</a:t>
            </a:r>
            <a:r>
              <a:rPr lang="en-US" altLang="zh-CN" sz="2400" b="1" dirty="0" smtClean="0">
                <a:solidFill>
                  <a:schemeClr val="accent5"/>
                </a:solidFill>
                <a:latin typeface="仿宋" panose="02010609060101010101" pitchFamily="49" charset="-122"/>
                <a:ea typeface="仿宋" panose="02010609060101010101" pitchFamily="49" charset="-122"/>
              </a:rPr>
              <a:t>(BFL)</a:t>
            </a:r>
            <a:r>
              <a:rPr lang="zh-CN" altLang="en-US" sz="2400" dirty="0" smtClean="0">
                <a:solidFill>
                  <a:schemeClr val="accent5"/>
                </a:solidFill>
                <a:latin typeface="仿宋" panose="02010609060101010101" pitchFamily="49" charset="-122"/>
                <a:ea typeface="仿宋" panose="02010609060101010101" pitchFamily="49" charset="-122"/>
              </a:rPr>
              <a:t>：</a:t>
            </a:r>
            <a:r>
              <a:rPr lang="zh-CN" altLang="en-US" sz="2400" dirty="0" smtClean="0">
                <a:solidFill>
                  <a:schemeClr val="tx1"/>
                </a:solidFill>
                <a:latin typeface="仿宋" panose="02010609060101010101" pitchFamily="49" charset="-122"/>
                <a:ea typeface="仿宋" panose="02010609060101010101" pitchFamily="49" charset="-122"/>
              </a:rPr>
              <a:t>尾片顶点到像面的距离</a:t>
            </a:r>
            <a:endParaRPr lang="en-US" altLang="zh-CN" sz="2400" dirty="0" smtClean="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法兰后</a:t>
            </a:r>
            <a:r>
              <a:rPr lang="zh-CN" altLang="en-US" sz="2400" b="1" dirty="0">
                <a:solidFill>
                  <a:schemeClr val="accent5"/>
                </a:solidFill>
                <a:latin typeface="仿宋" panose="02010609060101010101" pitchFamily="49" charset="-122"/>
                <a:ea typeface="仿宋" panose="02010609060101010101" pitchFamily="49" charset="-122"/>
              </a:rPr>
              <a:t>靠</a:t>
            </a:r>
            <a:r>
              <a:rPr lang="zh-CN" altLang="en-US" sz="2400" b="1" dirty="0" smtClean="0">
                <a:solidFill>
                  <a:schemeClr val="accent5"/>
                </a:solidFill>
                <a:latin typeface="仿宋" panose="02010609060101010101" pitchFamily="49" charset="-122"/>
                <a:ea typeface="仿宋" panose="02010609060101010101" pitchFamily="49" charset="-122"/>
              </a:rPr>
              <a:t>距：</a:t>
            </a:r>
            <a:r>
              <a:rPr lang="zh-CN" altLang="en-US" sz="2400" dirty="0" smtClean="0">
                <a:solidFill>
                  <a:schemeClr val="tx1"/>
                </a:solidFill>
                <a:latin typeface="仿宋" panose="02010609060101010101" pitchFamily="49" charset="-122"/>
                <a:ea typeface="仿宋" panose="02010609060101010101" pitchFamily="49" charset="-122"/>
              </a:rPr>
              <a:t>机械后靠面到像面的距离</a:t>
            </a:r>
            <a:endParaRPr lang="en-US" altLang="zh-CN" sz="2400" dirty="0" smtClean="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p"/>
            </a:pPr>
            <a:r>
              <a:rPr lang="zh-CN" altLang="en-US" sz="2400" b="1" dirty="0">
                <a:solidFill>
                  <a:schemeClr val="accent5"/>
                </a:solidFill>
                <a:latin typeface="仿宋" panose="02010609060101010101" pitchFamily="49" charset="-122"/>
                <a:ea typeface="仿宋" panose="02010609060101010101" pitchFamily="49" charset="-122"/>
              </a:rPr>
              <a:t>后工作</a:t>
            </a:r>
            <a:r>
              <a:rPr lang="zh-CN" altLang="en-US" sz="2400" b="1" dirty="0" smtClean="0">
                <a:solidFill>
                  <a:schemeClr val="accent5"/>
                </a:solidFill>
                <a:latin typeface="仿宋" panose="02010609060101010101" pitchFamily="49" charset="-122"/>
                <a:ea typeface="仿宋" panose="02010609060101010101" pitchFamily="49" charset="-122"/>
              </a:rPr>
              <a:t>距（机械后焦距）：</a:t>
            </a:r>
            <a:r>
              <a:rPr lang="zh-CN" altLang="en-US" sz="2400" dirty="0" smtClean="0">
                <a:solidFill>
                  <a:schemeClr val="tx1"/>
                </a:solidFill>
                <a:latin typeface="仿宋" panose="02010609060101010101" pitchFamily="49" charset="-122"/>
                <a:ea typeface="仿宋" panose="02010609060101010101" pitchFamily="49" charset="-122"/>
              </a:rPr>
              <a:t>镜头后端面到像面的</a:t>
            </a:r>
            <a:r>
              <a:rPr lang="zh-CN" altLang="en-US" sz="2400" dirty="0">
                <a:solidFill>
                  <a:schemeClr val="tx1"/>
                </a:solidFill>
                <a:latin typeface="仿宋" panose="02010609060101010101" pitchFamily="49" charset="-122"/>
                <a:ea typeface="仿宋" panose="02010609060101010101" pitchFamily="49" charset="-122"/>
              </a:rPr>
              <a:t>距离。</a:t>
            </a:r>
            <a:endParaRPr lang="zh-CN" altLang="en-US" sz="2400" dirty="0">
              <a:solidFill>
                <a:schemeClr val="tx1"/>
              </a:solidFill>
              <a:latin typeface="仿宋" panose="02010609060101010101" pitchFamily="49" charset="-122"/>
              <a:ea typeface="仿宋" panose="02010609060101010101" pitchFamily="49" charset="-122"/>
            </a:endParaRPr>
          </a:p>
        </p:txBody>
      </p:sp>
      <p:pic>
        <p:nvPicPr>
          <p:cNvPr id="17410" name="Picture 2" descr="D:\工作\工作2022\红外镜头设计简介\新建文件夹\20130316083530429.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43721" y="3113608"/>
            <a:ext cx="6219825" cy="41433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FOCUS</a:t>
            </a:r>
            <a:r>
              <a:rPr lang="zh-CN" altLang="en-US" dirty="0" smtClean="0"/>
              <a:t>、</a:t>
            </a:r>
            <a:r>
              <a:rPr lang="en-US" altLang="zh-CN" dirty="0" smtClean="0"/>
              <a:t>ZOOM</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503362" y="881360"/>
                <a:ext cx="8496944" cy="5832648"/>
              </a:xfrm>
            </p:spPr>
            <p:txBody>
              <a:bodyPr/>
              <a:lstStyle/>
              <a:p>
                <a:pPr>
                  <a:lnSpc>
                    <a:spcPct val="150000"/>
                  </a:lnSpc>
                  <a:spcBef>
                    <a:spcPts val="0"/>
                  </a:spcBef>
                  <a:buFont typeface="Wingdings" panose="05000000000000000000" pitchFamily="2" charset="2"/>
                  <a:buChar char="p"/>
                </a:pPr>
                <a:r>
                  <a:rPr lang="en-US" altLang="zh-CN" sz="2000" b="1" dirty="0" smtClean="0">
                    <a:solidFill>
                      <a:schemeClr val="accent5"/>
                    </a:solidFill>
                    <a:latin typeface="仿宋" panose="02010609060101010101" pitchFamily="49" charset="-122"/>
                    <a:ea typeface="仿宋" panose="02010609060101010101" pitchFamily="49" charset="-122"/>
                  </a:rPr>
                  <a:t>FOCUS</a:t>
                </a:r>
                <a:r>
                  <a:rPr lang="zh-CN" altLang="en-US" sz="2000" b="1" dirty="0" smtClean="0">
                    <a:solidFill>
                      <a:schemeClr val="accent5"/>
                    </a:solidFill>
                    <a:latin typeface="仿宋" panose="02010609060101010101" pitchFamily="49" charset="-122"/>
                    <a:ea typeface="仿宋" panose="02010609060101010101" pitchFamily="49" charset="-122"/>
                  </a:rPr>
                  <a:t>：调焦（</a:t>
                </a:r>
                <a:r>
                  <a:rPr lang="zh-CN" altLang="en-US" sz="2000" b="1" dirty="0">
                    <a:solidFill>
                      <a:schemeClr val="accent5"/>
                    </a:solidFill>
                    <a:latin typeface="仿宋" panose="02010609060101010101" pitchFamily="49" charset="-122"/>
                    <a:ea typeface="仿宋" panose="02010609060101010101" pitchFamily="49" charset="-122"/>
                  </a:rPr>
                  <a:t>对焦、聚焦</a:t>
                </a:r>
                <a:r>
                  <a:rPr lang="zh-CN" altLang="en-US" sz="2000" b="1" dirty="0" smtClean="0">
                    <a:solidFill>
                      <a:schemeClr val="accent5"/>
                    </a:solidFill>
                    <a:latin typeface="仿宋" panose="02010609060101010101" pitchFamily="49" charset="-122"/>
                    <a:ea typeface="仿宋" panose="02010609060101010101" pitchFamily="49" charset="-122"/>
                  </a:rPr>
                  <a:t>）</a:t>
                </a:r>
                <a:endParaRPr lang="en-US" altLang="zh-CN" sz="2000" b="1" dirty="0" smtClean="0">
                  <a:solidFill>
                    <a:schemeClr val="accent5"/>
                  </a:solidFill>
                  <a:latin typeface="仿宋" panose="02010609060101010101" pitchFamily="49" charset="-122"/>
                  <a:ea typeface="仿宋" panose="02010609060101010101" pitchFamily="49" charset="-122"/>
                </a:endParaRPr>
              </a:p>
              <a:p>
                <a:pPr marL="342900" indent="-342900">
                  <a:lnSpc>
                    <a:spcPct val="150000"/>
                  </a:lnSpc>
                  <a:spcBef>
                    <a:spcPts val="0"/>
                  </a:spcBef>
                  <a:buFont typeface="Arial" panose="020B0604020202020204" pitchFamily="34" charset="0"/>
                  <a:buChar char="•"/>
                </a:pPr>
                <a:r>
                  <a:rPr lang="zh-CN" altLang="en-US" sz="2000" b="1" dirty="0" smtClean="0">
                    <a:solidFill>
                      <a:schemeClr val="tx1"/>
                    </a:solidFill>
                    <a:latin typeface="仿宋" panose="02010609060101010101" pitchFamily="49" charset="-122"/>
                    <a:ea typeface="仿宋" panose="02010609060101010101" pitchFamily="49" charset="-122"/>
                  </a:rPr>
                  <a:t>内调焦（尾片调焦）</a:t>
                </a:r>
                <a:endParaRPr lang="en-US" altLang="zh-CN" sz="2000" b="1"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spcBef>
                    <a:spcPts val="0"/>
                  </a:spcBef>
                  <a:buFont typeface="Arial" panose="020B0604020202020204" pitchFamily="34" charset="0"/>
                  <a:buChar char="•"/>
                </a:pPr>
                <a:r>
                  <a:rPr lang="zh-CN" altLang="en-US" sz="2000" b="1" dirty="0" smtClean="0">
                    <a:solidFill>
                      <a:schemeClr val="tx1"/>
                    </a:solidFill>
                    <a:latin typeface="仿宋" panose="02010609060101010101" pitchFamily="49" charset="-122"/>
                    <a:ea typeface="仿宋" panose="02010609060101010101" pitchFamily="49" charset="-122"/>
                  </a:rPr>
                  <a:t>外调焦（整组调焦）</a:t>
                </a:r>
                <a:endParaRPr lang="en-US" altLang="zh-CN" sz="2000" dirty="0" smtClean="0">
                  <a:solidFill>
                    <a:schemeClr val="tx1"/>
                  </a:solidFill>
                  <a:latin typeface="仿宋" panose="02010609060101010101" pitchFamily="49" charset="-122"/>
                  <a:ea typeface="仿宋" panose="02010609060101010101" pitchFamily="49" charset="-122"/>
                </a:endParaRPr>
              </a:p>
              <a:p>
                <a:pPr marL="0" indent="0">
                  <a:lnSpc>
                    <a:spcPct val="150000"/>
                  </a:lnSpc>
                  <a:spcBef>
                    <a:spcPts val="0"/>
                  </a:spcBef>
                </a:pPr>
                <a:r>
                  <a:rPr lang="en-US" altLang="zh-CN" sz="2000" dirty="0" smtClean="0">
                    <a:solidFill>
                      <a:schemeClr val="tx1"/>
                    </a:solidFill>
                    <a:latin typeface="仿宋" panose="02010609060101010101" pitchFamily="49" charset="-122"/>
                    <a:ea typeface="仿宋" panose="02010609060101010101" pitchFamily="49" charset="-122"/>
                  </a:rPr>
                  <a:t>    </a:t>
                </a:r>
                <a:r>
                  <a:rPr lang="zh-CN" altLang="en-US" sz="2000" dirty="0" smtClean="0">
                    <a:solidFill>
                      <a:schemeClr val="tx1"/>
                    </a:solidFill>
                    <a:latin typeface="仿宋" panose="02010609060101010101" pitchFamily="49" charset="-122"/>
                    <a:ea typeface="仿宋" panose="02010609060101010101" pitchFamily="49" charset="-122"/>
                  </a:rPr>
                  <a:t>高斯公式：</a:t>
                </a:r>
                <a:r>
                  <a:rPr lang="en-US" altLang="zh-CN" sz="2000" b="1" dirty="0" smtClean="0">
                    <a:solidFill>
                      <a:schemeClr val="tx1"/>
                    </a:solidFill>
                    <a:latin typeface="仿宋" panose="02010609060101010101" pitchFamily="49" charset="-122"/>
                    <a:ea typeface="仿宋" panose="02010609060101010101" pitchFamily="49" charset="-122"/>
                  </a:rPr>
                  <a:t> </a:t>
                </a:r>
                <a14:m>
                  <m:oMath xmlns:m="http://schemas.openxmlformats.org/officeDocument/2006/math">
                    <m:f>
                      <m:fPr>
                        <m:ctrlPr>
                          <a:rPr lang="en-US" altLang="zh-CN" sz="2000" b="1" i="1" smtClean="0">
                            <a:solidFill>
                              <a:schemeClr val="tx1"/>
                            </a:solidFill>
                            <a:latin typeface="Cambria Math" panose="02040503050406030204" pitchFamily="18" charset="0"/>
                          </a:rPr>
                        </m:ctrlPr>
                      </m:fPr>
                      <m:num>
                        <m:r>
                          <a:rPr lang="en-US" altLang="zh-CN" sz="2000" b="1" i="1" smtClean="0">
                            <a:solidFill>
                              <a:schemeClr val="tx1"/>
                            </a:solidFill>
                            <a:latin typeface="Cambria Math" panose="02040503050406030204"/>
                          </a:rPr>
                          <m:t>𝟏</m:t>
                        </m:r>
                      </m:num>
                      <m:den>
                        <m:sSup>
                          <m:sSupPr>
                            <m:ctrlPr>
                              <a:rPr lang="en-US" altLang="zh-CN" sz="2000" b="1" i="1" smtClean="0">
                                <a:solidFill>
                                  <a:schemeClr val="tx1"/>
                                </a:solidFill>
                                <a:latin typeface="Cambria Math" panose="02040503050406030204" pitchFamily="18" charset="0"/>
                              </a:rPr>
                            </m:ctrlPr>
                          </m:sSupPr>
                          <m:e>
                            <m:r>
                              <a:rPr lang="en-US" altLang="zh-CN" sz="2000" b="1" i="1" smtClean="0">
                                <a:solidFill>
                                  <a:schemeClr val="tx1"/>
                                </a:solidFill>
                                <a:latin typeface="Cambria Math" panose="02040503050406030204"/>
                              </a:rPr>
                              <m:t>𝒍</m:t>
                            </m:r>
                          </m:e>
                          <m:sup>
                            <m:r>
                              <a:rPr lang="en-US" altLang="zh-CN" sz="2000" b="1" i="1" smtClean="0">
                                <a:solidFill>
                                  <a:schemeClr val="tx1"/>
                                </a:solidFill>
                                <a:latin typeface="Cambria Math" panose="02040503050406030204"/>
                              </a:rPr>
                              <m:t>′</m:t>
                            </m:r>
                          </m:sup>
                        </m:sSup>
                      </m:den>
                    </m:f>
                    <m:r>
                      <a:rPr lang="en-US" altLang="zh-CN" sz="2000" b="1" i="1" smtClean="0">
                        <a:solidFill>
                          <a:schemeClr val="tx1"/>
                        </a:solidFill>
                        <a:latin typeface="Cambria Math" panose="02040503050406030204"/>
                      </a:rPr>
                      <m:t>−</m:t>
                    </m:r>
                    <m:f>
                      <m:fPr>
                        <m:ctrlPr>
                          <a:rPr lang="en-US" altLang="zh-CN" sz="2000" b="1" i="1" smtClean="0">
                            <a:solidFill>
                              <a:schemeClr val="tx1"/>
                            </a:solidFill>
                            <a:latin typeface="Cambria Math" panose="02040503050406030204" pitchFamily="18" charset="0"/>
                          </a:rPr>
                        </m:ctrlPr>
                      </m:fPr>
                      <m:num>
                        <m:r>
                          <a:rPr lang="en-US" altLang="zh-CN" sz="2000" b="1" i="1" smtClean="0">
                            <a:solidFill>
                              <a:schemeClr val="tx1"/>
                            </a:solidFill>
                            <a:latin typeface="Cambria Math" panose="02040503050406030204"/>
                          </a:rPr>
                          <m:t>𝟏</m:t>
                        </m:r>
                      </m:num>
                      <m:den>
                        <m:r>
                          <a:rPr lang="en-US" altLang="zh-CN" sz="2000" b="1" i="1" smtClean="0">
                            <a:solidFill>
                              <a:schemeClr val="tx1"/>
                            </a:solidFill>
                            <a:latin typeface="Cambria Math" panose="02040503050406030204"/>
                          </a:rPr>
                          <m:t>𝒍</m:t>
                        </m:r>
                      </m:den>
                    </m:f>
                    <m:r>
                      <a:rPr lang="en-US" altLang="zh-CN" sz="2000" b="1" i="1" smtClean="0">
                        <a:solidFill>
                          <a:schemeClr val="tx1"/>
                        </a:solidFill>
                        <a:latin typeface="Cambria Math" panose="02040503050406030204"/>
                      </a:rPr>
                      <m:t>=</m:t>
                    </m:r>
                    <m:f>
                      <m:fPr>
                        <m:ctrlPr>
                          <a:rPr lang="en-US" altLang="zh-CN" sz="2000" b="1" i="1" smtClean="0">
                            <a:solidFill>
                              <a:schemeClr val="tx1"/>
                            </a:solidFill>
                            <a:latin typeface="Cambria Math" panose="02040503050406030204" pitchFamily="18" charset="0"/>
                          </a:rPr>
                        </m:ctrlPr>
                      </m:fPr>
                      <m:num>
                        <m:r>
                          <a:rPr lang="en-US" altLang="zh-CN" sz="2000" b="1" i="1" smtClean="0">
                            <a:solidFill>
                              <a:schemeClr val="tx1"/>
                            </a:solidFill>
                            <a:latin typeface="Cambria Math" panose="02040503050406030204"/>
                          </a:rPr>
                          <m:t>𝟏</m:t>
                        </m:r>
                      </m:num>
                      <m:den>
                        <m:sSup>
                          <m:sSupPr>
                            <m:ctrlPr>
                              <a:rPr lang="en-US" altLang="zh-CN" sz="2000" b="1" i="1" smtClean="0">
                                <a:solidFill>
                                  <a:schemeClr val="tx1"/>
                                </a:solidFill>
                                <a:latin typeface="Cambria Math" panose="02040503050406030204" pitchFamily="18" charset="0"/>
                              </a:rPr>
                            </m:ctrlPr>
                          </m:sSupPr>
                          <m:e>
                            <m:r>
                              <a:rPr lang="en-US" altLang="zh-CN" sz="2000" b="1" i="1" smtClean="0">
                                <a:solidFill>
                                  <a:schemeClr val="tx1"/>
                                </a:solidFill>
                                <a:latin typeface="Cambria Math" panose="02040503050406030204"/>
                              </a:rPr>
                              <m:t>𝒇</m:t>
                            </m:r>
                          </m:e>
                          <m:sup>
                            <m:r>
                              <a:rPr lang="en-US" altLang="zh-CN" sz="2000" b="1" i="1" smtClean="0">
                                <a:solidFill>
                                  <a:schemeClr val="tx1"/>
                                </a:solidFill>
                                <a:latin typeface="Cambria Math" panose="02040503050406030204"/>
                              </a:rPr>
                              <m:t>′</m:t>
                            </m:r>
                          </m:sup>
                        </m:sSup>
                      </m:den>
                    </m:f>
                  </m:oMath>
                </a14:m>
                <a:r>
                  <a:rPr lang="en-US" altLang="zh-CN" sz="2000" b="1" dirty="0" smtClean="0">
                    <a:solidFill>
                      <a:schemeClr val="tx1"/>
                    </a:solidFill>
                    <a:latin typeface="仿宋" panose="02010609060101010101" pitchFamily="49" charset="-122"/>
                    <a:ea typeface="仿宋" panose="02010609060101010101" pitchFamily="49" charset="-122"/>
                  </a:rPr>
                  <a:t> </a:t>
                </a:r>
                <a:r>
                  <a:rPr lang="zh-CN" altLang="en-US" sz="2000" b="1" dirty="0" smtClean="0">
                    <a:solidFill>
                      <a:schemeClr val="tx1"/>
                    </a:solidFill>
                    <a:latin typeface="仿宋" panose="02010609060101010101" pitchFamily="49" charset="-122"/>
                    <a:ea typeface="仿宋" panose="02010609060101010101" pitchFamily="49" charset="-122"/>
                  </a:rPr>
                  <a:t>，</a:t>
                </a:r>
                <a14:m>
                  <m:oMath xmlns:m="http://schemas.openxmlformats.org/officeDocument/2006/math">
                    <m:r>
                      <a:rPr lang="en-US" altLang="zh-CN" sz="2000" b="1" i="1">
                        <a:solidFill>
                          <a:schemeClr val="tx1"/>
                        </a:solidFill>
                        <a:latin typeface="Cambria Math" panose="02040503050406030204"/>
                      </a:rPr>
                      <m:t>𝒍</m:t>
                    </m:r>
                    <m:r>
                      <a:rPr lang="en-US" altLang="zh-CN" sz="2000" b="1" i="1">
                        <a:solidFill>
                          <a:schemeClr val="tx1"/>
                        </a:solidFill>
                        <a:latin typeface="Cambria Math" panose="02040503050406030204"/>
                      </a:rPr>
                      <m:t>﷮′</m:t>
                    </m:r>
                  </m:oMath>
                </a14:m>
                <a:r>
                  <a:rPr lang="zh-CN" altLang="en-US" sz="2000" b="1" dirty="0" smtClean="0">
                    <a:solidFill>
                      <a:schemeClr val="tx1"/>
                    </a:solidFill>
                    <a:latin typeface="仿宋" panose="02010609060101010101" pitchFamily="49" charset="-122"/>
                    <a:ea typeface="仿宋" panose="02010609060101010101" pitchFamily="49" charset="-122"/>
                  </a:rPr>
                  <a:t>：像距，</a:t>
                </a:r>
                <a:r>
                  <a:rPr lang="en-US" altLang="zh-CN" sz="2000" b="1" dirty="0">
                    <a:solidFill>
                      <a:schemeClr val="tx1"/>
                    </a:solidFill>
                    <a:latin typeface="仿宋" panose="02010609060101010101" pitchFamily="49" charset="-122"/>
                    <a:ea typeface="仿宋" panose="02010609060101010101" pitchFamily="49" charset="-122"/>
                  </a:rPr>
                  <a:t> </a:t>
                </a:r>
                <a14:m>
                  <m:oMath xmlns:m="http://schemas.openxmlformats.org/officeDocument/2006/math">
                    <m:r>
                      <a:rPr lang="en-US" altLang="zh-CN" sz="2000" b="1" i="1">
                        <a:solidFill>
                          <a:schemeClr val="tx1"/>
                        </a:solidFill>
                        <a:latin typeface="Cambria Math" panose="02040503050406030204"/>
                      </a:rPr>
                      <m:t>𝒍</m:t>
                    </m:r>
                  </m:oMath>
                </a14:m>
                <a:r>
                  <a:rPr lang="zh-CN" altLang="en-US" sz="2000" b="1" dirty="0" smtClean="0">
                    <a:solidFill>
                      <a:schemeClr val="tx1"/>
                    </a:solidFill>
                    <a:latin typeface="仿宋" panose="02010609060101010101" pitchFamily="49" charset="-122"/>
                    <a:ea typeface="仿宋" panose="02010609060101010101" pitchFamily="49" charset="-122"/>
                  </a:rPr>
                  <a:t>：物距，</a:t>
                </a:r>
                <a14:m>
                  <m:oMath xmlns:m="http://schemas.openxmlformats.org/officeDocument/2006/math">
                    <m:sSup>
                      <m:sSupPr>
                        <m:ctrlPr>
                          <a:rPr lang="en-US" altLang="zh-CN" sz="2000" b="1" i="1">
                            <a:solidFill>
                              <a:schemeClr val="tx1"/>
                            </a:solidFill>
                            <a:latin typeface="Cambria Math" panose="02040503050406030204" pitchFamily="18" charset="0"/>
                          </a:rPr>
                        </m:ctrlPr>
                      </m:sSupPr>
                      <m:e>
                        <m:r>
                          <a:rPr lang="en-US" altLang="zh-CN" sz="2000" b="1" i="1">
                            <a:solidFill>
                              <a:schemeClr val="tx1"/>
                            </a:solidFill>
                            <a:latin typeface="Cambria Math" panose="02040503050406030204"/>
                          </a:rPr>
                          <m:t>𝒇</m:t>
                        </m:r>
                      </m:e>
                      <m:sup>
                        <m:r>
                          <a:rPr lang="en-US" altLang="zh-CN" sz="2000" b="1" i="1">
                            <a:solidFill>
                              <a:schemeClr val="tx1"/>
                            </a:solidFill>
                            <a:latin typeface="Cambria Math" panose="02040503050406030204"/>
                          </a:rPr>
                          <m:t>′</m:t>
                        </m:r>
                      </m:sup>
                    </m:sSup>
                  </m:oMath>
                </a14:m>
                <a:r>
                  <a:rPr lang="zh-CN" altLang="en-US" sz="2000" b="1" dirty="0" smtClean="0">
                    <a:solidFill>
                      <a:schemeClr val="tx1"/>
                    </a:solidFill>
                    <a:latin typeface="仿宋" panose="02010609060101010101" pitchFamily="49" charset="-122"/>
                    <a:ea typeface="仿宋" panose="02010609060101010101" pitchFamily="49" charset="-122"/>
                  </a:rPr>
                  <a:t>：焦距</a:t>
                </a:r>
                <a:endParaRPr lang="en-US" altLang="zh-CN" sz="2000" b="1" dirty="0" smtClean="0">
                  <a:solidFill>
                    <a:schemeClr val="tx1"/>
                  </a:solidFill>
                  <a:latin typeface="仿宋" panose="02010609060101010101" pitchFamily="49" charset="-122"/>
                  <a:ea typeface="仿宋" panose="02010609060101010101" pitchFamily="49" charset="-122"/>
                </a:endParaRPr>
              </a:p>
              <a:p>
                <a:pPr marL="0" indent="0">
                  <a:lnSpc>
                    <a:spcPct val="150000"/>
                  </a:lnSpc>
                  <a:spcBef>
                    <a:spcPts val="0"/>
                  </a:spcBef>
                </a:pPr>
                <a:r>
                  <a:rPr lang="en-US" altLang="zh-CN" sz="2000" dirty="0">
                    <a:solidFill>
                      <a:schemeClr val="tx1"/>
                    </a:solidFill>
                    <a:latin typeface="仿宋" panose="02010609060101010101" pitchFamily="49" charset="-122"/>
                    <a:ea typeface="仿宋" panose="02010609060101010101" pitchFamily="49" charset="-122"/>
                  </a:rPr>
                  <a:t> </a:t>
                </a:r>
                <a:r>
                  <a:rPr lang="en-US" altLang="zh-CN" sz="2000" dirty="0" smtClean="0">
                    <a:solidFill>
                      <a:schemeClr val="tx1"/>
                    </a:solidFill>
                    <a:latin typeface="仿宋" panose="02010609060101010101" pitchFamily="49" charset="-122"/>
                    <a:ea typeface="仿宋" panose="02010609060101010101" pitchFamily="49" charset="-122"/>
                  </a:rPr>
                  <a:t>   </a:t>
                </a:r>
                <a:r>
                  <a:rPr lang="zh-CN" altLang="en-US" sz="2000" dirty="0" smtClean="0">
                    <a:solidFill>
                      <a:schemeClr val="tx1"/>
                    </a:solidFill>
                    <a:latin typeface="仿宋" panose="02010609060101010101" pitchFamily="49" charset="-122"/>
                    <a:ea typeface="仿宋" panose="02010609060101010101" pitchFamily="49" charset="-122"/>
                  </a:rPr>
                  <a:t>随着物距变化，像距改变，像面偏离探测器靶面，图像变模糊；</a:t>
                </a:r>
                <a:endParaRPr lang="en-US" altLang="zh-CN" sz="2000" dirty="0">
                  <a:solidFill>
                    <a:schemeClr val="tx1"/>
                  </a:solidFill>
                  <a:latin typeface="仿宋" panose="02010609060101010101" pitchFamily="49" charset="-122"/>
                  <a:ea typeface="仿宋" panose="02010609060101010101" pitchFamily="49" charset="-122"/>
                </a:endParaRPr>
              </a:p>
              <a:p>
                <a:pPr marL="0" indent="0">
                  <a:lnSpc>
                    <a:spcPct val="150000"/>
                  </a:lnSpc>
                  <a:spcBef>
                    <a:spcPts val="0"/>
                  </a:spcBef>
                </a:pPr>
                <a:r>
                  <a:rPr lang="en-US" altLang="zh-CN" sz="2000" dirty="0" smtClean="0">
                    <a:solidFill>
                      <a:schemeClr val="tx1"/>
                    </a:solidFill>
                    <a:latin typeface="仿宋" panose="02010609060101010101" pitchFamily="49" charset="-122"/>
                    <a:ea typeface="仿宋" panose="02010609060101010101" pitchFamily="49" charset="-122"/>
                  </a:rPr>
                  <a:t>    </a:t>
                </a:r>
                <a:r>
                  <a:rPr lang="zh-CN" altLang="en-US" sz="2000" dirty="0" smtClean="0">
                    <a:solidFill>
                      <a:schemeClr val="tx1"/>
                    </a:solidFill>
                    <a:latin typeface="仿宋" panose="02010609060101010101" pitchFamily="49" charset="-122"/>
                    <a:ea typeface="仿宋" panose="02010609060101010101" pitchFamily="49" charset="-122"/>
                  </a:rPr>
                  <a:t>通过移动镜片或者探测器使像面和探测器靶面重合，称之为</a:t>
                </a:r>
                <a:r>
                  <a:rPr lang="zh-CN" altLang="en-US" sz="2000" b="1" dirty="0" smtClean="0">
                    <a:solidFill>
                      <a:schemeClr val="accent5"/>
                    </a:solidFill>
                    <a:latin typeface="仿宋" panose="02010609060101010101" pitchFamily="49" charset="-122"/>
                    <a:ea typeface="仿宋" panose="02010609060101010101" pitchFamily="49" charset="-122"/>
                  </a:rPr>
                  <a:t>调焦</a:t>
                </a:r>
                <a:r>
                  <a:rPr lang="zh-CN" altLang="en-US" sz="2000" dirty="0" smtClean="0">
                    <a:solidFill>
                      <a:schemeClr val="tx1"/>
                    </a:solidFill>
                    <a:latin typeface="仿宋" panose="02010609060101010101" pitchFamily="49" charset="-122"/>
                    <a:ea typeface="仿宋" panose="02010609060101010101" pitchFamily="49" charset="-122"/>
                  </a:rPr>
                  <a:t>；</a:t>
                </a:r>
                <a:endParaRPr lang="en-US" altLang="zh-CN" sz="2000" dirty="0" smtClean="0">
                  <a:solidFill>
                    <a:schemeClr val="tx1"/>
                  </a:solidFill>
                  <a:latin typeface="仿宋" panose="02010609060101010101" pitchFamily="49" charset="-122"/>
                  <a:ea typeface="仿宋" panose="02010609060101010101" pitchFamily="49" charset="-122"/>
                </a:endParaRPr>
              </a:p>
              <a:p>
                <a:pPr marL="0" indent="0">
                  <a:lnSpc>
                    <a:spcPct val="150000"/>
                  </a:lnSpc>
                  <a:spcBef>
                    <a:spcPts val="0"/>
                  </a:spcBef>
                </a:pP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spcBef>
                    <a:spcPts val="0"/>
                  </a:spcBef>
                  <a:buFont typeface="Wingdings" panose="05000000000000000000" pitchFamily="2" charset="2"/>
                  <a:buChar char="p"/>
                </a:pPr>
                <a:r>
                  <a:rPr lang="en-US" altLang="zh-CN" sz="2000" b="1" dirty="0" smtClean="0">
                    <a:solidFill>
                      <a:schemeClr val="accent5"/>
                    </a:solidFill>
                    <a:latin typeface="仿宋" panose="02010609060101010101" pitchFamily="49" charset="-122"/>
                    <a:ea typeface="仿宋" panose="02010609060101010101" pitchFamily="49" charset="-122"/>
                  </a:rPr>
                  <a:t>ZOOM</a:t>
                </a:r>
                <a:r>
                  <a:rPr lang="zh-CN" altLang="en-US" sz="2000" b="1" dirty="0">
                    <a:solidFill>
                      <a:schemeClr val="accent5"/>
                    </a:solidFill>
                    <a:latin typeface="仿宋" panose="02010609060101010101" pitchFamily="49" charset="-122"/>
                    <a:ea typeface="仿宋" panose="02010609060101010101" pitchFamily="49" charset="-122"/>
                  </a:rPr>
                  <a:t>：</a:t>
                </a:r>
                <a:r>
                  <a:rPr lang="zh-CN" altLang="en-US" sz="2000" b="1" dirty="0" smtClean="0">
                    <a:solidFill>
                      <a:schemeClr val="accent5"/>
                    </a:solidFill>
                    <a:latin typeface="仿宋" panose="02010609060101010101" pitchFamily="49" charset="-122"/>
                    <a:ea typeface="仿宋" panose="02010609060101010101" pitchFamily="49" charset="-122"/>
                  </a:rPr>
                  <a:t>变焦，镜头的视场角改变</a:t>
                </a:r>
                <a:endParaRPr lang="en-US" altLang="zh-CN" sz="2000" b="1" dirty="0" smtClean="0">
                  <a:solidFill>
                    <a:schemeClr val="accent5"/>
                  </a:solidFill>
                  <a:latin typeface="仿宋" panose="02010609060101010101" pitchFamily="49" charset="-122"/>
                  <a:ea typeface="仿宋" panose="02010609060101010101" pitchFamily="49" charset="-122"/>
                </a:endParaRPr>
              </a:p>
              <a:p>
                <a:pPr marL="342900" indent="-342900">
                  <a:lnSpc>
                    <a:spcPct val="150000"/>
                  </a:lnSpc>
                  <a:spcBef>
                    <a:spcPts val="0"/>
                  </a:spcBef>
                  <a:buFont typeface="Arial" panose="020B0604020202020204" pitchFamily="34" charset="0"/>
                  <a:buChar char="•"/>
                </a:pPr>
                <a:r>
                  <a:rPr lang="zh-CN" altLang="en-US" sz="2000" b="1" dirty="0" smtClean="0">
                    <a:solidFill>
                      <a:schemeClr val="tx1"/>
                    </a:solidFill>
                    <a:latin typeface="仿宋" panose="02010609060101010101" pitchFamily="49" charset="-122"/>
                    <a:ea typeface="仿宋" panose="02010609060101010101" pitchFamily="49" charset="-122"/>
                  </a:rPr>
                  <a:t>光学变焦</a:t>
                </a:r>
                <a:r>
                  <a:rPr lang="zh-CN" altLang="en-US" sz="2000" dirty="0" smtClean="0">
                    <a:solidFill>
                      <a:schemeClr val="tx1"/>
                    </a:solidFill>
                    <a:latin typeface="仿宋" panose="02010609060101010101" pitchFamily="49" charset="-122"/>
                    <a:ea typeface="仿宋" panose="02010609060101010101" pitchFamily="49" charset="-122"/>
                  </a:rPr>
                  <a:t>：通过移动镜片改变焦距</a:t>
                </a:r>
                <a:r>
                  <a:rPr lang="en-US" altLang="zh-CN" sz="2000" dirty="0" smtClean="0">
                    <a:solidFill>
                      <a:schemeClr val="tx1"/>
                    </a:solidFill>
                    <a:latin typeface="仿宋" panose="02010609060101010101" pitchFamily="49" charset="-122"/>
                    <a:ea typeface="仿宋" panose="02010609060101010101" pitchFamily="49" charset="-122"/>
                  </a:rPr>
                  <a:t>(</a:t>
                </a:r>
                <a:r>
                  <a:rPr lang="zh-CN" altLang="en-US" sz="2000" dirty="0" smtClean="0">
                    <a:solidFill>
                      <a:schemeClr val="tx1"/>
                    </a:solidFill>
                    <a:latin typeface="仿宋" panose="02010609060101010101" pitchFamily="49" charset="-122"/>
                    <a:ea typeface="仿宋" panose="02010609060101010101" pitchFamily="49" charset="-122"/>
                  </a:rPr>
                  <a:t>视场角改变</a:t>
                </a:r>
                <a:r>
                  <a:rPr lang="en-US" altLang="zh-CN" sz="2000" dirty="0" smtClean="0">
                    <a:solidFill>
                      <a:schemeClr val="tx1"/>
                    </a:solidFill>
                    <a:latin typeface="仿宋" panose="02010609060101010101" pitchFamily="49" charset="-122"/>
                    <a:ea typeface="仿宋" panose="02010609060101010101" pitchFamily="49" charset="-122"/>
                  </a:rPr>
                  <a:t>)</a:t>
                </a:r>
                <a:r>
                  <a:rPr lang="zh-CN" altLang="en-US" sz="2000" dirty="0" smtClean="0">
                    <a:solidFill>
                      <a:schemeClr val="tx1"/>
                    </a:solidFill>
                    <a:latin typeface="仿宋" panose="02010609060101010101" pitchFamily="49" charset="-122"/>
                    <a:ea typeface="仿宋" panose="02010609060101010101" pitchFamily="49" charset="-122"/>
                  </a:rPr>
                  <a:t>实现目标放大缩小；</a:t>
                </a:r>
                <a:endParaRPr lang="en-US" altLang="zh-CN" sz="2000"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spcBef>
                    <a:spcPts val="0"/>
                  </a:spcBef>
                  <a:buFont typeface="Arial" panose="020B0604020202020204" pitchFamily="34" charset="0"/>
                  <a:buChar char="•"/>
                </a:pPr>
                <a:r>
                  <a:rPr lang="zh-CN" altLang="en-US" sz="2000" b="1" dirty="0" smtClean="0">
                    <a:solidFill>
                      <a:schemeClr val="tx1"/>
                    </a:solidFill>
                    <a:latin typeface="仿宋" panose="02010609060101010101" pitchFamily="49" charset="-122"/>
                    <a:ea typeface="仿宋" panose="02010609060101010101" pitchFamily="49" charset="-122"/>
                  </a:rPr>
                  <a:t>电子变焦</a:t>
                </a:r>
                <a:r>
                  <a:rPr lang="zh-CN" altLang="en-US" sz="2000" dirty="0" smtClean="0">
                    <a:solidFill>
                      <a:schemeClr val="tx1"/>
                    </a:solidFill>
                    <a:latin typeface="仿宋" panose="02010609060101010101" pitchFamily="49" charset="-122"/>
                    <a:ea typeface="仿宋" panose="02010609060101010101" pitchFamily="49" charset="-122"/>
                  </a:rPr>
                  <a:t>：采用</a:t>
                </a:r>
                <a:r>
                  <a:rPr lang="zh-CN" altLang="en-US" sz="2000" dirty="0">
                    <a:solidFill>
                      <a:schemeClr val="tx1"/>
                    </a:solidFill>
                    <a:latin typeface="仿宋" panose="02010609060101010101" pitchFamily="49" charset="-122"/>
                    <a:ea typeface="仿宋" panose="02010609060101010101" pitchFamily="49" charset="-122"/>
                  </a:rPr>
                  <a:t>插值</a:t>
                </a:r>
                <a:r>
                  <a:rPr lang="zh-CN" altLang="en-US" sz="2000" dirty="0" smtClean="0">
                    <a:solidFill>
                      <a:schemeClr val="tx1"/>
                    </a:solidFill>
                    <a:latin typeface="仿宋" panose="02010609060101010101" pitchFamily="49" charset="-122"/>
                    <a:ea typeface="仿宋" panose="02010609060101010101" pitchFamily="49" charset="-122"/>
                  </a:rPr>
                  <a:t>像素，将图像局部放大，实际图像清晰度并没有提高。</a:t>
                </a:r>
                <a:endParaRPr lang="zh-CN" altLang="en-US" sz="2000" dirty="0">
                  <a:solidFill>
                    <a:schemeClr val="tx1"/>
                  </a:solidFill>
                  <a:latin typeface="仿宋" panose="02010609060101010101" pitchFamily="49" charset="-122"/>
                  <a:ea typeface="仿宋" panose="02010609060101010101" pitchFamily="49"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503362" y="881360"/>
                <a:ext cx="8496944" cy="5832648"/>
              </a:xfrm>
              <a:blipFill rotWithShape="1">
                <a:blip r:embed="rId1"/>
                <a:stretch>
                  <a:fillRect l="-5" t="-11" r="5" b="3"/>
                </a:stretch>
              </a:blipFill>
            </p:spPr>
            <p:txBody>
              <a:bodyPr/>
              <a:lstStyle/>
              <a:p>
                <a:r>
                  <a:rPr lang="zh-CN" altLang="en-US">
                    <a:noFill/>
                  </a:rPr>
                  <a:t> </a:t>
                </a:r>
              </a:p>
            </p:txBody>
          </p:sp>
        </mc:Fallback>
      </mc:AlternateContent>
      <p:pic>
        <p:nvPicPr>
          <p:cNvPr id="102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58683" y="665335"/>
            <a:ext cx="5210175" cy="2752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6330" y="3473648"/>
            <a:ext cx="3600400" cy="45938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a:t>
            </a:r>
            <a:r>
              <a:rPr lang="zh-CN" altLang="en-US" dirty="0" smtClean="0"/>
              <a:t>、红外镜头主要评价指标</a:t>
            </a:r>
            <a:endParaRPr lang="zh-CN" altLang="en-US" dirty="0"/>
          </a:p>
        </p:txBody>
      </p:sp>
      <p:sp>
        <p:nvSpPr>
          <p:cNvPr id="4" name="TextBox 3"/>
          <p:cNvSpPr txBox="1"/>
          <p:nvPr/>
        </p:nvSpPr>
        <p:spPr>
          <a:xfrm>
            <a:off x="1223442" y="953368"/>
            <a:ext cx="2685351" cy="6555641"/>
          </a:xfrm>
          <a:prstGeom prst="rect">
            <a:avLst/>
          </a:prstGeom>
          <a:noFill/>
        </p:spPr>
        <p:txBody>
          <a:bodyPr wrap="none" rtlCol="0">
            <a:spAutoFit/>
          </a:bodyPr>
          <a:lstStyle/>
          <a:p>
            <a:pPr marL="342900" indent="-342900">
              <a:lnSpc>
                <a:spcPct val="150000"/>
              </a:lnSpc>
              <a:buFont typeface="Wingdings" panose="05000000000000000000" pitchFamily="2" charset="2"/>
              <a:buChar char="Ø"/>
            </a:pPr>
            <a:r>
              <a:rPr lang="zh-CN" altLang="en-US" sz="2800" dirty="0" smtClean="0">
                <a:latin typeface="仿宋" panose="02010609060101010101" pitchFamily="49" charset="-122"/>
                <a:ea typeface="仿宋" panose="02010609060101010101" pitchFamily="49" charset="-122"/>
              </a:rPr>
              <a:t>清晰度</a:t>
            </a:r>
            <a:endParaRPr lang="en-US" altLang="zh-CN" sz="28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800" dirty="0" smtClean="0">
                <a:latin typeface="仿宋" panose="02010609060101010101" pitchFamily="49" charset="-122"/>
                <a:ea typeface="仿宋" panose="02010609060101010101" pitchFamily="49" charset="-122"/>
              </a:rPr>
              <a:t>分辨率</a:t>
            </a:r>
            <a:endParaRPr lang="en-US" altLang="zh-CN" sz="28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800" dirty="0">
                <a:latin typeface="仿宋" panose="02010609060101010101" pitchFamily="49" charset="-122"/>
                <a:ea typeface="仿宋" panose="02010609060101010101" pitchFamily="49" charset="-122"/>
              </a:rPr>
              <a:t>对比度</a:t>
            </a:r>
            <a:endParaRPr lang="en-US" altLang="zh-CN" sz="28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en-US" altLang="zh-CN" sz="2800" dirty="0" smtClean="0">
                <a:latin typeface="仿宋" panose="02010609060101010101" pitchFamily="49" charset="-122"/>
                <a:ea typeface="仿宋" panose="02010609060101010101" pitchFamily="49" charset="-122"/>
              </a:rPr>
              <a:t>MTF</a:t>
            </a:r>
            <a:endParaRPr lang="en-US" altLang="zh-CN" sz="28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800" dirty="0">
                <a:latin typeface="仿宋" panose="02010609060101010101" pitchFamily="49" charset="-122"/>
                <a:ea typeface="仿宋" panose="02010609060101010101" pitchFamily="49" charset="-122"/>
              </a:rPr>
              <a:t>尼奎斯特频率</a:t>
            </a:r>
            <a:endParaRPr lang="en-US" altLang="zh-CN" sz="28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en-US" altLang="zh-CN" sz="2800" dirty="0" smtClean="0">
                <a:latin typeface="仿宋" panose="02010609060101010101" pitchFamily="49" charset="-122"/>
                <a:ea typeface="仿宋" panose="02010609060101010101" pitchFamily="49" charset="-122"/>
              </a:rPr>
              <a:t>SFR</a:t>
            </a:r>
            <a:endParaRPr lang="en-US" altLang="zh-CN" sz="28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800" dirty="0">
                <a:latin typeface="仿宋" panose="02010609060101010101" pitchFamily="49" charset="-122"/>
                <a:ea typeface="仿宋" panose="02010609060101010101" pitchFamily="49" charset="-122"/>
              </a:rPr>
              <a:t>点列图</a:t>
            </a:r>
            <a:endParaRPr lang="en-US" altLang="zh-CN" sz="28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800" dirty="0">
                <a:latin typeface="仿宋" panose="02010609060101010101" pitchFamily="49" charset="-122"/>
                <a:ea typeface="仿宋" panose="02010609060101010101" pitchFamily="49" charset="-122"/>
              </a:rPr>
              <a:t>相对</a:t>
            </a:r>
            <a:r>
              <a:rPr lang="zh-CN" altLang="en-US" sz="2800" dirty="0" smtClean="0">
                <a:latin typeface="仿宋" panose="02010609060101010101" pitchFamily="49" charset="-122"/>
                <a:ea typeface="仿宋" panose="02010609060101010101" pitchFamily="49" charset="-122"/>
              </a:rPr>
              <a:t>照度</a:t>
            </a:r>
            <a:endParaRPr lang="en-US" altLang="zh-CN" sz="28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800" dirty="0" smtClean="0">
                <a:latin typeface="仿宋" panose="02010609060101010101" pitchFamily="49" charset="-122"/>
                <a:ea typeface="仿宋" panose="02010609060101010101" pitchFamily="49" charset="-122"/>
              </a:rPr>
              <a:t>畸变</a:t>
            </a:r>
            <a:endParaRPr lang="en-US" altLang="zh-CN" sz="28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800" dirty="0">
                <a:latin typeface="仿宋" panose="02010609060101010101" pitchFamily="49" charset="-122"/>
                <a:ea typeface="仿宋" panose="02010609060101010101" pitchFamily="49" charset="-122"/>
              </a:rPr>
              <a:t>包围圆能量</a:t>
            </a:r>
            <a:endParaRPr lang="en-US" altLang="zh-CN" sz="2800" dirty="0" smtClean="0">
              <a:latin typeface="仿宋" panose="02010609060101010101" pitchFamily="49" charset="-122"/>
              <a:ea typeface="仿宋" panose="02010609060101010101" pitchFamily="49"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清晰度（解析度）：分辨率和对比度</a:t>
            </a:r>
            <a:endParaRPr lang="zh-CN" altLang="en-US" dirty="0"/>
          </a:p>
        </p:txBody>
      </p:sp>
      <p:pic>
        <p:nvPicPr>
          <p:cNvPr id="12290" name="Picture 2" descr="C:\Users\07285yzl\Desktop\红外镜头设计简介\新建文件夹\src=http___upload.techweb.com.cn_s_640_2018_0517_1526518679606.png&amp;refer=http___upload.techweb.com.png"/>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7128098" y="4049712"/>
            <a:ext cx="5238750" cy="3924300"/>
          </a:xfrm>
          <a:prstGeom prst="rect">
            <a:avLst/>
          </a:prstGeom>
          <a:noFill/>
          <a:extLst>
            <a:ext uri="{909E8E84-426E-40DD-AFC4-6F175D3DCCD1}">
              <a14:hiddenFill xmlns:a14="http://schemas.microsoft.com/office/drawing/2010/main">
                <a:solidFill>
                  <a:srgbClr val="FFFFFF"/>
                </a:solidFill>
              </a14:hiddenFill>
            </a:ext>
          </a:extLst>
        </p:spPr>
      </p:pic>
      <p:pic>
        <p:nvPicPr>
          <p:cNvPr id="12291" name="Picture 3" descr="C:\Users\07285yzl\Desktop\红外镜头设计简介\新建文件夹\src=http___nimg.ws.126.net__url=http___dingyue.ws.126.net_2021_0420_8256321cp00qrupoo00i8d200n000p0g00hx00jh.png&amp;thumbnail=650x214748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346" y="881360"/>
            <a:ext cx="6191250" cy="6734175"/>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C:\Users\07285yzl\Desktop\红外镜头设计简介\新建文件夹\src=http___www.pianshen.com_images_898_a4c06445ff6cfbc4e9b51baad6d93dfa.png&amp;refer=http___www.pianshe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0066" y="737344"/>
            <a:ext cx="6192688" cy="31837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分辨率</a:t>
            </a:r>
            <a:endParaRPr lang="zh-CN" altLang="en-US" dirty="0"/>
          </a:p>
        </p:txBody>
      </p:sp>
      <p:sp>
        <p:nvSpPr>
          <p:cNvPr id="4" name="TextBox 3"/>
          <p:cNvSpPr txBox="1"/>
          <p:nvPr/>
        </p:nvSpPr>
        <p:spPr>
          <a:xfrm>
            <a:off x="791394" y="928836"/>
            <a:ext cx="13321480" cy="2308324"/>
          </a:xfrm>
          <a:prstGeom prst="rect">
            <a:avLst/>
          </a:prstGeom>
          <a:noFill/>
        </p:spPr>
        <p:txBody>
          <a:bodyPr wrap="square" rtlCol="0">
            <a:spAutoFit/>
          </a:bodyPr>
          <a:lstStyle/>
          <a:p>
            <a:pPr marL="342900" indent="-342900">
              <a:lnSpc>
                <a:spcPct val="150000"/>
              </a:lnSpc>
              <a:buFont typeface="Wingdings" panose="05000000000000000000" pitchFamily="2" charset="2"/>
              <a:buChar char="p"/>
            </a:pPr>
            <a:r>
              <a:rPr lang="zh-CN" altLang="en-US" sz="2400" b="1" dirty="0">
                <a:solidFill>
                  <a:schemeClr val="accent5"/>
                </a:solidFill>
                <a:latin typeface="仿宋" panose="02010609060101010101" pitchFamily="49" charset="-122"/>
                <a:ea typeface="仿宋" panose="02010609060101010101" pitchFamily="49" charset="-122"/>
              </a:rPr>
              <a:t>分辨率</a:t>
            </a:r>
            <a:r>
              <a:rPr lang="en-US" altLang="zh-CN" sz="2400" b="1" dirty="0">
                <a:solidFill>
                  <a:schemeClr val="accent5"/>
                </a:solidFill>
                <a:latin typeface="仿宋" panose="02010609060101010101" pitchFamily="49" charset="-122"/>
                <a:ea typeface="仿宋" panose="02010609060101010101" pitchFamily="49" charset="-122"/>
              </a:rPr>
              <a:t>(resolution)</a:t>
            </a:r>
            <a:r>
              <a:rPr lang="zh-CN" altLang="en-US" sz="2400" dirty="0">
                <a:latin typeface="仿宋" panose="02010609060101010101" pitchFamily="49" charset="-122"/>
                <a:ea typeface="仿宋" panose="02010609060101010101" pitchFamily="49" charset="-122"/>
              </a:rPr>
              <a:t>又称分辨力、鉴别率、鉴别力、分析力、解像力和分辨本领，是指摄影镜头清晰地再现被摄景物纤微细节的能力，是评价镜头质量的一个重要参数。显然分辨率越高的镜头，所拍摄的影像越清晰</a:t>
            </a:r>
            <a:r>
              <a:rPr lang="zh-CN" altLang="en-US" sz="2400" dirty="0" smtClean="0">
                <a:latin typeface="仿宋" panose="02010609060101010101" pitchFamily="49" charset="-122"/>
                <a:ea typeface="仿宋" panose="02010609060101010101" pitchFamily="49" charset="-122"/>
              </a:rPr>
              <a:t>细腻</a:t>
            </a:r>
            <a:r>
              <a:rPr lang="zh-CN" altLang="en-US" sz="2400" dirty="0">
                <a:latin typeface="仿宋" panose="02010609060101010101" pitchFamily="49" charset="-122"/>
                <a:ea typeface="仿宋" panose="02010609060101010101" pitchFamily="49" charset="-122"/>
              </a:rPr>
              <a:t>。</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r>
              <a:rPr lang="zh-CN" altLang="en-US" sz="2400" dirty="0" smtClean="0">
                <a:latin typeface="仿宋" panose="02010609060101010101" pitchFamily="49" charset="-122"/>
                <a:ea typeface="仿宋" panose="02010609060101010101" pitchFamily="49" charset="-122"/>
              </a:rPr>
              <a:t>定义</a:t>
            </a:r>
            <a:r>
              <a:rPr lang="zh-CN" altLang="en-US" sz="2400" dirty="0">
                <a:latin typeface="仿宋" panose="02010609060101010101" pitchFamily="49" charset="-122"/>
                <a:ea typeface="仿宋" panose="02010609060101010101" pitchFamily="49" charset="-122"/>
              </a:rPr>
              <a:t>为在像面处镜头在单位毫米内能够分辨开的</a:t>
            </a:r>
            <a:r>
              <a:rPr lang="zh-CN" altLang="en-US" sz="2400" b="1" dirty="0">
                <a:solidFill>
                  <a:schemeClr val="accent5"/>
                </a:solidFill>
                <a:latin typeface="仿宋" panose="02010609060101010101" pitchFamily="49" charset="-122"/>
                <a:ea typeface="仿宋" panose="02010609060101010101" pitchFamily="49" charset="-122"/>
              </a:rPr>
              <a:t>黑白相间的条纹</a:t>
            </a:r>
            <a:r>
              <a:rPr lang="zh-CN" altLang="en-US" sz="2400" b="1" dirty="0" smtClean="0">
                <a:solidFill>
                  <a:schemeClr val="accent5"/>
                </a:solidFill>
                <a:latin typeface="仿宋" panose="02010609060101010101" pitchFamily="49" charset="-122"/>
                <a:ea typeface="仿宋" panose="02010609060101010101" pitchFamily="49" charset="-122"/>
              </a:rPr>
              <a:t>对数</a:t>
            </a:r>
            <a:r>
              <a:rPr lang="zh-CN" altLang="en-US" sz="2400" dirty="0" smtClean="0">
                <a:latin typeface="仿宋" panose="02010609060101010101" pitchFamily="49" charset="-122"/>
                <a:ea typeface="仿宋" panose="02010609060101010101" pitchFamily="49" charset="-122"/>
              </a:rPr>
              <a:t>。单位：</a:t>
            </a:r>
            <a:r>
              <a:rPr lang="en-US" altLang="zh-CN" sz="2400" dirty="0" err="1" smtClean="0">
                <a:latin typeface="仿宋" panose="02010609060101010101" pitchFamily="49" charset="-122"/>
                <a:ea typeface="仿宋" panose="02010609060101010101" pitchFamily="49" charset="-122"/>
              </a:rPr>
              <a:t>lp</a:t>
            </a:r>
            <a:r>
              <a:rPr lang="en-US" altLang="zh-CN" sz="2400" dirty="0" smtClean="0">
                <a:latin typeface="仿宋" panose="02010609060101010101" pitchFamily="49" charset="-122"/>
                <a:ea typeface="仿宋" panose="02010609060101010101" pitchFamily="49" charset="-122"/>
              </a:rPr>
              <a:t>/mm</a:t>
            </a:r>
            <a:endParaRPr lang="zh-CN" altLang="en-US" sz="2400" dirty="0">
              <a:latin typeface="仿宋" panose="02010609060101010101" pitchFamily="49" charset="-122"/>
              <a:ea typeface="仿宋" panose="02010609060101010101" pitchFamily="49" charset="-122"/>
            </a:endParaRPr>
          </a:p>
        </p:txBody>
      </p:sp>
      <p:pic>
        <p:nvPicPr>
          <p:cNvPr id="14338" name="Picture 2" descr="D:\工作\工作2022\红外镜头设计简介\新建文件夹\209784290_8_20201213073528884.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31354" y="3861072"/>
            <a:ext cx="6096000" cy="3429000"/>
          </a:xfrm>
          <a:prstGeom prst="rect">
            <a:avLst/>
          </a:prstGeom>
          <a:noFill/>
          <a:extLst>
            <a:ext uri="{909E8E84-426E-40DD-AFC4-6F175D3DCCD1}">
              <a14:hiddenFill xmlns:a14="http://schemas.microsoft.com/office/drawing/2010/main">
                <a:solidFill>
                  <a:srgbClr val="FFFFFF"/>
                </a:solidFill>
              </a14:hiddenFill>
            </a:ext>
          </a:extLst>
        </p:spPr>
      </p:pic>
      <p:pic>
        <p:nvPicPr>
          <p:cNvPr id="15363" name="Picture 3" descr="D:\工作\工作2022\红外镜头设计简介\新建文件夹\b21f74596462ffb8e29069d05099ea8e.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12073" y="3834088"/>
            <a:ext cx="6399999" cy="360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对比度</a:t>
            </a:r>
            <a:endParaRPr lang="zh-CN" altLang="en-US" dirty="0"/>
          </a:p>
        </p:txBody>
      </p:sp>
      <p:sp>
        <p:nvSpPr>
          <p:cNvPr id="4" name="TextBox 3"/>
          <p:cNvSpPr txBox="1"/>
          <p:nvPr/>
        </p:nvSpPr>
        <p:spPr>
          <a:xfrm>
            <a:off x="1223442" y="1385416"/>
            <a:ext cx="10945216" cy="1200329"/>
          </a:xfrm>
          <a:prstGeom prst="rect">
            <a:avLst/>
          </a:prstGeom>
          <a:noFill/>
        </p:spPr>
        <p:txBody>
          <a:bodyPr wrap="square" rtlCol="0">
            <a:spAutoFit/>
          </a:bodyPr>
          <a:lstStyle/>
          <a:p>
            <a:pPr marL="342900" indent="-342900">
              <a:lnSpc>
                <a:spcPct val="150000"/>
              </a:lnSpc>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对比度：</a:t>
            </a:r>
            <a:r>
              <a:rPr lang="zh-CN" altLang="en-US" sz="2400" dirty="0" smtClean="0">
                <a:latin typeface="仿宋" panose="02010609060101010101" pitchFamily="49" charset="-122"/>
                <a:ea typeface="仿宋" panose="02010609060101010101" pitchFamily="49" charset="-122"/>
              </a:rPr>
              <a:t>指</a:t>
            </a:r>
            <a:r>
              <a:rPr lang="zh-CN" altLang="en-US" sz="2400" dirty="0">
                <a:latin typeface="仿宋" panose="02010609060101010101" pitchFamily="49" charset="-122"/>
                <a:ea typeface="仿宋" panose="02010609060101010101" pitchFamily="49" charset="-122"/>
              </a:rPr>
              <a:t>的是一幅图像中明暗区域</a:t>
            </a:r>
            <a:r>
              <a:rPr lang="zh-CN" altLang="en-US" sz="2400" b="1" dirty="0">
                <a:latin typeface="仿宋" panose="02010609060101010101" pitchFamily="49" charset="-122"/>
                <a:ea typeface="仿宋" panose="02010609060101010101" pitchFamily="49" charset="-122"/>
              </a:rPr>
              <a:t>最亮的白和最暗的黑</a:t>
            </a:r>
            <a:r>
              <a:rPr lang="zh-CN" altLang="en-US" sz="2400" dirty="0">
                <a:latin typeface="仿宋" panose="02010609060101010101" pitchFamily="49" charset="-122"/>
                <a:ea typeface="仿宋" panose="02010609060101010101" pitchFamily="49" charset="-122"/>
              </a:rPr>
              <a:t>之间不同亮度层级的测量，差异范围越大代表对比越大，差异范围越小代表对比越小</a:t>
            </a:r>
            <a:endParaRPr lang="zh-CN" altLang="en-US" sz="2400" dirty="0">
              <a:latin typeface="仿宋" panose="02010609060101010101" pitchFamily="49" charset="-122"/>
              <a:ea typeface="仿宋" panose="02010609060101010101" pitchFamily="49" charset="-122"/>
            </a:endParaRPr>
          </a:p>
        </p:txBody>
      </p:sp>
      <p:pic>
        <p:nvPicPr>
          <p:cNvPr id="15362" name="Picture 2" descr="D:\工作\工作2022\红外镜头设计简介\新建文件夹\u=2732425859,3167251661&amp;fm=253&amp;fmt=auto&amp;app=120&amp;f=GIF.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91394" y="3127100"/>
            <a:ext cx="6096000" cy="3429000"/>
          </a:xfrm>
          <a:prstGeom prst="rect">
            <a:avLst/>
          </a:prstGeom>
          <a:noFill/>
          <a:extLst>
            <a:ext uri="{909E8E84-426E-40DD-AFC4-6F175D3DCCD1}">
              <a14:hiddenFill xmlns:a14="http://schemas.microsoft.com/office/drawing/2010/main">
                <a:solidFill>
                  <a:srgbClr val="FFFFFF"/>
                </a:solidFill>
              </a14:hiddenFill>
            </a:ext>
          </a:extLst>
        </p:spPr>
      </p:pic>
      <p:pic>
        <p:nvPicPr>
          <p:cNvPr id="16386" name="Picture 2" descr="D:\工作\工作2022\红外镜头设计简介\新建文件夹\8fded8ab0443b62ffbcdad056f3827ff.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00106" y="3041600"/>
            <a:ext cx="6399999" cy="360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MTF</a:t>
            </a:r>
            <a:endParaRPr lang="zh-CN" altLang="en-US" dirty="0"/>
          </a:p>
        </p:txBody>
      </p:sp>
      <p:sp>
        <p:nvSpPr>
          <p:cNvPr id="3" name="内容占位符 2"/>
          <p:cNvSpPr>
            <a:spLocks noGrp="1"/>
          </p:cNvSpPr>
          <p:nvPr>
            <p:ph idx="1"/>
          </p:nvPr>
        </p:nvSpPr>
        <p:spPr>
          <a:xfrm>
            <a:off x="647378" y="809352"/>
            <a:ext cx="8856984" cy="4104456"/>
          </a:xfrm>
        </p:spPr>
        <p:txBody>
          <a:bodyPr/>
          <a:lstStyle/>
          <a:p>
            <a:pPr>
              <a:lnSpc>
                <a:spcPct val="150000"/>
              </a:lnSpc>
              <a:buFont typeface="Wingdings" panose="05000000000000000000" pitchFamily="2" charset="2"/>
              <a:buChar char="p"/>
            </a:pPr>
            <a:r>
              <a:rPr lang="zh-CN" altLang="en-US" sz="2000" dirty="0" smtClean="0">
                <a:solidFill>
                  <a:schemeClr val="tx1"/>
                </a:solidFill>
                <a:latin typeface="仿宋" panose="02010609060101010101" pitchFamily="49" charset="-122"/>
                <a:ea typeface="仿宋" panose="02010609060101010101" pitchFamily="49" charset="-122"/>
              </a:rPr>
              <a:t>调制传递函数</a:t>
            </a:r>
            <a:r>
              <a:rPr lang="en-US" altLang="zh-CN" sz="2000" dirty="0" smtClean="0">
                <a:solidFill>
                  <a:schemeClr val="tx1"/>
                </a:solidFill>
                <a:latin typeface="仿宋" panose="02010609060101010101" pitchFamily="49" charset="-122"/>
                <a:ea typeface="仿宋" panose="02010609060101010101" pitchFamily="49" charset="-122"/>
              </a:rPr>
              <a:t>(Modulation </a:t>
            </a:r>
            <a:r>
              <a:rPr lang="en-US" altLang="zh-CN" sz="2000" dirty="0">
                <a:solidFill>
                  <a:schemeClr val="tx1"/>
                </a:solidFill>
                <a:latin typeface="仿宋" panose="02010609060101010101" pitchFamily="49" charset="-122"/>
                <a:ea typeface="仿宋" panose="02010609060101010101" pitchFamily="49" charset="-122"/>
              </a:rPr>
              <a:t>Transfer </a:t>
            </a:r>
            <a:r>
              <a:rPr lang="en-US" altLang="zh-CN" sz="2000" dirty="0" smtClean="0">
                <a:solidFill>
                  <a:schemeClr val="tx1"/>
                </a:solidFill>
                <a:latin typeface="仿宋" panose="02010609060101010101" pitchFamily="49" charset="-122"/>
                <a:ea typeface="仿宋" panose="02010609060101010101" pitchFamily="49" charset="-122"/>
              </a:rPr>
              <a:t>Function)</a:t>
            </a:r>
            <a:r>
              <a:rPr lang="zh-CN" altLang="en-US" sz="2000" dirty="0" smtClean="0">
                <a:solidFill>
                  <a:schemeClr val="tx1"/>
                </a:solidFill>
                <a:latin typeface="仿宋" panose="02010609060101010101" pitchFamily="49" charset="-122"/>
                <a:ea typeface="仿宋" panose="02010609060101010101" pitchFamily="49" charset="-122"/>
              </a:rPr>
              <a:t>：分析</a:t>
            </a:r>
            <a:r>
              <a:rPr lang="zh-CN" altLang="en-US" sz="2000" dirty="0">
                <a:solidFill>
                  <a:schemeClr val="tx1"/>
                </a:solidFill>
                <a:latin typeface="仿宋" panose="02010609060101010101" pitchFamily="49" charset="-122"/>
                <a:ea typeface="仿宋" panose="02010609060101010101" pitchFamily="49" charset="-122"/>
              </a:rPr>
              <a:t>镜头的解</a:t>
            </a:r>
            <a:r>
              <a:rPr lang="zh-CN" altLang="en-US" sz="2000" dirty="0" smtClean="0">
                <a:solidFill>
                  <a:schemeClr val="tx1"/>
                </a:solidFill>
                <a:latin typeface="仿宋" panose="02010609060101010101" pitchFamily="49" charset="-122"/>
                <a:ea typeface="仿宋" panose="02010609060101010101" pitchFamily="49" charset="-122"/>
              </a:rPr>
              <a:t>像力</a:t>
            </a:r>
            <a:r>
              <a:rPr lang="en-US" altLang="zh-CN" sz="2000" dirty="0" smtClean="0">
                <a:solidFill>
                  <a:schemeClr val="tx1"/>
                </a:solidFill>
                <a:latin typeface="仿宋" panose="02010609060101010101" pitchFamily="49" charset="-122"/>
                <a:ea typeface="仿宋" panose="02010609060101010101" pitchFamily="49" charset="-122"/>
              </a:rPr>
              <a:t>(</a:t>
            </a:r>
            <a:r>
              <a:rPr lang="zh-CN" altLang="en-US" sz="2000" dirty="0" smtClean="0">
                <a:solidFill>
                  <a:schemeClr val="tx1"/>
                </a:solidFill>
                <a:latin typeface="仿宋" panose="02010609060101010101" pitchFamily="49" charset="-122"/>
                <a:ea typeface="仿宋" panose="02010609060101010101" pitchFamily="49" charset="-122"/>
              </a:rPr>
              <a:t>清晰度</a:t>
            </a:r>
            <a:r>
              <a:rPr lang="en-US" altLang="zh-CN" sz="2000" dirty="0" smtClean="0">
                <a:solidFill>
                  <a:schemeClr val="tx1"/>
                </a:solidFill>
                <a:latin typeface="仿宋" panose="02010609060101010101" pitchFamily="49" charset="-122"/>
                <a:ea typeface="仿宋" panose="02010609060101010101" pitchFamily="49" charset="-122"/>
              </a:rPr>
              <a:t>)</a:t>
            </a:r>
            <a:r>
              <a:rPr lang="zh-CN" altLang="en-US" sz="2000" dirty="0" smtClean="0">
                <a:solidFill>
                  <a:schemeClr val="tx1"/>
                </a:solidFill>
                <a:latin typeface="仿宋" panose="02010609060101010101" pitchFamily="49" charset="-122"/>
                <a:ea typeface="仿宋" panose="02010609060101010101" pitchFamily="49" charset="-122"/>
              </a:rPr>
              <a:t>比较</a:t>
            </a:r>
            <a:r>
              <a:rPr lang="zh-CN" altLang="en-US" sz="2000" dirty="0">
                <a:solidFill>
                  <a:schemeClr val="tx1"/>
                </a:solidFill>
                <a:latin typeface="仿宋" panose="02010609060101010101" pitchFamily="49" charset="-122"/>
                <a:ea typeface="仿宋" panose="02010609060101010101" pitchFamily="49" charset="-122"/>
              </a:rPr>
              <a:t>科学的</a:t>
            </a:r>
            <a:r>
              <a:rPr lang="zh-CN" altLang="en-US" sz="2000" dirty="0" smtClean="0">
                <a:solidFill>
                  <a:schemeClr val="tx1"/>
                </a:solidFill>
                <a:latin typeface="仿宋" panose="02010609060101010101" pitchFamily="49" charset="-122"/>
                <a:ea typeface="仿宋" panose="02010609060101010101" pitchFamily="49" charset="-122"/>
              </a:rPr>
              <a:t>方法，也是比较客观的方法</a:t>
            </a:r>
            <a:endParaRPr lang="en-US" altLang="zh-CN" sz="2000" dirty="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p"/>
            </a:pPr>
            <a:r>
              <a:rPr lang="en-US" altLang="zh-CN" sz="2000" dirty="0" smtClean="0">
                <a:solidFill>
                  <a:schemeClr val="tx1"/>
                </a:solidFill>
                <a:latin typeface="仿宋" panose="02010609060101010101" pitchFamily="49" charset="-122"/>
                <a:ea typeface="仿宋" panose="02010609060101010101" pitchFamily="49" charset="-122"/>
              </a:rPr>
              <a:t>MTF</a:t>
            </a:r>
            <a:r>
              <a:rPr lang="zh-CN" altLang="en-US" sz="2000" dirty="0" smtClean="0">
                <a:solidFill>
                  <a:schemeClr val="tx1"/>
                </a:solidFill>
                <a:latin typeface="仿宋" panose="02010609060101010101" pitchFamily="49" charset="-122"/>
                <a:ea typeface="仿宋" panose="02010609060101010101" pitchFamily="49" charset="-122"/>
              </a:rPr>
              <a:t>主要衡量摄影镜头的</a:t>
            </a:r>
            <a:r>
              <a:rPr lang="zh-CN" altLang="en-US" sz="2000" b="1" dirty="0">
                <a:solidFill>
                  <a:schemeClr val="accent5"/>
                </a:solidFill>
                <a:latin typeface="仿宋" panose="02010609060101010101" pitchFamily="49" charset="-122"/>
                <a:ea typeface="仿宋" panose="02010609060101010101" pitchFamily="49" charset="-122"/>
              </a:rPr>
              <a:t>对比度</a:t>
            </a:r>
            <a:r>
              <a:rPr lang="zh-CN" altLang="en-US" sz="2000" b="1" dirty="0" smtClean="0">
                <a:solidFill>
                  <a:schemeClr val="accent5"/>
                </a:solidFill>
                <a:latin typeface="仿宋" panose="02010609060101010101" pitchFamily="49" charset="-122"/>
                <a:ea typeface="仿宋" panose="02010609060101010101" pitchFamily="49" charset="-122"/>
              </a:rPr>
              <a:t>和分辨率</a:t>
            </a:r>
            <a:r>
              <a:rPr lang="en-US" altLang="zh-CN" sz="2000" dirty="0" smtClean="0">
                <a:solidFill>
                  <a:schemeClr val="tx1"/>
                </a:solidFill>
                <a:latin typeface="仿宋" panose="02010609060101010101" pitchFamily="49" charset="-122"/>
                <a:ea typeface="仿宋" panose="02010609060101010101" pitchFamily="49" charset="-122"/>
              </a:rPr>
              <a:t>(</a:t>
            </a:r>
            <a:r>
              <a:rPr lang="zh-CN" altLang="en-US" sz="2000" dirty="0" smtClean="0">
                <a:solidFill>
                  <a:schemeClr val="tx1"/>
                </a:solidFill>
                <a:latin typeface="仿宋" panose="02010609060101010101" pitchFamily="49" charset="-122"/>
                <a:ea typeface="仿宋" panose="02010609060101010101" pitchFamily="49" charset="-122"/>
              </a:rPr>
              <a:t>对比度和分辨率表现为清晰度</a:t>
            </a:r>
            <a:r>
              <a:rPr lang="en-US" altLang="zh-CN" sz="2000" dirty="0" smtClean="0">
                <a:solidFill>
                  <a:schemeClr val="tx1"/>
                </a:solidFill>
                <a:latin typeface="仿宋" panose="02010609060101010101" pitchFamily="49" charset="-122"/>
                <a:ea typeface="仿宋" panose="02010609060101010101" pitchFamily="49" charset="-122"/>
              </a:rPr>
              <a:t>)</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p"/>
            </a:pPr>
            <a:r>
              <a:rPr lang="zh-CN" altLang="en-US" sz="2000" dirty="0" smtClean="0">
                <a:solidFill>
                  <a:schemeClr val="tx1"/>
                </a:solidFill>
                <a:latin typeface="仿宋" panose="02010609060101010101" pitchFamily="49" charset="-122"/>
                <a:ea typeface="仿宋" panose="02010609060101010101" pitchFamily="49" charset="-122"/>
              </a:rPr>
              <a:t>为了表达正弦光栅线条的明暗对比程度</a:t>
            </a:r>
            <a:endParaRPr lang="en-US" altLang="zh-CN" sz="2000" dirty="0" smtClean="0">
              <a:solidFill>
                <a:schemeClr val="tx1"/>
              </a:solidFill>
              <a:latin typeface="仿宋" panose="02010609060101010101" pitchFamily="49" charset="-122"/>
              <a:ea typeface="仿宋" panose="02010609060101010101" pitchFamily="49" charset="-122"/>
            </a:endParaRPr>
          </a:p>
          <a:p>
            <a:pPr marL="0" indent="0">
              <a:lnSpc>
                <a:spcPct val="150000"/>
              </a:lnSpc>
            </a:pPr>
            <a:r>
              <a:rPr lang="en-US" altLang="zh-CN" sz="2000" dirty="0">
                <a:solidFill>
                  <a:schemeClr val="tx1"/>
                </a:solidFill>
                <a:latin typeface="仿宋" panose="02010609060101010101" pitchFamily="49" charset="-122"/>
                <a:ea typeface="仿宋" panose="02010609060101010101" pitchFamily="49" charset="-122"/>
              </a:rPr>
              <a:t> </a:t>
            </a:r>
            <a:r>
              <a:rPr lang="en-US" altLang="zh-CN" sz="2000" dirty="0" smtClean="0">
                <a:solidFill>
                  <a:schemeClr val="tx1"/>
                </a:solidFill>
                <a:latin typeface="仿宋" panose="02010609060101010101" pitchFamily="49" charset="-122"/>
                <a:ea typeface="仿宋" panose="02010609060101010101" pitchFamily="49" charset="-122"/>
              </a:rPr>
              <a:t>   </a:t>
            </a:r>
            <a:r>
              <a:rPr lang="zh-CN" altLang="en-US" sz="2000" dirty="0" smtClean="0">
                <a:solidFill>
                  <a:schemeClr val="tx1"/>
                </a:solidFill>
                <a:latin typeface="仿宋" panose="02010609060101010101" pitchFamily="49" charset="-122"/>
                <a:ea typeface="仿宋" panose="02010609060101010101" pitchFamily="49" charset="-122"/>
              </a:rPr>
              <a:t>定义</a:t>
            </a:r>
            <a:r>
              <a:rPr lang="zh-CN" altLang="en-US" sz="2000" b="1" dirty="0" smtClean="0">
                <a:solidFill>
                  <a:schemeClr val="accent5"/>
                </a:solidFill>
                <a:latin typeface="仿宋" panose="02010609060101010101" pitchFamily="49" charset="-122"/>
                <a:ea typeface="仿宋" panose="02010609060101010101" pitchFamily="49" charset="-122"/>
              </a:rPr>
              <a:t>对比度</a:t>
            </a:r>
            <a:r>
              <a:rPr lang="en-US" altLang="zh-CN" sz="2000" b="1" dirty="0" smtClean="0">
                <a:solidFill>
                  <a:schemeClr val="accent5"/>
                </a:solidFill>
                <a:latin typeface="仿宋" panose="02010609060101010101" pitchFamily="49" charset="-122"/>
                <a:ea typeface="仿宋" panose="02010609060101010101" pitchFamily="49" charset="-122"/>
              </a:rPr>
              <a:t>M</a:t>
            </a:r>
            <a:r>
              <a:rPr lang="en-US" altLang="zh-CN" sz="2000" dirty="0">
                <a:solidFill>
                  <a:schemeClr val="tx1"/>
                </a:solidFill>
                <a:latin typeface="仿宋" panose="02010609060101010101" pitchFamily="49" charset="-122"/>
                <a:ea typeface="仿宋" panose="02010609060101010101" pitchFamily="49" charset="-122"/>
              </a:rPr>
              <a:t>=</a:t>
            </a:r>
            <a:r>
              <a:rPr lang="zh-CN" altLang="en-US" sz="2000" dirty="0">
                <a:solidFill>
                  <a:schemeClr val="tx1"/>
                </a:solidFill>
                <a:latin typeface="仿宋" panose="02010609060101010101" pitchFamily="49" charset="-122"/>
                <a:ea typeface="仿宋" panose="02010609060101010101" pitchFamily="49" charset="-122"/>
              </a:rPr>
              <a:t>（</a:t>
            </a:r>
            <a:r>
              <a:rPr lang="en-US" altLang="zh-CN" sz="2000" dirty="0" smtClean="0">
                <a:solidFill>
                  <a:schemeClr val="tx1"/>
                </a:solidFill>
                <a:latin typeface="仿宋" panose="02010609060101010101" pitchFamily="49" charset="-122"/>
                <a:ea typeface="仿宋" panose="02010609060101010101" pitchFamily="49" charset="-122"/>
              </a:rPr>
              <a:t>Imax</a:t>
            </a:r>
            <a:r>
              <a:rPr lang="zh-CN" altLang="en-US" sz="2000" dirty="0" smtClean="0">
                <a:solidFill>
                  <a:schemeClr val="tx1"/>
                </a:solidFill>
                <a:latin typeface="仿宋" panose="02010609060101010101" pitchFamily="49" charset="-122"/>
                <a:ea typeface="仿宋" panose="02010609060101010101" pitchFamily="49" charset="-122"/>
              </a:rPr>
              <a:t>－</a:t>
            </a:r>
            <a:r>
              <a:rPr lang="en-US" altLang="zh-CN" sz="2000" dirty="0" err="1" smtClean="0">
                <a:solidFill>
                  <a:schemeClr val="tx1"/>
                </a:solidFill>
                <a:latin typeface="仿宋" panose="02010609060101010101" pitchFamily="49" charset="-122"/>
                <a:ea typeface="仿宋" panose="02010609060101010101" pitchFamily="49" charset="-122"/>
              </a:rPr>
              <a:t>Imin</a:t>
            </a:r>
            <a:r>
              <a:rPr lang="zh-CN" altLang="en-US" sz="2000" dirty="0">
                <a:solidFill>
                  <a:schemeClr val="tx1"/>
                </a:solidFill>
                <a:latin typeface="仿宋" panose="02010609060101010101" pitchFamily="49" charset="-122"/>
                <a:ea typeface="仿宋" panose="02010609060101010101" pitchFamily="49" charset="-122"/>
              </a:rPr>
              <a:t>）</a:t>
            </a:r>
            <a:r>
              <a:rPr lang="en-US" altLang="zh-CN" sz="2000" dirty="0">
                <a:solidFill>
                  <a:schemeClr val="tx1"/>
                </a:solidFill>
                <a:latin typeface="仿宋" panose="02010609060101010101" pitchFamily="49" charset="-122"/>
                <a:ea typeface="仿宋" panose="02010609060101010101" pitchFamily="49" charset="-122"/>
              </a:rPr>
              <a:t>/</a:t>
            </a:r>
            <a:r>
              <a:rPr lang="zh-CN" altLang="en-US" sz="2000" dirty="0">
                <a:solidFill>
                  <a:schemeClr val="tx1"/>
                </a:solidFill>
                <a:latin typeface="仿宋" panose="02010609060101010101" pitchFamily="49" charset="-122"/>
                <a:ea typeface="仿宋" panose="02010609060101010101" pitchFamily="49" charset="-122"/>
              </a:rPr>
              <a:t>（</a:t>
            </a:r>
            <a:r>
              <a:rPr lang="en-US" altLang="zh-CN" sz="2000" dirty="0" err="1" smtClean="0">
                <a:solidFill>
                  <a:schemeClr val="tx1"/>
                </a:solidFill>
                <a:latin typeface="仿宋" panose="02010609060101010101" pitchFamily="49" charset="-122"/>
                <a:ea typeface="仿宋" panose="02010609060101010101" pitchFamily="49" charset="-122"/>
              </a:rPr>
              <a:t>Imax+Imin</a:t>
            </a:r>
            <a:r>
              <a:rPr lang="zh-CN" altLang="en-US" sz="2000" dirty="0" smtClean="0">
                <a:solidFill>
                  <a:schemeClr val="tx1"/>
                </a:solidFill>
                <a:latin typeface="仿宋" panose="02010609060101010101" pitchFamily="49" charset="-122"/>
                <a:ea typeface="仿宋" panose="02010609060101010101" pitchFamily="49" charset="-122"/>
              </a:rPr>
              <a:t>），也叫调制度</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p"/>
            </a:pPr>
            <a:r>
              <a:rPr lang="en-US" altLang="zh-CN" sz="2000" b="1" dirty="0" smtClean="0">
                <a:solidFill>
                  <a:schemeClr val="accent5"/>
                </a:solidFill>
                <a:latin typeface="仿宋" panose="02010609060101010101" pitchFamily="49" charset="-122"/>
                <a:ea typeface="仿宋" panose="02010609060101010101" pitchFamily="49" charset="-122"/>
              </a:rPr>
              <a:t>MTF</a:t>
            </a:r>
            <a:r>
              <a:rPr lang="en-US" altLang="zh-CN" sz="2000" dirty="0" smtClean="0">
                <a:solidFill>
                  <a:schemeClr val="tx1"/>
                </a:solidFill>
                <a:latin typeface="仿宋" panose="02010609060101010101" pitchFamily="49" charset="-122"/>
                <a:ea typeface="仿宋" panose="02010609060101010101" pitchFamily="49" charset="-122"/>
              </a:rPr>
              <a:t>= M’/M</a:t>
            </a:r>
            <a:r>
              <a:rPr lang="zh-CN" altLang="en-US" sz="2000" dirty="0" smtClean="0">
                <a:solidFill>
                  <a:schemeClr val="tx1"/>
                </a:solidFill>
                <a:latin typeface="仿宋" panose="02010609060101010101" pitchFamily="49" charset="-122"/>
                <a:ea typeface="仿宋" panose="02010609060101010101" pitchFamily="49" charset="-122"/>
              </a:rPr>
              <a:t>，</a:t>
            </a:r>
            <a:r>
              <a:rPr lang="en-US" altLang="zh-CN" sz="2000" dirty="0">
                <a:solidFill>
                  <a:schemeClr val="tx1"/>
                </a:solidFill>
                <a:latin typeface="仿宋" panose="02010609060101010101" pitchFamily="49" charset="-122"/>
                <a:ea typeface="仿宋" panose="02010609060101010101" pitchFamily="49" charset="-122"/>
              </a:rPr>
              <a:t> </a:t>
            </a:r>
            <a:r>
              <a:rPr lang="en-US" altLang="zh-CN" sz="2000" dirty="0" smtClean="0">
                <a:solidFill>
                  <a:schemeClr val="tx1"/>
                </a:solidFill>
                <a:latin typeface="仿宋" panose="02010609060101010101" pitchFamily="49" charset="-122"/>
                <a:ea typeface="仿宋" panose="02010609060101010101" pitchFamily="49" charset="-122"/>
              </a:rPr>
              <a:t>M</a:t>
            </a:r>
            <a:r>
              <a:rPr lang="zh-CN" altLang="en-US" sz="2000" dirty="0" smtClean="0">
                <a:solidFill>
                  <a:schemeClr val="tx1"/>
                </a:solidFill>
                <a:latin typeface="仿宋" panose="02010609060101010101" pitchFamily="49" charset="-122"/>
                <a:ea typeface="仿宋" panose="02010609060101010101" pitchFamily="49" charset="-122"/>
              </a:rPr>
              <a:t>’：像对比度，</a:t>
            </a:r>
            <a:r>
              <a:rPr lang="en-US" altLang="zh-CN" sz="2000" dirty="0" smtClean="0">
                <a:solidFill>
                  <a:schemeClr val="tx1"/>
                </a:solidFill>
                <a:latin typeface="仿宋" panose="02010609060101010101" pitchFamily="49" charset="-122"/>
                <a:ea typeface="仿宋" panose="02010609060101010101" pitchFamily="49" charset="-122"/>
              </a:rPr>
              <a:t>M</a:t>
            </a:r>
            <a:r>
              <a:rPr lang="zh-CN" altLang="en-US" sz="2000" dirty="0" smtClean="0">
                <a:solidFill>
                  <a:schemeClr val="tx1"/>
                </a:solidFill>
                <a:latin typeface="仿宋" panose="02010609060101010101" pitchFamily="49" charset="-122"/>
                <a:ea typeface="仿宋" panose="02010609060101010101" pitchFamily="49" charset="-122"/>
              </a:rPr>
              <a:t>：物对比度</a:t>
            </a:r>
            <a:endParaRPr lang="zh-CN" altLang="en-US" sz="2000" dirty="0">
              <a:solidFill>
                <a:schemeClr val="tx1"/>
              </a:solidFill>
              <a:latin typeface="仿宋" panose="02010609060101010101" pitchFamily="49" charset="-122"/>
              <a:ea typeface="仿宋" panose="02010609060101010101" pitchFamily="49" charset="-122"/>
            </a:endParaRPr>
          </a:p>
        </p:txBody>
      </p:sp>
      <p:pic>
        <p:nvPicPr>
          <p:cNvPr id="5122" name="Picture 2" descr="C:\Users\07285yzl\Desktop\红外镜头设计简介\新建文件夹\MTF.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64402" y="724544"/>
            <a:ext cx="4464496" cy="7310714"/>
          </a:xfrm>
          <a:prstGeom prst="rect">
            <a:avLst/>
          </a:prstGeom>
          <a:noFill/>
          <a:extLst>
            <a:ext uri="{909E8E84-426E-40DD-AFC4-6F175D3DCCD1}">
              <a14:hiddenFill xmlns:a14="http://schemas.microsoft.com/office/drawing/2010/main">
                <a:solidFill>
                  <a:srgbClr val="FFFFFF"/>
                </a:solidFill>
              </a14:hiddenFill>
            </a:ext>
          </a:extLst>
        </p:spPr>
      </p:pic>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1434" y="3985368"/>
            <a:ext cx="5362575" cy="3609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尼奎斯特频率</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marL="342900" indent="-342900">
                  <a:lnSpc>
                    <a:spcPct val="150000"/>
                  </a:lnSpc>
                  <a:spcBef>
                    <a:spcPts val="0"/>
                  </a:spcBef>
                  <a:buFont typeface="Arial" panose="020B0604020202020204" pitchFamily="34" charset="0"/>
                  <a:buChar char="•"/>
                </a:pPr>
                <a:r>
                  <a:rPr lang="zh-CN" altLang="en-US" sz="2400" b="1" dirty="0" smtClean="0">
                    <a:solidFill>
                      <a:schemeClr val="accent5"/>
                    </a:solidFill>
                    <a:latin typeface="仿宋" panose="02010609060101010101" pitchFamily="49" charset="-122"/>
                    <a:ea typeface="仿宋" panose="02010609060101010101" pitchFamily="49" charset="-122"/>
                  </a:rPr>
                  <a:t>镜头的分辨率</a:t>
                </a:r>
                <a:r>
                  <a:rPr lang="zh-CN" altLang="en-US" sz="2400" dirty="0" smtClean="0">
                    <a:solidFill>
                      <a:schemeClr val="tx1"/>
                    </a:solidFill>
                    <a:latin typeface="仿宋" panose="02010609060101010101" pitchFamily="49" charset="-122"/>
                    <a:ea typeface="仿宋" panose="02010609060101010101" pitchFamily="49" charset="-122"/>
                  </a:rPr>
                  <a:t>是指在成像平面上 </a:t>
                </a:r>
                <a:r>
                  <a:rPr lang="en-US" altLang="zh-CN" sz="2400" dirty="0">
                    <a:solidFill>
                      <a:schemeClr val="tx1"/>
                    </a:solidFill>
                    <a:latin typeface="仿宋" panose="02010609060101010101" pitchFamily="49" charset="-122"/>
                    <a:ea typeface="仿宋" panose="02010609060101010101" pitchFamily="49" charset="-122"/>
                  </a:rPr>
                  <a:t>1 </a:t>
                </a:r>
                <a:r>
                  <a:rPr lang="zh-CN" altLang="en-US" sz="2400" dirty="0">
                    <a:solidFill>
                      <a:schemeClr val="tx1"/>
                    </a:solidFill>
                    <a:latin typeface="仿宋" panose="02010609060101010101" pitchFamily="49" charset="-122"/>
                    <a:ea typeface="仿宋" panose="02010609060101010101" pitchFamily="49" charset="-122"/>
                  </a:rPr>
                  <a:t>毫米间距内能分辨开的黑白相间的线条对数，单位是“线对</a:t>
                </a:r>
                <a:r>
                  <a:rPr lang="en-US" altLang="zh-CN" sz="2400" dirty="0">
                    <a:solidFill>
                      <a:schemeClr val="tx1"/>
                    </a:solidFill>
                    <a:latin typeface="仿宋" panose="02010609060101010101" pitchFamily="49" charset="-122"/>
                    <a:ea typeface="仿宋" panose="02010609060101010101" pitchFamily="49" charset="-122"/>
                  </a:rPr>
                  <a:t>/</a:t>
                </a:r>
                <a:r>
                  <a:rPr lang="zh-CN" altLang="en-US" sz="2400" dirty="0">
                    <a:solidFill>
                      <a:schemeClr val="tx1"/>
                    </a:solidFill>
                    <a:latin typeface="仿宋" panose="02010609060101010101" pitchFamily="49" charset="-122"/>
                    <a:ea typeface="仿宋" panose="02010609060101010101" pitchFamily="49" charset="-122"/>
                  </a:rPr>
                  <a:t>毫米”（ </a:t>
                </a:r>
                <a:r>
                  <a:rPr lang="en-US" altLang="zh-CN" sz="2400" dirty="0" err="1">
                    <a:solidFill>
                      <a:schemeClr val="tx1"/>
                    </a:solidFill>
                    <a:latin typeface="仿宋" panose="02010609060101010101" pitchFamily="49" charset="-122"/>
                    <a:ea typeface="仿宋" panose="02010609060101010101" pitchFamily="49" charset="-122"/>
                  </a:rPr>
                  <a:t>lp</a:t>
                </a:r>
                <a:r>
                  <a:rPr lang="en-US" altLang="zh-CN" sz="2400" dirty="0">
                    <a:solidFill>
                      <a:schemeClr val="tx1"/>
                    </a:solidFill>
                    <a:latin typeface="仿宋" panose="02010609060101010101" pitchFamily="49" charset="-122"/>
                    <a:ea typeface="仿宋" panose="02010609060101010101" pitchFamily="49" charset="-122"/>
                  </a:rPr>
                  <a:t>/mm</a:t>
                </a:r>
                <a:r>
                  <a:rPr lang="zh-CN" altLang="en-US" sz="2400" dirty="0">
                    <a:solidFill>
                      <a:schemeClr val="tx1"/>
                    </a:solidFill>
                    <a:latin typeface="仿宋" panose="02010609060101010101" pitchFamily="49" charset="-122"/>
                    <a:ea typeface="仿宋" panose="02010609060101010101" pitchFamily="49" charset="-122"/>
                  </a:rPr>
                  <a:t>，</a:t>
                </a:r>
                <a:r>
                  <a:rPr lang="en-US" altLang="zh-CN" sz="2400" dirty="0">
                    <a:solidFill>
                      <a:schemeClr val="tx1"/>
                    </a:solidFill>
                    <a:latin typeface="仿宋" panose="02010609060101010101" pitchFamily="49" charset="-122"/>
                    <a:ea typeface="仿宋" panose="02010609060101010101" pitchFamily="49" charset="-122"/>
                  </a:rPr>
                  <a:t>line-pairs/mm </a:t>
                </a:r>
                <a:r>
                  <a:rPr lang="zh-CN" altLang="en-US" sz="2400" dirty="0">
                    <a:solidFill>
                      <a:schemeClr val="tx1"/>
                    </a:solidFill>
                    <a:latin typeface="仿宋" panose="02010609060101010101" pitchFamily="49" charset="-122"/>
                    <a:ea typeface="仿宋" panose="02010609060101010101" pitchFamily="49" charset="-122"/>
                  </a:rPr>
                  <a:t>）</a:t>
                </a:r>
                <a:endParaRPr lang="en-US" altLang="zh-CN" sz="2400" dirty="0" smtClean="0">
                  <a:solidFill>
                    <a:schemeClr val="tx1"/>
                  </a:solidFill>
                  <a:latin typeface="仿宋" panose="02010609060101010101" pitchFamily="49" charset="-122"/>
                  <a:ea typeface="仿宋" panose="02010609060101010101" pitchFamily="49" charset="-122"/>
                </a:endParaRPr>
              </a:p>
              <a:p>
                <a:pPr marL="342900" indent="-342900">
                  <a:lnSpc>
                    <a:spcPct val="150000"/>
                  </a:lnSpc>
                  <a:spcBef>
                    <a:spcPts val="0"/>
                  </a:spcBef>
                  <a:buFont typeface="Arial" panose="020B0604020202020204" pitchFamily="34" charset="0"/>
                  <a:buChar char="•"/>
                </a:pPr>
                <a:r>
                  <a:rPr lang="zh-CN" altLang="en-US" sz="2400" b="1" dirty="0">
                    <a:solidFill>
                      <a:schemeClr val="accent5"/>
                    </a:solidFill>
                    <a:latin typeface="仿宋" panose="02010609060101010101" pitchFamily="49" charset="-122"/>
                    <a:ea typeface="仿宋" panose="02010609060101010101" pitchFamily="49" charset="-122"/>
                  </a:rPr>
                  <a:t>一个镜头有它的最高分辨率</a:t>
                </a:r>
                <a:r>
                  <a:rPr lang="en-US" altLang="zh-CN" sz="2400" b="1" dirty="0">
                    <a:solidFill>
                      <a:schemeClr val="accent5"/>
                    </a:solidFill>
                    <a:latin typeface="仿宋" panose="02010609060101010101" pitchFamily="49" charset="-122"/>
                    <a:ea typeface="仿宋" panose="02010609060101010101" pitchFamily="49" charset="-122"/>
                  </a:rPr>
                  <a:t>N </a:t>
                </a:r>
                <a:r>
                  <a:rPr lang="en-US" altLang="zh-CN" sz="2400" b="1" dirty="0" err="1">
                    <a:solidFill>
                      <a:schemeClr val="accent5"/>
                    </a:solidFill>
                    <a:latin typeface="仿宋" panose="02010609060101010101" pitchFamily="49" charset="-122"/>
                    <a:ea typeface="仿宋" panose="02010609060101010101" pitchFamily="49" charset="-122"/>
                  </a:rPr>
                  <a:t>lp</a:t>
                </a:r>
                <a:r>
                  <a:rPr lang="en-US" altLang="zh-CN" sz="2400" b="1" dirty="0">
                    <a:solidFill>
                      <a:schemeClr val="accent5"/>
                    </a:solidFill>
                    <a:latin typeface="仿宋" panose="02010609060101010101" pitchFamily="49" charset="-122"/>
                    <a:ea typeface="仿宋" panose="02010609060101010101" pitchFamily="49" charset="-122"/>
                  </a:rPr>
                  <a:t>/mm</a:t>
                </a:r>
                <a:r>
                  <a:rPr lang="zh-CN" altLang="en-US" sz="2400" b="1" dirty="0">
                    <a:solidFill>
                      <a:schemeClr val="accent5"/>
                    </a:solidFill>
                    <a:latin typeface="仿宋" panose="02010609060101010101" pitchFamily="49" charset="-122"/>
                    <a:ea typeface="仿宋" panose="02010609060101010101" pitchFamily="49" charset="-122"/>
                  </a:rPr>
                  <a:t>，那么</a:t>
                </a:r>
                <a:r>
                  <a:rPr lang="zh-CN" altLang="en-US" sz="2400" b="1" dirty="0" smtClean="0">
                    <a:solidFill>
                      <a:schemeClr val="accent5"/>
                    </a:solidFill>
                    <a:latin typeface="仿宋" panose="02010609060101010101" pitchFamily="49" charset="-122"/>
                    <a:ea typeface="仿宋" panose="02010609060101010101" pitchFamily="49" charset="-122"/>
                  </a:rPr>
                  <a:t>根据尼奎斯特</a:t>
                </a:r>
                <a:r>
                  <a:rPr lang="zh-CN" altLang="en-US" sz="2400" b="1" dirty="0">
                    <a:solidFill>
                      <a:schemeClr val="accent5"/>
                    </a:solidFill>
                    <a:latin typeface="仿宋" panose="02010609060101010101" pitchFamily="49" charset="-122"/>
                    <a:ea typeface="仿宋" panose="02010609060101010101" pitchFamily="49" charset="-122"/>
                  </a:rPr>
                  <a:t>采样定理，至少需要配以</a:t>
                </a:r>
                <a:r>
                  <a:rPr lang="en-US" altLang="zh-CN" sz="2400" b="1" dirty="0">
                    <a:solidFill>
                      <a:schemeClr val="accent5"/>
                    </a:solidFill>
                    <a:latin typeface="仿宋" panose="02010609060101010101" pitchFamily="49" charset="-122"/>
                    <a:ea typeface="仿宋" panose="02010609060101010101" pitchFamily="49" charset="-122"/>
                  </a:rPr>
                  <a:t>2N/mm</a:t>
                </a:r>
                <a:r>
                  <a:rPr lang="zh-CN" altLang="en-US" sz="2400" b="1" dirty="0">
                    <a:solidFill>
                      <a:schemeClr val="accent5"/>
                    </a:solidFill>
                    <a:latin typeface="仿宋" panose="02010609060101010101" pitchFamily="49" charset="-122"/>
                    <a:ea typeface="仿宋" panose="02010609060101010101" pitchFamily="49" charset="-122"/>
                  </a:rPr>
                  <a:t>个空间采样点。</a:t>
                </a:r>
                <a:r>
                  <a:rPr lang="zh-CN" altLang="en-US" sz="2400" dirty="0">
                    <a:solidFill>
                      <a:schemeClr val="tx1"/>
                    </a:solidFill>
                    <a:latin typeface="仿宋" panose="02010609060101010101" pitchFamily="49" charset="-122"/>
                    <a:ea typeface="仿宋" panose="02010609060101010101" pitchFamily="49" charset="-122"/>
                  </a:rPr>
                  <a:t>这个可以这样来理解，</a:t>
                </a:r>
                <a:r>
                  <a:rPr lang="en-US" altLang="zh-CN" sz="2400" dirty="0">
                    <a:solidFill>
                      <a:schemeClr val="tx1"/>
                    </a:solidFill>
                    <a:latin typeface="仿宋" panose="02010609060101010101" pitchFamily="49" charset="-122"/>
                    <a:ea typeface="仿宋" panose="02010609060101010101" pitchFamily="49" charset="-122"/>
                  </a:rPr>
                  <a:t>1mm</a:t>
                </a:r>
                <a:r>
                  <a:rPr lang="zh-CN" altLang="en-US" sz="2400" dirty="0">
                    <a:solidFill>
                      <a:schemeClr val="tx1"/>
                    </a:solidFill>
                    <a:latin typeface="仿宋" panose="02010609060101010101" pitchFamily="49" charset="-122"/>
                    <a:ea typeface="仿宋" panose="02010609060101010101" pitchFamily="49" charset="-122"/>
                  </a:rPr>
                  <a:t>内有</a:t>
                </a:r>
                <a:r>
                  <a:rPr lang="en-US" altLang="zh-CN" sz="2400" dirty="0">
                    <a:solidFill>
                      <a:schemeClr val="tx1"/>
                    </a:solidFill>
                    <a:latin typeface="仿宋" panose="02010609060101010101" pitchFamily="49" charset="-122"/>
                    <a:ea typeface="仿宋" panose="02010609060101010101" pitchFamily="49" charset="-122"/>
                  </a:rPr>
                  <a:t>N</a:t>
                </a:r>
                <a:r>
                  <a:rPr lang="zh-CN" altLang="en-US" sz="2400" dirty="0">
                    <a:solidFill>
                      <a:schemeClr val="tx1"/>
                    </a:solidFill>
                    <a:latin typeface="仿宋" panose="02010609060101010101" pitchFamily="49" charset="-122"/>
                    <a:ea typeface="仿宋" panose="02010609060101010101" pitchFamily="49" charset="-122"/>
                  </a:rPr>
                  <a:t>条黑白线对，那么就有</a:t>
                </a:r>
                <a:r>
                  <a:rPr lang="en-US" altLang="zh-CN" sz="2400" dirty="0" smtClean="0">
                    <a:solidFill>
                      <a:schemeClr val="tx1"/>
                    </a:solidFill>
                    <a:latin typeface="仿宋" panose="02010609060101010101" pitchFamily="49" charset="-122"/>
                    <a:ea typeface="仿宋" panose="02010609060101010101" pitchFamily="49" charset="-122"/>
                  </a:rPr>
                  <a:t>N</a:t>
                </a:r>
                <a:r>
                  <a:rPr lang="zh-CN" altLang="en-US" sz="2400" dirty="0" smtClean="0">
                    <a:solidFill>
                      <a:schemeClr val="tx1"/>
                    </a:solidFill>
                    <a:latin typeface="仿宋" panose="02010609060101010101" pitchFamily="49" charset="-122"/>
                    <a:ea typeface="仿宋" panose="02010609060101010101" pitchFamily="49" charset="-122"/>
                  </a:rPr>
                  <a:t>条</a:t>
                </a:r>
                <a:r>
                  <a:rPr lang="zh-CN" altLang="en-US" sz="2400" dirty="0">
                    <a:solidFill>
                      <a:schemeClr val="tx1"/>
                    </a:solidFill>
                    <a:latin typeface="仿宋" panose="02010609060101010101" pitchFamily="49" charset="-122"/>
                    <a:ea typeface="仿宋" panose="02010609060101010101" pitchFamily="49" charset="-122"/>
                  </a:rPr>
                  <a:t>白线和</a:t>
                </a:r>
                <a:r>
                  <a:rPr lang="en-US" altLang="zh-CN" sz="2400" dirty="0">
                    <a:solidFill>
                      <a:schemeClr val="tx1"/>
                    </a:solidFill>
                    <a:latin typeface="仿宋" panose="02010609060101010101" pitchFamily="49" charset="-122"/>
                    <a:ea typeface="仿宋" panose="02010609060101010101" pitchFamily="49" charset="-122"/>
                  </a:rPr>
                  <a:t>N</a:t>
                </a:r>
                <a:r>
                  <a:rPr lang="zh-CN" altLang="en-US" sz="2400" dirty="0">
                    <a:solidFill>
                      <a:schemeClr val="tx1"/>
                    </a:solidFill>
                    <a:latin typeface="仿宋" panose="02010609060101010101" pitchFamily="49" charset="-122"/>
                    <a:ea typeface="仿宋" panose="02010609060101010101" pitchFamily="49" charset="-122"/>
                  </a:rPr>
                  <a:t>条黑线总共</a:t>
                </a:r>
                <a:r>
                  <a:rPr lang="en-US" altLang="zh-CN" sz="2400" dirty="0">
                    <a:solidFill>
                      <a:schemeClr val="tx1"/>
                    </a:solidFill>
                    <a:latin typeface="仿宋" panose="02010609060101010101" pitchFamily="49" charset="-122"/>
                    <a:ea typeface="仿宋" panose="02010609060101010101" pitchFamily="49" charset="-122"/>
                  </a:rPr>
                  <a:t>2N</a:t>
                </a:r>
                <a:r>
                  <a:rPr lang="zh-CN" altLang="en-US" sz="2400" dirty="0">
                    <a:solidFill>
                      <a:schemeClr val="tx1"/>
                    </a:solidFill>
                    <a:latin typeface="仿宋" panose="02010609060101010101" pitchFamily="49" charset="-122"/>
                    <a:ea typeface="仿宋" panose="02010609060101010101" pitchFamily="49" charset="-122"/>
                  </a:rPr>
                  <a:t>条线。以摄像机的一个感光元对应以一条白线或黑线，那么摄像机在</a:t>
                </a:r>
                <a:r>
                  <a:rPr lang="en-US" altLang="zh-CN" sz="2400" dirty="0">
                    <a:solidFill>
                      <a:schemeClr val="tx1"/>
                    </a:solidFill>
                    <a:latin typeface="仿宋" panose="02010609060101010101" pitchFamily="49" charset="-122"/>
                    <a:ea typeface="仿宋" panose="02010609060101010101" pitchFamily="49" charset="-122"/>
                  </a:rPr>
                  <a:t>1mm</a:t>
                </a:r>
                <a:r>
                  <a:rPr lang="zh-CN" altLang="en-US" sz="2400" dirty="0">
                    <a:solidFill>
                      <a:schemeClr val="tx1"/>
                    </a:solidFill>
                    <a:latin typeface="仿宋" panose="02010609060101010101" pitchFamily="49" charset="-122"/>
                    <a:ea typeface="仿宋" panose="02010609060101010101" pitchFamily="49" charset="-122"/>
                  </a:rPr>
                  <a:t>内需要有</a:t>
                </a:r>
                <a:r>
                  <a:rPr lang="en-US" altLang="zh-CN" sz="2400" dirty="0">
                    <a:solidFill>
                      <a:schemeClr val="tx1"/>
                    </a:solidFill>
                    <a:latin typeface="仿宋" panose="02010609060101010101" pitchFamily="49" charset="-122"/>
                    <a:ea typeface="仿宋" panose="02010609060101010101" pitchFamily="49" charset="-122"/>
                  </a:rPr>
                  <a:t>2N</a:t>
                </a:r>
                <a:r>
                  <a:rPr lang="zh-CN" altLang="en-US" sz="2400" dirty="0">
                    <a:solidFill>
                      <a:schemeClr val="tx1"/>
                    </a:solidFill>
                    <a:latin typeface="仿宋" panose="02010609060101010101" pitchFamily="49" charset="-122"/>
                    <a:ea typeface="仿宋" panose="02010609060101010101" pitchFamily="49" charset="-122"/>
                  </a:rPr>
                  <a:t>个感光元来对应</a:t>
                </a:r>
                <a:r>
                  <a:rPr lang="en-US" altLang="zh-CN" sz="2400" dirty="0">
                    <a:solidFill>
                      <a:schemeClr val="tx1"/>
                    </a:solidFill>
                    <a:latin typeface="仿宋" panose="02010609060101010101" pitchFamily="49" charset="-122"/>
                    <a:ea typeface="仿宋" panose="02010609060101010101" pitchFamily="49" charset="-122"/>
                  </a:rPr>
                  <a:t>N</a:t>
                </a:r>
                <a:r>
                  <a:rPr lang="zh-CN" altLang="en-US" sz="2400" dirty="0">
                    <a:solidFill>
                      <a:schemeClr val="tx1"/>
                    </a:solidFill>
                    <a:latin typeface="仿宋" panose="02010609060101010101" pitchFamily="49" charset="-122"/>
                    <a:ea typeface="仿宋" panose="02010609060101010101" pitchFamily="49" charset="-122"/>
                  </a:rPr>
                  <a:t>条白线和</a:t>
                </a:r>
                <a:r>
                  <a:rPr lang="en-US" altLang="zh-CN" sz="2400" dirty="0">
                    <a:solidFill>
                      <a:schemeClr val="tx1"/>
                    </a:solidFill>
                    <a:latin typeface="仿宋" panose="02010609060101010101" pitchFamily="49" charset="-122"/>
                    <a:ea typeface="仿宋" panose="02010609060101010101" pitchFamily="49" charset="-122"/>
                  </a:rPr>
                  <a:t>N</a:t>
                </a:r>
                <a:r>
                  <a:rPr lang="zh-CN" altLang="en-US" sz="2400" dirty="0">
                    <a:solidFill>
                      <a:schemeClr val="tx1"/>
                    </a:solidFill>
                    <a:latin typeface="仿宋" panose="02010609060101010101" pitchFamily="49" charset="-122"/>
                    <a:ea typeface="仿宋" panose="02010609060101010101" pitchFamily="49" charset="-122"/>
                  </a:rPr>
                  <a:t>条黑线，摄像机的感光元密度就是 </a:t>
                </a:r>
                <a:r>
                  <a:rPr lang="en-US" altLang="zh-CN" sz="2400" dirty="0">
                    <a:solidFill>
                      <a:schemeClr val="tx1"/>
                    </a:solidFill>
                    <a:latin typeface="仿宋" panose="02010609060101010101" pitchFamily="49" charset="-122"/>
                    <a:ea typeface="仿宋" panose="02010609060101010101" pitchFamily="49" charset="-122"/>
                  </a:rPr>
                  <a:t>2N/mm</a:t>
                </a:r>
                <a:r>
                  <a:rPr lang="zh-CN" altLang="en-US" sz="2400" dirty="0">
                    <a:solidFill>
                      <a:schemeClr val="tx1"/>
                    </a:solidFill>
                    <a:latin typeface="仿宋" panose="02010609060101010101" pitchFamily="49" charset="-122"/>
                    <a:ea typeface="仿宋" panose="02010609060101010101" pitchFamily="49" charset="-122"/>
                  </a:rPr>
                  <a:t>。</a:t>
                </a:r>
                <a:endParaRPr lang="en-US" altLang="zh-CN" sz="2400" dirty="0" smtClean="0">
                  <a:solidFill>
                    <a:schemeClr val="tx1"/>
                  </a:solidFill>
                  <a:latin typeface="仿宋" panose="02010609060101010101" pitchFamily="49" charset="-122"/>
                  <a:ea typeface="仿宋" panose="02010609060101010101" pitchFamily="49" charset="-122"/>
                </a:endParaRPr>
              </a:p>
              <a:p>
                <a:pPr marL="0">
                  <a:lnSpc>
                    <a:spcPct val="150000"/>
                  </a:lnSpc>
                  <a:spcBef>
                    <a:spcPts val="0"/>
                  </a:spcBef>
                  <a:buFont typeface="Arial" panose="020B0604020202020204" pitchFamily="34" charset="0"/>
                  <a:buChar char="•"/>
                </a:pPr>
                <a14:m>
                  <m:oMath xmlns:m="http://schemas.openxmlformats.org/officeDocument/2006/math">
                    <m:sSub>
                      <m:sSubPr>
                        <m:ctrlPr>
                          <a:rPr lang="en-US" altLang="zh-CN" sz="2400" b="1" i="1" smtClean="0">
                            <a:solidFill>
                              <a:schemeClr val="accent5"/>
                            </a:solidFill>
                            <a:latin typeface="Cambria Math" panose="02040503050406030204" pitchFamily="18" charset="0"/>
                            <a:ea typeface="微软雅黑" panose="020B0503020204020204" pitchFamily="34" charset="-122"/>
                          </a:rPr>
                        </m:ctrlPr>
                      </m:sSubPr>
                      <m:e>
                        <m:r>
                          <a:rPr lang="en-US" altLang="zh-CN" sz="2400" b="1" i="1" smtClean="0">
                            <a:solidFill>
                              <a:schemeClr val="accent5"/>
                            </a:solidFill>
                            <a:latin typeface="Cambria Math" panose="02040503050406030204"/>
                            <a:ea typeface="微软雅黑" panose="020B0503020204020204" pitchFamily="34" charset="-122"/>
                          </a:rPr>
                          <m:t>𝒇</m:t>
                        </m:r>
                      </m:e>
                      <m:sub>
                        <m:r>
                          <m:rPr>
                            <m:nor/>
                          </m:rPr>
                          <a:rPr lang="en-US" altLang="zh-CN" sz="2400" b="1" dirty="0">
                            <a:solidFill>
                              <a:schemeClr val="accent5"/>
                            </a:solidFill>
                            <a:latin typeface="仿宋" panose="02010609060101010101" pitchFamily="49" charset="-122"/>
                            <a:ea typeface="仿宋" panose="02010609060101010101" pitchFamily="49" charset="-122"/>
                          </a:rPr>
                          <m:t>Nyquist</m:t>
                        </m:r>
                      </m:sub>
                    </m:sSub>
                  </m:oMath>
                </a14:m>
                <a:r>
                  <a:rPr lang="en-US" altLang="zh-CN" sz="2400" dirty="0" smtClean="0">
                    <a:solidFill>
                      <a:schemeClr val="tx1"/>
                    </a:solidFill>
                    <a:latin typeface="仿宋" panose="02010609060101010101" pitchFamily="49" charset="-122"/>
                    <a:ea typeface="仿宋" panose="02010609060101010101" pitchFamily="49" charset="-122"/>
                  </a:rPr>
                  <a:t>=1000/(2*d)</a:t>
                </a:r>
                <a:r>
                  <a:rPr lang="zh-CN" altLang="en-US" sz="2400" dirty="0" smtClean="0">
                    <a:solidFill>
                      <a:schemeClr val="tx1"/>
                    </a:solidFill>
                    <a:latin typeface="仿宋" panose="02010609060101010101" pitchFamily="49" charset="-122"/>
                    <a:ea typeface="仿宋" panose="02010609060101010101" pitchFamily="49" charset="-122"/>
                  </a:rPr>
                  <a:t>，</a:t>
                </a:r>
                <a:r>
                  <a:rPr lang="en-US" altLang="zh-CN" sz="2400" dirty="0" smtClean="0">
                    <a:solidFill>
                      <a:schemeClr val="tx1"/>
                    </a:solidFill>
                    <a:latin typeface="仿宋" panose="02010609060101010101" pitchFamily="49" charset="-122"/>
                    <a:ea typeface="仿宋" panose="02010609060101010101" pitchFamily="49" charset="-122"/>
                  </a:rPr>
                  <a:t>d</a:t>
                </a:r>
                <a:r>
                  <a:rPr lang="zh-CN" altLang="en-US" sz="2400" dirty="0" smtClean="0">
                    <a:solidFill>
                      <a:schemeClr val="tx1"/>
                    </a:solidFill>
                    <a:latin typeface="仿宋" panose="02010609060101010101" pitchFamily="49" charset="-122"/>
                    <a:ea typeface="仿宋" panose="02010609060101010101" pitchFamily="49" charset="-122"/>
                  </a:rPr>
                  <a:t>：像元间距</a:t>
                </a:r>
                <a:endParaRPr lang="zh-CN" altLang="en-US" sz="2400" dirty="0">
                  <a:solidFill>
                    <a:schemeClr val="tx1"/>
                  </a:solidFill>
                  <a:latin typeface="仿宋" panose="02010609060101010101" pitchFamily="49" charset="-122"/>
                  <a:ea typeface="仿宋" panose="02010609060101010101" pitchFamily="49"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l="-2" t="-4" r="3" b="9"/>
                </a:stretch>
              </a:blipFill>
            </p:spPr>
            <p:txBody>
              <a:bodyPr/>
              <a:lstStyle/>
              <a:p>
                <a:r>
                  <a:rPr lang="zh-CN" altLang="en-US">
                    <a:noFill/>
                  </a:rPr>
                  <a:t> </a:t>
                </a:r>
              </a:p>
            </p:txBody>
          </p:sp>
        </mc:Fallback>
      </mc:AlternateContent>
      <p:pic>
        <p:nvPicPr>
          <p:cNvPr id="17410" name="Picture 2" descr="C:\Users\07285yzl\Desktop\红外镜头设计简介\新建文件夹\1952089-20200424102429969-29614671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2114" y="4553768"/>
            <a:ext cx="3924300" cy="3286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SFR</a:t>
            </a:r>
            <a:endParaRPr lang="zh-CN" altLang="en-US" dirty="0"/>
          </a:p>
        </p:txBody>
      </p:sp>
      <p:sp>
        <p:nvSpPr>
          <p:cNvPr id="3" name="内容占位符 2"/>
          <p:cNvSpPr>
            <a:spLocks noGrp="1"/>
          </p:cNvSpPr>
          <p:nvPr>
            <p:ph idx="1"/>
          </p:nvPr>
        </p:nvSpPr>
        <p:spPr>
          <a:xfrm>
            <a:off x="673076" y="881360"/>
            <a:ext cx="12818190" cy="1584176"/>
          </a:xfrm>
        </p:spPr>
        <p:txBody>
          <a:bodyPr/>
          <a:lstStyle/>
          <a:p>
            <a:pPr marL="0">
              <a:lnSpc>
                <a:spcPct val="150000"/>
              </a:lnSpc>
              <a:spcBef>
                <a:spcPts val="0"/>
              </a:spcBef>
              <a:buFont typeface="Wingdings" panose="05000000000000000000" pitchFamily="2" charset="2"/>
              <a:buChar char="p"/>
            </a:pPr>
            <a:r>
              <a:rPr lang="en-US" altLang="zh-CN" sz="2400" dirty="0">
                <a:solidFill>
                  <a:schemeClr val="tx1"/>
                </a:solidFill>
                <a:latin typeface="仿宋" panose="02010609060101010101" pitchFamily="49" charset="-122"/>
                <a:ea typeface="仿宋" panose="02010609060101010101" pitchFamily="49" charset="-122"/>
              </a:rPr>
              <a:t>SFR</a:t>
            </a:r>
            <a:r>
              <a:rPr lang="zh-CN" altLang="en-US" sz="2400" dirty="0">
                <a:solidFill>
                  <a:schemeClr val="tx1"/>
                </a:solidFill>
                <a:latin typeface="仿宋" panose="02010609060101010101" pitchFamily="49" charset="-122"/>
                <a:ea typeface="仿宋" panose="02010609060101010101" pitchFamily="49" charset="-122"/>
              </a:rPr>
              <a:t>（</a:t>
            </a:r>
            <a:r>
              <a:rPr lang="en-US" altLang="zh-CN" sz="2400" dirty="0">
                <a:solidFill>
                  <a:schemeClr val="tx1"/>
                </a:solidFill>
                <a:latin typeface="仿宋" panose="02010609060101010101" pitchFamily="49" charset="-122"/>
                <a:ea typeface="仿宋" panose="02010609060101010101" pitchFamily="49" charset="-122"/>
              </a:rPr>
              <a:t>Spatial Frequency Response</a:t>
            </a:r>
            <a:r>
              <a:rPr lang="zh-CN" altLang="en-US" sz="2400" dirty="0" smtClean="0">
                <a:solidFill>
                  <a:schemeClr val="tx1"/>
                </a:solidFill>
                <a:latin typeface="仿宋" panose="02010609060101010101" pitchFamily="49" charset="-122"/>
                <a:ea typeface="仿宋" panose="02010609060101010101" pitchFamily="49" charset="-122"/>
              </a:rPr>
              <a:t>）空间频率</a:t>
            </a:r>
            <a:r>
              <a:rPr lang="zh-CN" altLang="en-US" sz="2400" dirty="0">
                <a:solidFill>
                  <a:schemeClr val="tx1"/>
                </a:solidFill>
                <a:latin typeface="仿宋" panose="02010609060101010101" pitchFamily="49" charset="-122"/>
                <a:ea typeface="仿宋" panose="02010609060101010101" pitchFamily="49" charset="-122"/>
              </a:rPr>
              <a:t>响应。</a:t>
            </a:r>
            <a:endParaRPr lang="en-US" altLang="zh-CN" sz="2400" dirty="0" smtClean="0">
              <a:solidFill>
                <a:schemeClr val="tx1"/>
              </a:solidFill>
              <a:latin typeface="仿宋" panose="02010609060101010101" pitchFamily="49" charset="-122"/>
              <a:ea typeface="仿宋" panose="02010609060101010101" pitchFamily="49" charset="-122"/>
            </a:endParaRPr>
          </a:p>
          <a:p>
            <a:pPr marL="0">
              <a:lnSpc>
                <a:spcPct val="150000"/>
              </a:lnSpc>
              <a:spcBef>
                <a:spcPts val="0"/>
              </a:spcBef>
              <a:buFont typeface="Wingdings" panose="05000000000000000000" pitchFamily="2" charset="2"/>
              <a:buChar char="p"/>
            </a:pPr>
            <a:r>
              <a:rPr lang="zh-CN" altLang="en-US" sz="2400" dirty="0" smtClean="0">
                <a:solidFill>
                  <a:schemeClr val="tx1"/>
                </a:solidFill>
                <a:latin typeface="仿宋" panose="02010609060101010101" pitchFamily="49" charset="-122"/>
                <a:ea typeface="仿宋" panose="02010609060101010101" pitchFamily="49" charset="-122"/>
              </a:rPr>
              <a:t>主要</a:t>
            </a:r>
            <a:r>
              <a:rPr lang="zh-CN" altLang="en-US" sz="2400" dirty="0">
                <a:solidFill>
                  <a:schemeClr val="tx1"/>
                </a:solidFill>
                <a:latin typeface="仿宋" panose="02010609060101010101" pitchFamily="49" charset="-122"/>
                <a:ea typeface="仿宋" panose="02010609060101010101" pitchFamily="49" charset="-122"/>
              </a:rPr>
              <a:t>是用于测量随着空间频率的线条增加对单一影像所造成的影响。简言之</a:t>
            </a:r>
            <a:r>
              <a:rPr lang="en-US" altLang="zh-CN" sz="2400" dirty="0">
                <a:solidFill>
                  <a:schemeClr val="tx1"/>
                </a:solidFill>
                <a:latin typeface="仿宋" panose="02010609060101010101" pitchFamily="49" charset="-122"/>
                <a:ea typeface="仿宋" panose="02010609060101010101" pitchFamily="49" charset="-122"/>
              </a:rPr>
              <a:t>SFR</a:t>
            </a:r>
            <a:r>
              <a:rPr lang="zh-CN" altLang="en-US" sz="2400" dirty="0">
                <a:solidFill>
                  <a:schemeClr val="tx1"/>
                </a:solidFill>
                <a:latin typeface="仿宋" panose="02010609060101010101" pitchFamily="49" charset="-122"/>
                <a:ea typeface="仿宋" panose="02010609060101010101" pitchFamily="49" charset="-122"/>
              </a:rPr>
              <a:t>就是</a:t>
            </a:r>
            <a:r>
              <a:rPr lang="en-US" altLang="zh-CN" sz="2400" dirty="0">
                <a:solidFill>
                  <a:schemeClr val="tx1"/>
                </a:solidFill>
                <a:latin typeface="仿宋" panose="02010609060101010101" pitchFamily="49" charset="-122"/>
                <a:ea typeface="仿宋" panose="02010609060101010101" pitchFamily="49" charset="-122"/>
              </a:rPr>
              <a:t>MTF</a:t>
            </a:r>
            <a:r>
              <a:rPr lang="zh-CN" altLang="en-US" sz="2400" dirty="0">
                <a:solidFill>
                  <a:schemeClr val="tx1"/>
                </a:solidFill>
                <a:latin typeface="仿宋" panose="02010609060101010101" pitchFamily="49" charset="-122"/>
                <a:ea typeface="仿宋" panose="02010609060101010101" pitchFamily="49" charset="-122"/>
              </a:rPr>
              <a:t>的精简版。</a:t>
            </a:r>
            <a:endParaRPr lang="zh-CN" altLang="en-US" sz="2400" dirty="0">
              <a:solidFill>
                <a:schemeClr val="tx1"/>
              </a:solidFill>
              <a:latin typeface="仿宋" panose="02010609060101010101" pitchFamily="49" charset="-122"/>
              <a:ea typeface="仿宋" panose="02010609060101010101" pitchFamily="49" charset="-122"/>
            </a:endParaRPr>
          </a:p>
          <a:p>
            <a:endParaRPr lang="zh-CN" altLang="en-US" dirty="0"/>
          </a:p>
        </p:txBody>
      </p:sp>
      <p:pic>
        <p:nvPicPr>
          <p:cNvPr id="19458" name="Picture 2" descr="C:\Users\07285yzl\Desktop\红外镜头设计简介\新建文件夹\20200314161900849.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7378" y="3521914"/>
            <a:ext cx="828675" cy="2066925"/>
          </a:xfrm>
          <a:prstGeom prst="rect">
            <a:avLst/>
          </a:prstGeom>
          <a:noFill/>
          <a:extLst>
            <a:ext uri="{909E8E84-426E-40DD-AFC4-6F175D3DCCD1}">
              <a14:hiddenFill xmlns:a14="http://schemas.microsoft.com/office/drawing/2010/main">
                <a:solidFill>
                  <a:srgbClr val="FFFFFF"/>
                </a:solidFill>
              </a14:hiddenFill>
            </a:ext>
          </a:extLst>
        </p:spPr>
      </p:pic>
      <p:pic>
        <p:nvPicPr>
          <p:cNvPr id="19459" name="Picture 3" descr="C:\Users\07285yzl\Desktop\红外镜头设计简介\新建文件夹\2020031418492155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4461" y="3308439"/>
            <a:ext cx="2562225" cy="2486025"/>
          </a:xfrm>
          <a:prstGeom prst="rect">
            <a:avLst/>
          </a:prstGeom>
          <a:noFill/>
          <a:extLst>
            <a:ext uri="{909E8E84-426E-40DD-AFC4-6F175D3DCCD1}">
              <a14:hiddenFill xmlns:a14="http://schemas.microsoft.com/office/drawing/2010/main">
                <a:solidFill>
                  <a:srgbClr val="FFFFFF"/>
                </a:solidFill>
              </a14:hiddenFill>
            </a:ext>
          </a:extLst>
        </p:spPr>
      </p:pic>
      <p:pic>
        <p:nvPicPr>
          <p:cNvPr id="19460" name="Picture 4" descr="C:\Users\07285yzl\Desktop\红外镜头设计简介\新建文件夹\2020031418504733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3396" y="3308439"/>
            <a:ext cx="2390775" cy="2400300"/>
          </a:xfrm>
          <a:prstGeom prst="rect">
            <a:avLst/>
          </a:prstGeom>
          <a:noFill/>
          <a:extLst>
            <a:ext uri="{909E8E84-426E-40DD-AFC4-6F175D3DCCD1}">
              <a14:hiddenFill xmlns:a14="http://schemas.microsoft.com/office/drawing/2010/main">
                <a:solidFill>
                  <a:srgbClr val="FFFFFF"/>
                </a:solidFill>
              </a14:hiddenFill>
            </a:ext>
          </a:extLst>
        </p:spPr>
      </p:pic>
      <p:pic>
        <p:nvPicPr>
          <p:cNvPr id="19461" name="Picture 5" descr="C:\Users\07285yzl\Desktop\红外镜头设计简介\新建文件夹\20200314185530999.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60346" y="3010834"/>
            <a:ext cx="4943475" cy="29622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0" y="6129760"/>
            <a:ext cx="2430474" cy="400110"/>
          </a:xfrm>
          <a:prstGeom prst="rect">
            <a:avLst/>
          </a:prstGeom>
          <a:noFill/>
        </p:spPr>
        <p:txBody>
          <a:bodyPr wrap="none" rtlCol="0">
            <a:spAutoFit/>
          </a:bodyPr>
          <a:lstStyle/>
          <a:p>
            <a:r>
              <a:rPr lang="en-US" altLang="zh-CN" sz="2000" dirty="0">
                <a:latin typeface="仿宋" panose="02010609060101010101" pitchFamily="49" charset="-122"/>
                <a:ea typeface="仿宋" panose="02010609060101010101" pitchFamily="49" charset="-122"/>
              </a:rPr>
              <a:t>SFR</a:t>
            </a:r>
            <a:r>
              <a:rPr lang="zh-CN" altLang="en-US" sz="2000" dirty="0">
                <a:latin typeface="仿宋" panose="02010609060101010101" pitchFamily="49" charset="-122"/>
                <a:ea typeface="仿宋" panose="02010609060101010101" pitchFamily="49" charset="-122"/>
              </a:rPr>
              <a:t>算法计算的韧边</a:t>
            </a:r>
            <a:endParaRPr lang="zh-CN" altLang="en-US" sz="2000" dirty="0">
              <a:latin typeface="仿宋" panose="02010609060101010101" pitchFamily="49" charset="-122"/>
              <a:ea typeface="仿宋" panose="02010609060101010101" pitchFamily="49" charset="-122"/>
            </a:endParaRPr>
          </a:p>
        </p:txBody>
      </p:sp>
      <p:sp>
        <p:nvSpPr>
          <p:cNvPr id="5" name="TextBox 4"/>
          <p:cNvSpPr txBox="1"/>
          <p:nvPr/>
        </p:nvSpPr>
        <p:spPr>
          <a:xfrm>
            <a:off x="2847689" y="6165639"/>
            <a:ext cx="2661306" cy="400110"/>
          </a:xfrm>
          <a:prstGeom prst="rect">
            <a:avLst/>
          </a:prstGeom>
          <a:noFill/>
        </p:spPr>
        <p:txBody>
          <a:bodyPr wrap="none" rtlCol="0">
            <a:spAutoFit/>
          </a:bodyPr>
          <a:lstStyle/>
          <a:p>
            <a:r>
              <a:rPr lang="zh-CN" altLang="en-US" sz="2000" dirty="0">
                <a:latin typeface="仿宋" panose="02010609060101010101" pitchFamily="49" charset="-122"/>
                <a:ea typeface="仿宋" panose="02010609060101010101" pitchFamily="49" charset="-122"/>
              </a:rPr>
              <a:t>超采样获取的</a:t>
            </a:r>
            <a:r>
              <a:rPr lang="en-US" altLang="zh-CN" sz="2000" dirty="0">
                <a:latin typeface="仿宋" panose="02010609060101010101" pitchFamily="49" charset="-122"/>
                <a:ea typeface="仿宋" panose="02010609060101010101" pitchFamily="49" charset="-122"/>
              </a:rPr>
              <a:t>ESF</a:t>
            </a:r>
            <a:r>
              <a:rPr lang="zh-CN" altLang="en-US" sz="2000" dirty="0">
                <a:latin typeface="仿宋" panose="02010609060101010101" pitchFamily="49" charset="-122"/>
                <a:ea typeface="仿宋" panose="02010609060101010101" pitchFamily="49" charset="-122"/>
              </a:rPr>
              <a:t>数据</a:t>
            </a:r>
            <a:endParaRPr lang="zh-CN" altLang="en-US" sz="2000" dirty="0">
              <a:latin typeface="仿宋" panose="02010609060101010101" pitchFamily="49" charset="-122"/>
              <a:ea typeface="仿宋" panose="02010609060101010101" pitchFamily="49" charset="-122"/>
            </a:endParaRPr>
          </a:p>
        </p:txBody>
      </p:sp>
      <p:sp>
        <p:nvSpPr>
          <p:cNvPr id="6" name="TextBox 5"/>
          <p:cNvSpPr txBox="1"/>
          <p:nvPr/>
        </p:nvSpPr>
        <p:spPr>
          <a:xfrm>
            <a:off x="6264002" y="6169978"/>
            <a:ext cx="3076483" cy="400110"/>
          </a:xfrm>
          <a:prstGeom prst="rect">
            <a:avLst/>
          </a:prstGeom>
          <a:noFill/>
        </p:spPr>
        <p:txBody>
          <a:bodyPr wrap="none" rtlCol="0">
            <a:spAutoFit/>
          </a:bodyPr>
          <a:lstStyle/>
          <a:p>
            <a:r>
              <a:rPr lang="en-US" altLang="zh-CN" sz="2000" dirty="0">
                <a:latin typeface="仿宋" panose="02010609060101010101" pitchFamily="49" charset="-122"/>
                <a:ea typeface="仿宋" panose="02010609060101010101" pitchFamily="49" charset="-122"/>
              </a:rPr>
              <a:t>ESF</a:t>
            </a:r>
            <a:r>
              <a:rPr lang="zh-CN" altLang="en-US" sz="2000" dirty="0">
                <a:latin typeface="仿宋" panose="02010609060101010101" pitchFamily="49" charset="-122"/>
                <a:ea typeface="仿宋" panose="02010609060101010101" pitchFamily="49" charset="-122"/>
              </a:rPr>
              <a:t>数据差分求导得到</a:t>
            </a:r>
            <a:r>
              <a:rPr lang="en-US" altLang="zh-CN" sz="2000" dirty="0">
                <a:latin typeface="仿宋" panose="02010609060101010101" pitchFamily="49" charset="-122"/>
                <a:ea typeface="仿宋" panose="02010609060101010101" pitchFamily="49" charset="-122"/>
              </a:rPr>
              <a:t>LSF</a:t>
            </a:r>
            <a:endParaRPr lang="zh-CN" altLang="en-US" sz="2000" dirty="0">
              <a:latin typeface="仿宋" panose="02010609060101010101" pitchFamily="49" charset="-122"/>
              <a:ea typeface="仿宋" panose="02010609060101010101" pitchFamily="49" charset="-122"/>
            </a:endParaRPr>
          </a:p>
        </p:txBody>
      </p:sp>
      <p:sp>
        <p:nvSpPr>
          <p:cNvPr id="7" name="TextBox 6"/>
          <p:cNvSpPr txBox="1"/>
          <p:nvPr/>
        </p:nvSpPr>
        <p:spPr>
          <a:xfrm>
            <a:off x="10512474" y="6169978"/>
            <a:ext cx="2845651" cy="400110"/>
          </a:xfrm>
          <a:prstGeom prst="rect">
            <a:avLst/>
          </a:prstGeom>
          <a:noFill/>
        </p:spPr>
        <p:txBody>
          <a:bodyPr wrap="none" rtlCol="0">
            <a:spAutoFit/>
          </a:bodyPr>
          <a:lstStyle/>
          <a:p>
            <a:r>
              <a:rPr lang="en-US" altLang="zh-CN" sz="2000" dirty="0">
                <a:latin typeface="仿宋" panose="02010609060101010101" pitchFamily="49" charset="-122"/>
                <a:ea typeface="仿宋" panose="02010609060101010101" pitchFamily="49" charset="-122"/>
              </a:rPr>
              <a:t>LSF</a:t>
            </a:r>
            <a:r>
              <a:rPr lang="zh-CN" altLang="en-US" sz="2000" dirty="0">
                <a:latin typeface="仿宋" panose="02010609060101010101" pitchFamily="49" charset="-122"/>
                <a:ea typeface="仿宋" panose="02010609060101010101" pitchFamily="49" charset="-122"/>
              </a:rPr>
              <a:t>傅里叶变换求得</a:t>
            </a:r>
            <a:r>
              <a:rPr lang="en-US" altLang="zh-CN" sz="2000" dirty="0">
                <a:latin typeface="仿宋" panose="02010609060101010101" pitchFamily="49" charset="-122"/>
                <a:ea typeface="仿宋" panose="02010609060101010101" pitchFamily="49" charset="-122"/>
              </a:rPr>
              <a:t>SFR</a:t>
            </a:r>
            <a:endParaRPr lang="zh-CN" altLang="en-US" sz="2000" dirty="0">
              <a:latin typeface="仿宋" panose="02010609060101010101" pitchFamily="49" charset="-122"/>
              <a:ea typeface="仿宋" panose="02010609060101010101" pitchFamily="49" charset="-122"/>
            </a:endParaRPr>
          </a:p>
        </p:txBody>
      </p:sp>
      <p:sp>
        <p:nvSpPr>
          <p:cNvPr id="8" name="右箭头 7"/>
          <p:cNvSpPr/>
          <p:nvPr/>
        </p:nvSpPr>
        <p:spPr>
          <a:xfrm>
            <a:off x="1476053" y="4309136"/>
            <a:ext cx="978408" cy="484632"/>
          </a:xfrm>
          <a:prstGeom prst="rightArrow">
            <a:avLst/>
          </a:prstGeom>
          <a:solidFill>
            <a:srgbClr val="0098D8"/>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右箭头 12"/>
          <p:cNvSpPr/>
          <p:nvPr/>
        </p:nvSpPr>
        <p:spPr>
          <a:xfrm>
            <a:off x="5012414" y="4315004"/>
            <a:ext cx="978408" cy="484632"/>
          </a:xfrm>
          <a:prstGeom prst="rightArrow">
            <a:avLst/>
          </a:prstGeom>
          <a:solidFill>
            <a:srgbClr val="0098D8"/>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右箭头 13"/>
          <p:cNvSpPr/>
          <p:nvPr/>
        </p:nvSpPr>
        <p:spPr>
          <a:xfrm>
            <a:off x="8356736" y="4271226"/>
            <a:ext cx="978408" cy="484632"/>
          </a:xfrm>
          <a:prstGeom prst="rightArrow">
            <a:avLst/>
          </a:prstGeom>
          <a:solidFill>
            <a:srgbClr val="0098D8"/>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点列图</a:t>
            </a:r>
            <a:r>
              <a:rPr lang="en-US" altLang="zh-CN" dirty="0"/>
              <a:t>(Spot Diagram</a:t>
            </a:r>
            <a:r>
              <a:rPr lang="en-US" altLang="zh-CN" dirty="0" smtClean="0"/>
              <a:t>)</a:t>
            </a:r>
            <a:endParaRPr lang="zh-CN" altLang="en-US" dirty="0"/>
          </a:p>
        </p:txBody>
      </p:sp>
      <p:pic>
        <p:nvPicPr>
          <p:cNvPr id="14338"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35410" y="1025376"/>
            <a:ext cx="5765335" cy="432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39"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72114" y="1025376"/>
            <a:ext cx="5765335" cy="432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198464" y="5633888"/>
            <a:ext cx="11665296" cy="230832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点列图下方给的数可以看出每个视场的</a:t>
            </a:r>
            <a:r>
              <a:rPr lang="en-US" altLang="zh-CN" sz="2400" dirty="0">
                <a:latin typeface="仿宋" panose="02010609060101010101" pitchFamily="49" charset="-122"/>
                <a:ea typeface="仿宋" panose="02010609060101010101" pitchFamily="49" charset="-122"/>
              </a:rPr>
              <a:t>RMS RADIUS</a:t>
            </a:r>
            <a:r>
              <a:rPr lang="zh-CN" altLang="en-US" sz="2400" dirty="0">
                <a:latin typeface="仿宋" panose="02010609060101010101" pitchFamily="49" charset="-122"/>
                <a:ea typeface="仿宋" panose="02010609060101010101" pitchFamily="49" charset="-122"/>
              </a:rPr>
              <a:t>（均方根半径值）、</a:t>
            </a:r>
            <a:r>
              <a:rPr lang="en-US" altLang="zh-CN" sz="2400" dirty="0">
                <a:latin typeface="仿宋" panose="02010609060101010101" pitchFamily="49" charset="-122"/>
                <a:ea typeface="仿宋" panose="02010609060101010101" pitchFamily="49" charset="-122"/>
              </a:rPr>
              <a:t>AIRY</a:t>
            </a:r>
            <a:r>
              <a:rPr lang="zh-CN" altLang="en-US" sz="2400" dirty="0">
                <a:latin typeface="仿宋" panose="02010609060101010101" pitchFamily="49" charset="-122"/>
                <a:ea typeface="仿宋" panose="02010609060101010101" pitchFamily="49" charset="-122"/>
              </a:rPr>
              <a:t>光斑半径、</a:t>
            </a:r>
            <a:r>
              <a:rPr lang="en-US" altLang="zh-CN" sz="2400" dirty="0">
                <a:latin typeface="仿宋" panose="02010609060101010101" pitchFamily="49" charset="-122"/>
                <a:ea typeface="仿宋" panose="02010609060101010101" pitchFamily="49" charset="-122"/>
              </a:rPr>
              <a:t>GEO RADIUS</a:t>
            </a:r>
            <a:r>
              <a:rPr lang="zh-CN" altLang="en-US" sz="2400" dirty="0">
                <a:latin typeface="仿宋" panose="02010609060101010101" pitchFamily="49" charset="-122"/>
                <a:ea typeface="仿宋" panose="02010609060101010101" pitchFamily="49" charset="-122"/>
              </a:rPr>
              <a:t>为几何半径（最大半径），值越小成像质量越好。</a:t>
            </a:r>
            <a:endParaRPr lang="zh-CN" altLang="en-US" sz="2400" dirty="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另外根据分布图形的形状也可了解系统的各种几何像差的影响，如是否有明显像散或彗差特征，几种色斑的分开程度如何等</a:t>
            </a:r>
            <a:r>
              <a:rPr lang="zh-CN" altLang="en-US" sz="2400" dirty="0" smtClean="0">
                <a:latin typeface="仿宋" panose="02010609060101010101" pitchFamily="49" charset="-122"/>
                <a:ea typeface="仿宋" panose="02010609060101010101" pitchFamily="49" charset="-122"/>
              </a:rPr>
              <a:t>。</a:t>
            </a:r>
            <a:endParaRPr lang="zh-CN" altLang="en-US" sz="2400" dirty="0">
              <a:latin typeface="仿宋" panose="02010609060101010101" pitchFamily="49" charset="-122"/>
              <a:ea typeface="仿宋" panose="02010609060101010101" pitchFamily="49"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相对照度</a:t>
            </a:r>
            <a:endParaRPr lang="zh-CN" altLang="en-US" dirty="0"/>
          </a:p>
        </p:txBody>
      </p:sp>
      <p:pic>
        <p:nvPicPr>
          <p:cNvPr id="6146" name="Picture 2"/>
          <p:cNvPicPr>
            <a:picLocks noGrp="1" noChangeAspect="1" noChangeArrowheads="1"/>
          </p:cNvPicPr>
          <p:nvPr>
            <p:ph idx="1"/>
          </p:nvPr>
        </p:nvPicPr>
        <p:blipFill>
          <a:blip r:embed="rId1" cstate="print">
            <a:extLst>
              <a:ext uri="{28A0092B-C50C-407E-A947-70E740481C1C}">
                <a14:useLocalDpi xmlns:a14="http://schemas.microsoft.com/office/drawing/2010/main" val="0"/>
              </a:ext>
            </a:extLst>
          </a:blip>
          <a:srcRect/>
          <a:stretch>
            <a:fillRect/>
          </a:stretch>
        </p:blipFill>
        <p:spPr bwMode="auto">
          <a:xfrm>
            <a:off x="7056090" y="1962200"/>
            <a:ext cx="6238744" cy="467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855564" y="809352"/>
            <a:ext cx="7301999" cy="646331"/>
          </a:xfrm>
          <a:prstGeom prst="rect">
            <a:avLst/>
          </a:prstGeom>
          <a:noFill/>
        </p:spPr>
        <p:txBody>
          <a:bodyPr wrap="none" rtlCol="0">
            <a:spAutoFit/>
          </a:bodyPr>
          <a:lstStyle/>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像面上任意视场接收到的照度比上中心视场的照度</a:t>
            </a:r>
            <a:endParaRPr lang="en-US" altLang="zh-CN" sz="2400" dirty="0" smtClean="0">
              <a:latin typeface="仿宋" panose="02010609060101010101" pitchFamily="49" charset="-122"/>
              <a:ea typeface="仿宋" panose="02010609060101010101" pitchFamily="49" charset="-122"/>
            </a:endParaRPr>
          </a:p>
        </p:txBody>
      </p:sp>
      <p:pic>
        <p:nvPicPr>
          <p:cNvPr id="6147" name="Picture 3" descr="C:\Users\07285yzl\Desktop\红外镜头设计简介\新建文件夹\11a538d0-6db5-4cfc-b99a-60a28cfee9cb.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3402" y="1817464"/>
            <a:ext cx="5586647" cy="345638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6" name="TextBox 5"/>
              <p:cNvSpPr txBox="1"/>
              <p:nvPr/>
            </p:nvSpPr>
            <p:spPr>
              <a:xfrm>
                <a:off x="1413803" y="5921919"/>
                <a:ext cx="5169941" cy="1278555"/>
              </a:xfrm>
              <a:prstGeom prst="rect">
                <a:avLst/>
              </a:prstGeom>
              <a:noFill/>
            </p:spPr>
            <p:txBody>
              <a:bodyPr wrap="none" rtlCol="0">
                <a:spAutoFit/>
              </a:bodyPr>
              <a:lstStyle/>
              <a:p>
                <a:pPr>
                  <a:lnSpc>
                    <a:spcPct val="150000"/>
                  </a:lnSpc>
                </a:pPr>
                <a14:m>
                  <m:oMathPara xmlns:m="http://schemas.openxmlformats.org/officeDocument/2006/math">
                    <m:oMathParaPr>
                      <m:jc m:val="centerGroup"/>
                    </m:oMathParaPr>
                    <m:oMath xmlns:m="http://schemas.openxmlformats.org/officeDocument/2006/math">
                      <m:sSup>
                        <m:sSupPr>
                          <m:ctrlPr>
                            <a:rPr lang="en-US" altLang="zh-CN" sz="2400" i="1" smtClean="0">
                              <a:latin typeface="Cambria Math" panose="02040503050406030204" pitchFamily="18" charset="0"/>
                            </a:rPr>
                          </m:ctrlPr>
                        </m:sSupPr>
                        <m:e>
                          <m:r>
                            <a:rPr lang="en-US" altLang="zh-CN" sz="2400" b="0" i="1" smtClean="0">
                              <a:latin typeface="Cambria Math" panose="02040503050406030204"/>
                            </a:rPr>
                            <m:t>𝐸</m:t>
                          </m:r>
                        </m:e>
                        <m:sup>
                          <m:r>
                            <a:rPr lang="en-US" altLang="zh-CN" sz="2400" b="0" i="1" smtClean="0">
                              <a:latin typeface="Cambria Math" panose="02040503050406030204"/>
                            </a:rPr>
                            <m:t>′</m:t>
                          </m:r>
                        </m:sup>
                      </m:sSup>
                      <m:r>
                        <a:rPr lang="en-US" altLang="zh-CN" sz="2400" i="1">
                          <a:latin typeface="Cambria Math" panose="02040503050406030204"/>
                        </a:rPr>
                        <m:t>≈</m:t>
                      </m:r>
                      <m:r>
                        <a:rPr lang="en-US" altLang="zh-CN" sz="2400" i="1">
                          <a:latin typeface="Cambria Math" panose="02040503050406030204"/>
                        </a:rPr>
                        <m:t>𝐸</m:t>
                      </m:r>
                      <m:r>
                        <a:rPr lang="en-US" altLang="zh-CN" sz="2400" b="0" i="1" smtClean="0">
                          <a:latin typeface="Cambria Math" panose="02040503050406030204"/>
                          <a:ea typeface="Cambria Math" panose="02040503050406030204"/>
                        </a:rPr>
                        <m:t>×</m:t>
                      </m:r>
                      <m:sSup>
                        <m:sSupPr>
                          <m:ctrlPr>
                            <a:rPr lang="en-US" altLang="zh-CN" sz="2400" b="0" i="1" smtClean="0">
                              <a:latin typeface="Cambria Math" panose="02040503050406030204" pitchFamily="18" charset="0"/>
                              <a:ea typeface="Cambria Math" panose="02040503050406030204"/>
                            </a:rPr>
                          </m:ctrlPr>
                        </m:sSupPr>
                        <m:e>
                          <m:r>
                            <a:rPr lang="en-US" altLang="zh-CN" sz="2400" b="0" i="1" smtClean="0">
                              <a:latin typeface="Cambria Math" panose="02040503050406030204"/>
                              <a:ea typeface="Cambria Math" panose="02040503050406030204"/>
                            </a:rPr>
                            <m:t>𝑐𝑜𝑠</m:t>
                          </m:r>
                        </m:e>
                        <m:sup>
                          <m:r>
                            <a:rPr lang="en-US" altLang="zh-CN" sz="2400" b="0" i="1" smtClean="0">
                              <a:latin typeface="Cambria Math" panose="02040503050406030204"/>
                              <a:ea typeface="Cambria Math" panose="02040503050406030204"/>
                            </a:rPr>
                            <m:t>4</m:t>
                          </m:r>
                        </m:sup>
                      </m:sSup>
                      <m:sSup>
                        <m:sSupPr>
                          <m:ctrlPr>
                            <a:rPr lang="en-US" altLang="zh-CN" sz="2400" b="0" i="1" smtClean="0">
                              <a:latin typeface="Cambria Math" panose="02040503050406030204" pitchFamily="18" charset="0"/>
                              <a:ea typeface="Cambria Math" panose="02040503050406030204"/>
                            </a:rPr>
                          </m:ctrlPr>
                        </m:sSupPr>
                        <m:e>
                          <m:r>
                            <a:rPr lang="zh-CN" altLang="en-US" sz="2400" b="0" i="1" smtClean="0">
                              <a:latin typeface="Cambria Math" panose="02040503050406030204"/>
                              <a:ea typeface="Cambria Math" panose="02040503050406030204"/>
                            </a:rPr>
                            <m:t>𝜔</m:t>
                          </m:r>
                        </m:e>
                        <m:sup>
                          <m:r>
                            <a:rPr lang="en-US" altLang="zh-CN" sz="2400" b="0" i="1" smtClean="0">
                              <a:latin typeface="Cambria Math" panose="02040503050406030204"/>
                              <a:ea typeface="Cambria Math" panose="02040503050406030204"/>
                            </a:rPr>
                            <m:t>′</m:t>
                          </m:r>
                        </m:sup>
                      </m:sSup>
                    </m:oMath>
                  </m:oMathPara>
                </a14:m>
                <a:endParaRPr lang="en-US" altLang="zh-CN" sz="2400" dirty="0" smtClean="0">
                  <a:latin typeface="仿宋" panose="02010609060101010101" pitchFamily="49" charset="-122"/>
                  <a:ea typeface="仿宋" panose="02010609060101010101" pitchFamily="49" charset="-122"/>
                </a:endParaRPr>
              </a:p>
              <a:p>
                <a:pPr>
                  <a:lnSpc>
                    <a:spcPct val="150000"/>
                  </a:lnSpc>
                </a:pPr>
                <a14:m>
                  <m:oMath xmlns:m="http://schemas.openxmlformats.org/officeDocument/2006/math">
                    <m:sSup>
                      <m:sSupPr>
                        <m:ctrlPr>
                          <a:rPr lang="en-US" altLang="zh-CN" sz="2400" i="1">
                            <a:latin typeface="Cambria Math" panose="02040503050406030204" pitchFamily="18" charset="0"/>
                            <a:ea typeface="仿宋" panose="02010609060101010101" pitchFamily="49" charset="-122"/>
                          </a:rPr>
                        </m:ctrlPr>
                      </m:sSupPr>
                      <m:e>
                        <m:r>
                          <a:rPr lang="en-US" altLang="zh-CN" sz="2400">
                            <a:latin typeface="Cambria Math" panose="02040503050406030204"/>
                            <a:ea typeface="仿宋" panose="02010609060101010101" pitchFamily="49" charset="-122"/>
                          </a:rPr>
                          <m:t>𝐸</m:t>
                        </m:r>
                      </m:e>
                      <m:sup>
                        <m:r>
                          <a:rPr lang="en-US" altLang="zh-CN" sz="2400">
                            <a:latin typeface="Cambria Math" panose="02040503050406030204"/>
                            <a:ea typeface="仿宋" panose="02010609060101010101" pitchFamily="49" charset="-122"/>
                          </a:rPr>
                          <m:t>′</m:t>
                        </m:r>
                      </m:sup>
                    </m:sSup>
                  </m:oMath>
                </a14:m>
                <a:r>
                  <a:rPr lang="zh-CN" altLang="en-US" sz="2400" dirty="0">
                    <a:latin typeface="仿宋" panose="02010609060101010101" pitchFamily="49" charset="-122"/>
                    <a:ea typeface="仿宋" panose="02010609060101010101" pitchFamily="49" charset="-122"/>
                  </a:rPr>
                  <a:t>：</a:t>
                </a:r>
                <a:r>
                  <a:rPr lang="en-US" altLang="zh-CN" sz="2400" dirty="0">
                    <a:latin typeface="仿宋" panose="02010609060101010101" pitchFamily="49" charset="-122"/>
                    <a:ea typeface="仿宋" panose="02010609060101010101" pitchFamily="49" charset="-122"/>
                  </a:rPr>
                  <a:t>B’</a:t>
                </a:r>
                <a:r>
                  <a:rPr lang="zh-CN" altLang="en-US" sz="2400" dirty="0">
                    <a:latin typeface="仿宋" panose="02010609060101010101" pitchFamily="49" charset="-122"/>
                    <a:ea typeface="仿宋" panose="02010609060101010101" pitchFamily="49" charset="-122"/>
                  </a:rPr>
                  <a:t>点的照度，</a:t>
                </a:r>
                <a:r>
                  <a:rPr lang="en-US" altLang="zh-CN" sz="2400" dirty="0">
                    <a:latin typeface="仿宋" panose="02010609060101010101" pitchFamily="49" charset="-122"/>
                    <a:ea typeface="仿宋" panose="02010609060101010101" pitchFamily="49" charset="-122"/>
                  </a:rPr>
                  <a:t> </a:t>
                </a:r>
                <a14:m>
                  <m:oMath xmlns:m="http://schemas.openxmlformats.org/officeDocument/2006/math">
                    <m:r>
                      <a:rPr lang="en-US" altLang="zh-CN" sz="2400">
                        <a:latin typeface="Cambria Math" panose="02040503050406030204"/>
                        <a:ea typeface="仿宋" panose="02010609060101010101" pitchFamily="49" charset="-122"/>
                      </a:rPr>
                      <m:t>𝐸</m:t>
                    </m:r>
                    <m:r>
                      <a:rPr lang="en-US" altLang="zh-CN" sz="2400">
                        <a:latin typeface="Cambria Math" panose="02040503050406030204"/>
                        <a:ea typeface="仿宋" panose="02010609060101010101" pitchFamily="49" charset="-122"/>
                      </a:rPr>
                      <m:t> </m:t>
                    </m:r>
                  </m:oMath>
                </a14:m>
                <a:r>
                  <a:rPr lang="zh-CN" altLang="en-US" sz="2400" dirty="0">
                    <a:latin typeface="仿宋" panose="02010609060101010101" pitchFamily="49" charset="-122"/>
                    <a:ea typeface="仿宋" panose="02010609060101010101" pitchFamily="49" charset="-122"/>
                  </a:rPr>
                  <a:t>：</a:t>
                </a:r>
                <a:r>
                  <a:rPr lang="en-US" altLang="zh-CN" sz="2400" dirty="0">
                    <a:latin typeface="仿宋" panose="02010609060101010101" pitchFamily="49" charset="-122"/>
                    <a:ea typeface="仿宋" panose="02010609060101010101" pitchFamily="49" charset="-122"/>
                  </a:rPr>
                  <a:t>A’</a:t>
                </a:r>
                <a:r>
                  <a:rPr lang="zh-CN" altLang="en-US" sz="2400" dirty="0">
                    <a:latin typeface="仿宋" panose="02010609060101010101" pitchFamily="49" charset="-122"/>
                    <a:ea typeface="仿宋" panose="02010609060101010101" pitchFamily="49" charset="-122"/>
                  </a:rPr>
                  <a:t>点的照度</a:t>
                </a:r>
                <a:endParaRPr lang="zh-CN" altLang="en-US" sz="2400" dirty="0">
                  <a:latin typeface="仿宋" panose="02010609060101010101" pitchFamily="49" charset="-122"/>
                  <a:ea typeface="仿宋" panose="02010609060101010101" pitchFamily="49" charset="-122"/>
                </a:endParaRPr>
              </a:p>
            </p:txBody>
          </p:sp>
        </mc:Choice>
        <mc:Fallback>
          <p:sp>
            <p:nvSpPr>
              <p:cNvPr id="6" name="TextBox 5"/>
              <p:cNvSpPr txBox="1">
                <a:spLocks noRot="1" noChangeAspect="1" noMove="1" noResize="1" noEditPoints="1" noAdjustHandles="1" noChangeArrowheads="1" noChangeShapeType="1" noTextEdit="1"/>
              </p:cNvSpPr>
              <p:nvPr/>
            </p:nvSpPr>
            <p:spPr>
              <a:xfrm>
                <a:off x="1413803" y="5921919"/>
                <a:ext cx="5169941" cy="1278555"/>
              </a:xfrm>
              <a:prstGeom prst="rect">
                <a:avLst/>
              </a:prstGeom>
              <a:blipFill rotWithShape="1">
                <a:blip r:embed="rId3"/>
                <a:stretch>
                  <a:fillRect l="-6" t="-43" r="-637" b="16"/>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畸变</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935410" y="737344"/>
                <a:ext cx="8856984" cy="1656184"/>
              </a:xfrm>
            </p:spPr>
            <p:txBody>
              <a:bodyPr/>
              <a:lstStyle/>
              <a:p>
                <a:pPr>
                  <a:lnSpc>
                    <a:spcPct val="150000"/>
                  </a:lnSpc>
                  <a:spcBef>
                    <a:spcPts val="0"/>
                  </a:spcBef>
                  <a:buFont typeface="Wingdings" panose="05000000000000000000" pitchFamily="2" charset="2"/>
                  <a:buChar char="p"/>
                </a:pPr>
                <a:r>
                  <a:rPr lang="zh-CN" altLang="en-US" sz="2000" b="1" dirty="0" smtClean="0">
                    <a:solidFill>
                      <a:schemeClr val="accent5"/>
                    </a:solidFill>
                    <a:latin typeface="仿宋" panose="02010609060101010101" pitchFamily="49" charset="-122"/>
                    <a:ea typeface="仿宋" panose="02010609060101010101" pitchFamily="49" charset="-122"/>
                  </a:rPr>
                  <a:t>光学畸变</a:t>
                </a:r>
                <a:endParaRPr lang="en-US" altLang="zh-CN" sz="2000" b="1" dirty="0" smtClean="0">
                  <a:solidFill>
                    <a:schemeClr val="accent5"/>
                  </a:solidFill>
                  <a:latin typeface="仿宋" panose="02010609060101010101" pitchFamily="49" charset="-122"/>
                  <a:ea typeface="仿宋" panose="02010609060101010101" pitchFamily="49" charset="-122"/>
                </a:endParaRPr>
              </a:p>
              <a:p>
                <a:pPr>
                  <a:lnSpc>
                    <a:spcPct val="150000"/>
                  </a:lnSpc>
                  <a:spcBef>
                    <a:spcPts val="0"/>
                  </a:spcBef>
                  <a:buFont typeface="Arial" panose="020B0604020202020204" pitchFamily="34" charset="0"/>
                  <a:buChar char="•"/>
                </a:pPr>
                <a:r>
                  <a:rPr lang="zh-CN" altLang="en-US" sz="2000" dirty="0" smtClean="0">
                    <a:solidFill>
                      <a:schemeClr val="tx1"/>
                    </a:solidFill>
                    <a:latin typeface="仿宋" panose="02010609060101010101" pitchFamily="49" charset="-122"/>
                    <a:ea typeface="仿宋" panose="02010609060101010101" pitchFamily="49" charset="-122"/>
                  </a:rPr>
                  <a:t>相对畸变</a:t>
                </a:r>
                <a:r>
                  <a:rPr lang="en-US" altLang="zh-CN" sz="2000" dirty="0" smtClean="0">
                    <a:solidFill>
                      <a:schemeClr val="tx1"/>
                    </a:solidFill>
                    <a:latin typeface="仿宋" panose="02010609060101010101" pitchFamily="49" charset="-122"/>
                    <a:ea typeface="仿宋" panose="02010609060101010101" pitchFamily="49" charset="-122"/>
                  </a:rPr>
                  <a:t>=</a:t>
                </a:r>
                <a14:m>
                  <m:oMath xmlns:m="http://schemas.openxmlformats.org/officeDocument/2006/math">
                    <m:f>
                      <m:fPr>
                        <m:ctrlPr>
                          <a:rPr lang="en-US" altLang="zh-CN" sz="2000" i="1" smtClean="0">
                            <a:solidFill>
                              <a:schemeClr val="tx1"/>
                            </a:solidFill>
                            <a:latin typeface="Cambria Math" panose="02040503050406030204" pitchFamily="18" charset="0"/>
                            <a:ea typeface="微软雅黑" panose="020B0503020204020204" pitchFamily="34" charset="-122"/>
                          </a:rPr>
                        </m:ctrlPr>
                      </m:fPr>
                      <m:num>
                        <m:r>
                          <a:rPr lang="en-US" altLang="zh-CN" sz="2000" b="0" i="1" smtClean="0">
                            <a:solidFill>
                              <a:schemeClr val="tx1"/>
                            </a:solidFill>
                            <a:latin typeface="Cambria Math" panose="02040503050406030204"/>
                            <a:ea typeface="微软雅黑" panose="020B0503020204020204" pitchFamily="34" charset="-122"/>
                          </a:rPr>
                          <m:t>𝑌</m:t>
                        </m:r>
                        <m:r>
                          <a:rPr lang="en-US" altLang="zh-CN" sz="2000" b="0" i="1" smtClean="0">
                            <a:solidFill>
                              <a:schemeClr val="tx1"/>
                            </a:solidFill>
                            <a:latin typeface="Cambria Math" panose="02040503050406030204"/>
                            <a:ea typeface="微软雅黑" panose="020B0503020204020204" pitchFamily="34" charset="-122"/>
                          </a:rPr>
                          <m:t>−</m:t>
                        </m:r>
                        <m:sSup>
                          <m:sSupPr>
                            <m:ctrlPr>
                              <a:rPr lang="en-US" altLang="zh-CN" sz="2000" i="1" smtClean="0">
                                <a:solidFill>
                                  <a:schemeClr val="tx1"/>
                                </a:solidFill>
                                <a:latin typeface="Cambria Math" panose="02040503050406030204" pitchFamily="18" charset="0"/>
                                <a:ea typeface="微软雅黑" panose="020B0503020204020204" pitchFamily="34" charset="-122"/>
                              </a:rPr>
                            </m:ctrlPr>
                          </m:sSupPr>
                          <m:e>
                            <m:r>
                              <a:rPr lang="en-US" altLang="zh-CN" sz="2000" b="0" i="1" smtClean="0">
                                <a:solidFill>
                                  <a:schemeClr val="tx1"/>
                                </a:solidFill>
                                <a:latin typeface="Cambria Math" panose="02040503050406030204"/>
                                <a:ea typeface="微软雅黑" panose="020B0503020204020204" pitchFamily="34" charset="-122"/>
                              </a:rPr>
                              <m:t>𝑌</m:t>
                            </m:r>
                          </m:e>
                          <m:sup>
                            <m:r>
                              <a:rPr lang="en-US" altLang="zh-CN" sz="2000" b="0" i="1" smtClean="0">
                                <a:solidFill>
                                  <a:schemeClr val="tx1"/>
                                </a:solidFill>
                                <a:latin typeface="Cambria Math" panose="02040503050406030204"/>
                                <a:ea typeface="微软雅黑" panose="020B0503020204020204" pitchFamily="34" charset="-122"/>
                              </a:rPr>
                              <m:t>′</m:t>
                            </m:r>
                          </m:sup>
                        </m:sSup>
                      </m:num>
                      <m:den>
                        <m:sSup>
                          <m:sSupPr>
                            <m:ctrlPr>
                              <a:rPr lang="en-US" altLang="zh-CN" sz="2000" i="1" smtClean="0">
                                <a:solidFill>
                                  <a:schemeClr val="tx1"/>
                                </a:solidFill>
                                <a:latin typeface="Cambria Math" panose="02040503050406030204" pitchFamily="18" charset="0"/>
                                <a:ea typeface="微软雅黑" panose="020B0503020204020204" pitchFamily="34" charset="-122"/>
                              </a:rPr>
                            </m:ctrlPr>
                          </m:sSupPr>
                          <m:e>
                            <m:r>
                              <a:rPr lang="en-US" altLang="zh-CN" sz="2000" b="0" i="1" smtClean="0">
                                <a:solidFill>
                                  <a:schemeClr val="tx1"/>
                                </a:solidFill>
                                <a:latin typeface="Cambria Math" panose="02040503050406030204"/>
                                <a:ea typeface="微软雅黑" panose="020B0503020204020204" pitchFamily="34" charset="-122"/>
                              </a:rPr>
                              <m:t>𝑌</m:t>
                            </m:r>
                          </m:e>
                          <m:sup>
                            <m:r>
                              <a:rPr lang="en-US" altLang="zh-CN" sz="2000" b="0" i="1" smtClean="0">
                                <a:solidFill>
                                  <a:schemeClr val="tx1"/>
                                </a:solidFill>
                                <a:latin typeface="Cambria Math" panose="02040503050406030204"/>
                                <a:ea typeface="微软雅黑" panose="020B0503020204020204" pitchFamily="34" charset="-122"/>
                              </a:rPr>
                              <m:t>′</m:t>
                            </m:r>
                          </m:sup>
                        </m:sSup>
                      </m:den>
                    </m:f>
                    <m:r>
                      <a:rPr lang="en-US" altLang="zh-CN" sz="2000" i="1" smtClean="0">
                        <a:solidFill>
                          <a:schemeClr val="tx1"/>
                        </a:solidFill>
                        <a:latin typeface="Cambria Math" panose="02040503050406030204"/>
                        <a:ea typeface="Cambria Math" panose="02040503050406030204"/>
                      </a:rPr>
                      <m:t>×</m:t>
                    </m:r>
                    <m:r>
                      <a:rPr lang="en-US" altLang="zh-CN" sz="2000" b="0" i="1" smtClean="0">
                        <a:solidFill>
                          <a:schemeClr val="tx1"/>
                        </a:solidFill>
                        <a:latin typeface="Cambria Math" panose="02040503050406030204"/>
                        <a:ea typeface="Cambria Math" panose="02040503050406030204"/>
                      </a:rPr>
                      <m:t>100</m:t>
                    </m:r>
                    <m:r>
                      <a:rPr lang="en-US" altLang="zh-CN" sz="2000" b="0" i="1" smtClean="0">
                        <a:solidFill>
                          <a:schemeClr val="tx1"/>
                        </a:solidFill>
                        <a:latin typeface="Cambria Math" panose="02040503050406030204"/>
                        <a:ea typeface="Cambria Math" panose="02040503050406030204"/>
                      </a:rPr>
                      <m:t>%</m:t>
                    </m:r>
                  </m:oMath>
                </a14:m>
                <a:r>
                  <a:rPr lang="zh-CN" altLang="en-US" sz="2000" dirty="0" smtClean="0">
                    <a:solidFill>
                      <a:schemeClr val="tx1"/>
                    </a:solidFill>
                    <a:latin typeface="仿宋" panose="02010609060101010101" pitchFamily="49" charset="-122"/>
                    <a:ea typeface="仿宋" panose="02010609060101010101" pitchFamily="49" charset="-122"/>
                  </a:rPr>
                  <a:t>，</a:t>
                </a:r>
                <a:r>
                  <a:rPr lang="en-US" altLang="zh-CN" sz="2000" dirty="0" smtClean="0">
                    <a:solidFill>
                      <a:schemeClr val="tx1"/>
                    </a:solidFill>
                    <a:latin typeface="仿宋" panose="02010609060101010101" pitchFamily="49" charset="-122"/>
                    <a:ea typeface="仿宋" panose="02010609060101010101" pitchFamily="49" charset="-122"/>
                  </a:rPr>
                  <a:t>Y</a:t>
                </a:r>
                <a:r>
                  <a:rPr lang="zh-CN" altLang="en-US" sz="2000" dirty="0" smtClean="0">
                    <a:solidFill>
                      <a:schemeClr val="tx1"/>
                    </a:solidFill>
                    <a:latin typeface="仿宋" panose="02010609060101010101" pitchFamily="49" charset="-122"/>
                    <a:ea typeface="仿宋" panose="02010609060101010101" pitchFamily="49" charset="-122"/>
                  </a:rPr>
                  <a:t>：实际光学像高，</a:t>
                </a:r>
                <a14:m>
                  <m:oMath xmlns:m="http://schemas.openxmlformats.org/officeDocument/2006/math">
                    <m:sSup>
                      <m:sSupPr>
                        <m:ctrlPr>
                          <a:rPr lang="en-US" altLang="zh-CN" sz="2000" i="1">
                            <a:solidFill>
                              <a:schemeClr val="tx1"/>
                            </a:solidFill>
                            <a:latin typeface="Cambria Math" panose="02040503050406030204" pitchFamily="18" charset="0"/>
                            <a:ea typeface="微软雅黑" panose="020B0503020204020204" pitchFamily="34" charset="-122"/>
                          </a:rPr>
                        </m:ctrlPr>
                      </m:sSupPr>
                      <m:e>
                        <m:r>
                          <a:rPr lang="en-US" altLang="zh-CN" sz="2000" i="1">
                            <a:solidFill>
                              <a:schemeClr val="tx1"/>
                            </a:solidFill>
                            <a:latin typeface="Cambria Math" panose="02040503050406030204"/>
                            <a:ea typeface="微软雅黑" panose="020B0503020204020204" pitchFamily="34" charset="-122"/>
                          </a:rPr>
                          <m:t>𝑌</m:t>
                        </m:r>
                      </m:e>
                      <m:sup>
                        <m:r>
                          <a:rPr lang="en-US" altLang="zh-CN" sz="2000" i="1">
                            <a:solidFill>
                              <a:schemeClr val="tx1"/>
                            </a:solidFill>
                            <a:latin typeface="Cambria Math" panose="02040503050406030204"/>
                            <a:ea typeface="微软雅黑" panose="020B0503020204020204" pitchFamily="34" charset="-122"/>
                          </a:rPr>
                          <m:t>′</m:t>
                        </m:r>
                      </m:sup>
                    </m:sSup>
                  </m:oMath>
                </a14:m>
                <a:r>
                  <a:rPr lang="zh-CN" altLang="en-US" sz="2000" dirty="0" smtClean="0">
                    <a:solidFill>
                      <a:schemeClr val="tx1"/>
                    </a:solidFill>
                    <a:latin typeface="仿宋" panose="02010609060101010101" pitchFamily="49" charset="-122"/>
                    <a:ea typeface="仿宋" panose="02010609060101010101" pitchFamily="49" charset="-122"/>
                  </a:rPr>
                  <a:t>：理想光学像高</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spcBef>
                    <a:spcPts val="0"/>
                  </a:spcBef>
                  <a:buFont typeface="Arial" panose="020B0604020202020204" pitchFamily="34" charset="0"/>
                  <a:buChar char="•"/>
                </a:pPr>
                <a:r>
                  <a:rPr lang="zh-CN" altLang="en-US" sz="2000" dirty="0" smtClean="0">
                    <a:solidFill>
                      <a:schemeClr val="tx1"/>
                    </a:solidFill>
                    <a:latin typeface="仿宋" panose="02010609060101010101" pitchFamily="49" charset="-122"/>
                    <a:ea typeface="仿宋" panose="02010609060101010101" pitchFamily="49" charset="-122"/>
                  </a:rPr>
                  <a:t>负畸变（桶型畸变）</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spcBef>
                    <a:spcPts val="0"/>
                  </a:spcBef>
                  <a:buFont typeface="Arial" panose="020B0604020202020204" pitchFamily="34" charset="0"/>
                  <a:buChar char="•"/>
                </a:pPr>
                <a:r>
                  <a:rPr lang="zh-CN" altLang="en-US" sz="2000" dirty="0">
                    <a:solidFill>
                      <a:schemeClr val="tx1"/>
                    </a:solidFill>
                    <a:latin typeface="仿宋" panose="02010609060101010101" pitchFamily="49" charset="-122"/>
                    <a:ea typeface="仿宋" panose="02010609060101010101" pitchFamily="49" charset="-122"/>
                  </a:rPr>
                  <a:t>正</a:t>
                </a:r>
                <a:r>
                  <a:rPr lang="zh-CN" altLang="en-US" sz="2000" dirty="0" smtClean="0">
                    <a:solidFill>
                      <a:schemeClr val="tx1"/>
                    </a:solidFill>
                    <a:latin typeface="仿宋" panose="02010609060101010101" pitchFamily="49" charset="-122"/>
                    <a:ea typeface="仿宋" panose="02010609060101010101" pitchFamily="49" charset="-122"/>
                  </a:rPr>
                  <a:t>畸变（枕型畸变）</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spcBef>
                    <a:spcPts val="0"/>
                  </a:spcBef>
                </a:pPr>
                <a:endParaRPr lang="en-US" altLang="zh-CN" sz="2000" dirty="0" smtClean="0">
                  <a:latin typeface="微软雅黑" panose="020B0503020204020204" pitchFamily="34" charset="-122"/>
                  <a:ea typeface="微软雅黑" panose="020B0503020204020204" pitchFamily="34" charset="-122"/>
                </a:endParaRPr>
              </a:p>
              <a:p>
                <a:pPr>
                  <a:lnSpc>
                    <a:spcPct val="150000"/>
                  </a:lnSpc>
                  <a:spcBef>
                    <a:spcPts val="0"/>
                  </a:spcBef>
                </a:pPr>
                <a:endParaRPr lang="en-US" altLang="zh-CN" sz="2000" dirty="0" smtClean="0">
                  <a:latin typeface="微软雅黑" panose="020B0503020204020204" pitchFamily="34" charset="-122"/>
                  <a:ea typeface="微软雅黑" panose="020B0503020204020204" pitchFamily="34" charset="-122"/>
                </a:endParaRPr>
              </a:p>
              <a:p>
                <a:pPr>
                  <a:lnSpc>
                    <a:spcPct val="150000"/>
                  </a:lnSpc>
                  <a:spcBef>
                    <a:spcPts val="0"/>
                  </a:spcBef>
                </a:pPr>
                <a:endParaRPr lang="en-US" altLang="zh-CN" sz="2000" dirty="0">
                  <a:latin typeface="微软雅黑" panose="020B0503020204020204" pitchFamily="34" charset="-122"/>
                  <a:ea typeface="微软雅黑" panose="020B0503020204020204" pitchFamily="34" charset="-122"/>
                </a:endParaRPr>
              </a:p>
              <a:p>
                <a:pPr>
                  <a:lnSpc>
                    <a:spcPct val="150000"/>
                  </a:lnSpc>
                  <a:spcBef>
                    <a:spcPts val="0"/>
                  </a:spcBef>
                </a:pPr>
                <a:endParaRPr lang="en-US" altLang="zh-CN" sz="2000" dirty="0" smtClean="0">
                  <a:latin typeface="微软雅黑" panose="020B0503020204020204" pitchFamily="34" charset="-122"/>
                  <a:ea typeface="微软雅黑" panose="020B0503020204020204" pitchFamily="34" charset="-122"/>
                </a:endParaRPr>
              </a:p>
              <a:p>
                <a:pPr>
                  <a:lnSpc>
                    <a:spcPct val="150000"/>
                  </a:lnSpc>
                  <a:spcBef>
                    <a:spcPts val="0"/>
                  </a:spcBef>
                </a:pPr>
                <a:endParaRPr lang="en-US" altLang="zh-CN" sz="2000" dirty="0" smtClean="0">
                  <a:latin typeface="微软雅黑" panose="020B0503020204020204" pitchFamily="34" charset="-122"/>
                  <a:ea typeface="微软雅黑" panose="020B0503020204020204" pitchFamily="34" charset="-122"/>
                </a:endParaRPr>
              </a:p>
              <a:p>
                <a:pPr>
                  <a:lnSpc>
                    <a:spcPct val="150000"/>
                  </a:lnSpc>
                  <a:spcBef>
                    <a:spcPts val="0"/>
                  </a:spcBef>
                </a:pPr>
                <a:endParaRPr lang="en-US" altLang="zh-CN" sz="2000" dirty="0" smtClean="0">
                  <a:latin typeface="微软雅黑" panose="020B0503020204020204" pitchFamily="34" charset="-122"/>
                  <a:ea typeface="微软雅黑" panose="020B0503020204020204" pitchFamily="34"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935410" y="737344"/>
                <a:ext cx="8856984" cy="1656184"/>
              </a:xfrm>
              <a:blipFill rotWithShape="1">
                <a:blip r:embed="rId1"/>
                <a:stretch>
                  <a:fillRect l="-1" t="-7" r="1" b="-193572"/>
                </a:stretch>
              </a:blipFill>
            </p:spPr>
            <p:txBody>
              <a:bodyPr/>
              <a:lstStyle/>
              <a:p>
                <a:r>
                  <a:rPr lang="zh-CN" altLang="en-US">
                    <a:noFill/>
                  </a:rPr>
                  <a:t> </a:t>
                </a:r>
              </a:p>
            </p:txBody>
          </p:sp>
        </mc:Fallback>
      </mc:AlternateContent>
      <p:pic>
        <p:nvPicPr>
          <p:cNvPr id="5123" name="Picture 3" descr="C:\Users\07285yzl\Desktop\红外镜头设计简介\新建文件夹\d76c0a53684d46a3abc076be27280b72_th.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3442" y="3216580"/>
            <a:ext cx="5852888" cy="2668622"/>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C:\Users\07285yzl\Desktop\红外镜头设计简介\新建文件夹\v2-092d80eb4eee4aa92ed6bb321fa79be8_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6170" y="3473648"/>
            <a:ext cx="4150580" cy="354853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007418" y="6065936"/>
            <a:ext cx="5660524" cy="1375441"/>
          </a:xfrm>
          <a:prstGeom prst="rect">
            <a:avLst/>
          </a:prstGeom>
          <a:noFill/>
        </p:spPr>
        <p:txBody>
          <a:bodyPr wrap="none" rtlCol="0">
            <a:spAutoFit/>
          </a:bodyPr>
          <a:lstStyle/>
          <a:p>
            <a:pPr marL="342900" indent="-342900">
              <a:lnSpc>
                <a:spcPct val="150000"/>
              </a:lnSpc>
              <a:spcBef>
                <a:spcPts val="0"/>
              </a:spcBef>
              <a:buFont typeface="Wingdings" panose="05000000000000000000" pitchFamily="2" charset="2"/>
              <a:buChar char="p"/>
            </a:pPr>
            <a:r>
              <a:rPr lang="en-US" altLang="zh-CN" sz="2000" b="1" dirty="0">
                <a:solidFill>
                  <a:schemeClr val="accent5"/>
                </a:solidFill>
                <a:latin typeface="仿宋" panose="02010609060101010101" pitchFamily="49" charset="-122"/>
                <a:ea typeface="仿宋" panose="02010609060101010101" pitchFamily="49" charset="-122"/>
              </a:rPr>
              <a:t>TV</a:t>
            </a:r>
            <a:r>
              <a:rPr lang="zh-CN" altLang="en-US" sz="2000" b="1" dirty="0">
                <a:solidFill>
                  <a:schemeClr val="accent5"/>
                </a:solidFill>
                <a:latin typeface="仿宋" panose="02010609060101010101" pitchFamily="49" charset="-122"/>
                <a:ea typeface="仿宋" panose="02010609060101010101" pitchFamily="49" charset="-122"/>
              </a:rPr>
              <a:t>畸变</a:t>
            </a:r>
            <a:r>
              <a:rPr lang="zh-CN" altLang="en-US" sz="2000" b="1" dirty="0" smtClean="0">
                <a:solidFill>
                  <a:schemeClr val="accent5"/>
                </a:solidFill>
                <a:latin typeface="仿宋" panose="02010609060101010101" pitchFamily="49" charset="-122"/>
                <a:ea typeface="仿宋" panose="02010609060101010101" pitchFamily="49" charset="-122"/>
              </a:rPr>
              <a:t>：</a:t>
            </a:r>
            <a:r>
              <a:rPr lang="zh-CN" altLang="en-US" sz="2000" dirty="0" smtClean="0">
                <a:latin typeface="仿宋" panose="02010609060101010101" pitchFamily="49" charset="-122"/>
                <a:ea typeface="仿宋" panose="02010609060101010101" pitchFamily="49" charset="-122"/>
              </a:rPr>
              <a:t>实际</a:t>
            </a:r>
            <a:r>
              <a:rPr lang="zh-CN" altLang="en-US" sz="2000" dirty="0">
                <a:latin typeface="仿宋" panose="02010609060101010101" pitchFamily="49" charset="-122"/>
                <a:ea typeface="仿宋" panose="02010609060101010101" pitchFamily="49" charset="-122"/>
              </a:rPr>
              <a:t>像高的最大值与最小值做比较。</a:t>
            </a:r>
            <a:endParaRPr lang="en-US" altLang="zh-CN" sz="2000" dirty="0">
              <a:latin typeface="仿宋" panose="02010609060101010101" pitchFamily="49" charset="-122"/>
              <a:ea typeface="仿宋" panose="02010609060101010101" pitchFamily="49" charset="-122"/>
            </a:endParaRPr>
          </a:p>
          <a:p>
            <a:pPr>
              <a:lnSpc>
                <a:spcPct val="150000"/>
              </a:lnSpc>
              <a:spcBef>
                <a:spcPts val="0"/>
              </a:spcBef>
            </a:pPr>
            <a:r>
              <a:rPr lang="zh-CN" altLang="en-US" sz="2000" dirty="0">
                <a:latin typeface="仿宋" panose="02010609060101010101" pitchFamily="49" charset="-122"/>
                <a:ea typeface="仿宋" panose="02010609060101010101" pitchFamily="49" charset="-122"/>
              </a:rPr>
              <a:t>关注的是图形本身的变形情况。</a:t>
            </a:r>
            <a:endParaRPr lang="zh-CN" altLang="en-US" sz="2000" dirty="0">
              <a:latin typeface="仿宋" panose="02010609060101010101" pitchFamily="49" charset="-122"/>
              <a:ea typeface="仿宋" panose="02010609060101010101" pitchFamily="49" charset="-122"/>
            </a:endParaRPr>
          </a:p>
          <a:p>
            <a:endParaRPr lang="zh-CN" altLang="en-US"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包围圆能量</a:t>
            </a:r>
            <a:r>
              <a:rPr lang="en-US" altLang="zh-CN" dirty="0" smtClean="0"/>
              <a:t>(Diffraction Encircled </a:t>
            </a:r>
            <a:r>
              <a:rPr lang="en-US" altLang="zh-CN" dirty="0"/>
              <a:t>Energy</a:t>
            </a:r>
            <a:r>
              <a:rPr lang="en-US" altLang="zh-CN" dirty="0" smtClean="0"/>
              <a:t>)</a:t>
            </a:r>
            <a:endParaRPr lang="zh-CN" altLang="en-US" dirty="0"/>
          </a:p>
        </p:txBody>
      </p:sp>
      <p:pic>
        <p:nvPicPr>
          <p:cNvPr id="15362"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167658" y="809352"/>
            <a:ext cx="6552728" cy="4909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583482" y="5816286"/>
            <a:ext cx="11017224" cy="1754326"/>
          </a:xfrm>
          <a:prstGeom prst="rect">
            <a:avLst/>
          </a:prstGeom>
          <a:noFill/>
        </p:spPr>
        <p:txBody>
          <a:bodyPr wrap="square" rtlCol="0">
            <a:spAutoFit/>
          </a:bodyPr>
          <a:lstStyle/>
          <a:p>
            <a:pPr indent="-342900">
              <a:lnSpc>
                <a:spcPct val="150000"/>
              </a:lnSpc>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以离主光线或物点的像的重心的距离为函数的包围圆能量占总能量的百分比。</a:t>
            </a:r>
            <a:endParaRPr lang="en-US" altLang="zh-CN" sz="2400" dirty="0" smtClean="0">
              <a:latin typeface="仿宋" panose="02010609060101010101" pitchFamily="49" charset="-122"/>
              <a:ea typeface="仿宋" panose="02010609060101010101" pitchFamily="49" charset="-122"/>
            </a:endParaRPr>
          </a:p>
          <a:p>
            <a:pPr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包围</a:t>
            </a:r>
            <a:r>
              <a:rPr lang="zh-CN" altLang="en-US" sz="2400" dirty="0">
                <a:latin typeface="仿宋" panose="02010609060101010101" pitchFamily="49" charset="-122"/>
                <a:ea typeface="仿宋" panose="02010609060101010101" pitchFamily="49" charset="-122"/>
              </a:rPr>
              <a:t>圆能量图，横坐标为圆半径，纵坐标为在对应圆范围内光能量占总光能的</a:t>
            </a:r>
            <a:r>
              <a:rPr lang="zh-CN" altLang="en-US" sz="2400" dirty="0" smtClean="0">
                <a:latin typeface="仿宋" panose="02010609060101010101" pitchFamily="49" charset="-122"/>
                <a:ea typeface="仿宋" panose="02010609060101010101" pitchFamily="49" charset="-122"/>
              </a:rPr>
              <a:t>百分比。</a:t>
            </a:r>
            <a:endParaRPr lang="zh-CN" altLang="en-US" sz="2400" dirty="0">
              <a:latin typeface="仿宋" panose="02010609060101010101" pitchFamily="49" charset="-122"/>
              <a:ea typeface="仿宋" panose="02010609060101010101" pitchFamily="49"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四、热成像需要了解的概念</a:t>
            </a:r>
            <a:endParaRPr lang="zh-CN" altLang="en-US" dirty="0"/>
          </a:p>
        </p:txBody>
      </p:sp>
      <p:sp>
        <p:nvSpPr>
          <p:cNvPr id="4" name="TextBox 3"/>
          <p:cNvSpPr txBox="1"/>
          <p:nvPr/>
        </p:nvSpPr>
        <p:spPr>
          <a:xfrm>
            <a:off x="1245618" y="953368"/>
            <a:ext cx="3044423" cy="2576667"/>
          </a:xfrm>
          <a:prstGeom prst="rect">
            <a:avLst/>
          </a:prstGeom>
          <a:noFill/>
        </p:spPr>
        <p:txBody>
          <a:bodyPr wrap="none" rtlCol="0">
            <a:spAutoFit/>
          </a:bodyPr>
          <a:lstStyle/>
          <a:p>
            <a:pPr marL="342900" indent="-342900">
              <a:lnSpc>
                <a:spcPct val="150000"/>
              </a:lnSpc>
              <a:buFont typeface="Wingdings" panose="05000000000000000000" pitchFamily="2" charset="2"/>
              <a:buChar char="Ø"/>
            </a:pPr>
            <a:r>
              <a:rPr lang="en-US" altLang="zh-CN" sz="2800" dirty="0" smtClean="0">
                <a:latin typeface="仿宋" panose="02010609060101010101" pitchFamily="49" charset="-122"/>
                <a:ea typeface="仿宋" panose="02010609060101010101" pitchFamily="49" charset="-122"/>
              </a:rPr>
              <a:t>MRTD</a:t>
            </a:r>
            <a:endParaRPr lang="en-US" altLang="zh-CN" sz="28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en-US" altLang="zh-CN" sz="2800" dirty="0" smtClean="0">
                <a:latin typeface="仿宋" panose="02010609060101010101" pitchFamily="49" charset="-122"/>
                <a:ea typeface="仿宋" panose="02010609060101010101" pitchFamily="49" charset="-122"/>
              </a:rPr>
              <a:t>NETD</a:t>
            </a:r>
            <a:endParaRPr lang="en-US" altLang="zh-CN" sz="28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800" dirty="0" smtClean="0">
                <a:latin typeface="仿宋" panose="02010609060101010101" pitchFamily="49" charset="-122"/>
                <a:ea typeface="仿宋" panose="02010609060101010101" pitchFamily="49" charset="-122"/>
              </a:rPr>
              <a:t>整机视觉放大率</a:t>
            </a:r>
            <a:endParaRPr lang="en-US" altLang="zh-CN" sz="28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2800" dirty="0" smtClean="0">
                <a:latin typeface="仿宋" panose="02010609060101010101" pitchFamily="49" charset="-122"/>
                <a:ea typeface="仿宋" panose="02010609060101010101" pitchFamily="49" charset="-122"/>
              </a:rPr>
              <a:t>作用距离估算</a:t>
            </a:r>
            <a:endParaRPr lang="en-US" altLang="zh-CN" sz="2800" dirty="0" smtClean="0">
              <a:latin typeface="仿宋" panose="02010609060101010101" pitchFamily="49" charset="-122"/>
              <a:ea typeface="仿宋" panose="02010609060101010101" pitchFamily="49"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MRTD</a:t>
            </a:r>
            <a:endParaRPr lang="zh-CN" altLang="en-US" dirty="0"/>
          </a:p>
        </p:txBody>
      </p:sp>
      <p:sp>
        <p:nvSpPr>
          <p:cNvPr id="3" name="内容占位符 2"/>
          <p:cNvSpPr>
            <a:spLocks noGrp="1"/>
          </p:cNvSpPr>
          <p:nvPr>
            <p:ph idx="1"/>
          </p:nvPr>
        </p:nvSpPr>
        <p:spPr>
          <a:xfrm>
            <a:off x="719386" y="1025376"/>
            <a:ext cx="8642349" cy="4608512"/>
          </a:xfrm>
        </p:spPr>
        <p:txBody>
          <a:bodyPr/>
          <a:lstStyle/>
          <a:p>
            <a:pPr marL="0">
              <a:lnSpc>
                <a:spcPct val="150000"/>
              </a:lnSpc>
              <a:spcBef>
                <a:spcPts val="0"/>
              </a:spcBef>
              <a:buFont typeface="Wingdings" panose="05000000000000000000" pitchFamily="2" charset="2"/>
              <a:buChar char="p"/>
            </a:pPr>
            <a:r>
              <a:rPr lang="en-US" altLang="zh-CN" sz="2400" b="1" dirty="0" smtClean="0">
                <a:solidFill>
                  <a:schemeClr val="accent5"/>
                </a:solidFill>
                <a:latin typeface="仿宋" panose="02010609060101010101" pitchFamily="49" charset="-122"/>
                <a:ea typeface="仿宋" panose="02010609060101010101" pitchFamily="49" charset="-122"/>
              </a:rPr>
              <a:t>MRTD</a:t>
            </a:r>
            <a:r>
              <a:rPr lang="zh-CN" altLang="en-US" sz="2400" b="1" dirty="0" smtClean="0">
                <a:solidFill>
                  <a:schemeClr val="accent5"/>
                </a:solidFill>
                <a:latin typeface="仿宋" panose="02010609060101010101" pitchFamily="49" charset="-122"/>
                <a:ea typeface="仿宋" panose="02010609060101010101" pitchFamily="49" charset="-122"/>
              </a:rPr>
              <a:t>：最小可分辨温差</a:t>
            </a:r>
            <a:endParaRPr lang="en-US" altLang="zh-CN" sz="2400" b="1" dirty="0">
              <a:solidFill>
                <a:schemeClr val="accent5"/>
              </a:solidFill>
              <a:latin typeface="仿宋" panose="02010609060101010101" pitchFamily="49" charset="-122"/>
              <a:ea typeface="仿宋" panose="02010609060101010101" pitchFamily="49" charset="-122"/>
            </a:endParaRPr>
          </a:p>
          <a:p>
            <a:pPr marL="0">
              <a:lnSpc>
                <a:spcPct val="150000"/>
              </a:lnSpc>
              <a:spcBef>
                <a:spcPts val="0"/>
              </a:spcBef>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定义：</a:t>
            </a:r>
            <a:r>
              <a:rPr lang="zh-CN" altLang="en-US" sz="2400" dirty="0" smtClean="0">
                <a:solidFill>
                  <a:schemeClr val="tx1"/>
                </a:solidFill>
                <a:latin typeface="仿宋" panose="02010609060101010101" pitchFamily="49" charset="-122"/>
                <a:ea typeface="仿宋" panose="02010609060101010101" pitchFamily="49" charset="-122"/>
              </a:rPr>
              <a:t>具有</a:t>
            </a:r>
            <a:r>
              <a:rPr lang="zh-CN" altLang="en-US" sz="2400" dirty="0">
                <a:solidFill>
                  <a:schemeClr val="tx1"/>
                </a:solidFill>
                <a:latin typeface="仿宋" panose="02010609060101010101" pitchFamily="49" charset="-122"/>
                <a:ea typeface="仿宋" panose="02010609060101010101" pitchFamily="49" charset="-122"/>
              </a:rPr>
              <a:t>不同空间频率，高宽比为</a:t>
            </a:r>
            <a:r>
              <a:rPr lang="en-US" altLang="zh-CN" sz="2400" dirty="0">
                <a:solidFill>
                  <a:schemeClr val="tx1"/>
                </a:solidFill>
                <a:latin typeface="仿宋" panose="02010609060101010101" pitchFamily="49" charset="-122"/>
                <a:ea typeface="仿宋" panose="02010609060101010101" pitchFamily="49" charset="-122"/>
              </a:rPr>
              <a:t>7:1</a:t>
            </a:r>
            <a:r>
              <a:rPr lang="zh-CN" altLang="en-US" sz="2400" dirty="0">
                <a:solidFill>
                  <a:schemeClr val="tx1"/>
                </a:solidFill>
                <a:latin typeface="仿宋" panose="02010609060101010101" pitchFamily="49" charset="-122"/>
                <a:ea typeface="仿宋" panose="02010609060101010101" pitchFamily="49" charset="-122"/>
              </a:rPr>
              <a:t>的四条带目标图案处于均匀的背景中，目标与背景的温差从零逐渐增大。在确定的空间频率下，观察者刚好能分辨出（概率为</a:t>
            </a:r>
            <a:r>
              <a:rPr lang="en-US" altLang="zh-CN" sz="2400" dirty="0">
                <a:solidFill>
                  <a:schemeClr val="tx1"/>
                </a:solidFill>
                <a:latin typeface="仿宋" panose="02010609060101010101" pitchFamily="49" charset="-122"/>
                <a:ea typeface="仿宋" panose="02010609060101010101" pitchFamily="49" charset="-122"/>
              </a:rPr>
              <a:t>50%</a:t>
            </a:r>
            <a:r>
              <a:rPr lang="zh-CN" altLang="en-US" sz="2400" dirty="0">
                <a:solidFill>
                  <a:schemeClr val="tx1"/>
                </a:solidFill>
                <a:latin typeface="仿宋" panose="02010609060101010101" pitchFamily="49" charset="-122"/>
                <a:ea typeface="仿宋" panose="02010609060101010101" pitchFamily="49" charset="-122"/>
              </a:rPr>
              <a:t>）四条带图案的时候，目标与背景的</a:t>
            </a:r>
            <a:r>
              <a:rPr lang="zh-CN" altLang="en-US" sz="2400" dirty="0" smtClean="0">
                <a:solidFill>
                  <a:schemeClr val="tx1"/>
                </a:solidFill>
                <a:latin typeface="仿宋" panose="02010609060101010101" pitchFamily="49" charset="-122"/>
                <a:ea typeface="仿宋" panose="02010609060101010101" pitchFamily="49" charset="-122"/>
              </a:rPr>
              <a:t>温差。</a:t>
            </a:r>
            <a:endParaRPr lang="en-US" altLang="zh-CN" sz="2400" dirty="0" smtClean="0">
              <a:solidFill>
                <a:schemeClr val="tx1"/>
              </a:solidFill>
              <a:latin typeface="仿宋" panose="02010609060101010101" pitchFamily="49" charset="-122"/>
              <a:ea typeface="仿宋" panose="02010609060101010101" pitchFamily="49" charset="-122"/>
            </a:endParaRPr>
          </a:p>
          <a:p>
            <a:pPr marL="0">
              <a:lnSpc>
                <a:spcPct val="150000"/>
              </a:lnSpc>
              <a:spcBef>
                <a:spcPts val="0"/>
              </a:spcBef>
              <a:buFont typeface="Wingdings" panose="05000000000000000000" pitchFamily="2" charset="2"/>
              <a:buChar char="p"/>
            </a:pPr>
            <a:endParaRPr lang="en-US" altLang="zh-CN" sz="2400" dirty="0" smtClean="0">
              <a:solidFill>
                <a:schemeClr val="tx1"/>
              </a:solidFill>
              <a:latin typeface="仿宋" panose="02010609060101010101" pitchFamily="49" charset="-122"/>
              <a:ea typeface="仿宋" panose="02010609060101010101" pitchFamily="49" charset="-122"/>
            </a:endParaRPr>
          </a:p>
          <a:p>
            <a:pPr marL="0">
              <a:lnSpc>
                <a:spcPct val="150000"/>
              </a:lnSpc>
              <a:spcBef>
                <a:spcPts val="0"/>
              </a:spcBef>
              <a:buFont typeface="Wingdings" panose="05000000000000000000" pitchFamily="2" charset="2"/>
              <a:buChar char="p"/>
            </a:pPr>
            <a:r>
              <a:rPr lang="zh-CN" altLang="en-US" sz="2400" dirty="0">
                <a:solidFill>
                  <a:schemeClr val="tx1"/>
                </a:solidFill>
                <a:latin typeface="仿宋" panose="02010609060101010101" pitchFamily="49" charset="-122"/>
                <a:ea typeface="仿宋" panose="02010609060101010101" pitchFamily="49" charset="-122"/>
              </a:rPr>
              <a:t>四杆靶频率计算</a:t>
            </a:r>
            <a:r>
              <a:rPr lang="zh-CN" altLang="en-US" sz="2400" dirty="0" smtClean="0">
                <a:solidFill>
                  <a:schemeClr val="tx1"/>
                </a:solidFill>
                <a:latin typeface="仿宋" panose="02010609060101010101" pitchFamily="49" charset="-122"/>
                <a:ea typeface="仿宋" panose="02010609060101010101" pitchFamily="49" charset="-122"/>
              </a:rPr>
              <a:t>：</a:t>
            </a:r>
            <a:r>
              <a:rPr lang="en-US" altLang="zh-CN" sz="2400" dirty="0" smtClean="0">
                <a:solidFill>
                  <a:schemeClr val="tx1"/>
                </a:solidFill>
                <a:latin typeface="仿宋" panose="02010609060101010101" pitchFamily="49" charset="-122"/>
                <a:ea typeface="仿宋" panose="02010609060101010101" pitchFamily="49" charset="-122"/>
              </a:rPr>
              <a:t>1/</a:t>
            </a:r>
            <a:r>
              <a:rPr lang="en-US" altLang="zh-CN" sz="2400" dirty="0">
                <a:solidFill>
                  <a:schemeClr val="tx1"/>
                </a:solidFill>
                <a:latin typeface="仿宋" panose="02010609060101010101" pitchFamily="49" charset="-122"/>
                <a:ea typeface="仿宋" panose="02010609060101010101" pitchFamily="49" charset="-122"/>
              </a:rPr>
              <a:t>(</a:t>
            </a:r>
            <a:r>
              <a:rPr lang="en-US" altLang="zh-CN" sz="2400" dirty="0" smtClean="0">
                <a:solidFill>
                  <a:schemeClr val="tx1"/>
                </a:solidFill>
                <a:latin typeface="仿宋" panose="02010609060101010101" pitchFamily="49" charset="-122"/>
                <a:ea typeface="仿宋" panose="02010609060101010101" pitchFamily="49" charset="-122"/>
              </a:rPr>
              <a:t>2×</a:t>
            </a:r>
            <a:r>
              <a:rPr lang="zh-CN" altLang="en-US" sz="2400" dirty="0">
                <a:solidFill>
                  <a:schemeClr val="tx1"/>
                </a:solidFill>
                <a:latin typeface="仿宋" panose="02010609060101010101" pitchFamily="49" charset="-122"/>
                <a:ea typeface="仿宋" panose="02010609060101010101" pitchFamily="49" charset="-122"/>
              </a:rPr>
              <a:t>像元尺寸</a:t>
            </a:r>
            <a:r>
              <a:rPr lang="en-US" altLang="zh-CN" sz="2400" dirty="0">
                <a:solidFill>
                  <a:schemeClr val="tx1"/>
                </a:solidFill>
                <a:latin typeface="仿宋" panose="02010609060101010101" pitchFamily="49" charset="-122"/>
                <a:ea typeface="仿宋" panose="02010609060101010101" pitchFamily="49" charset="-122"/>
              </a:rPr>
              <a:t>/</a:t>
            </a:r>
            <a:r>
              <a:rPr lang="zh-CN" altLang="en-US" sz="2400" dirty="0" smtClean="0">
                <a:solidFill>
                  <a:schemeClr val="tx1"/>
                </a:solidFill>
                <a:latin typeface="仿宋" panose="02010609060101010101" pitchFamily="49" charset="-122"/>
                <a:ea typeface="仿宋" panose="02010609060101010101" pitchFamily="49" charset="-122"/>
              </a:rPr>
              <a:t>焦距</a:t>
            </a:r>
            <a:r>
              <a:rPr lang="en-US" altLang="zh-CN" sz="2400" dirty="0">
                <a:solidFill>
                  <a:schemeClr val="tx1"/>
                </a:solidFill>
                <a:latin typeface="仿宋" panose="02010609060101010101" pitchFamily="49" charset="-122"/>
                <a:ea typeface="仿宋" panose="02010609060101010101" pitchFamily="49" charset="-122"/>
              </a:rPr>
              <a:t>)</a:t>
            </a:r>
            <a:r>
              <a:rPr lang="zh-CN" altLang="en-US" sz="2400" dirty="0" smtClean="0">
                <a:solidFill>
                  <a:schemeClr val="tx1"/>
                </a:solidFill>
                <a:latin typeface="仿宋" panose="02010609060101010101" pitchFamily="49" charset="-122"/>
                <a:ea typeface="仿宋" panose="02010609060101010101" pitchFamily="49" charset="-122"/>
              </a:rPr>
              <a:t>，单位：</a:t>
            </a:r>
            <a:r>
              <a:rPr lang="en-US" altLang="zh-CN" sz="2400" dirty="0" err="1" smtClean="0">
                <a:solidFill>
                  <a:schemeClr val="tx1"/>
                </a:solidFill>
                <a:latin typeface="仿宋" panose="02010609060101010101" pitchFamily="49" charset="-122"/>
                <a:ea typeface="仿宋" panose="02010609060101010101" pitchFamily="49" charset="-122"/>
              </a:rPr>
              <a:t>cyc</a:t>
            </a:r>
            <a:r>
              <a:rPr lang="en-US" altLang="zh-CN" sz="2400" dirty="0" smtClean="0">
                <a:solidFill>
                  <a:schemeClr val="tx1"/>
                </a:solidFill>
                <a:latin typeface="仿宋" panose="02010609060101010101" pitchFamily="49" charset="-122"/>
                <a:ea typeface="仿宋" panose="02010609060101010101" pitchFamily="49" charset="-122"/>
              </a:rPr>
              <a:t>/</a:t>
            </a:r>
            <a:r>
              <a:rPr lang="en-US" altLang="zh-CN" sz="2400" dirty="0" err="1" smtClean="0">
                <a:solidFill>
                  <a:schemeClr val="tx1"/>
                </a:solidFill>
                <a:latin typeface="仿宋" panose="02010609060101010101" pitchFamily="49" charset="-122"/>
                <a:ea typeface="仿宋" panose="02010609060101010101" pitchFamily="49" charset="-122"/>
              </a:rPr>
              <a:t>mrad</a:t>
            </a:r>
            <a:endParaRPr lang="en-US" altLang="zh-CN" sz="2400" dirty="0">
              <a:solidFill>
                <a:schemeClr val="tx1"/>
              </a:solidFill>
              <a:latin typeface="仿宋" panose="02010609060101010101" pitchFamily="49" charset="-122"/>
              <a:ea typeface="仿宋" panose="02010609060101010101" pitchFamily="49" charset="-122"/>
            </a:endParaRPr>
          </a:p>
          <a:p>
            <a:pPr marL="0" indent="0">
              <a:lnSpc>
                <a:spcPct val="150000"/>
              </a:lnSpc>
              <a:spcBef>
                <a:spcPts val="0"/>
              </a:spcBef>
            </a:pPr>
            <a:endParaRPr lang="en-US" altLang="zh-CN" sz="2400" dirty="0" smtClean="0">
              <a:solidFill>
                <a:schemeClr val="tx1"/>
              </a:solidFill>
              <a:latin typeface="仿宋" panose="02010609060101010101" pitchFamily="49" charset="-122"/>
              <a:ea typeface="仿宋" panose="02010609060101010101" pitchFamily="49" charset="-122"/>
            </a:endParaRPr>
          </a:p>
          <a:p>
            <a:pPr marL="0">
              <a:lnSpc>
                <a:spcPct val="150000"/>
              </a:lnSpc>
              <a:spcBef>
                <a:spcPts val="0"/>
              </a:spcBef>
              <a:buFont typeface="Wingdings" panose="05000000000000000000" pitchFamily="2" charset="2"/>
              <a:buChar char="p"/>
            </a:pPr>
            <a:endParaRPr lang="en-US" altLang="zh-CN" sz="2400" dirty="0" smtClean="0">
              <a:solidFill>
                <a:schemeClr val="tx1"/>
              </a:solidFill>
              <a:latin typeface="仿宋" panose="02010609060101010101" pitchFamily="49" charset="-122"/>
              <a:ea typeface="仿宋" panose="02010609060101010101" pitchFamily="49" charset="-122"/>
            </a:endParaRPr>
          </a:p>
          <a:p>
            <a:pPr marL="0">
              <a:lnSpc>
                <a:spcPct val="150000"/>
              </a:lnSpc>
              <a:spcBef>
                <a:spcPts val="0"/>
              </a:spcBef>
            </a:pPr>
            <a:endParaRPr lang="en-US" altLang="zh-CN" sz="2000" dirty="0" smtClean="0">
              <a:solidFill>
                <a:schemeClr val="tx1"/>
              </a:solidFill>
              <a:latin typeface="微软雅黑" panose="020B0503020204020204" pitchFamily="34" charset="-122"/>
              <a:ea typeface="微软雅黑" panose="020B0503020204020204" pitchFamily="34" charset="-122"/>
            </a:endParaRPr>
          </a:p>
        </p:txBody>
      </p:sp>
      <p:pic>
        <p:nvPicPr>
          <p:cNvPr id="6146" name="Picture 2" descr="C:\Users\07285yzl\Desktop\红外镜头设计简介\新建文件夹\20191016222159306.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504362" y="1235248"/>
            <a:ext cx="4772025" cy="52197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NETD</a:t>
            </a:r>
            <a:endParaRPr lang="zh-CN" altLang="en-US" dirty="0"/>
          </a:p>
        </p:txBody>
      </p:sp>
      <p:sp>
        <p:nvSpPr>
          <p:cNvPr id="4" name="TextBox 3"/>
          <p:cNvSpPr txBox="1"/>
          <p:nvPr/>
        </p:nvSpPr>
        <p:spPr>
          <a:xfrm>
            <a:off x="520800" y="1025376"/>
            <a:ext cx="12241360" cy="4330096"/>
          </a:xfrm>
          <a:prstGeom prst="rect">
            <a:avLst/>
          </a:prstGeom>
          <a:noFill/>
        </p:spPr>
        <p:txBody>
          <a:bodyPr wrap="square" rtlCol="0">
            <a:spAutoFit/>
          </a:bodyPr>
          <a:lstStyle/>
          <a:p>
            <a:pPr marL="342900" indent="-342900">
              <a:lnSpc>
                <a:spcPct val="150000"/>
              </a:lnSpc>
              <a:buFont typeface="Wingdings" panose="05000000000000000000" pitchFamily="2" charset="2"/>
              <a:buChar char="p"/>
            </a:pPr>
            <a:r>
              <a:rPr lang="en-US" altLang="zh-CN" sz="2400" b="1" dirty="0">
                <a:solidFill>
                  <a:schemeClr val="accent5"/>
                </a:solidFill>
                <a:latin typeface="仿宋" panose="02010609060101010101" pitchFamily="49" charset="-122"/>
                <a:ea typeface="仿宋" panose="02010609060101010101" pitchFamily="49" charset="-122"/>
              </a:rPr>
              <a:t>NETD</a:t>
            </a:r>
            <a:r>
              <a:rPr lang="zh-CN" altLang="en-US" sz="2400" b="1" dirty="0">
                <a:solidFill>
                  <a:schemeClr val="accent5"/>
                </a:solidFill>
                <a:latin typeface="仿宋" panose="02010609060101010101" pitchFamily="49" charset="-122"/>
                <a:ea typeface="仿宋" panose="02010609060101010101" pitchFamily="49" charset="-122"/>
              </a:rPr>
              <a:t>（噪声等效温差）：</a:t>
            </a:r>
            <a:r>
              <a:rPr lang="zh-CN" altLang="en-US" sz="2400" dirty="0">
                <a:latin typeface="仿宋" panose="02010609060101010101" pitchFamily="49" charset="-122"/>
                <a:ea typeface="仿宋" panose="02010609060101010101" pitchFamily="49" charset="-122"/>
              </a:rPr>
              <a:t>指的是景物上两个相邻单元之间给出等于系统噪声的信号时的温差。</a:t>
            </a:r>
            <a:endParaRPr lang="en-US" altLang="zh-CN" sz="2400" dirty="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例如</a:t>
            </a:r>
            <a:r>
              <a:rPr lang="zh-CN" altLang="en-US" sz="2400" dirty="0">
                <a:latin typeface="仿宋" panose="02010609060101010101" pitchFamily="49" charset="-122"/>
                <a:ea typeface="仿宋" panose="02010609060101010101" pitchFamily="49" charset="-122"/>
              </a:rPr>
              <a:t>：某红外热像仪灵敏度为</a:t>
            </a:r>
            <a:r>
              <a:rPr lang="en-US" altLang="zh-CN" sz="2400" dirty="0">
                <a:latin typeface="仿宋" panose="02010609060101010101" pitchFamily="49" charset="-122"/>
                <a:ea typeface="仿宋" panose="02010609060101010101" pitchFamily="49" charset="-122"/>
              </a:rPr>
              <a:t>100mk</a:t>
            </a:r>
            <a:r>
              <a:rPr lang="zh-CN" altLang="en-US" sz="2400" dirty="0">
                <a:latin typeface="仿宋" panose="02010609060101010101" pitchFamily="49" charset="-122"/>
                <a:ea typeface="仿宋" panose="02010609060101010101" pitchFamily="49" charset="-122"/>
              </a:rPr>
              <a:t>在</a:t>
            </a:r>
            <a:r>
              <a:rPr lang="en-US" altLang="zh-CN" sz="2400" dirty="0">
                <a:latin typeface="仿宋" panose="02010609060101010101" pitchFamily="49" charset="-122"/>
                <a:ea typeface="仿宋" panose="02010609060101010101" pitchFamily="49" charset="-122"/>
              </a:rPr>
              <a:t>25</a:t>
            </a:r>
            <a:r>
              <a:rPr lang="zh-CN" altLang="en-US" sz="2400" dirty="0">
                <a:latin typeface="仿宋" panose="02010609060101010101" pitchFamily="49" charset="-122"/>
                <a:ea typeface="仿宋" panose="02010609060101010101" pitchFamily="49" charset="-122"/>
              </a:rPr>
              <a:t>℃时，即被测物的表面温度为</a:t>
            </a:r>
            <a:r>
              <a:rPr lang="en-US" altLang="zh-CN" sz="2400" dirty="0">
                <a:latin typeface="仿宋" panose="02010609060101010101" pitchFamily="49" charset="-122"/>
                <a:ea typeface="仿宋" panose="02010609060101010101" pitchFamily="49" charset="-122"/>
              </a:rPr>
              <a:t>25</a:t>
            </a:r>
            <a:r>
              <a:rPr lang="zh-CN" altLang="en-US" sz="2400" dirty="0">
                <a:latin typeface="仿宋" panose="02010609060101010101" pitchFamily="49" charset="-122"/>
                <a:ea typeface="仿宋" panose="02010609060101010101" pitchFamily="49" charset="-122"/>
              </a:rPr>
              <a:t>℃，但发生</a:t>
            </a:r>
            <a:r>
              <a:rPr lang="en-US" altLang="zh-CN" sz="2400" dirty="0">
                <a:latin typeface="仿宋" panose="02010609060101010101" pitchFamily="49" charset="-122"/>
                <a:ea typeface="仿宋" panose="02010609060101010101" pitchFamily="49" charset="-122"/>
              </a:rPr>
              <a:t>100mk</a:t>
            </a:r>
            <a:r>
              <a:rPr lang="zh-CN" altLang="en-US" sz="2400" dirty="0">
                <a:latin typeface="仿宋" panose="02010609060101010101" pitchFamily="49" charset="-122"/>
                <a:ea typeface="仿宋" panose="02010609060101010101" pitchFamily="49" charset="-122"/>
              </a:rPr>
              <a:t>（</a:t>
            </a:r>
            <a:r>
              <a:rPr lang="en-US" altLang="zh-CN" sz="2400" dirty="0">
                <a:latin typeface="仿宋" panose="02010609060101010101" pitchFamily="49" charset="-122"/>
                <a:ea typeface="仿宋" panose="02010609060101010101" pitchFamily="49" charset="-122"/>
              </a:rPr>
              <a:t>0.1k</a:t>
            </a:r>
            <a:r>
              <a:rPr lang="zh-CN" altLang="en-US" sz="2400" dirty="0">
                <a:latin typeface="仿宋" panose="02010609060101010101" pitchFamily="49" charset="-122"/>
                <a:ea typeface="仿宋" panose="02010609060101010101" pitchFamily="49" charset="-122"/>
              </a:rPr>
              <a:t>）的温度变化时，该红外热像仪的探测器就可以感应到</a:t>
            </a:r>
            <a:r>
              <a:rPr lang="zh-CN" altLang="en-US" sz="2400" dirty="0" smtClean="0">
                <a:latin typeface="仿宋" panose="02010609060101010101" pitchFamily="49" charset="-122"/>
                <a:ea typeface="仿宋" panose="02010609060101010101" pitchFamily="49" charset="-122"/>
              </a:rPr>
              <a:t>。</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p"/>
            </a:pPr>
            <a:r>
              <a:rPr lang="en-US" altLang="zh-CN" sz="2400" dirty="0">
                <a:latin typeface="仿宋" panose="02010609060101010101" pitchFamily="49" charset="-122"/>
                <a:ea typeface="仿宋" panose="02010609060101010101" pitchFamily="49" charset="-122"/>
              </a:rPr>
              <a:t>NETD</a:t>
            </a:r>
            <a:r>
              <a:rPr lang="zh-CN" altLang="en-US" sz="2400" dirty="0">
                <a:latin typeface="仿宋" panose="02010609060101010101" pitchFamily="49" charset="-122"/>
                <a:ea typeface="仿宋" panose="02010609060101010101" pitchFamily="49" charset="-122"/>
              </a:rPr>
              <a:t>是热成像系统灵敏度的客观评价指标，可用于预测小温差点目标的探测距离，从而实现技术指标向战术指标的转化。</a:t>
            </a:r>
            <a:endParaRPr lang="en-US" altLang="zh-CN" sz="2400" dirty="0">
              <a:latin typeface="仿宋" panose="02010609060101010101" pitchFamily="49" charset="-122"/>
              <a:ea typeface="仿宋" panose="02010609060101010101" pitchFamily="49" charset="-122"/>
            </a:endParaRPr>
          </a:p>
          <a:p>
            <a:pPr>
              <a:lnSpc>
                <a:spcPct val="150000"/>
              </a:lnSpc>
            </a:pPr>
            <a:endParaRPr lang="zh-CN" altLang="en-US" sz="2400" dirty="0">
              <a:latin typeface="微软雅黑" panose="020B0503020204020204" pitchFamily="34" charset="-122"/>
              <a:ea typeface="微软雅黑" panose="020B0503020204020204" pitchFamily="34" charset="-122"/>
            </a:endParaRPr>
          </a:p>
          <a:p>
            <a:endParaRPr lang="zh-CN"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整机视觉放大率</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619176" y="3257624"/>
                <a:ext cx="10297144" cy="1512168"/>
              </a:xfrm>
            </p:spPr>
            <p:txBody>
              <a:bodyPr/>
              <a:lstStyle/>
              <a:p>
                <a:pPr marL="342900" indent="-342900">
                  <a:lnSpc>
                    <a:spcPct val="150000"/>
                  </a:lnSpc>
                  <a:buFont typeface="Arial" panose="020B0604020202020204" pitchFamily="34" charset="0"/>
                  <a:buChar char="•"/>
                </a:pPr>
                <a:r>
                  <a:rPr lang="zh-CN" altLang="en-US" sz="2000" b="1" dirty="0">
                    <a:solidFill>
                      <a:schemeClr val="accent5"/>
                    </a:solidFill>
                    <a:latin typeface="仿宋" panose="02010609060101010101" pitchFamily="49" charset="-122"/>
                    <a:ea typeface="仿宋" panose="02010609060101010101" pitchFamily="49" charset="-122"/>
                  </a:rPr>
                  <a:t>视觉</a:t>
                </a:r>
                <a:r>
                  <a:rPr lang="zh-CN" altLang="en-US" sz="2000" b="1" dirty="0" smtClean="0">
                    <a:solidFill>
                      <a:schemeClr val="accent5"/>
                    </a:solidFill>
                    <a:latin typeface="仿宋" panose="02010609060101010101" pitchFamily="49" charset="-122"/>
                    <a:ea typeface="仿宋" panose="02010609060101010101" pitchFamily="49" charset="-122"/>
                  </a:rPr>
                  <a:t>放大率：</a:t>
                </a:r>
                <a:r>
                  <a:rPr lang="zh-CN" altLang="en-US" sz="2000" dirty="0" smtClean="0">
                    <a:solidFill>
                      <a:schemeClr val="tx1"/>
                    </a:solidFill>
                    <a:latin typeface="仿宋" panose="02010609060101010101" pitchFamily="49" charset="-122"/>
                    <a:ea typeface="仿宋" panose="02010609060101010101" pitchFamily="49" charset="-122"/>
                  </a:rPr>
                  <a:t>人眼通过目视光学系统看到的像对人眼的张角的正切比上物体直接对人眼所张角度的正切 </a:t>
                </a:r>
                <a14:m>
                  <m:oMath xmlns:m="http://schemas.openxmlformats.org/officeDocument/2006/math">
                    <m:r>
                      <a:rPr lang="el-GR" altLang="zh-CN" sz="2000" i="1" dirty="0">
                        <a:solidFill>
                          <a:schemeClr val="tx1"/>
                        </a:solidFill>
                        <a:latin typeface="Cambria Math" panose="02040503050406030204"/>
                      </a:rPr>
                      <m:t>𝛤</m:t>
                    </m:r>
                    <m:r>
                      <a:rPr lang="en-US" altLang="zh-CN" sz="2000" b="0" i="1" dirty="0" smtClean="0">
                        <a:solidFill>
                          <a:schemeClr val="tx1"/>
                        </a:solidFill>
                        <a:latin typeface="Cambria Math" panose="02040503050406030204"/>
                      </a:rPr>
                      <m:t>=</m:t>
                    </m:r>
                    <m:f>
                      <m:fPr>
                        <m:ctrlPr>
                          <a:rPr lang="en-US" altLang="zh-CN" sz="2000" i="1" dirty="0" smtClean="0">
                            <a:solidFill>
                              <a:schemeClr val="tx1"/>
                            </a:solidFill>
                            <a:latin typeface="Cambria Math" panose="02040503050406030204" pitchFamily="18" charset="0"/>
                          </a:rPr>
                        </m:ctrlPr>
                      </m:fPr>
                      <m:num>
                        <m:r>
                          <m:rPr>
                            <m:sty m:val="p"/>
                          </m:rPr>
                          <a:rPr lang="en-US" altLang="zh-CN" sz="2000" i="1" dirty="0">
                            <a:solidFill>
                              <a:schemeClr val="tx1"/>
                            </a:solidFill>
                            <a:latin typeface="Cambria Math" panose="02040503050406030204"/>
                          </a:rPr>
                          <m:t>tan</m:t>
                        </m:r>
                        <m:sSup>
                          <m:sSupPr>
                            <m:ctrlPr>
                              <a:rPr lang="en-US" altLang="zh-CN" sz="2000" i="1" dirty="0" smtClean="0">
                                <a:solidFill>
                                  <a:schemeClr val="tx1"/>
                                </a:solidFill>
                                <a:latin typeface="Cambria Math" panose="02040503050406030204" pitchFamily="18" charset="0"/>
                              </a:rPr>
                            </m:ctrlPr>
                          </m:sSupPr>
                          <m:e>
                            <m:r>
                              <a:rPr lang="zh-CN" altLang="en-US" sz="2000" i="1" dirty="0" smtClean="0">
                                <a:solidFill>
                                  <a:schemeClr val="tx1"/>
                                </a:solidFill>
                                <a:latin typeface="Cambria Math" panose="02040503050406030204"/>
                              </a:rPr>
                              <m:t>𝜔</m:t>
                            </m:r>
                          </m:e>
                          <m:sup>
                            <m:r>
                              <a:rPr lang="en-US" altLang="zh-CN" sz="2000" b="0" i="1" dirty="0" smtClean="0">
                                <a:solidFill>
                                  <a:schemeClr val="tx1"/>
                                </a:solidFill>
                                <a:latin typeface="Cambria Math" panose="02040503050406030204"/>
                              </a:rPr>
                              <m:t>′</m:t>
                            </m:r>
                          </m:sup>
                        </m:sSup>
                      </m:num>
                      <m:den>
                        <m:r>
                          <a:rPr lang="en-US" altLang="zh-CN" sz="2000" b="0" i="1" dirty="0" smtClean="0">
                            <a:solidFill>
                              <a:schemeClr val="tx1"/>
                            </a:solidFill>
                            <a:latin typeface="Cambria Math" panose="02040503050406030204"/>
                          </a:rPr>
                          <m:t>𝑡𝑎𝑛</m:t>
                        </m:r>
                        <m:r>
                          <a:rPr lang="zh-CN" altLang="en-US" sz="2000" b="0" i="1" dirty="0" smtClean="0">
                            <a:solidFill>
                              <a:schemeClr val="tx1"/>
                            </a:solidFill>
                            <a:latin typeface="Cambria Math" panose="02040503050406030204"/>
                          </a:rPr>
                          <m:t>𝜔</m:t>
                        </m:r>
                      </m:den>
                    </m:f>
                    <m:r>
                      <a:rPr lang="en-US" altLang="zh-CN" sz="2000" b="0" i="0" dirty="0" smtClean="0">
                        <a:solidFill>
                          <a:schemeClr val="tx1"/>
                        </a:solidFill>
                        <a:latin typeface="Cambria Math" panose="02040503050406030204"/>
                      </a:rPr>
                      <m:t> </m:t>
                    </m:r>
                  </m:oMath>
                </a14:m>
                <a:r>
                  <a:rPr lang="en-US" altLang="zh-CN" sz="2000" dirty="0" smtClean="0">
                    <a:solidFill>
                      <a:schemeClr val="tx1"/>
                    </a:solidFill>
                    <a:latin typeface="仿宋" panose="02010609060101010101" pitchFamily="49" charset="-122"/>
                    <a:ea typeface="仿宋" panose="02010609060101010101" pitchFamily="49" charset="-122"/>
                  </a:rPr>
                  <a:t> </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pPr>
                <a:endParaRPr lang="en-US" altLang="zh-CN" sz="2000" dirty="0" smtClean="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smtClean="0">
                  <a:latin typeface="微软雅黑" panose="020B0503020204020204" pitchFamily="34" charset="-122"/>
                  <a:ea typeface="微软雅黑" panose="020B0503020204020204" pitchFamily="34" charset="-122"/>
                </a:endParaRPr>
              </a:p>
              <a:p>
                <a:pPr>
                  <a:lnSpc>
                    <a:spcPct val="150000"/>
                  </a:lnSpc>
                </a:pPr>
                <a:endParaRPr lang="en-US" altLang="zh-CN" sz="2000" b="1" dirty="0" smtClean="0">
                  <a:solidFill>
                    <a:schemeClr val="tx1"/>
                  </a:solidFill>
                  <a:latin typeface="微软雅黑" panose="020B0503020204020204" pitchFamily="34" charset="-122"/>
                  <a:ea typeface="微软雅黑" panose="020B0503020204020204" pitchFamily="34" charset="-122"/>
                </a:endParaRPr>
              </a:p>
              <a:p>
                <a:pPr>
                  <a:lnSpc>
                    <a:spcPct val="150000"/>
                  </a:lnSpc>
                </a:pPr>
                <a:endParaRPr lang="en-US" altLang="zh-CN" sz="2000" b="1" dirty="0" smtClean="0">
                  <a:solidFill>
                    <a:schemeClr val="tx1"/>
                  </a:solidFill>
                  <a:latin typeface="微软雅黑" panose="020B0503020204020204" pitchFamily="34" charset="-122"/>
                  <a:ea typeface="微软雅黑" panose="020B0503020204020204" pitchFamily="34"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1619176" y="3257624"/>
                <a:ext cx="10297144" cy="1512168"/>
              </a:xfrm>
              <a:blipFill rotWithShape="1">
                <a:blip r:embed="rId1"/>
                <a:stretch>
                  <a:fillRect l="-5" t="-5" r="5" b="-151111"/>
                </a:stretch>
              </a:blipFill>
            </p:spPr>
            <p:txBody>
              <a:bodyPr/>
              <a:lstStyle/>
              <a:p>
                <a:r>
                  <a:rPr lang="zh-CN" altLang="en-US">
                    <a:noFill/>
                  </a:rPr>
                  <a:t> </a:t>
                </a:r>
              </a:p>
            </p:txBody>
          </p:sp>
        </mc:Fallback>
      </mc:AlternateContent>
      <p:pic>
        <p:nvPicPr>
          <p:cNvPr id="8194" name="Picture 2" descr="C:\Users\07285yzl\Desktop\红外镜头设计简介\新建文件夹\src=http___www.12317.com_images_20110126_aa102722993d6c8c.gif&amp;refer=http___www.12317.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1754" y="665336"/>
            <a:ext cx="4032448" cy="2716725"/>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0535" y="4553768"/>
            <a:ext cx="5034966" cy="1872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sp>
            <p:nvSpPr>
              <p:cNvPr id="4" name="TextBox 3"/>
              <p:cNvSpPr txBox="1"/>
              <p:nvPr/>
            </p:nvSpPr>
            <p:spPr>
              <a:xfrm>
                <a:off x="1583482" y="6328220"/>
                <a:ext cx="11017224" cy="199464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b="1" dirty="0">
                    <a:solidFill>
                      <a:schemeClr val="accent5"/>
                    </a:solidFill>
                    <a:latin typeface="仿宋" panose="02010609060101010101" pitchFamily="49" charset="-122"/>
                    <a:ea typeface="仿宋" panose="02010609060101010101" pitchFamily="49" charset="-122"/>
                  </a:rPr>
                  <a:t>整机视觉放大率：</a:t>
                </a:r>
                <a14:m>
                  <m:oMath xmlns:m="http://schemas.openxmlformats.org/officeDocument/2006/math">
                    <m:r>
                      <a:rPr lang="el-GR" altLang="zh-CN" sz="2000" i="1">
                        <a:latin typeface="Cambria Math" panose="02040503050406030204"/>
                      </a:rPr>
                      <m:t>𝛤</m:t>
                    </m:r>
                    <m:r>
                      <a:rPr lang="en-US" altLang="zh-CN" sz="2000" i="1">
                        <a:latin typeface="Cambria Math" panose="02040503050406030204"/>
                      </a:rPr>
                      <m:t>=</m:t>
                    </m:r>
                    <m:f>
                      <m:fPr>
                        <m:ctrlPr>
                          <a:rPr lang="en-US" altLang="zh-CN" sz="2000" i="1">
                            <a:latin typeface="Cambria Math" panose="02040503050406030204" pitchFamily="18" charset="0"/>
                          </a:rPr>
                        </m:ctrlPr>
                      </m:fPr>
                      <m:num>
                        <m:sSub>
                          <m:sSubPr>
                            <m:ctrlPr>
                              <a:rPr lang="en-US" altLang="zh-CN" sz="2000" i="1">
                                <a:latin typeface="Cambria Math" panose="02040503050406030204" pitchFamily="18" charset="0"/>
                              </a:rPr>
                            </m:ctrlPr>
                          </m:sSubPr>
                          <m:e>
                            <m:r>
                              <a:rPr lang="en-US" altLang="zh-CN" sz="2000" i="1">
                                <a:latin typeface="Cambria Math" panose="02040503050406030204"/>
                              </a:rPr>
                              <m:t>𝐻</m:t>
                            </m:r>
                          </m:e>
                          <m:sub>
                            <m:r>
                              <a:rPr lang="en-US" altLang="zh-CN" sz="2000" i="1">
                                <a:latin typeface="Cambria Math" panose="02040503050406030204"/>
                              </a:rPr>
                              <m:t>𝑂𝐿𝐸𝐷</m:t>
                            </m:r>
                          </m:sub>
                        </m:sSub>
                      </m:num>
                      <m:den>
                        <m:sSub>
                          <m:sSubPr>
                            <m:ctrlPr>
                              <a:rPr lang="en-US" altLang="zh-CN" sz="2000" i="1">
                                <a:latin typeface="Cambria Math" panose="02040503050406030204" pitchFamily="18" charset="0"/>
                              </a:rPr>
                            </m:ctrlPr>
                          </m:sSubPr>
                          <m:e>
                            <m:r>
                              <a:rPr lang="en-US" altLang="zh-CN" sz="2000" i="1">
                                <a:latin typeface="Cambria Math" panose="02040503050406030204"/>
                              </a:rPr>
                              <m:t>𝑓</m:t>
                            </m:r>
                          </m:e>
                          <m:sub>
                            <m:r>
                              <a:rPr lang="zh-CN" altLang="en-US" sz="2000" i="1">
                                <a:latin typeface="Cambria Math" panose="02040503050406030204"/>
                              </a:rPr>
                              <m:t>目</m:t>
                            </m:r>
                          </m:sub>
                        </m:sSub>
                      </m:den>
                    </m:f>
                    <m:r>
                      <a:rPr lang="en-US" altLang="zh-CN" sz="2000" i="1">
                        <a:latin typeface="Cambria Math" panose="02040503050406030204"/>
                        <a:ea typeface="Cambria Math" panose="02040503050406030204"/>
                      </a:rPr>
                      <m:t>×</m:t>
                    </m:r>
                    <m:f>
                      <m:fPr>
                        <m:ctrlPr>
                          <a:rPr lang="en-US" altLang="zh-CN" sz="2000" i="1">
                            <a:latin typeface="Cambria Math" panose="02040503050406030204" pitchFamily="18" charset="0"/>
                            <a:ea typeface="Cambria Math" panose="02040503050406030204"/>
                          </a:rPr>
                        </m:ctrlPr>
                      </m:fPr>
                      <m:num>
                        <m:sSub>
                          <m:sSubPr>
                            <m:ctrlPr>
                              <a:rPr lang="en-US" altLang="zh-CN" sz="2000" i="1">
                                <a:latin typeface="Cambria Math" panose="02040503050406030204" pitchFamily="18" charset="0"/>
                                <a:ea typeface="Cambria Math" panose="02040503050406030204"/>
                              </a:rPr>
                            </m:ctrlPr>
                          </m:sSubPr>
                          <m:e>
                            <m:r>
                              <a:rPr lang="en-US" altLang="zh-CN" sz="2000" i="1">
                                <a:latin typeface="Cambria Math" panose="02040503050406030204"/>
                                <a:ea typeface="Cambria Math" panose="02040503050406030204"/>
                              </a:rPr>
                              <m:t>𝑓</m:t>
                            </m:r>
                          </m:e>
                          <m:sub>
                            <m:r>
                              <a:rPr lang="zh-CN" altLang="en-US" sz="2000" i="1">
                                <a:latin typeface="Cambria Math" panose="02040503050406030204"/>
                                <a:ea typeface="Cambria Math" panose="02040503050406030204"/>
                              </a:rPr>
                              <m:t>物</m:t>
                            </m:r>
                          </m:sub>
                        </m:sSub>
                      </m:num>
                      <m:den>
                        <m:sSub>
                          <m:sSubPr>
                            <m:ctrlPr>
                              <a:rPr lang="en-US" altLang="zh-CN" sz="2000" i="1">
                                <a:latin typeface="Cambria Math" panose="02040503050406030204" pitchFamily="18" charset="0"/>
                                <a:ea typeface="Cambria Math" panose="02040503050406030204"/>
                              </a:rPr>
                            </m:ctrlPr>
                          </m:sSubPr>
                          <m:e>
                            <m:r>
                              <a:rPr lang="en-US" altLang="zh-CN" sz="2000" i="1">
                                <a:latin typeface="Cambria Math" panose="02040503050406030204"/>
                                <a:ea typeface="Cambria Math" panose="02040503050406030204"/>
                              </a:rPr>
                              <m:t>𝐻</m:t>
                            </m:r>
                          </m:e>
                          <m:sub>
                            <m:r>
                              <a:rPr lang="zh-CN" altLang="en-US" sz="2000" i="1">
                                <a:latin typeface="Cambria Math" panose="02040503050406030204"/>
                                <a:ea typeface="Cambria Math" panose="02040503050406030204"/>
                              </a:rPr>
                              <m:t>红外探测器</m:t>
                            </m:r>
                          </m:sub>
                        </m:sSub>
                      </m:den>
                    </m:f>
                    <m:r>
                      <a:rPr lang="en-US" altLang="zh-CN" sz="2000">
                        <a:latin typeface="Cambria Math" panose="02040503050406030204"/>
                        <a:ea typeface="Cambria Math" panose="02040503050406030204"/>
                      </a:rPr>
                      <m:t> </m:t>
                    </m:r>
                  </m:oMath>
                </a14:m>
                <a:r>
                  <a:rPr lang="en-US" altLang="zh-CN" sz="2000" dirty="0">
                    <a:latin typeface="仿宋" panose="02010609060101010101" pitchFamily="49" charset="-122"/>
                    <a:ea typeface="仿宋" panose="02010609060101010101" pitchFamily="49" charset="-122"/>
                  </a:rPr>
                  <a:t> </a:t>
                </a:r>
                <a:r>
                  <a:rPr lang="zh-CN" altLang="en-US" sz="2000" dirty="0">
                    <a:latin typeface="仿宋" panose="02010609060101010101" pitchFamily="49" charset="-122"/>
                    <a:ea typeface="仿宋" panose="02010609060101010101" pitchFamily="49" charset="-122"/>
                  </a:rPr>
                  <a:t>， </a:t>
                </a:r>
                <a:r>
                  <a:rPr lang="en-US" altLang="zh-CN" sz="2000" dirty="0">
                    <a:latin typeface="仿宋" panose="02010609060101010101" pitchFamily="49" charset="-122"/>
                    <a:ea typeface="仿宋" panose="02010609060101010101" pitchFamily="49" charset="-122"/>
                  </a:rPr>
                  <a:t>H_OLED</a:t>
                </a:r>
                <a:r>
                  <a:rPr lang="zh-CN" altLang="en-US" sz="2000" dirty="0">
                    <a:latin typeface="仿宋" panose="02010609060101010101" pitchFamily="49" charset="-122"/>
                    <a:ea typeface="仿宋" panose="02010609060101010101" pitchFamily="49" charset="-122"/>
                  </a:rPr>
                  <a:t>：</a:t>
                </a:r>
                <a:r>
                  <a:rPr lang="en-US" altLang="zh-CN" sz="2000" dirty="0">
                    <a:latin typeface="仿宋" panose="02010609060101010101" pitchFamily="49" charset="-122"/>
                    <a:ea typeface="仿宋" panose="02010609060101010101" pitchFamily="49" charset="-122"/>
                  </a:rPr>
                  <a:t>OLED</a:t>
                </a:r>
                <a:r>
                  <a:rPr lang="zh-CN" altLang="en-US" sz="2000" dirty="0">
                    <a:latin typeface="仿宋" panose="02010609060101010101" pitchFamily="49" charset="-122"/>
                    <a:ea typeface="仿宋" panose="02010609060101010101" pitchFamily="49" charset="-122"/>
                  </a:rPr>
                  <a:t>显示屏尺寸，</a:t>
                </a:r>
                <a:r>
                  <a:rPr lang="en-US" altLang="zh-CN" sz="2000" dirty="0">
                    <a:latin typeface="仿宋" panose="02010609060101010101" pitchFamily="49" charset="-122"/>
                    <a:ea typeface="仿宋" panose="02010609060101010101" pitchFamily="49" charset="-122"/>
                  </a:rPr>
                  <a:t>f_</a:t>
                </a:r>
                <a:r>
                  <a:rPr lang="zh-CN" altLang="en-US" sz="2000" dirty="0">
                    <a:latin typeface="仿宋" panose="02010609060101010101" pitchFamily="49" charset="-122"/>
                    <a:ea typeface="仿宋" panose="02010609060101010101" pitchFamily="49" charset="-122"/>
                  </a:rPr>
                  <a:t>目：目镜焦距，</a:t>
                </a:r>
                <a:r>
                  <a:rPr lang="en-US" altLang="zh-CN" sz="2000" dirty="0">
                    <a:latin typeface="仿宋" panose="02010609060101010101" pitchFamily="49" charset="-122"/>
                    <a:ea typeface="仿宋" panose="02010609060101010101" pitchFamily="49" charset="-122"/>
                  </a:rPr>
                  <a:t>f_</a:t>
                </a:r>
                <a:r>
                  <a:rPr lang="zh-CN" altLang="en-US" sz="2000" dirty="0">
                    <a:latin typeface="仿宋" panose="02010609060101010101" pitchFamily="49" charset="-122"/>
                    <a:ea typeface="仿宋" panose="02010609060101010101" pitchFamily="49" charset="-122"/>
                  </a:rPr>
                  <a:t>物：物镜焦距，</a:t>
                </a:r>
                <a:r>
                  <a:rPr lang="en-US" altLang="zh-CN" sz="2000" dirty="0">
                    <a:latin typeface="仿宋" panose="02010609060101010101" pitchFamily="49" charset="-122"/>
                    <a:ea typeface="仿宋" panose="02010609060101010101" pitchFamily="49" charset="-122"/>
                  </a:rPr>
                  <a:t>H_</a:t>
                </a:r>
                <a:r>
                  <a:rPr lang="zh-CN" altLang="en-US" sz="2000" dirty="0">
                    <a:latin typeface="仿宋" panose="02010609060101010101" pitchFamily="49" charset="-122"/>
                    <a:ea typeface="仿宋" panose="02010609060101010101" pitchFamily="49" charset="-122"/>
                  </a:rPr>
                  <a:t>红外探测器：红外探测器尺寸</a:t>
                </a:r>
                <a:endParaRPr lang="en-US" altLang="zh-CN" sz="2000" dirty="0">
                  <a:latin typeface="仿宋" panose="02010609060101010101" pitchFamily="49" charset="-122"/>
                  <a:ea typeface="仿宋" panose="02010609060101010101" pitchFamily="49" charset="-122"/>
                </a:endParaRPr>
              </a:p>
              <a:p>
                <a:endParaRPr lang="zh-CN" altLang="en-US" dirty="0"/>
              </a:p>
            </p:txBody>
          </p:sp>
        </mc:Choice>
        <mc:Fallback>
          <p:sp>
            <p:nvSpPr>
              <p:cNvPr id="4" name="TextBox 3"/>
              <p:cNvSpPr txBox="1">
                <a:spLocks noRot="1" noChangeAspect="1" noMove="1" noResize="1" noEditPoints="1" noAdjustHandles="1" noChangeArrowheads="1" noChangeShapeType="1" noTextEdit="1"/>
              </p:cNvSpPr>
              <p:nvPr/>
            </p:nvSpPr>
            <p:spPr>
              <a:xfrm>
                <a:off x="1583482" y="6328220"/>
                <a:ext cx="11017224" cy="1994649"/>
              </a:xfrm>
              <a:prstGeom prst="rect">
                <a:avLst/>
              </a:prstGeom>
              <a:blipFill rotWithShape="1">
                <a:blip r:embed="rId4"/>
                <a:stretch>
                  <a:fillRect l="-4" t="-22" r="4" b="28"/>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显示器</a:t>
            </a:r>
            <a:r>
              <a:rPr lang="zh-CN" altLang="en-US" dirty="0"/>
              <a:t>放大</a:t>
            </a:r>
            <a:r>
              <a:rPr lang="zh-CN" altLang="en-US" dirty="0" smtClean="0"/>
              <a:t>倍率</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511474" y="4049712"/>
                <a:ext cx="11665296" cy="3384376"/>
              </a:xfrm>
            </p:spPr>
            <p:txBody>
              <a:bodyPr/>
              <a:lstStyle/>
              <a:p>
                <a:pPr marL="0" indent="0">
                  <a:lnSpc>
                    <a:spcPct val="150000"/>
                  </a:lnSpc>
                  <a:spcBef>
                    <a:spcPts val="0"/>
                  </a:spcBef>
                  <a:buFont typeface="Arial" panose="020B0604020202020204" pitchFamily="34" charset="0"/>
                  <a:buChar char="•"/>
                </a:pPr>
                <a:r>
                  <a:rPr lang="zh-CN" altLang="en-US" sz="2000" b="1" dirty="0" smtClean="0">
                    <a:solidFill>
                      <a:schemeClr val="accent5"/>
                    </a:solidFill>
                    <a:latin typeface="仿宋" panose="02010609060101010101" pitchFamily="49" charset="-122"/>
                    <a:ea typeface="仿宋" panose="02010609060101010101" pitchFamily="49" charset="-122"/>
                  </a:rPr>
                  <a:t>显示器放大倍率：</a:t>
                </a:r>
                <a14:m>
                  <m:oMath xmlns:m="http://schemas.openxmlformats.org/officeDocument/2006/math">
                    <m:sSup>
                      <m:sSupPr>
                        <m:ctrlPr>
                          <a:rPr lang="en-US" altLang="zh-CN" sz="2000" b="1" i="1" smtClean="0">
                            <a:solidFill>
                              <a:schemeClr val="tx1"/>
                            </a:solidFill>
                            <a:latin typeface="Cambria Math" panose="02040503050406030204" pitchFamily="18" charset="0"/>
                            <a:ea typeface="仿宋" panose="02010609060101010101" pitchFamily="49" charset="-122"/>
                          </a:rPr>
                        </m:ctrlPr>
                      </m:sSupPr>
                      <m:e>
                        <m:r>
                          <a:rPr lang="zh-CN" altLang="en-US" sz="2000" b="1" i="1" smtClean="0">
                            <a:solidFill>
                              <a:schemeClr val="tx1"/>
                            </a:solidFill>
                            <a:latin typeface="Cambria Math" panose="02040503050406030204"/>
                            <a:ea typeface="仿宋" panose="02010609060101010101" pitchFamily="49" charset="-122"/>
                          </a:rPr>
                          <m:t>𝜷</m:t>
                        </m:r>
                      </m:e>
                      <m:sup>
                        <m:r>
                          <a:rPr lang="en-US" altLang="zh-CN" sz="2000" b="1" i="1" smtClean="0">
                            <a:solidFill>
                              <a:schemeClr val="tx1"/>
                            </a:solidFill>
                            <a:latin typeface="Cambria Math" panose="02040503050406030204"/>
                            <a:ea typeface="仿宋" panose="02010609060101010101" pitchFamily="49" charset="-122"/>
                          </a:rPr>
                          <m:t>′</m:t>
                        </m:r>
                      </m:sup>
                    </m:sSup>
                    <m:r>
                      <a:rPr lang="en-US" altLang="zh-CN" sz="2000" b="1" i="1" smtClean="0">
                        <a:solidFill>
                          <a:schemeClr val="tx1"/>
                        </a:solidFill>
                        <a:latin typeface="Cambria Math" panose="02040503050406030204"/>
                        <a:ea typeface="仿宋" panose="02010609060101010101" pitchFamily="49" charset="-122"/>
                      </a:rPr>
                      <m:t>=</m:t>
                    </m:r>
                    <m:f>
                      <m:fPr>
                        <m:ctrlPr>
                          <a:rPr lang="en-US" altLang="zh-CN" sz="2000" b="1" i="1" smtClean="0">
                            <a:solidFill>
                              <a:schemeClr val="tx1"/>
                            </a:solidFill>
                            <a:latin typeface="Cambria Math" panose="02040503050406030204" pitchFamily="18" charset="0"/>
                            <a:ea typeface="仿宋" panose="02010609060101010101" pitchFamily="49" charset="-122"/>
                          </a:rPr>
                        </m:ctrlPr>
                      </m:fPr>
                      <m:num>
                        <m:sSub>
                          <m:sSubPr>
                            <m:ctrlPr>
                              <a:rPr lang="en-US" altLang="zh-CN" sz="2000" b="1" i="1" smtClean="0">
                                <a:solidFill>
                                  <a:schemeClr val="tx1"/>
                                </a:solidFill>
                                <a:latin typeface="Cambria Math" panose="02040503050406030204" pitchFamily="18" charset="0"/>
                                <a:ea typeface="仿宋" panose="02010609060101010101" pitchFamily="49" charset="-122"/>
                              </a:rPr>
                            </m:ctrlPr>
                          </m:sSubPr>
                          <m:e>
                            <m:r>
                              <a:rPr lang="en-US" altLang="zh-CN" sz="2000" b="1" i="1" smtClean="0">
                                <a:solidFill>
                                  <a:schemeClr val="tx1"/>
                                </a:solidFill>
                                <a:latin typeface="Cambria Math" panose="02040503050406030204"/>
                                <a:ea typeface="仿宋" panose="02010609060101010101" pitchFamily="49" charset="-122"/>
                              </a:rPr>
                              <m:t>𝑯</m:t>
                            </m:r>
                          </m:e>
                          <m:sub>
                            <m:r>
                              <a:rPr lang="zh-CN" altLang="en-US" sz="2000" b="1" i="1">
                                <a:solidFill>
                                  <a:schemeClr val="tx1"/>
                                </a:solidFill>
                                <a:latin typeface="Cambria Math" panose="02040503050406030204"/>
                                <a:ea typeface="仿宋" panose="02010609060101010101" pitchFamily="49" charset="-122"/>
                              </a:rPr>
                              <m:t>显示器</m:t>
                            </m:r>
                          </m:sub>
                        </m:sSub>
                      </m:num>
                      <m:den>
                        <m:sSub>
                          <m:sSubPr>
                            <m:ctrlPr>
                              <a:rPr lang="en-US" altLang="zh-CN" sz="2000" b="1" i="1" smtClean="0">
                                <a:solidFill>
                                  <a:schemeClr val="tx1"/>
                                </a:solidFill>
                                <a:latin typeface="Cambria Math" panose="02040503050406030204" pitchFamily="18" charset="0"/>
                                <a:ea typeface="仿宋" panose="02010609060101010101" pitchFamily="49" charset="-122"/>
                              </a:rPr>
                            </m:ctrlPr>
                          </m:sSubPr>
                          <m:e>
                            <m:r>
                              <a:rPr lang="en-US" altLang="zh-CN" sz="2000" b="1" i="1" smtClean="0">
                                <a:solidFill>
                                  <a:schemeClr val="tx1"/>
                                </a:solidFill>
                                <a:latin typeface="Cambria Math" panose="02040503050406030204"/>
                                <a:ea typeface="仿宋" panose="02010609060101010101" pitchFamily="49" charset="-122"/>
                              </a:rPr>
                              <m:t>𝑯</m:t>
                            </m:r>
                          </m:e>
                          <m:sub>
                            <m:r>
                              <a:rPr lang="zh-CN" altLang="en-US" sz="2000" b="1" i="1">
                                <a:solidFill>
                                  <a:schemeClr val="tx1"/>
                                </a:solidFill>
                                <a:latin typeface="Cambria Math" panose="02040503050406030204"/>
                                <a:ea typeface="仿宋" panose="02010609060101010101" pitchFamily="49" charset="-122"/>
                              </a:rPr>
                              <m:t>红外探测器</m:t>
                            </m:r>
                          </m:sub>
                        </m:sSub>
                      </m:den>
                    </m:f>
                    <m:r>
                      <a:rPr lang="en-US" altLang="zh-CN" sz="2000" b="1" i="1" smtClean="0">
                        <a:solidFill>
                          <a:schemeClr val="tx1"/>
                        </a:solidFill>
                        <a:latin typeface="Cambria Math" panose="02040503050406030204"/>
                        <a:ea typeface="Cambria Math" panose="02040503050406030204"/>
                      </a:rPr>
                      <m:t>×</m:t>
                    </m:r>
                    <m:r>
                      <a:rPr lang="zh-CN" altLang="en-US" sz="2000" b="1" i="1" smtClean="0">
                        <a:solidFill>
                          <a:schemeClr val="tx1"/>
                        </a:solidFill>
                        <a:latin typeface="Cambria Math" panose="02040503050406030204"/>
                        <a:ea typeface="Cambria Math" panose="02040503050406030204"/>
                      </a:rPr>
                      <m:t>𝜷</m:t>
                    </m:r>
                  </m:oMath>
                </a14:m>
                <a:r>
                  <a:rPr lang="zh-CN" altLang="en-US" sz="2000" dirty="0" smtClean="0">
                    <a:solidFill>
                      <a:schemeClr val="tx1"/>
                    </a:solidFill>
                    <a:latin typeface="仿宋" panose="02010609060101010101" pitchFamily="49" charset="-122"/>
                    <a:ea typeface="仿宋" panose="02010609060101010101" pitchFamily="49" charset="-122"/>
                  </a:rPr>
                  <a:t>，</a:t>
                </a:r>
                <a14:m>
                  <m:oMath xmlns:m="http://schemas.openxmlformats.org/officeDocument/2006/math">
                    <m:sSub>
                      <m:sSubPr>
                        <m:ctrlPr>
                          <a:rPr lang="en-US" altLang="zh-CN" sz="2000" b="1" i="1">
                            <a:solidFill>
                              <a:schemeClr val="tx1"/>
                            </a:solidFill>
                            <a:latin typeface="Cambria Math" panose="02040503050406030204" pitchFamily="18" charset="0"/>
                            <a:ea typeface="仿宋" panose="02010609060101010101" pitchFamily="49" charset="-122"/>
                          </a:rPr>
                        </m:ctrlPr>
                      </m:sSubPr>
                      <m:e>
                        <m:r>
                          <a:rPr lang="en-US" altLang="zh-CN" sz="2000" b="1" i="1">
                            <a:solidFill>
                              <a:schemeClr val="tx1"/>
                            </a:solidFill>
                            <a:latin typeface="Cambria Math" panose="02040503050406030204"/>
                            <a:ea typeface="仿宋" panose="02010609060101010101" pitchFamily="49" charset="-122"/>
                          </a:rPr>
                          <m:t>𝑯</m:t>
                        </m:r>
                      </m:e>
                      <m:sub>
                        <m:r>
                          <a:rPr lang="zh-CN" altLang="en-US" sz="2000" b="1" i="1">
                            <a:solidFill>
                              <a:schemeClr val="tx1"/>
                            </a:solidFill>
                            <a:latin typeface="Cambria Math" panose="02040503050406030204"/>
                            <a:ea typeface="仿宋" panose="02010609060101010101" pitchFamily="49" charset="-122"/>
                          </a:rPr>
                          <m:t>显示器</m:t>
                        </m:r>
                      </m:sub>
                    </m:sSub>
                  </m:oMath>
                </a14:m>
                <a:r>
                  <a:rPr lang="zh-CN" altLang="en-US" sz="2000" dirty="0" smtClean="0">
                    <a:solidFill>
                      <a:schemeClr val="tx1"/>
                    </a:solidFill>
                    <a:latin typeface="仿宋" panose="02010609060101010101" pitchFamily="49" charset="-122"/>
                    <a:ea typeface="仿宋" panose="02010609060101010101" pitchFamily="49" charset="-122"/>
                  </a:rPr>
                  <a:t>：显示器尺寸，</a:t>
                </a:r>
                <a:r>
                  <a:rPr lang="en-US" altLang="zh-CN" sz="2000" b="1" dirty="0">
                    <a:solidFill>
                      <a:schemeClr val="tx1"/>
                    </a:solidFill>
                    <a:ea typeface="仿宋" panose="02010609060101010101" pitchFamily="49" charset="-122"/>
                  </a:rPr>
                  <a:t> </a:t>
                </a:r>
                <a14:m>
                  <m:oMath xmlns:m="http://schemas.openxmlformats.org/officeDocument/2006/math">
                    <m:sSub>
                      <m:sSubPr>
                        <m:ctrlPr>
                          <a:rPr lang="en-US" altLang="zh-CN" sz="2000" b="1" i="1">
                            <a:solidFill>
                              <a:schemeClr val="tx1"/>
                            </a:solidFill>
                            <a:latin typeface="Cambria Math" panose="02040503050406030204" pitchFamily="18" charset="0"/>
                            <a:ea typeface="仿宋" panose="02010609060101010101" pitchFamily="49" charset="-122"/>
                          </a:rPr>
                        </m:ctrlPr>
                      </m:sSubPr>
                      <m:e>
                        <m:r>
                          <a:rPr lang="en-US" altLang="zh-CN" sz="2000" b="1" i="1">
                            <a:solidFill>
                              <a:schemeClr val="tx1"/>
                            </a:solidFill>
                            <a:latin typeface="Cambria Math" panose="02040503050406030204"/>
                            <a:ea typeface="仿宋" panose="02010609060101010101" pitchFamily="49" charset="-122"/>
                          </a:rPr>
                          <m:t>𝑯</m:t>
                        </m:r>
                      </m:e>
                      <m:sub>
                        <m:r>
                          <a:rPr lang="zh-CN" altLang="en-US" sz="2000" b="1" i="1">
                            <a:solidFill>
                              <a:schemeClr val="tx1"/>
                            </a:solidFill>
                            <a:latin typeface="Cambria Math" panose="02040503050406030204"/>
                            <a:ea typeface="仿宋" panose="02010609060101010101" pitchFamily="49" charset="-122"/>
                          </a:rPr>
                          <m:t>红外探测器</m:t>
                        </m:r>
                      </m:sub>
                    </m:sSub>
                    <m:r>
                      <a:rPr lang="zh-CN" altLang="en-US" sz="2000" b="1" i="1">
                        <a:solidFill>
                          <a:schemeClr val="tx1"/>
                        </a:solidFill>
                        <a:latin typeface="Cambria Math" panose="02040503050406030204"/>
                        <a:ea typeface="仿宋" panose="02010609060101010101" pitchFamily="49" charset="-122"/>
                      </a:rPr>
                      <m:t> </m:t>
                    </m:r>
                  </m:oMath>
                </a14:m>
                <a:r>
                  <a:rPr lang="zh-CN" altLang="en-US" sz="2000" dirty="0" smtClean="0">
                    <a:solidFill>
                      <a:schemeClr val="tx1"/>
                    </a:solidFill>
                    <a:latin typeface="仿宋" panose="02010609060101010101" pitchFamily="49" charset="-122"/>
                    <a:ea typeface="仿宋" panose="02010609060101010101" pitchFamily="49" charset="-122"/>
                  </a:rPr>
                  <a:t>：红外探测器尺寸，</a:t>
                </a:r>
                <a:endParaRPr lang="en-US" altLang="zh-CN" sz="2000" dirty="0" smtClean="0">
                  <a:solidFill>
                    <a:schemeClr val="tx1"/>
                  </a:solidFill>
                  <a:latin typeface="仿宋" panose="02010609060101010101" pitchFamily="49" charset="-122"/>
                  <a:ea typeface="仿宋" panose="02010609060101010101" pitchFamily="49" charset="-122"/>
                </a:endParaRPr>
              </a:p>
              <a:p>
                <a:pPr marL="0" indent="0">
                  <a:lnSpc>
                    <a:spcPct val="150000"/>
                  </a:lnSpc>
                  <a:spcBef>
                    <a:spcPts val="0"/>
                  </a:spcBef>
                </a:pPr>
                <a:endParaRPr lang="en-US" altLang="zh-CN" sz="2000" i="1" dirty="0" smtClean="0">
                  <a:solidFill>
                    <a:schemeClr val="tx1"/>
                  </a:solidFill>
                  <a:latin typeface="Cambria Math" panose="02040503050406030204"/>
                  <a:ea typeface="Cambria Math" panose="02040503050406030204"/>
                </a:endParaRPr>
              </a:p>
              <a:p>
                <a:pPr marL="0" indent="0">
                  <a:lnSpc>
                    <a:spcPct val="150000"/>
                  </a:lnSpc>
                  <a:spcBef>
                    <a:spcPts val="0"/>
                  </a:spcBef>
                </a:pPr>
                <a:r>
                  <a:rPr lang="en-US" altLang="zh-CN" sz="2000" i="1" dirty="0">
                    <a:solidFill>
                      <a:schemeClr val="tx1"/>
                    </a:solidFill>
                    <a:latin typeface="Cambria Math" panose="02040503050406030204"/>
                    <a:ea typeface="Cambria Math" panose="02040503050406030204"/>
                  </a:rPr>
                  <a:t> </a:t>
                </a:r>
                <a:r>
                  <a:rPr lang="en-US" altLang="zh-CN" sz="2000" i="1" dirty="0" smtClean="0">
                    <a:solidFill>
                      <a:schemeClr val="tx1"/>
                    </a:solidFill>
                    <a:latin typeface="Cambria Math" panose="02040503050406030204"/>
                    <a:ea typeface="Cambria Math" panose="02040503050406030204"/>
                  </a:rPr>
                  <a:t>                                     </a:t>
                </a:r>
                <a14:m>
                  <m:oMath xmlns:m="http://schemas.openxmlformats.org/officeDocument/2006/math">
                    <m:r>
                      <a:rPr lang="zh-CN" altLang="en-US" sz="2000" i="1">
                        <a:solidFill>
                          <a:schemeClr val="tx1"/>
                        </a:solidFill>
                        <a:latin typeface="Cambria Math" panose="02040503050406030204"/>
                        <a:ea typeface="Cambria Math" panose="02040503050406030204"/>
                      </a:rPr>
                      <m:t>𝛽</m:t>
                    </m:r>
                  </m:oMath>
                </a14:m>
                <a:r>
                  <a:rPr lang="zh-CN" altLang="en-US" sz="2000" dirty="0" smtClean="0">
                    <a:solidFill>
                      <a:schemeClr val="tx1"/>
                    </a:solidFill>
                    <a:latin typeface="仿宋" panose="02010609060101010101" pitchFamily="49" charset="-122"/>
                    <a:ea typeface="仿宋" panose="02010609060101010101" pitchFamily="49" charset="-122"/>
                  </a:rPr>
                  <a:t>：红外物镜横向放大倍率，</a:t>
                </a:r>
                <a14:m>
                  <m:oMath xmlns:m="http://schemas.openxmlformats.org/officeDocument/2006/math">
                    <m:r>
                      <a:rPr lang="zh-CN" altLang="en-US" sz="2000" i="1">
                        <a:solidFill>
                          <a:schemeClr val="tx1"/>
                        </a:solidFill>
                        <a:latin typeface="Cambria Math" panose="02040503050406030204"/>
                        <a:ea typeface="Cambria Math" panose="02040503050406030204"/>
                      </a:rPr>
                      <m:t>𝛽</m:t>
                    </m:r>
                  </m:oMath>
                </a14:m>
                <a:r>
                  <a:rPr lang="en-US" altLang="zh-CN" sz="2000" dirty="0" smtClean="0">
                    <a:solidFill>
                      <a:schemeClr val="tx1"/>
                    </a:solidFill>
                    <a:latin typeface="仿宋" panose="02010609060101010101" pitchFamily="49" charset="-122"/>
                    <a:ea typeface="仿宋" panose="02010609060101010101" pitchFamily="49" charset="-122"/>
                  </a:rPr>
                  <a:t>=h’/h</a:t>
                </a:r>
                <a:endParaRPr lang="zh-CN" altLang="en-US" sz="2000" dirty="0">
                  <a:solidFill>
                    <a:schemeClr val="tx1"/>
                  </a:solidFill>
                  <a:latin typeface="仿宋" panose="02010609060101010101" pitchFamily="49" charset="-122"/>
                  <a:ea typeface="仿宋" panose="02010609060101010101" pitchFamily="49"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1511474" y="4049712"/>
                <a:ext cx="11665296" cy="3384376"/>
              </a:xfrm>
              <a:blipFill rotWithShape="1">
                <a:blip r:embed="rId1"/>
                <a:stretch>
                  <a:fillRect l="-1" t="-9" r="4" b="4"/>
                </a:stretch>
              </a:blipFill>
            </p:spPr>
            <p:txBody>
              <a:bodyPr/>
              <a:lstStyle/>
              <a:p>
                <a:r>
                  <a:rPr lang="zh-CN" altLang="en-US">
                    <a:noFill/>
                  </a:rPr>
                  <a:t> </a:t>
                </a:r>
              </a:p>
            </p:txBody>
          </p:sp>
        </mc:Fallback>
      </mc:AlternateContent>
      <p:pic>
        <p:nvPicPr>
          <p:cNvPr id="8195" name="Picture 3" descr="C:\Users\07285yzl\Desktop\红外镜头设计简介\新建文件夹\src=http___pic4.zhimg.com_v2-0d1598077af79c7bd0eac1f8ca2c282b_b.jpg&amp;refer=http___pic4.zhim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5770" y="1025376"/>
            <a:ext cx="4928304" cy="25922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作用距离估算</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a:lnSpc>
                    <a:spcPct val="150000"/>
                  </a:lnSpc>
                  <a:buFont typeface="Wingdings" panose="05000000000000000000" pitchFamily="2" charset="2"/>
                  <a:buChar char="p"/>
                </a:pPr>
                <a:r>
                  <a:rPr lang="zh-CN" altLang="en-US" sz="2000" dirty="0" smtClean="0">
                    <a:solidFill>
                      <a:schemeClr val="tx1"/>
                    </a:solidFill>
                    <a:latin typeface="仿宋" panose="02010609060101010101" pitchFamily="49" charset="-122"/>
                    <a:ea typeface="仿宋" panose="02010609060101010101" pitchFamily="49" charset="-122"/>
                  </a:rPr>
                  <a:t>约翰逊准则</a:t>
                </a:r>
                <a:r>
                  <a:rPr lang="zh-CN" altLang="en-US" sz="2000" dirty="0">
                    <a:solidFill>
                      <a:schemeClr val="tx1"/>
                    </a:solidFill>
                    <a:latin typeface="仿宋" panose="02010609060101010101" pitchFamily="49" charset="-122"/>
                    <a:ea typeface="仿宋" panose="02010609060101010101" pitchFamily="49" charset="-122"/>
                  </a:rPr>
                  <a:t>：</a:t>
                </a:r>
                <a:r>
                  <a:rPr lang="en-US" altLang="zh-CN" sz="2000" dirty="0" smtClean="0">
                    <a:solidFill>
                      <a:schemeClr val="tx1"/>
                    </a:solidFill>
                    <a:latin typeface="仿宋" panose="02010609060101010101" pitchFamily="49" charset="-122"/>
                    <a:ea typeface="仿宋" panose="02010609060101010101" pitchFamily="49" charset="-122"/>
                  </a:rPr>
                  <a:t>50</a:t>
                </a:r>
                <a:r>
                  <a:rPr lang="en-US" altLang="zh-CN" sz="2000" dirty="0">
                    <a:solidFill>
                      <a:schemeClr val="tx1"/>
                    </a:solidFill>
                    <a:latin typeface="仿宋" panose="02010609060101010101" pitchFamily="49" charset="-122"/>
                    <a:ea typeface="仿宋" panose="02010609060101010101" pitchFamily="49" charset="-122"/>
                  </a:rPr>
                  <a:t>%</a:t>
                </a:r>
                <a:r>
                  <a:rPr lang="zh-CN" altLang="en-US" sz="2000" dirty="0" smtClean="0">
                    <a:solidFill>
                      <a:schemeClr val="tx1"/>
                    </a:solidFill>
                    <a:latin typeface="仿宋" panose="02010609060101010101" pitchFamily="49" charset="-122"/>
                    <a:ea typeface="仿宋" panose="02010609060101010101" pitchFamily="49" charset="-122"/>
                  </a:rPr>
                  <a:t>概率下，</a:t>
                </a:r>
                <a:r>
                  <a:rPr lang="zh-CN" altLang="en-US" sz="2000" dirty="0">
                    <a:solidFill>
                      <a:schemeClr val="tx1"/>
                    </a:solidFill>
                    <a:latin typeface="仿宋" panose="02010609060101010101" pitchFamily="49" charset="-122"/>
                    <a:ea typeface="仿宋" panose="02010609060101010101" pitchFamily="49" charset="-122"/>
                  </a:rPr>
                  <a:t>作用距离与红外物镜焦距、探测器性能、大气环境等相关</a:t>
                </a:r>
                <a:endParaRPr lang="zh-CN" altLang="en-US" sz="2000" dirty="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p"/>
                </a:pPr>
                <a:r>
                  <a:rPr lang="zh-CN" altLang="en-US" sz="2000" dirty="0" smtClean="0">
                    <a:solidFill>
                      <a:schemeClr val="tx1"/>
                    </a:solidFill>
                    <a:latin typeface="仿宋" panose="02010609060101010101" pitchFamily="49" charset="-122"/>
                    <a:ea typeface="仿宋" panose="02010609060101010101" pitchFamily="49" charset="-122"/>
                  </a:rPr>
                  <a:t>目标</a:t>
                </a:r>
                <a:r>
                  <a:rPr lang="zh-CN" altLang="en-US" sz="2000" dirty="0">
                    <a:solidFill>
                      <a:schemeClr val="tx1"/>
                    </a:solidFill>
                    <a:latin typeface="仿宋" panose="02010609060101010101" pitchFamily="49" charset="-122"/>
                    <a:ea typeface="仿宋" panose="02010609060101010101" pitchFamily="49" charset="-122"/>
                  </a:rPr>
                  <a:t>所成像占用像素点的数量：</a:t>
                </a:r>
                <a:r>
                  <a:rPr lang="en-US" altLang="zh-CN" sz="2000" dirty="0">
                    <a:solidFill>
                      <a:schemeClr val="tx1"/>
                    </a:solidFill>
                    <a:latin typeface="仿宋" panose="02010609060101010101" pitchFamily="49" charset="-122"/>
                    <a:ea typeface="仿宋" panose="02010609060101010101" pitchFamily="49" charset="-122"/>
                  </a:rPr>
                  <a:t>n</a:t>
                </a:r>
                <a:r>
                  <a:rPr lang="zh-CN" altLang="en-US" sz="2000" dirty="0">
                    <a:solidFill>
                      <a:schemeClr val="tx1"/>
                    </a:solidFill>
                    <a:latin typeface="仿宋" panose="02010609060101010101" pitchFamily="49" charset="-122"/>
                    <a:ea typeface="仿宋" panose="02010609060101010101" pitchFamily="49" charset="-122"/>
                  </a:rPr>
                  <a:t>＝</a:t>
                </a:r>
                <a:r>
                  <a:rPr lang="en-US" altLang="zh-CN" sz="2000" dirty="0">
                    <a:solidFill>
                      <a:schemeClr val="tx1"/>
                    </a:solidFill>
                    <a:latin typeface="仿宋" panose="02010609060101010101" pitchFamily="49" charset="-122"/>
                    <a:ea typeface="仿宋" panose="02010609060101010101" pitchFamily="49" charset="-122"/>
                  </a:rPr>
                  <a:t>(</a:t>
                </a:r>
                <a:r>
                  <a:rPr lang="en-US" altLang="zh-CN" sz="2000" dirty="0" err="1">
                    <a:solidFill>
                      <a:schemeClr val="tx1"/>
                    </a:solidFill>
                    <a:latin typeface="仿宋" panose="02010609060101010101" pitchFamily="49" charset="-122"/>
                    <a:ea typeface="仿宋" panose="02010609060101010101" pitchFamily="49" charset="-122"/>
                  </a:rPr>
                  <a:t>Df</a:t>
                </a:r>
                <a:r>
                  <a:rPr lang="en-US" altLang="zh-CN" sz="2000" dirty="0">
                    <a:solidFill>
                      <a:schemeClr val="tx1"/>
                    </a:solidFill>
                    <a:latin typeface="仿宋" panose="02010609060101010101" pitchFamily="49" charset="-122"/>
                    <a:ea typeface="仿宋" panose="02010609060101010101" pitchFamily="49" charset="-122"/>
                  </a:rPr>
                  <a:t>)/(</a:t>
                </a:r>
                <a:r>
                  <a:rPr lang="en-US" altLang="zh-CN" sz="2000" dirty="0" err="1">
                    <a:solidFill>
                      <a:schemeClr val="tx1"/>
                    </a:solidFill>
                    <a:latin typeface="仿宋" panose="02010609060101010101" pitchFamily="49" charset="-122"/>
                    <a:ea typeface="仿宋" panose="02010609060101010101" pitchFamily="49" charset="-122"/>
                  </a:rPr>
                  <a:t>Ld</a:t>
                </a:r>
                <a:r>
                  <a:rPr lang="en-US" altLang="zh-CN" sz="2000" dirty="0">
                    <a:solidFill>
                      <a:schemeClr val="tx1"/>
                    </a:solidFill>
                    <a:latin typeface="仿宋" panose="02010609060101010101" pitchFamily="49" charset="-122"/>
                    <a:ea typeface="仿宋" panose="02010609060101010101" pitchFamily="49" charset="-122"/>
                  </a:rPr>
                  <a:t>)</a:t>
                </a:r>
                <a:r>
                  <a:rPr lang="zh-CN" altLang="en-US" sz="2000" dirty="0">
                    <a:solidFill>
                      <a:schemeClr val="tx1"/>
                    </a:solidFill>
                    <a:latin typeface="仿宋" panose="02010609060101010101" pitchFamily="49" charset="-122"/>
                    <a:ea typeface="仿宋" panose="02010609060101010101" pitchFamily="49" charset="-122"/>
                  </a:rPr>
                  <a:t>，</a:t>
                </a:r>
                <a:r>
                  <a:rPr lang="en-US" altLang="zh-CN" sz="2000" dirty="0">
                    <a:solidFill>
                      <a:schemeClr val="tx1"/>
                    </a:solidFill>
                    <a:latin typeface="仿宋" panose="02010609060101010101" pitchFamily="49" charset="-122"/>
                    <a:ea typeface="仿宋" panose="02010609060101010101" pitchFamily="49" charset="-122"/>
                  </a:rPr>
                  <a:t>D</a:t>
                </a:r>
                <a:r>
                  <a:rPr lang="zh-CN" altLang="en-US" sz="2000" dirty="0">
                    <a:solidFill>
                      <a:schemeClr val="tx1"/>
                    </a:solidFill>
                    <a:latin typeface="仿宋" panose="02010609060101010101" pitchFamily="49" charset="-122"/>
                    <a:ea typeface="仿宋" panose="02010609060101010101" pitchFamily="49" charset="-122"/>
                  </a:rPr>
                  <a:t>：目标大小，</a:t>
                </a:r>
                <a:r>
                  <a:rPr lang="en-US" altLang="zh-CN" sz="2000" dirty="0">
                    <a:solidFill>
                      <a:schemeClr val="tx1"/>
                    </a:solidFill>
                    <a:latin typeface="仿宋" panose="02010609060101010101" pitchFamily="49" charset="-122"/>
                    <a:ea typeface="仿宋" panose="02010609060101010101" pitchFamily="49" charset="-122"/>
                  </a:rPr>
                  <a:t>f</a:t>
                </a:r>
                <a:r>
                  <a:rPr lang="zh-CN" altLang="en-US" sz="2000" dirty="0">
                    <a:solidFill>
                      <a:schemeClr val="tx1"/>
                    </a:solidFill>
                    <a:latin typeface="仿宋" panose="02010609060101010101" pitchFamily="49" charset="-122"/>
                    <a:ea typeface="仿宋" panose="02010609060101010101" pitchFamily="49" charset="-122"/>
                  </a:rPr>
                  <a:t>：红外物镜焦距，</a:t>
                </a:r>
                <a:r>
                  <a:rPr lang="en-US" altLang="zh-CN" sz="2000" dirty="0">
                    <a:solidFill>
                      <a:schemeClr val="tx1"/>
                    </a:solidFill>
                    <a:latin typeface="仿宋" panose="02010609060101010101" pitchFamily="49" charset="-122"/>
                    <a:ea typeface="仿宋" panose="02010609060101010101" pitchFamily="49" charset="-122"/>
                  </a:rPr>
                  <a:t>L</a:t>
                </a:r>
                <a:r>
                  <a:rPr lang="zh-CN" altLang="en-US" sz="2000" dirty="0">
                    <a:solidFill>
                      <a:schemeClr val="tx1"/>
                    </a:solidFill>
                    <a:latin typeface="仿宋" panose="02010609060101010101" pitchFamily="49" charset="-122"/>
                    <a:ea typeface="仿宋" panose="02010609060101010101" pitchFamily="49" charset="-122"/>
                  </a:rPr>
                  <a:t>：物距（探测距离</a:t>
                </a:r>
                <a:r>
                  <a:rPr lang="en-US" altLang="zh-CN" sz="2000" dirty="0">
                    <a:solidFill>
                      <a:schemeClr val="tx1"/>
                    </a:solidFill>
                    <a:latin typeface="仿宋" panose="02010609060101010101" pitchFamily="49" charset="-122"/>
                    <a:ea typeface="仿宋" panose="02010609060101010101" pitchFamily="49" charset="-122"/>
                  </a:rPr>
                  <a:t>/</a:t>
                </a:r>
                <a:r>
                  <a:rPr lang="zh-CN" altLang="en-US" sz="2000" dirty="0">
                    <a:solidFill>
                      <a:schemeClr val="tx1"/>
                    </a:solidFill>
                    <a:latin typeface="仿宋" panose="02010609060101010101" pitchFamily="49" charset="-122"/>
                    <a:ea typeface="仿宋" panose="02010609060101010101" pitchFamily="49" charset="-122"/>
                  </a:rPr>
                  <a:t>识别距离），</a:t>
                </a:r>
                <a:r>
                  <a:rPr lang="en-US" altLang="zh-CN" sz="2000" dirty="0">
                    <a:solidFill>
                      <a:schemeClr val="tx1"/>
                    </a:solidFill>
                    <a:latin typeface="仿宋" panose="02010609060101010101" pitchFamily="49" charset="-122"/>
                    <a:ea typeface="仿宋" panose="02010609060101010101" pitchFamily="49" charset="-122"/>
                  </a:rPr>
                  <a:t>d</a:t>
                </a:r>
                <a:r>
                  <a:rPr lang="zh-CN" altLang="en-US" sz="2000" dirty="0">
                    <a:solidFill>
                      <a:schemeClr val="tx1"/>
                    </a:solidFill>
                    <a:latin typeface="仿宋" panose="02010609060101010101" pitchFamily="49" charset="-122"/>
                    <a:ea typeface="仿宋" panose="02010609060101010101" pitchFamily="49" charset="-122"/>
                  </a:rPr>
                  <a:t>：像元间距</a:t>
                </a:r>
                <a:endParaRPr lang="zh-CN" altLang="en-US" sz="2000" dirty="0">
                  <a:solidFill>
                    <a:schemeClr val="tx1"/>
                  </a:solidFill>
                  <a:latin typeface="仿宋" panose="02010609060101010101" pitchFamily="49" charset="-122"/>
                  <a:ea typeface="仿宋" panose="02010609060101010101" pitchFamily="49" charset="-122"/>
                </a:endParaRPr>
              </a:p>
              <a:p>
                <a:pPr>
                  <a:lnSpc>
                    <a:spcPct val="150000"/>
                  </a:lnSpc>
                </a:pPr>
                <a:r>
                  <a:rPr lang="en-US" altLang="zh-CN" sz="2000" dirty="0" smtClean="0">
                    <a:solidFill>
                      <a:schemeClr val="tx1"/>
                    </a:solidFill>
                    <a:latin typeface="仿宋" panose="02010609060101010101" pitchFamily="49" charset="-122"/>
                    <a:ea typeface="仿宋" panose="02010609060101010101" pitchFamily="49" charset="-122"/>
                  </a:rPr>
                  <a:t>    a</a:t>
                </a:r>
                <a:r>
                  <a:rPr lang="zh-CN" altLang="en-US" sz="2000" dirty="0">
                    <a:solidFill>
                      <a:schemeClr val="tx1"/>
                    </a:solidFill>
                    <a:latin typeface="仿宋" panose="02010609060101010101" pitchFamily="49" charset="-122"/>
                    <a:ea typeface="仿宋" panose="02010609060101010101" pitchFamily="49" charset="-122"/>
                  </a:rPr>
                  <a:t>、焦距越长，探测、识别距离越远；</a:t>
                </a:r>
                <a:endParaRPr lang="zh-CN" altLang="en-US" sz="2000" dirty="0">
                  <a:solidFill>
                    <a:schemeClr val="tx1"/>
                  </a:solidFill>
                  <a:latin typeface="仿宋" panose="02010609060101010101" pitchFamily="49" charset="-122"/>
                  <a:ea typeface="仿宋" panose="02010609060101010101" pitchFamily="49" charset="-122"/>
                </a:endParaRPr>
              </a:p>
              <a:p>
                <a:pPr>
                  <a:lnSpc>
                    <a:spcPct val="150000"/>
                  </a:lnSpc>
                </a:pPr>
                <a:r>
                  <a:rPr lang="en-US" altLang="zh-CN" sz="2000" dirty="0" smtClean="0">
                    <a:solidFill>
                      <a:schemeClr val="tx1"/>
                    </a:solidFill>
                    <a:latin typeface="仿宋" panose="02010609060101010101" pitchFamily="49" charset="-122"/>
                    <a:ea typeface="仿宋" panose="02010609060101010101" pitchFamily="49" charset="-122"/>
                  </a:rPr>
                  <a:t>    b</a:t>
                </a:r>
                <a:r>
                  <a:rPr lang="zh-CN" altLang="en-US" sz="2000" dirty="0">
                    <a:solidFill>
                      <a:schemeClr val="tx1"/>
                    </a:solidFill>
                    <a:latin typeface="仿宋" panose="02010609060101010101" pitchFamily="49" charset="-122"/>
                    <a:ea typeface="仿宋" panose="02010609060101010101" pitchFamily="49" charset="-122"/>
                  </a:rPr>
                  <a:t>、像元间距越小，探测、识别距离越远；</a:t>
                </a:r>
                <a:endParaRPr lang="zh-CN" altLang="en-US" sz="2000" dirty="0">
                  <a:solidFill>
                    <a:schemeClr val="tx1"/>
                  </a:solidFill>
                  <a:latin typeface="仿宋" panose="02010609060101010101" pitchFamily="49" charset="-122"/>
                  <a:ea typeface="仿宋" panose="02010609060101010101" pitchFamily="49" charset="-122"/>
                </a:endParaRPr>
              </a:p>
              <a:p>
                <a:pPr>
                  <a:lnSpc>
                    <a:spcPct val="150000"/>
                  </a:lnSpc>
                </a:pPr>
                <a:r>
                  <a:rPr lang="zh-CN" altLang="en-US" sz="2000" dirty="0" smtClean="0">
                    <a:solidFill>
                      <a:schemeClr val="tx1"/>
                    </a:solidFill>
                    <a:latin typeface="仿宋" panose="02010609060101010101" pitchFamily="49" charset="-122"/>
                    <a:ea typeface="仿宋" panose="02010609060101010101" pitchFamily="49" charset="-122"/>
                  </a:rPr>
                  <a:t>    （计算举例：以身高</a:t>
                </a:r>
                <a:r>
                  <a:rPr lang="en-US" altLang="zh-CN" sz="2000" dirty="0" smtClean="0">
                    <a:solidFill>
                      <a:schemeClr val="tx1"/>
                    </a:solidFill>
                    <a:latin typeface="仿宋" panose="02010609060101010101" pitchFamily="49" charset="-122"/>
                    <a:ea typeface="仿宋" panose="02010609060101010101" pitchFamily="49" charset="-122"/>
                  </a:rPr>
                  <a:t>1.7m</a:t>
                </a:r>
                <a:r>
                  <a:rPr lang="zh-CN" altLang="en-US" sz="2000" dirty="0" smtClean="0">
                    <a:solidFill>
                      <a:schemeClr val="tx1"/>
                    </a:solidFill>
                    <a:latin typeface="仿宋" panose="02010609060101010101" pitchFamily="49" charset="-122"/>
                    <a:ea typeface="仿宋" panose="02010609060101010101" pitchFamily="49" charset="-122"/>
                  </a:rPr>
                  <a:t>的人为例，</a:t>
                </a:r>
                <a:r>
                  <a:rPr lang="en-US" altLang="zh-CN" sz="2000" dirty="0" smtClean="0">
                    <a:solidFill>
                      <a:schemeClr val="tx1"/>
                    </a:solidFill>
                    <a:latin typeface="仿宋" panose="02010609060101010101" pitchFamily="49" charset="-122"/>
                    <a:ea typeface="仿宋" panose="02010609060101010101" pitchFamily="49" charset="-122"/>
                  </a:rPr>
                  <a:t>D=</a:t>
                </a:r>
                <a14:m>
                  <m:oMath xmlns:m="http://schemas.openxmlformats.org/officeDocument/2006/math">
                    <m:rad>
                      <m:radPr>
                        <m:degHide m:val="on"/>
                        <m:ctrlPr>
                          <a:rPr lang="zh-CN" altLang="en-US" sz="2000" i="1" smtClean="0">
                            <a:solidFill>
                              <a:schemeClr val="tx1"/>
                            </a:solidFill>
                            <a:latin typeface="Cambria Math" panose="02040503050406030204" pitchFamily="18" charset="0"/>
                          </a:rPr>
                        </m:ctrlPr>
                      </m:radPr>
                      <m:deg/>
                      <m:e>
                        <m:r>
                          <a:rPr lang="en-US" altLang="zh-CN" sz="2000" b="0" i="1" smtClean="0">
                            <a:solidFill>
                              <a:schemeClr val="tx1"/>
                            </a:solidFill>
                            <a:latin typeface="Cambria Math" panose="02040503050406030204"/>
                          </a:rPr>
                          <m:t>1</m:t>
                        </m:r>
                        <m:r>
                          <a:rPr lang="en-US" altLang="zh-CN" sz="2000" b="0" i="1" smtClean="0">
                            <a:solidFill>
                              <a:schemeClr val="tx1"/>
                            </a:solidFill>
                            <a:latin typeface="Cambria Math" panose="02040503050406030204"/>
                          </a:rPr>
                          <m:t>.</m:t>
                        </m:r>
                        <m:r>
                          <a:rPr lang="en-US" altLang="zh-CN" sz="2000" b="0" i="1" smtClean="0">
                            <a:solidFill>
                              <a:schemeClr val="tx1"/>
                            </a:solidFill>
                            <a:latin typeface="Cambria Math" panose="02040503050406030204"/>
                          </a:rPr>
                          <m:t>7</m:t>
                        </m:r>
                        <m:r>
                          <a:rPr lang="en-US" altLang="zh-CN" sz="2000" b="0" i="1" smtClean="0">
                            <a:solidFill>
                              <a:schemeClr val="tx1"/>
                            </a:solidFill>
                            <a:latin typeface="Cambria Math" panose="02040503050406030204"/>
                          </a:rPr>
                          <m:t>∗</m:t>
                        </m:r>
                        <m:r>
                          <a:rPr lang="en-US" altLang="zh-CN" sz="2000" b="0" i="1" smtClean="0">
                            <a:solidFill>
                              <a:schemeClr val="tx1"/>
                            </a:solidFill>
                            <a:latin typeface="Cambria Math" panose="02040503050406030204"/>
                          </a:rPr>
                          <m:t>0</m:t>
                        </m:r>
                        <m:r>
                          <a:rPr lang="en-US" altLang="zh-CN" sz="2000" b="0" i="1" smtClean="0">
                            <a:solidFill>
                              <a:schemeClr val="tx1"/>
                            </a:solidFill>
                            <a:latin typeface="Cambria Math" panose="02040503050406030204"/>
                          </a:rPr>
                          <m:t>.</m:t>
                        </m:r>
                        <m:r>
                          <a:rPr lang="en-US" altLang="zh-CN" sz="2000" b="0" i="1" smtClean="0">
                            <a:solidFill>
                              <a:schemeClr val="tx1"/>
                            </a:solidFill>
                            <a:latin typeface="Cambria Math" panose="02040503050406030204"/>
                          </a:rPr>
                          <m:t>5</m:t>
                        </m:r>
                      </m:e>
                    </m:rad>
                  </m:oMath>
                </a14:m>
                <a:r>
                  <a:rPr lang="zh-CN" altLang="en-US" sz="2000" dirty="0" smtClean="0">
                    <a:solidFill>
                      <a:schemeClr val="tx1"/>
                    </a:solidFill>
                    <a:latin typeface="仿宋" panose="02010609060101010101" pitchFamily="49" charset="-122"/>
                    <a:ea typeface="仿宋" panose="02010609060101010101" pitchFamily="49" charset="-122"/>
                  </a:rPr>
                  <a:t>）</a:t>
                </a:r>
                <a:endParaRPr lang="en-US" altLang="zh-CN" sz="2000" dirty="0" smtClean="0">
                  <a:solidFill>
                    <a:schemeClr val="tx1"/>
                  </a:solidFill>
                  <a:latin typeface="仿宋" panose="02010609060101010101" pitchFamily="49" charset="-122"/>
                  <a:ea typeface="仿宋" panose="02010609060101010101" pitchFamily="49" charset="-122"/>
                </a:endParaRPr>
              </a:p>
              <a:p>
                <a:pPr>
                  <a:lnSpc>
                    <a:spcPct val="150000"/>
                  </a:lnSpc>
                  <a:buFont typeface="Arial" panose="020B0604020202020204" pitchFamily="34" charset="0"/>
                  <a:buChar char="•"/>
                </a:pPr>
                <a:r>
                  <a:rPr lang="zh-CN" altLang="en-US" sz="2000" dirty="0" smtClean="0">
                    <a:solidFill>
                      <a:schemeClr val="tx1"/>
                    </a:solidFill>
                    <a:latin typeface="仿宋" panose="02010609060101010101" pitchFamily="49" charset="-122"/>
                    <a:ea typeface="仿宋" panose="02010609060101010101" pitchFamily="49" charset="-122"/>
                  </a:rPr>
                  <a:t>探测：</a:t>
                </a:r>
                <a:r>
                  <a:rPr lang="en-US" altLang="zh-CN" sz="2000" dirty="0" smtClean="0">
                    <a:solidFill>
                      <a:schemeClr val="tx1"/>
                    </a:solidFill>
                    <a:latin typeface="仿宋" panose="02010609060101010101" pitchFamily="49" charset="-122"/>
                    <a:ea typeface="仿宋" panose="02010609060101010101" pitchFamily="49" charset="-122"/>
                  </a:rPr>
                  <a:t>n</a:t>
                </a:r>
                <a:r>
                  <a:rPr lang="zh-CN" altLang="en-US" sz="2000" dirty="0" smtClean="0">
                    <a:solidFill>
                      <a:schemeClr val="tx1"/>
                    </a:solidFill>
                    <a:latin typeface="仿宋" panose="02010609060101010101" pitchFamily="49" charset="-122"/>
                    <a:ea typeface="仿宋" panose="02010609060101010101" pitchFamily="49" charset="-122"/>
                  </a:rPr>
                  <a:t>＞</a:t>
                </a:r>
                <a:r>
                  <a:rPr lang="en-US" altLang="zh-CN" sz="2000" dirty="0" smtClean="0">
                    <a:solidFill>
                      <a:schemeClr val="tx1"/>
                    </a:solidFill>
                    <a:latin typeface="仿宋" panose="02010609060101010101" pitchFamily="49" charset="-122"/>
                    <a:ea typeface="仿宋" panose="02010609060101010101" pitchFamily="49" charset="-122"/>
                  </a:rPr>
                  <a:t>2</a:t>
                </a:r>
                <a:endParaRPr lang="en-US" altLang="zh-CN" sz="2000" dirty="0">
                  <a:solidFill>
                    <a:schemeClr val="tx1"/>
                  </a:solidFill>
                  <a:latin typeface="仿宋" panose="02010609060101010101" pitchFamily="49" charset="-122"/>
                  <a:ea typeface="仿宋" panose="02010609060101010101" pitchFamily="49" charset="-122"/>
                </a:endParaRPr>
              </a:p>
              <a:p>
                <a:pPr>
                  <a:lnSpc>
                    <a:spcPct val="150000"/>
                  </a:lnSpc>
                  <a:buFont typeface="Arial" panose="020B0604020202020204" pitchFamily="34" charset="0"/>
                  <a:buChar char="•"/>
                </a:pPr>
                <a:r>
                  <a:rPr lang="zh-CN" altLang="en-US" sz="2000" dirty="0" smtClean="0">
                    <a:solidFill>
                      <a:schemeClr val="tx1"/>
                    </a:solidFill>
                    <a:latin typeface="仿宋" panose="02010609060101010101" pitchFamily="49" charset="-122"/>
                    <a:ea typeface="仿宋" panose="02010609060101010101" pitchFamily="49" charset="-122"/>
                  </a:rPr>
                  <a:t>识别：</a:t>
                </a:r>
                <a:r>
                  <a:rPr lang="en-US" altLang="zh-CN" sz="2000" dirty="0" smtClean="0">
                    <a:solidFill>
                      <a:schemeClr val="tx1"/>
                    </a:solidFill>
                    <a:latin typeface="仿宋" panose="02010609060101010101" pitchFamily="49" charset="-122"/>
                    <a:ea typeface="仿宋" panose="02010609060101010101" pitchFamily="49" charset="-122"/>
                  </a:rPr>
                  <a:t>n</a:t>
                </a:r>
                <a:r>
                  <a:rPr lang="zh-CN" altLang="en-US" sz="2000" dirty="0" smtClean="0">
                    <a:solidFill>
                      <a:schemeClr val="tx1"/>
                    </a:solidFill>
                    <a:latin typeface="仿宋" panose="02010609060101010101" pitchFamily="49" charset="-122"/>
                    <a:ea typeface="仿宋" panose="02010609060101010101" pitchFamily="49" charset="-122"/>
                  </a:rPr>
                  <a:t>＞</a:t>
                </a:r>
                <a:r>
                  <a:rPr lang="en-US" altLang="zh-CN" sz="2000" dirty="0" smtClean="0">
                    <a:solidFill>
                      <a:schemeClr val="tx1"/>
                    </a:solidFill>
                    <a:latin typeface="仿宋" panose="02010609060101010101" pitchFamily="49" charset="-122"/>
                    <a:ea typeface="仿宋" panose="02010609060101010101" pitchFamily="49" charset="-122"/>
                  </a:rPr>
                  <a:t>8</a:t>
                </a:r>
                <a:endParaRPr lang="en-US" altLang="zh-CN" sz="2000" dirty="0">
                  <a:solidFill>
                    <a:schemeClr val="tx1"/>
                  </a:solidFill>
                  <a:latin typeface="仿宋" panose="02010609060101010101" pitchFamily="49" charset="-122"/>
                  <a:ea typeface="仿宋" panose="02010609060101010101" pitchFamily="49" charset="-122"/>
                </a:endParaRPr>
              </a:p>
              <a:p>
                <a:pPr>
                  <a:lnSpc>
                    <a:spcPct val="150000"/>
                  </a:lnSpc>
                  <a:buFont typeface="Arial" panose="020B0604020202020204" pitchFamily="34" charset="0"/>
                  <a:buChar char="•"/>
                </a:pPr>
                <a:r>
                  <a:rPr lang="zh-CN" altLang="en-US" sz="2000" dirty="0" smtClean="0">
                    <a:solidFill>
                      <a:schemeClr val="tx1"/>
                    </a:solidFill>
                    <a:latin typeface="仿宋" panose="02010609060101010101" pitchFamily="49" charset="-122"/>
                    <a:ea typeface="仿宋" panose="02010609060101010101" pitchFamily="49" charset="-122"/>
                  </a:rPr>
                  <a:t>辨认：</a:t>
                </a:r>
                <a:r>
                  <a:rPr lang="en-US" altLang="zh-CN" sz="2000" dirty="0" smtClean="0">
                    <a:solidFill>
                      <a:schemeClr val="tx1"/>
                    </a:solidFill>
                    <a:latin typeface="仿宋" panose="02010609060101010101" pitchFamily="49" charset="-122"/>
                    <a:ea typeface="仿宋" panose="02010609060101010101" pitchFamily="49" charset="-122"/>
                  </a:rPr>
                  <a:t>n</a:t>
                </a:r>
                <a:r>
                  <a:rPr lang="zh-CN" altLang="en-US" sz="2000" dirty="0" smtClean="0">
                    <a:solidFill>
                      <a:schemeClr val="tx1"/>
                    </a:solidFill>
                    <a:latin typeface="仿宋" panose="02010609060101010101" pitchFamily="49" charset="-122"/>
                    <a:ea typeface="仿宋" panose="02010609060101010101" pitchFamily="49" charset="-122"/>
                  </a:rPr>
                  <a:t>＞</a:t>
                </a:r>
                <a:r>
                  <a:rPr lang="en-US" altLang="zh-CN" sz="2000" dirty="0" smtClean="0">
                    <a:solidFill>
                      <a:schemeClr val="tx1"/>
                    </a:solidFill>
                    <a:latin typeface="仿宋" panose="02010609060101010101" pitchFamily="49" charset="-122"/>
                    <a:ea typeface="仿宋" panose="02010609060101010101" pitchFamily="49" charset="-122"/>
                  </a:rPr>
                  <a:t>12</a:t>
                </a:r>
                <a:endParaRPr lang="en-US" altLang="zh-CN" sz="2000" dirty="0">
                  <a:solidFill>
                    <a:schemeClr val="tx1"/>
                  </a:solidFill>
                  <a:latin typeface="仿宋" panose="02010609060101010101" pitchFamily="49" charset="-122"/>
                  <a:ea typeface="仿宋" panose="02010609060101010101" pitchFamily="49" charset="-122"/>
                </a:endParaRPr>
              </a:p>
              <a:p>
                <a:pPr>
                  <a:lnSpc>
                    <a:spcPct val="150000"/>
                  </a:lnSpc>
                </a:pPr>
                <a:endParaRPr lang="zh-CN" altLang="en-US" sz="2000"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l="-2" t="-4" r="3" b="9"/>
                </a:stretch>
              </a:blipFill>
            </p:spPr>
            <p:txBody>
              <a:bodyPr/>
              <a:lstStyle/>
              <a:p>
                <a:r>
                  <a:rPr lang="zh-CN" altLang="en-US">
                    <a:noFill/>
                  </a:rPr>
                  <a:t> </a:t>
                </a:r>
              </a:p>
            </p:txBody>
          </p:sp>
        </mc:Fallback>
      </mc:AlternateContent>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6170" y="3329632"/>
            <a:ext cx="5976664" cy="34385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五</a:t>
            </a:r>
            <a:r>
              <a:rPr lang="zh-CN" altLang="en-US" dirty="0" smtClean="0"/>
              <a:t>、常见的一些光学系统</a:t>
            </a:r>
            <a:endParaRPr lang="zh-CN" altLang="en-US" dirty="0"/>
          </a:p>
        </p:txBody>
      </p:sp>
      <p:sp>
        <p:nvSpPr>
          <p:cNvPr id="4" name="TextBox 3"/>
          <p:cNvSpPr txBox="1"/>
          <p:nvPr/>
        </p:nvSpPr>
        <p:spPr>
          <a:xfrm>
            <a:off x="1287239" y="953368"/>
            <a:ext cx="3813865" cy="3046988"/>
          </a:xfrm>
          <a:prstGeom prst="rect">
            <a:avLst/>
          </a:prstGeom>
          <a:noFill/>
        </p:spPr>
        <p:txBody>
          <a:bodyPr wrap="none" rtlCol="0">
            <a:spAutoFit/>
          </a:bodyPr>
          <a:lstStyle/>
          <a:p>
            <a:pPr marL="342900" indent="-342900">
              <a:lnSpc>
                <a:spcPct val="150000"/>
              </a:lnSpc>
              <a:buFont typeface="Wingdings" panose="05000000000000000000" pitchFamily="2" charset="2"/>
              <a:buChar char="Ø"/>
            </a:pPr>
            <a:r>
              <a:rPr lang="zh-CN" altLang="en-US" sz="3200" dirty="0" smtClean="0">
                <a:latin typeface="仿宋" panose="02010609060101010101" pitchFamily="49" charset="-122"/>
                <a:ea typeface="仿宋" panose="02010609060101010101" pitchFamily="49" charset="-122"/>
              </a:rPr>
              <a:t>常见红外光学系统</a:t>
            </a:r>
            <a:endParaRPr lang="en-US" altLang="zh-CN" sz="32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3200" dirty="0">
                <a:latin typeface="仿宋" panose="02010609060101010101" pitchFamily="49" charset="-122"/>
                <a:ea typeface="仿宋" panose="02010609060101010101" pitchFamily="49" charset="-122"/>
              </a:rPr>
              <a:t>望远</a:t>
            </a:r>
            <a:r>
              <a:rPr lang="zh-CN" altLang="en-US" sz="3200" dirty="0" smtClean="0">
                <a:latin typeface="仿宋" panose="02010609060101010101" pitchFamily="49" charset="-122"/>
                <a:ea typeface="仿宋" panose="02010609060101010101" pitchFamily="49" charset="-122"/>
              </a:rPr>
              <a:t>系统</a:t>
            </a:r>
            <a:endParaRPr lang="en-US" altLang="zh-CN" sz="32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3200" dirty="0">
                <a:latin typeface="仿宋" panose="02010609060101010101" pitchFamily="49" charset="-122"/>
                <a:ea typeface="仿宋" panose="02010609060101010101" pitchFamily="49" charset="-122"/>
              </a:rPr>
              <a:t>平行光管</a:t>
            </a:r>
            <a:endParaRPr lang="en-US" altLang="zh-CN" sz="3200" dirty="0" smtClean="0">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sz="3200" dirty="0" smtClean="0">
                <a:latin typeface="仿宋" panose="02010609060101010101" pitchFamily="49" charset="-122"/>
                <a:ea typeface="仿宋" panose="02010609060101010101" pitchFamily="49" charset="-122"/>
              </a:rPr>
              <a:t>目镜</a:t>
            </a:r>
            <a:endParaRPr lang="en-US" altLang="zh-CN" sz="3200" dirty="0" smtClean="0">
              <a:latin typeface="仿宋" panose="02010609060101010101" pitchFamily="49" charset="-122"/>
              <a:ea typeface="仿宋" panose="02010609060101010101" pitchFamily="49"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常见红外光学系统</a:t>
            </a:r>
            <a:endParaRPr lang="zh-CN" altLang="en-US" dirty="0"/>
          </a:p>
        </p:txBody>
      </p:sp>
      <p:sp>
        <p:nvSpPr>
          <p:cNvPr id="3" name="内容占位符 2"/>
          <p:cNvSpPr>
            <a:spLocks noGrp="1"/>
          </p:cNvSpPr>
          <p:nvPr>
            <p:ph idx="1"/>
          </p:nvPr>
        </p:nvSpPr>
        <p:spPr>
          <a:xfrm>
            <a:off x="6552034" y="953368"/>
            <a:ext cx="6840760" cy="2916825"/>
          </a:xfrm>
        </p:spPr>
        <p:txBody>
          <a:bodyPr/>
          <a:lstStyle/>
          <a:p>
            <a:pPr marL="457200" indent="-457200">
              <a:lnSpc>
                <a:spcPct val="150000"/>
              </a:lnSpc>
              <a:buFont typeface="Wingdings" panose="05000000000000000000" pitchFamily="2" charset="2"/>
              <a:buChar char="p"/>
            </a:pPr>
            <a:r>
              <a:rPr lang="zh-CN" altLang="en-US" sz="2800" b="1" dirty="0" smtClean="0">
                <a:solidFill>
                  <a:schemeClr val="accent5"/>
                </a:solidFill>
                <a:latin typeface="仿宋" panose="02010609060101010101" pitchFamily="49" charset="-122"/>
                <a:ea typeface="仿宋" panose="02010609060101010101" pitchFamily="49" charset="-122"/>
              </a:rPr>
              <a:t>远距物镜：</a:t>
            </a:r>
            <a:endParaRPr lang="en-US" altLang="zh-CN" sz="2800" b="1" dirty="0" smtClean="0">
              <a:solidFill>
                <a:schemeClr val="accent5"/>
              </a:solidFill>
              <a:latin typeface="仿宋" panose="02010609060101010101" pitchFamily="49" charset="-122"/>
              <a:ea typeface="仿宋" panose="02010609060101010101" pitchFamily="49" charset="-122"/>
            </a:endParaRPr>
          </a:p>
          <a:p>
            <a:pPr>
              <a:lnSpc>
                <a:spcPct val="150000"/>
              </a:lnSpc>
            </a:pPr>
            <a:r>
              <a:rPr lang="zh-CN" altLang="en-US" sz="2800" dirty="0" smtClean="0">
                <a:solidFill>
                  <a:schemeClr val="tx1"/>
                </a:solidFill>
                <a:latin typeface="仿宋" panose="02010609060101010101" pitchFamily="49" charset="-122"/>
                <a:ea typeface="仿宋" panose="02010609060101010101" pitchFamily="49" charset="-122"/>
              </a:rPr>
              <a:t>特点：</a:t>
            </a:r>
            <a:r>
              <a:rPr lang="en-US" altLang="zh-CN" sz="2800" dirty="0">
                <a:solidFill>
                  <a:schemeClr val="tx1"/>
                </a:solidFill>
                <a:latin typeface="仿宋" panose="02010609060101010101" pitchFamily="49" charset="-122"/>
                <a:ea typeface="仿宋" panose="02010609060101010101" pitchFamily="49" charset="-122"/>
              </a:rPr>
              <a:t>f´</a:t>
            </a:r>
            <a:r>
              <a:rPr lang="zh-CN" altLang="en-US" sz="2800" dirty="0" smtClean="0">
                <a:solidFill>
                  <a:schemeClr val="tx1"/>
                </a:solidFill>
                <a:latin typeface="仿宋" panose="02010609060101010101" pitchFamily="49" charset="-122"/>
                <a:ea typeface="仿宋" panose="02010609060101010101" pitchFamily="49" charset="-122"/>
              </a:rPr>
              <a:t>＞</a:t>
            </a:r>
            <a:r>
              <a:rPr lang="en-US" altLang="zh-CN" sz="2800" dirty="0" smtClean="0">
                <a:solidFill>
                  <a:schemeClr val="tx1"/>
                </a:solidFill>
                <a:latin typeface="仿宋" panose="02010609060101010101" pitchFamily="49" charset="-122"/>
                <a:ea typeface="仿宋" panose="02010609060101010101" pitchFamily="49" charset="-122"/>
              </a:rPr>
              <a:t>L</a:t>
            </a:r>
            <a:r>
              <a:rPr lang="zh-CN" altLang="en-US" sz="2800" dirty="0" smtClean="0">
                <a:solidFill>
                  <a:schemeClr val="tx1"/>
                </a:solidFill>
                <a:latin typeface="仿宋" panose="02010609060101010101" pitchFamily="49" charset="-122"/>
                <a:ea typeface="仿宋" panose="02010609060101010101" pitchFamily="49" charset="-122"/>
              </a:rPr>
              <a:t>，</a:t>
            </a:r>
            <a:endParaRPr lang="en-US" altLang="zh-CN" sz="2800" dirty="0" smtClean="0">
              <a:solidFill>
                <a:schemeClr val="tx1"/>
              </a:solidFill>
              <a:latin typeface="仿宋" panose="02010609060101010101" pitchFamily="49" charset="-122"/>
              <a:ea typeface="仿宋" panose="02010609060101010101" pitchFamily="49" charset="-122"/>
            </a:endParaRPr>
          </a:p>
          <a:p>
            <a:pPr>
              <a:lnSpc>
                <a:spcPct val="150000"/>
              </a:lnSpc>
            </a:pPr>
            <a:r>
              <a:rPr lang="zh-CN" altLang="en-US" sz="2800" dirty="0" smtClean="0">
                <a:solidFill>
                  <a:schemeClr val="tx1"/>
                </a:solidFill>
                <a:latin typeface="仿宋" panose="02010609060101010101" pitchFamily="49" charset="-122"/>
                <a:ea typeface="仿宋" panose="02010609060101010101" pitchFamily="49" charset="-122"/>
              </a:rPr>
              <a:t>像差特点：前组负担重</a:t>
            </a:r>
            <a:endParaRPr lang="en-US" altLang="zh-CN" sz="2800" dirty="0" smtClean="0">
              <a:solidFill>
                <a:schemeClr val="tx1"/>
              </a:solidFill>
              <a:latin typeface="仿宋" panose="02010609060101010101" pitchFamily="49" charset="-122"/>
              <a:ea typeface="仿宋" panose="02010609060101010101" pitchFamily="49" charset="-122"/>
            </a:endParaRPr>
          </a:p>
          <a:p>
            <a:pPr>
              <a:lnSpc>
                <a:spcPct val="150000"/>
              </a:lnSpc>
            </a:pPr>
            <a:r>
              <a:rPr lang="zh-CN" altLang="en-US" sz="2800" dirty="0" smtClean="0">
                <a:solidFill>
                  <a:schemeClr val="tx1"/>
                </a:solidFill>
                <a:latin typeface="仿宋" panose="02010609060101010101" pitchFamily="49" charset="-122"/>
                <a:ea typeface="仿宋" panose="02010609060101010101" pitchFamily="49" charset="-122"/>
              </a:rPr>
              <a:t>适用范围：长焦、要求紧凑、小视场系统</a:t>
            </a:r>
            <a:endParaRPr lang="en-US" altLang="zh-CN" sz="2800" dirty="0" smtClean="0">
              <a:solidFill>
                <a:schemeClr val="tx1"/>
              </a:solidFill>
              <a:latin typeface="仿宋" panose="02010609060101010101" pitchFamily="49" charset="-122"/>
              <a:ea typeface="仿宋" panose="02010609060101010101" pitchFamily="49" charset="-122"/>
            </a:endParaRPr>
          </a:p>
          <a:p>
            <a:endParaRPr lang="en-US" altLang="zh-CN" sz="2800" dirty="0">
              <a:latin typeface="微软雅黑" panose="020B0503020204020204" pitchFamily="34" charset="-122"/>
              <a:ea typeface="微软雅黑" panose="020B0503020204020204" pitchFamily="34" charset="-122"/>
            </a:endParaRPr>
          </a:p>
          <a:p>
            <a:endParaRPr lang="en-US" altLang="zh-CN" sz="2800" dirty="0" smtClean="0">
              <a:latin typeface="微软雅黑" panose="020B0503020204020204" pitchFamily="34" charset="-122"/>
              <a:ea typeface="微软雅黑" panose="020B0503020204020204" pitchFamily="34" charset="-122"/>
            </a:endParaRPr>
          </a:p>
          <a:p>
            <a:endParaRPr lang="en-US" altLang="zh-CN" sz="2800" dirty="0" smtClean="0">
              <a:latin typeface="微软雅黑" panose="020B0503020204020204" pitchFamily="34" charset="-122"/>
              <a:ea typeface="微软雅黑" panose="020B0503020204020204" pitchFamily="34" charset="-122"/>
            </a:endParaRPr>
          </a:p>
        </p:txBody>
      </p:sp>
      <p:pic>
        <p:nvPicPr>
          <p:cNvPr id="1638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4285" y="4230233"/>
            <a:ext cx="5086350" cy="3895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377" y="791708"/>
            <a:ext cx="4714875" cy="3438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6552034" y="4839267"/>
            <a:ext cx="7416131" cy="2677656"/>
          </a:xfrm>
          <a:prstGeom prst="rect">
            <a:avLst/>
          </a:prstGeom>
          <a:noFill/>
        </p:spPr>
        <p:txBody>
          <a:bodyPr wrap="square" rtlCol="0">
            <a:spAutoFit/>
          </a:bodyPr>
          <a:lstStyle/>
          <a:p>
            <a:pPr marL="457200" indent="-457200">
              <a:lnSpc>
                <a:spcPct val="150000"/>
              </a:lnSpc>
              <a:buFont typeface="Wingdings" panose="05000000000000000000" pitchFamily="2" charset="2"/>
              <a:buChar char="p"/>
            </a:pPr>
            <a:r>
              <a:rPr lang="zh-CN" altLang="en-US" sz="2800" b="1" dirty="0">
                <a:solidFill>
                  <a:schemeClr val="accent5"/>
                </a:solidFill>
                <a:latin typeface="仿宋" panose="02010609060101010101" pitchFamily="49" charset="-122"/>
                <a:ea typeface="仿宋" panose="02010609060101010101" pitchFamily="49" charset="-122"/>
              </a:rPr>
              <a:t>反远距物镜：</a:t>
            </a:r>
            <a:endParaRPr lang="en-US" altLang="zh-CN" sz="2800" b="1" dirty="0">
              <a:solidFill>
                <a:schemeClr val="accent5"/>
              </a:solidFill>
              <a:latin typeface="仿宋" panose="02010609060101010101" pitchFamily="49" charset="-122"/>
              <a:ea typeface="仿宋" panose="02010609060101010101" pitchFamily="49" charset="-122"/>
            </a:endParaRPr>
          </a:p>
          <a:p>
            <a:pPr>
              <a:lnSpc>
                <a:spcPct val="150000"/>
              </a:lnSpc>
            </a:pPr>
            <a:r>
              <a:rPr lang="zh-CN" altLang="en-US" sz="2800" dirty="0">
                <a:latin typeface="仿宋" panose="02010609060101010101" pitchFamily="49" charset="-122"/>
                <a:ea typeface="仿宋" panose="02010609060101010101" pitchFamily="49" charset="-122"/>
              </a:rPr>
              <a:t>特点：</a:t>
            </a:r>
            <a:r>
              <a:rPr lang="en-US" altLang="zh-CN" sz="2800" dirty="0">
                <a:latin typeface="仿宋" panose="02010609060101010101" pitchFamily="49" charset="-122"/>
                <a:ea typeface="仿宋" panose="02010609060101010101" pitchFamily="49" charset="-122"/>
              </a:rPr>
              <a:t>L</a:t>
            </a:r>
            <a:r>
              <a:rPr lang="zh-CN" altLang="en-US" sz="2800" dirty="0">
                <a:latin typeface="仿宋" panose="02010609060101010101" pitchFamily="49" charset="-122"/>
                <a:ea typeface="仿宋" panose="02010609060101010101" pitchFamily="49" charset="-122"/>
              </a:rPr>
              <a:t>＞</a:t>
            </a:r>
            <a:r>
              <a:rPr lang="en-US" altLang="zh-CN" sz="2800" dirty="0">
                <a:latin typeface="仿宋" panose="02010609060101010101" pitchFamily="49" charset="-122"/>
                <a:ea typeface="仿宋" panose="02010609060101010101" pitchFamily="49" charset="-122"/>
              </a:rPr>
              <a:t>f</a:t>
            </a:r>
            <a:r>
              <a:rPr lang="en-US" altLang="zh-CN" sz="2800" dirty="0" smtClean="0">
                <a:latin typeface="仿宋" panose="02010609060101010101" pitchFamily="49" charset="-122"/>
                <a:ea typeface="仿宋" panose="02010609060101010101" pitchFamily="49" charset="-122"/>
              </a:rPr>
              <a:t>´</a:t>
            </a:r>
            <a:endParaRPr lang="en-US" altLang="zh-CN" sz="2800" dirty="0" smtClean="0">
              <a:latin typeface="仿宋" panose="02010609060101010101" pitchFamily="49" charset="-122"/>
              <a:ea typeface="仿宋" panose="02010609060101010101" pitchFamily="49" charset="-122"/>
            </a:endParaRPr>
          </a:p>
          <a:p>
            <a:pPr>
              <a:lnSpc>
                <a:spcPct val="150000"/>
              </a:lnSpc>
            </a:pPr>
            <a:r>
              <a:rPr lang="zh-CN" altLang="en-US" sz="2800" dirty="0" smtClean="0">
                <a:latin typeface="仿宋" panose="02010609060101010101" pitchFamily="49" charset="-122"/>
                <a:ea typeface="仿宋" panose="02010609060101010101" pitchFamily="49" charset="-122"/>
              </a:rPr>
              <a:t>像</a:t>
            </a:r>
            <a:r>
              <a:rPr lang="zh-CN" altLang="en-US" sz="2800" dirty="0">
                <a:latin typeface="仿宋" panose="02010609060101010101" pitchFamily="49" charset="-122"/>
                <a:ea typeface="仿宋" panose="02010609060101010101" pitchFamily="49" charset="-122"/>
              </a:rPr>
              <a:t>差特点：后组负担</a:t>
            </a:r>
            <a:r>
              <a:rPr lang="zh-CN" altLang="en-US" sz="2800" dirty="0" smtClean="0">
                <a:latin typeface="仿宋" panose="02010609060101010101" pitchFamily="49" charset="-122"/>
                <a:ea typeface="仿宋" panose="02010609060101010101" pitchFamily="49" charset="-122"/>
              </a:rPr>
              <a:t>重</a:t>
            </a:r>
            <a:endParaRPr lang="en-US" altLang="zh-CN" sz="2800" dirty="0">
              <a:latin typeface="仿宋" panose="02010609060101010101" pitchFamily="49" charset="-122"/>
              <a:ea typeface="仿宋" panose="02010609060101010101" pitchFamily="49" charset="-122"/>
            </a:endParaRPr>
          </a:p>
          <a:p>
            <a:pPr>
              <a:lnSpc>
                <a:spcPct val="150000"/>
              </a:lnSpc>
            </a:pPr>
            <a:r>
              <a:rPr lang="zh-CN" altLang="en-US" sz="2800" dirty="0">
                <a:latin typeface="仿宋" panose="02010609060101010101" pitchFamily="49" charset="-122"/>
                <a:ea typeface="仿宋" panose="02010609060101010101" pitchFamily="49" charset="-122"/>
              </a:rPr>
              <a:t>适用于：短焦、大视场、长的后工作</a:t>
            </a:r>
            <a:r>
              <a:rPr lang="zh-CN" altLang="en-US" sz="2800" dirty="0" smtClean="0">
                <a:latin typeface="仿宋" panose="02010609060101010101" pitchFamily="49" charset="-122"/>
                <a:ea typeface="仿宋" panose="02010609060101010101" pitchFamily="49" charset="-122"/>
              </a:rPr>
              <a:t>距</a:t>
            </a:r>
            <a:endParaRPr lang="en-US" altLang="zh-CN" sz="2800" dirty="0">
              <a:latin typeface="仿宋" panose="02010609060101010101" pitchFamily="49" charset="-122"/>
              <a:ea typeface="仿宋" panose="02010609060101010101" pitchFamily="49" charset="-122"/>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望远系统</a:t>
            </a:r>
            <a:endParaRPr lang="zh-CN" altLang="en-US" dirty="0"/>
          </a:p>
        </p:txBody>
      </p:sp>
      <p:sp>
        <p:nvSpPr>
          <p:cNvPr id="3" name="内容占位符 2"/>
          <p:cNvSpPr>
            <a:spLocks noGrp="1"/>
          </p:cNvSpPr>
          <p:nvPr>
            <p:ph idx="1"/>
          </p:nvPr>
        </p:nvSpPr>
        <p:spPr/>
        <p:txBody>
          <a:bodyPr/>
          <a:lstStyle/>
          <a:p>
            <a:pPr marL="457200" indent="-457200">
              <a:lnSpc>
                <a:spcPct val="150000"/>
              </a:lnSpc>
              <a:buFont typeface="Wingdings" panose="05000000000000000000" pitchFamily="2" charset="2"/>
              <a:buChar char="p"/>
            </a:pPr>
            <a:r>
              <a:rPr lang="zh-CN" altLang="en-US" sz="2800" b="1" dirty="0" smtClean="0">
                <a:solidFill>
                  <a:schemeClr val="accent5"/>
                </a:solidFill>
                <a:latin typeface="仿宋" panose="02010609060101010101" pitchFamily="49" charset="-122"/>
                <a:ea typeface="仿宋" panose="02010609060101010101" pitchFamily="49" charset="-122"/>
              </a:rPr>
              <a:t>伽利略</a:t>
            </a:r>
            <a:r>
              <a:rPr lang="zh-CN" altLang="en-US" sz="2800" b="1" dirty="0">
                <a:solidFill>
                  <a:schemeClr val="accent5"/>
                </a:solidFill>
                <a:latin typeface="仿宋" panose="02010609060101010101" pitchFamily="49" charset="-122"/>
                <a:ea typeface="仿宋" panose="02010609060101010101" pitchFamily="49" charset="-122"/>
              </a:rPr>
              <a:t>型</a:t>
            </a:r>
            <a:endParaRPr lang="en-US" altLang="zh-CN" sz="2800" b="1" dirty="0" smtClean="0">
              <a:solidFill>
                <a:schemeClr val="accent5"/>
              </a:solidFill>
              <a:latin typeface="仿宋" panose="02010609060101010101" pitchFamily="49" charset="-122"/>
              <a:ea typeface="仿宋" panose="02010609060101010101" pitchFamily="49" charset="-122"/>
            </a:endParaRPr>
          </a:p>
          <a:p>
            <a:pPr marL="457200" indent="-457200">
              <a:lnSpc>
                <a:spcPct val="150000"/>
              </a:lnSpc>
              <a:buFont typeface="Wingdings" panose="05000000000000000000" pitchFamily="2" charset="2"/>
              <a:buChar char="p"/>
            </a:pPr>
            <a:r>
              <a:rPr lang="zh-CN" altLang="en-US" sz="2800" b="1" dirty="0">
                <a:solidFill>
                  <a:schemeClr val="accent5"/>
                </a:solidFill>
                <a:latin typeface="仿宋" panose="02010609060101010101" pitchFamily="49" charset="-122"/>
                <a:ea typeface="仿宋" panose="02010609060101010101" pitchFamily="49" charset="-122"/>
              </a:rPr>
              <a:t>开普</a:t>
            </a:r>
            <a:r>
              <a:rPr lang="zh-CN" altLang="en-US" sz="2800" b="1" dirty="0" smtClean="0">
                <a:solidFill>
                  <a:schemeClr val="accent5"/>
                </a:solidFill>
                <a:latin typeface="仿宋" panose="02010609060101010101" pitchFamily="49" charset="-122"/>
                <a:ea typeface="仿宋" panose="02010609060101010101" pitchFamily="49" charset="-122"/>
              </a:rPr>
              <a:t>勒型</a:t>
            </a:r>
            <a:endParaRPr lang="en-US" altLang="zh-CN" sz="2800" b="1" dirty="0" smtClean="0">
              <a:solidFill>
                <a:schemeClr val="accent5"/>
              </a:solidFill>
              <a:latin typeface="仿宋" panose="02010609060101010101" pitchFamily="49" charset="-122"/>
              <a:ea typeface="仿宋" panose="02010609060101010101" pitchFamily="49" charset="-122"/>
            </a:endParaRPr>
          </a:p>
        </p:txBody>
      </p:sp>
      <p:pic>
        <p:nvPicPr>
          <p:cNvPr id="7170" name="Picture 2" descr="C:\Users\07285yzl\Desktop\红外镜头设计简介\新建文件夹\b999a9014c086e06444cb62a08087bf40bd1cbef.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29964" y="4697784"/>
            <a:ext cx="4189760" cy="3142320"/>
          </a:xfrm>
          <a:prstGeom prst="rect">
            <a:avLst/>
          </a:prstGeom>
          <a:noFill/>
          <a:extLst>
            <a:ext uri="{909E8E84-426E-40DD-AFC4-6F175D3DCCD1}">
              <a14:hiddenFill xmlns:a14="http://schemas.microsoft.com/office/drawing/2010/main">
                <a:solidFill>
                  <a:srgbClr val="FFFFFF"/>
                </a:solidFill>
              </a14:hiddenFill>
            </a:ext>
          </a:extLst>
        </p:spPr>
      </p:pic>
      <p:pic>
        <p:nvPicPr>
          <p:cNvPr id="7171" name="Picture 3" descr="C:\Users\07285yzl\Desktop\红外镜头设计简介\新建文件夹\untitl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6130" y="4607482"/>
            <a:ext cx="4286250" cy="321945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C:\Users\07285yzl\Desktop\红外镜头设计简介\新建文件夹\2e2eb9389b504fc2ecd5c926e5dde71190ef6d0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1130" y="737344"/>
            <a:ext cx="6350000" cy="37211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望远系统</a:t>
            </a:r>
            <a:endParaRPr lang="zh-CN" altLang="en-US" dirty="0"/>
          </a:p>
        </p:txBody>
      </p:sp>
      <p:pic>
        <p:nvPicPr>
          <p:cNvPr id="8194" name="Picture 2" descr="C:\Users\07285yzl\Desktop\红外镜头设计简介\新建文件夹\src=http___pic2.zhimg.com_80_v2-5cc1b5df613174e50ccd8486eff30250_720w.jpg_source=1940ef5c&amp;refer=http___pic2.zhimg.jpg"/>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400199" y="953368"/>
            <a:ext cx="6192688" cy="4055466"/>
          </a:xfrm>
          <a:prstGeom prst="rect">
            <a:avLst/>
          </a:prstGeom>
          <a:noFill/>
          <a:extLst>
            <a:ext uri="{909E8E84-426E-40DD-AFC4-6F175D3DCCD1}">
              <a14:hiddenFill xmlns:a14="http://schemas.microsoft.com/office/drawing/2010/main">
                <a:solidFill>
                  <a:srgbClr val="FFFFFF"/>
                </a:solidFill>
              </a14:hiddenFill>
            </a:ext>
          </a:extLst>
        </p:spPr>
      </p:pic>
      <p:pic>
        <p:nvPicPr>
          <p:cNvPr id="8195" name="Picture 3" descr="C:\Users\07285yzl\Desktop\红外镜头设计简介\新建文件夹\src=http___p5.itc.cn_q_70_images03_20201102_9e25c37eb0114c3b92f82aca0efee1f1.png&amp;refer=http___p5.itc.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9478" y="1385416"/>
            <a:ext cx="7807325" cy="28892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087538" y="5777904"/>
            <a:ext cx="2449710" cy="637675"/>
          </a:xfrm>
          <a:prstGeom prst="rect">
            <a:avLst/>
          </a:prstGeom>
          <a:noFill/>
        </p:spPr>
        <p:txBody>
          <a:bodyPr wrap="none" rtlCol="0">
            <a:spAutoFit/>
          </a:bodyPr>
          <a:lstStyle/>
          <a:p>
            <a:pPr marL="457200" indent="-457200">
              <a:lnSpc>
                <a:spcPct val="150000"/>
              </a:lnSpc>
              <a:buFont typeface="Wingdings" panose="05000000000000000000" pitchFamily="2" charset="2"/>
              <a:buChar char="p"/>
            </a:pPr>
            <a:r>
              <a:rPr lang="zh-CN" altLang="en-US" sz="2800" b="1" dirty="0">
                <a:solidFill>
                  <a:schemeClr val="accent5"/>
                </a:solidFill>
                <a:latin typeface="仿宋" panose="02010609060101010101" pitchFamily="49" charset="-122"/>
                <a:ea typeface="仿宋" panose="02010609060101010101" pitchFamily="49" charset="-122"/>
              </a:rPr>
              <a:t>牛顿</a:t>
            </a:r>
            <a:r>
              <a:rPr lang="zh-CN" altLang="en-US" sz="2800" b="1" dirty="0" smtClean="0">
                <a:solidFill>
                  <a:schemeClr val="accent5"/>
                </a:solidFill>
                <a:latin typeface="仿宋" panose="02010609060101010101" pitchFamily="49" charset="-122"/>
                <a:ea typeface="仿宋" panose="02010609060101010101" pitchFamily="49" charset="-122"/>
              </a:rPr>
              <a:t>反射式</a:t>
            </a:r>
            <a:endParaRPr lang="en-US" altLang="zh-CN" sz="2800" b="1" dirty="0" smtClean="0">
              <a:solidFill>
                <a:schemeClr val="accent5"/>
              </a:solidFill>
              <a:latin typeface="仿宋" panose="02010609060101010101" pitchFamily="49" charset="-122"/>
              <a:ea typeface="仿宋" panose="02010609060101010101" pitchFamily="49" charset="-122"/>
            </a:endParaRPr>
          </a:p>
        </p:txBody>
      </p:sp>
      <p:sp>
        <p:nvSpPr>
          <p:cNvPr id="7" name="TextBox 6"/>
          <p:cNvSpPr txBox="1"/>
          <p:nvPr/>
        </p:nvSpPr>
        <p:spPr>
          <a:xfrm>
            <a:off x="9348780" y="5777903"/>
            <a:ext cx="2810385" cy="738664"/>
          </a:xfrm>
          <a:prstGeom prst="rect">
            <a:avLst/>
          </a:prstGeom>
          <a:noFill/>
        </p:spPr>
        <p:txBody>
          <a:bodyPr wrap="none" rtlCol="0">
            <a:spAutoFit/>
          </a:bodyPr>
          <a:lstStyle/>
          <a:p>
            <a:pPr marL="457200" indent="-457200">
              <a:lnSpc>
                <a:spcPct val="150000"/>
              </a:lnSpc>
              <a:buFont typeface="Wingdings" panose="05000000000000000000" pitchFamily="2" charset="2"/>
              <a:buChar char="p"/>
            </a:pPr>
            <a:r>
              <a:rPr lang="zh-CN" altLang="en-US" sz="2800" b="1" dirty="0" smtClean="0">
                <a:solidFill>
                  <a:schemeClr val="accent5"/>
                </a:solidFill>
                <a:latin typeface="仿宋" panose="02010609060101010101" pitchFamily="49" charset="-122"/>
                <a:ea typeface="仿宋" panose="02010609060101010101" pitchFamily="49" charset="-122"/>
              </a:rPr>
              <a:t>卡塞格林</a:t>
            </a:r>
            <a:r>
              <a:rPr lang="zh-CN" altLang="en-US" sz="2800" b="1" dirty="0">
                <a:solidFill>
                  <a:schemeClr val="accent5"/>
                </a:solidFill>
                <a:latin typeface="仿宋" panose="02010609060101010101" pitchFamily="49" charset="-122"/>
                <a:ea typeface="仿宋" panose="02010609060101010101" pitchFamily="49" charset="-122"/>
              </a:rPr>
              <a:t>系统</a:t>
            </a:r>
            <a:endParaRPr lang="zh-CN" altLang="en-US" sz="2800" b="1" dirty="0">
              <a:solidFill>
                <a:schemeClr val="accent5"/>
              </a:solidFill>
              <a:latin typeface="仿宋" panose="02010609060101010101" pitchFamily="49" charset="-122"/>
              <a:ea typeface="仿宋" panose="02010609060101010101" pitchFamily="49" charset="-122"/>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平行光管</a:t>
            </a:r>
            <a:endParaRPr lang="zh-CN" altLang="en-US" dirty="0"/>
          </a:p>
        </p:txBody>
      </p:sp>
      <p:pic>
        <p:nvPicPr>
          <p:cNvPr id="6146" name="Picture 2" descr="C:\Users\07285yzl\Desktop\红外镜头设计简介\新建文件夹\7a2d3712251237d102985374f8b3bcdd.jpg"/>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6264002" y="664652"/>
            <a:ext cx="8046487" cy="4290811"/>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7458" y="953368"/>
            <a:ext cx="4781550" cy="4543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2939158" y="5265960"/>
            <a:ext cx="2696572" cy="461665"/>
          </a:xfrm>
          <a:prstGeom prst="rect">
            <a:avLst/>
          </a:prstGeom>
          <a:noFill/>
        </p:spPr>
        <p:txBody>
          <a:bodyPr wrap="none" rtlCol="0">
            <a:spAutoFit/>
          </a:bodyPr>
          <a:lstStyle/>
          <a:p>
            <a:pPr marL="342900" indent="-342900">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反射式平行光管</a:t>
            </a:r>
            <a:endParaRPr lang="zh-CN" altLang="en-US" sz="2400" b="1" dirty="0">
              <a:solidFill>
                <a:schemeClr val="accent5"/>
              </a:solidFill>
              <a:latin typeface="仿宋" panose="02010609060101010101" pitchFamily="49" charset="-122"/>
              <a:ea typeface="仿宋" panose="02010609060101010101" pitchFamily="49" charset="-122"/>
            </a:endParaRPr>
          </a:p>
        </p:txBody>
      </p:sp>
      <p:sp>
        <p:nvSpPr>
          <p:cNvPr id="6" name="TextBox 5"/>
          <p:cNvSpPr txBox="1"/>
          <p:nvPr/>
        </p:nvSpPr>
        <p:spPr>
          <a:xfrm>
            <a:off x="2939158" y="6714008"/>
            <a:ext cx="2696572" cy="461665"/>
          </a:xfrm>
          <a:prstGeom prst="rect">
            <a:avLst/>
          </a:prstGeom>
          <a:noFill/>
        </p:spPr>
        <p:txBody>
          <a:bodyPr wrap="none" rtlCol="0">
            <a:spAutoFit/>
          </a:bodyPr>
          <a:lstStyle/>
          <a:p>
            <a:pPr marL="342900" indent="-342900">
              <a:buFont typeface="Wingdings" panose="05000000000000000000" pitchFamily="2" charset="2"/>
              <a:buChar char="p"/>
            </a:pPr>
            <a:r>
              <a:rPr lang="zh-CN" altLang="en-US" sz="2400" b="1" dirty="0" smtClean="0">
                <a:solidFill>
                  <a:schemeClr val="accent5"/>
                </a:solidFill>
                <a:latin typeface="仿宋" panose="02010609060101010101" pitchFamily="49" charset="-122"/>
                <a:ea typeface="仿宋" panose="02010609060101010101" pitchFamily="49" charset="-122"/>
              </a:rPr>
              <a:t>透射式平行光管</a:t>
            </a:r>
            <a:endParaRPr lang="zh-CN" altLang="en-US" sz="2400" b="1" dirty="0">
              <a:solidFill>
                <a:schemeClr val="accent5"/>
              </a:solidFill>
              <a:latin typeface="仿宋" panose="02010609060101010101" pitchFamily="49" charset="-122"/>
              <a:ea typeface="仿宋" panose="02010609060101010101" pitchFamily="49" charset="-122"/>
            </a:endParaRP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2829" y="4985816"/>
            <a:ext cx="5419725" cy="3095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目镜</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208218" y="1745456"/>
                <a:ext cx="5832648" cy="5097372"/>
              </a:xfrm>
            </p:spPr>
            <p:txBody>
              <a:bodyPr/>
              <a:lstStyle/>
              <a:p>
                <a:pPr>
                  <a:lnSpc>
                    <a:spcPct val="150000"/>
                  </a:lnSpc>
                  <a:buFont typeface="Arial" panose="020B0604020202020204" pitchFamily="34" charset="0"/>
                  <a:buChar char="•"/>
                </a:pPr>
                <a:r>
                  <a:rPr lang="zh-CN" altLang="en-US" sz="2400" b="1" dirty="0" smtClean="0">
                    <a:solidFill>
                      <a:schemeClr val="accent5"/>
                    </a:solidFill>
                    <a:latin typeface="仿宋" panose="02010609060101010101" pitchFamily="49" charset="-122"/>
                    <a:ea typeface="仿宋" panose="02010609060101010101" pitchFamily="49" charset="-122"/>
                  </a:rPr>
                  <a:t>出瞳直径：</a:t>
                </a:r>
                <a:r>
                  <a:rPr lang="zh-CN" altLang="en-US" sz="2400" dirty="0" smtClean="0">
                    <a:solidFill>
                      <a:schemeClr val="tx1"/>
                    </a:solidFill>
                    <a:latin typeface="仿宋" panose="02010609060101010101" pitchFamily="49" charset="-122"/>
                    <a:ea typeface="仿宋" panose="02010609060101010101" pitchFamily="49" charset="-122"/>
                  </a:rPr>
                  <a:t>一般和眼瞳配合</a:t>
                </a:r>
                <a:endParaRPr lang="en-US" altLang="zh-CN" sz="2400" dirty="0" smtClean="0">
                  <a:solidFill>
                    <a:schemeClr val="tx1"/>
                  </a:solidFill>
                  <a:latin typeface="仿宋" panose="02010609060101010101" pitchFamily="49" charset="-122"/>
                  <a:ea typeface="仿宋" panose="02010609060101010101" pitchFamily="49" charset="-122"/>
                </a:endParaRPr>
              </a:p>
              <a:p>
                <a:pPr>
                  <a:lnSpc>
                    <a:spcPct val="150000"/>
                  </a:lnSpc>
                  <a:buFont typeface="Arial" panose="020B0604020202020204" pitchFamily="34" charset="0"/>
                  <a:buChar char="•"/>
                </a:pPr>
                <a:r>
                  <a:rPr lang="zh-CN" altLang="en-US" sz="2400" b="1" dirty="0">
                    <a:solidFill>
                      <a:schemeClr val="accent5"/>
                    </a:solidFill>
                    <a:latin typeface="仿宋" panose="02010609060101010101" pitchFamily="49" charset="-122"/>
                    <a:ea typeface="仿宋" panose="02010609060101010101" pitchFamily="49" charset="-122"/>
                  </a:rPr>
                  <a:t>出瞳</a:t>
                </a:r>
                <a:r>
                  <a:rPr lang="zh-CN" altLang="en-US" sz="2400" b="1" dirty="0" smtClean="0">
                    <a:solidFill>
                      <a:schemeClr val="accent5"/>
                    </a:solidFill>
                    <a:latin typeface="仿宋" panose="02010609060101010101" pitchFamily="49" charset="-122"/>
                    <a:ea typeface="仿宋" panose="02010609060101010101" pitchFamily="49" charset="-122"/>
                  </a:rPr>
                  <a:t>距：</a:t>
                </a:r>
                <a:r>
                  <a:rPr lang="zh-CN" altLang="en-US" sz="2400" dirty="0" smtClean="0">
                    <a:solidFill>
                      <a:schemeClr val="tx1"/>
                    </a:solidFill>
                    <a:latin typeface="仿宋" panose="02010609060101010101" pitchFamily="49" charset="-122"/>
                    <a:ea typeface="仿宋" panose="02010609060101010101" pitchFamily="49" charset="-122"/>
                  </a:rPr>
                  <a:t>镜片顶点到出瞳的距离</a:t>
                </a:r>
                <a:endParaRPr lang="en-US" altLang="zh-CN" sz="2400" dirty="0" smtClean="0">
                  <a:solidFill>
                    <a:schemeClr val="tx1"/>
                  </a:solidFill>
                  <a:latin typeface="仿宋" panose="02010609060101010101" pitchFamily="49" charset="-122"/>
                  <a:ea typeface="仿宋" panose="02010609060101010101" pitchFamily="49" charset="-122"/>
                </a:endParaRPr>
              </a:p>
              <a:p>
                <a:pPr>
                  <a:lnSpc>
                    <a:spcPct val="150000"/>
                  </a:lnSpc>
                  <a:buFont typeface="Arial" panose="020B0604020202020204" pitchFamily="34" charset="0"/>
                  <a:buChar char="•"/>
                </a:pPr>
                <a:r>
                  <a:rPr lang="zh-CN" altLang="en-US" sz="2400" b="1" dirty="0">
                    <a:solidFill>
                      <a:schemeClr val="accent5"/>
                    </a:solidFill>
                    <a:latin typeface="仿宋" panose="02010609060101010101" pitchFamily="49" charset="-122"/>
                    <a:ea typeface="仿宋" panose="02010609060101010101" pitchFamily="49" charset="-122"/>
                  </a:rPr>
                  <a:t>视觉放大率</a:t>
                </a:r>
                <a:r>
                  <a:rPr lang="zh-CN" altLang="en-US" sz="2400" b="1" dirty="0" smtClean="0">
                    <a:solidFill>
                      <a:schemeClr val="accent5"/>
                    </a:solidFill>
                    <a:latin typeface="仿宋" panose="02010609060101010101" pitchFamily="49" charset="-122"/>
                    <a:ea typeface="仿宋" panose="02010609060101010101" pitchFamily="49" charset="-122"/>
                  </a:rPr>
                  <a:t>：</a:t>
                </a:r>
                <a14:m>
                  <m:oMath xmlns:m="http://schemas.openxmlformats.org/officeDocument/2006/math">
                    <m:r>
                      <a:rPr lang="el-GR" altLang="zh-CN" sz="2400" b="1" i="1">
                        <a:solidFill>
                          <a:schemeClr val="accent5"/>
                        </a:solidFill>
                        <a:latin typeface="Cambria Math" panose="02040503050406030204"/>
                        <a:ea typeface="仿宋" panose="02010609060101010101" pitchFamily="49" charset="-122"/>
                      </a:rPr>
                      <m:t>𝜞</m:t>
                    </m:r>
                    <m:r>
                      <a:rPr lang="en-US" altLang="zh-CN" sz="2400" b="1" i="1" smtClean="0">
                        <a:solidFill>
                          <a:schemeClr val="accent5"/>
                        </a:solidFill>
                        <a:latin typeface="Cambria Math" panose="02040503050406030204"/>
                        <a:ea typeface="仿宋" panose="02010609060101010101" pitchFamily="49" charset="-122"/>
                      </a:rPr>
                      <m:t>=</m:t>
                    </m:r>
                    <m:f>
                      <m:fPr>
                        <m:ctrlPr>
                          <a:rPr lang="en-US" altLang="zh-CN" sz="2400" b="1" i="1" smtClean="0">
                            <a:solidFill>
                              <a:schemeClr val="accent5"/>
                            </a:solidFill>
                            <a:latin typeface="Cambria Math" panose="02040503050406030204" pitchFamily="18" charset="0"/>
                            <a:ea typeface="仿宋" panose="02010609060101010101" pitchFamily="49" charset="-122"/>
                          </a:rPr>
                        </m:ctrlPr>
                      </m:fPr>
                      <m:num>
                        <m:r>
                          <a:rPr lang="en-US" altLang="zh-CN" sz="2400" b="1" i="1" smtClean="0">
                            <a:solidFill>
                              <a:schemeClr val="accent5"/>
                            </a:solidFill>
                            <a:latin typeface="Cambria Math" panose="02040503050406030204"/>
                            <a:ea typeface="仿宋" panose="02010609060101010101" pitchFamily="49" charset="-122"/>
                          </a:rPr>
                          <m:t>𝟐𝟓𝟎</m:t>
                        </m:r>
                      </m:num>
                      <m:den>
                        <m:sSub>
                          <m:sSubPr>
                            <m:ctrlPr>
                              <a:rPr lang="en-US" altLang="zh-CN" sz="2400" b="1" i="1" smtClean="0">
                                <a:solidFill>
                                  <a:schemeClr val="accent5"/>
                                </a:solidFill>
                                <a:latin typeface="Cambria Math" panose="02040503050406030204" pitchFamily="18" charset="0"/>
                                <a:ea typeface="仿宋" panose="02010609060101010101" pitchFamily="49" charset="-122"/>
                              </a:rPr>
                            </m:ctrlPr>
                          </m:sSubPr>
                          <m:e>
                            <m:r>
                              <a:rPr lang="en-US" altLang="zh-CN" sz="2400" b="1" i="1" smtClean="0">
                                <a:solidFill>
                                  <a:schemeClr val="accent5"/>
                                </a:solidFill>
                                <a:latin typeface="Cambria Math" panose="02040503050406030204"/>
                                <a:ea typeface="仿宋" panose="02010609060101010101" pitchFamily="49" charset="-122"/>
                              </a:rPr>
                              <m:t>𝒇</m:t>
                            </m:r>
                          </m:e>
                          <m:sub>
                            <m:r>
                              <a:rPr lang="zh-CN" altLang="en-US" sz="2400" b="1" i="1" smtClean="0">
                                <a:solidFill>
                                  <a:schemeClr val="accent5"/>
                                </a:solidFill>
                                <a:latin typeface="Cambria Math" panose="02040503050406030204"/>
                                <a:ea typeface="仿宋" panose="02010609060101010101" pitchFamily="49" charset="-122"/>
                              </a:rPr>
                              <m:t>目</m:t>
                            </m:r>
                          </m:sub>
                        </m:sSub>
                      </m:den>
                    </m:f>
                  </m:oMath>
                </a14:m>
                <a:r>
                  <a:rPr lang="zh-CN" altLang="en-US" sz="2400" dirty="0" smtClean="0">
                    <a:solidFill>
                      <a:schemeClr val="tx1"/>
                    </a:solidFill>
                    <a:latin typeface="仿宋" panose="02010609060101010101" pitchFamily="49" charset="-122"/>
                    <a:ea typeface="仿宋" panose="02010609060101010101" pitchFamily="49" charset="-122"/>
                  </a:rPr>
                  <a:t>，</a:t>
                </a:r>
                <a14:m>
                  <m:oMath xmlns:m="http://schemas.openxmlformats.org/officeDocument/2006/math">
                    <m:sSub>
                      <m:sSubPr>
                        <m:ctrlPr>
                          <a:rPr lang="en-US" altLang="zh-CN" sz="2400" b="1" i="1">
                            <a:solidFill>
                              <a:schemeClr val="accent5"/>
                            </a:solidFill>
                            <a:latin typeface="Cambria Math" panose="02040503050406030204" pitchFamily="18" charset="0"/>
                            <a:ea typeface="仿宋" panose="02010609060101010101" pitchFamily="49" charset="-122"/>
                          </a:rPr>
                        </m:ctrlPr>
                      </m:sSubPr>
                      <m:e>
                        <m:r>
                          <a:rPr lang="en-US" altLang="zh-CN" sz="2400" b="1" i="1">
                            <a:solidFill>
                              <a:schemeClr val="accent5"/>
                            </a:solidFill>
                            <a:latin typeface="Cambria Math" panose="02040503050406030204"/>
                            <a:ea typeface="仿宋" panose="02010609060101010101" pitchFamily="49" charset="-122"/>
                          </a:rPr>
                          <m:t>𝒇</m:t>
                        </m:r>
                      </m:e>
                      <m:sub>
                        <m:r>
                          <a:rPr lang="zh-CN" altLang="en-US" sz="2400" b="1" i="1">
                            <a:solidFill>
                              <a:schemeClr val="accent5"/>
                            </a:solidFill>
                            <a:latin typeface="Cambria Math" panose="02040503050406030204"/>
                            <a:ea typeface="仿宋" panose="02010609060101010101" pitchFamily="49" charset="-122"/>
                          </a:rPr>
                          <m:t>目</m:t>
                        </m:r>
                      </m:sub>
                    </m:sSub>
                  </m:oMath>
                </a14:m>
                <a:r>
                  <a:rPr lang="zh-CN" altLang="en-US" sz="2400" dirty="0" smtClean="0">
                    <a:solidFill>
                      <a:schemeClr val="tx1"/>
                    </a:solidFill>
                    <a:latin typeface="仿宋" panose="02010609060101010101" pitchFamily="49" charset="-122"/>
                    <a:ea typeface="仿宋" panose="02010609060101010101" pitchFamily="49" charset="-122"/>
                  </a:rPr>
                  <a:t>：目镜焦距</a:t>
                </a:r>
                <a:endParaRPr lang="en-US" altLang="zh-CN" sz="2400" dirty="0" smtClean="0">
                  <a:solidFill>
                    <a:schemeClr val="tx1"/>
                  </a:solidFill>
                  <a:latin typeface="仿宋" panose="02010609060101010101" pitchFamily="49" charset="-122"/>
                  <a:ea typeface="仿宋" panose="02010609060101010101" pitchFamily="49" charset="-122"/>
                </a:endParaRPr>
              </a:p>
              <a:p>
                <a:pPr>
                  <a:lnSpc>
                    <a:spcPct val="150000"/>
                  </a:lnSpc>
                  <a:buFont typeface="Arial" panose="020B0604020202020204" pitchFamily="34" charset="0"/>
                  <a:buChar char="•"/>
                </a:pPr>
                <a:r>
                  <a:rPr lang="zh-CN" altLang="en-US" sz="2400" b="1" dirty="0">
                    <a:solidFill>
                      <a:schemeClr val="accent5"/>
                    </a:solidFill>
                    <a:latin typeface="仿宋" panose="02010609060101010101" pitchFamily="49" charset="-122"/>
                    <a:ea typeface="仿宋" panose="02010609060101010101" pitchFamily="49" charset="-122"/>
                  </a:rPr>
                  <a:t>表观视场：</a:t>
                </a:r>
                <a:r>
                  <a:rPr lang="zh-CN" altLang="en-US" sz="2400" dirty="0" smtClean="0">
                    <a:solidFill>
                      <a:schemeClr val="tx1"/>
                    </a:solidFill>
                    <a:latin typeface="仿宋" panose="02010609060101010101" pitchFamily="49" charset="-122"/>
                    <a:ea typeface="仿宋" panose="02010609060101010101" pitchFamily="49" charset="-122"/>
                  </a:rPr>
                  <a:t>人眼通过</a:t>
                </a:r>
                <a:r>
                  <a:rPr lang="zh-CN" altLang="en-US" sz="2400" dirty="0">
                    <a:solidFill>
                      <a:schemeClr val="tx1"/>
                    </a:solidFill>
                    <a:latin typeface="仿宋" panose="02010609060101010101" pitchFamily="49" charset="-122"/>
                    <a:ea typeface="仿宋" panose="02010609060101010101" pitchFamily="49" charset="-122"/>
                  </a:rPr>
                  <a:t>目</a:t>
                </a:r>
                <a:r>
                  <a:rPr lang="zh-CN" altLang="en-US" sz="2400" dirty="0" smtClean="0">
                    <a:solidFill>
                      <a:schemeClr val="tx1"/>
                    </a:solidFill>
                    <a:latin typeface="仿宋" panose="02010609060101010101" pitchFamily="49" charset="-122"/>
                    <a:ea typeface="仿宋" panose="02010609060101010101" pitchFamily="49" charset="-122"/>
                  </a:rPr>
                  <a:t>镜看到的是正立放大的虚像，这个虚像对人眼的张角</a:t>
                </a:r>
                <a:endParaRPr lang="en-US" altLang="zh-CN" sz="2400" dirty="0" smtClean="0">
                  <a:solidFill>
                    <a:schemeClr val="tx1"/>
                  </a:solidFill>
                  <a:latin typeface="仿宋" panose="02010609060101010101" pitchFamily="49" charset="-122"/>
                  <a:ea typeface="仿宋" panose="02010609060101010101" pitchFamily="49" charset="-122"/>
                </a:endParaRPr>
              </a:p>
              <a:p>
                <a:pPr>
                  <a:lnSpc>
                    <a:spcPct val="150000"/>
                  </a:lnSpc>
                  <a:buFont typeface="Arial" panose="020B0604020202020204" pitchFamily="34" charset="0"/>
                  <a:buChar char="•"/>
                </a:pPr>
                <a:r>
                  <a:rPr lang="zh-CN" altLang="en-US" sz="2400" b="1" dirty="0">
                    <a:solidFill>
                      <a:schemeClr val="accent5"/>
                    </a:solidFill>
                    <a:latin typeface="仿宋" panose="02010609060101010101" pitchFamily="49" charset="-122"/>
                    <a:ea typeface="仿宋" panose="02010609060101010101" pitchFamily="49" charset="-122"/>
                  </a:rPr>
                  <a:t>视度</a:t>
                </a:r>
                <a:r>
                  <a:rPr lang="zh-CN" altLang="en-US" sz="2400" b="1" dirty="0" smtClean="0">
                    <a:solidFill>
                      <a:schemeClr val="accent5"/>
                    </a:solidFill>
                    <a:latin typeface="仿宋" panose="02010609060101010101" pitchFamily="49" charset="-122"/>
                    <a:ea typeface="仿宋" panose="02010609060101010101" pitchFamily="49" charset="-122"/>
                  </a:rPr>
                  <a:t>调节：</a:t>
                </a:r>
                <a:r>
                  <a:rPr lang="en-US" altLang="zh-CN" sz="2400" dirty="0">
                    <a:solidFill>
                      <a:schemeClr val="tx1"/>
                    </a:solidFill>
                    <a:latin typeface="仿宋" panose="02010609060101010101" pitchFamily="49" charset="-122"/>
                    <a:ea typeface="仿宋" panose="02010609060101010101" pitchFamily="49" charset="-122"/>
                  </a:rPr>
                  <a:t>1</a:t>
                </a:r>
                <a:r>
                  <a:rPr lang="zh-CN" altLang="en-US" sz="2400" dirty="0">
                    <a:solidFill>
                      <a:schemeClr val="tx1"/>
                    </a:solidFill>
                    <a:latin typeface="仿宋" panose="02010609060101010101" pitchFamily="49" charset="-122"/>
                    <a:ea typeface="仿宋" panose="02010609060101010101" pitchFamily="49" charset="-122"/>
                  </a:rPr>
                  <a:t>个视度调节量</a:t>
                </a:r>
                <a:r>
                  <a:rPr lang="en-US" altLang="zh-CN" sz="2400" dirty="0">
                    <a:solidFill>
                      <a:schemeClr val="tx1"/>
                    </a:solidFill>
                    <a:latin typeface="仿宋" panose="02010609060101010101" pitchFamily="49" charset="-122"/>
                    <a:ea typeface="仿宋" panose="02010609060101010101" pitchFamily="49" charset="-122"/>
                  </a:rPr>
                  <a:t>= </a:t>
                </a:r>
                <a:r>
                  <a:rPr lang="en-US" altLang="zh-CN" sz="2400" dirty="0" smtClean="0">
                    <a:solidFill>
                      <a:schemeClr val="tx1"/>
                    </a:solidFill>
                    <a:latin typeface="仿宋" panose="02010609060101010101" pitchFamily="49" charset="-122"/>
                    <a:ea typeface="仿宋" panose="02010609060101010101" pitchFamily="49" charset="-122"/>
                  </a:rPr>
                  <a:t>f</a:t>
                </a:r>
                <a:r>
                  <a:rPr lang="en-US" altLang="zh-CN" sz="2400" baseline="30000" dirty="0" smtClean="0">
                    <a:solidFill>
                      <a:schemeClr val="tx1"/>
                    </a:solidFill>
                    <a:latin typeface="仿宋" panose="02010609060101010101" pitchFamily="49" charset="-122"/>
                    <a:ea typeface="仿宋" panose="02010609060101010101" pitchFamily="49" charset="-122"/>
                  </a:rPr>
                  <a:t>2</a:t>
                </a:r>
                <a:r>
                  <a:rPr lang="en-US" altLang="zh-CN" sz="2400" dirty="0" smtClean="0">
                    <a:solidFill>
                      <a:schemeClr val="tx1"/>
                    </a:solidFill>
                    <a:latin typeface="仿宋" panose="02010609060101010101" pitchFamily="49" charset="-122"/>
                    <a:ea typeface="仿宋" panose="02010609060101010101" pitchFamily="49" charset="-122"/>
                  </a:rPr>
                  <a:t>/1000</a:t>
                </a:r>
                <a:r>
                  <a:rPr lang="zh-CN" altLang="en-US" sz="2400" dirty="0" smtClean="0">
                    <a:solidFill>
                      <a:schemeClr val="tx1"/>
                    </a:solidFill>
                    <a:latin typeface="仿宋" panose="02010609060101010101" pitchFamily="49" charset="-122"/>
                    <a:ea typeface="仿宋" panose="02010609060101010101" pitchFamily="49" charset="-122"/>
                  </a:rPr>
                  <a:t>，</a:t>
                </a:r>
                <a:r>
                  <a:rPr lang="en-US" altLang="zh-CN" sz="2400" dirty="0" smtClean="0">
                    <a:solidFill>
                      <a:schemeClr val="tx1"/>
                    </a:solidFill>
                    <a:latin typeface="仿宋" panose="02010609060101010101" pitchFamily="49" charset="-122"/>
                    <a:ea typeface="仿宋" panose="02010609060101010101" pitchFamily="49" charset="-122"/>
                  </a:rPr>
                  <a:t>f:</a:t>
                </a:r>
                <a:r>
                  <a:rPr lang="zh-CN" altLang="en-US" sz="2400" dirty="0" smtClean="0">
                    <a:solidFill>
                      <a:schemeClr val="tx1"/>
                    </a:solidFill>
                    <a:latin typeface="仿宋" panose="02010609060101010101" pitchFamily="49" charset="-122"/>
                    <a:ea typeface="仿宋" panose="02010609060101010101" pitchFamily="49" charset="-122"/>
                  </a:rPr>
                  <a:t>目镜焦距</a:t>
                </a:r>
                <a:endParaRPr lang="zh-CN" altLang="en-US" sz="2400" dirty="0">
                  <a:solidFill>
                    <a:schemeClr val="tx1"/>
                  </a:solidFill>
                  <a:latin typeface="仿宋" panose="02010609060101010101" pitchFamily="49" charset="-122"/>
                  <a:ea typeface="仿宋" panose="02010609060101010101" pitchFamily="49"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8208218" y="1745456"/>
                <a:ext cx="5832648" cy="5097372"/>
              </a:xfrm>
              <a:blipFill rotWithShape="1">
                <a:blip r:embed="rId1"/>
                <a:stretch>
                  <a:fillRect l="-4" t="-9" r="7" b="1"/>
                </a:stretch>
              </a:blipFill>
            </p:spPr>
            <p:txBody>
              <a:bodyPr/>
              <a:lstStyle/>
              <a:p>
                <a:r>
                  <a:rPr lang="zh-CN" altLang="en-US">
                    <a:noFill/>
                  </a:rPr>
                  <a:t> </a:t>
                </a:r>
              </a:p>
            </p:txBody>
          </p:sp>
        </mc:Fallback>
      </mc:AlternateContent>
      <p:pic>
        <p:nvPicPr>
          <p:cNvPr id="512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5256" y="1025376"/>
            <a:ext cx="6840760" cy="29974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256" y="4379316"/>
            <a:ext cx="6840761" cy="31627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透镜中心厚度和边缘厚度</a:t>
            </a:r>
            <a:endParaRPr lang="zh-CN" altLang="en-US" dirty="0"/>
          </a:p>
        </p:txBody>
      </p:sp>
      <p:sp>
        <p:nvSpPr>
          <p:cNvPr id="3" name="内容占位符 2"/>
          <p:cNvSpPr>
            <a:spLocks noGrp="1"/>
          </p:cNvSpPr>
          <p:nvPr>
            <p:ph idx="1"/>
          </p:nvPr>
        </p:nvSpPr>
        <p:spPr>
          <a:xfrm>
            <a:off x="2879626" y="4553768"/>
            <a:ext cx="6984776" cy="3096344"/>
          </a:xfrm>
        </p:spPr>
        <p:txBody>
          <a:bodyPr/>
          <a:lstStyle/>
          <a:p>
            <a:pPr marL="342900" indent="-342900">
              <a:lnSpc>
                <a:spcPct val="150000"/>
              </a:lnSpc>
              <a:buFont typeface="Wingdings" panose="05000000000000000000" pitchFamily="2" charset="2"/>
              <a:buChar char="p"/>
            </a:pPr>
            <a:r>
              <a:rPr lang="zh-CN" altLang="en-US" sz="2400" dirty="0" smtClean="0">
                <a:solidFill>
                  <a:schemeClr val="tx1"/>
                </a:solidFill>
                <a:latin typeface="仿宋" panose="02010609060101010101" pitchFamily="49" charset="-122"/>
                <a:ea typeface="仿宋" panose="02010609060101010101" pitchFamily="49" charset="-122"/>
              </a:rPr>
              <a:t>红外</a:t>
            </a:r>
            <a:r>
              <a:rPr lang="zh-CN" altLang="en-US" sz="2400" dirty="0">
                <a:solidFill>
                  <a:schemeClr val="tx1"/>
                </a:solidFill>
                <a:latin typeface="仿宋" panose="02010609060101010101" pitchFamily="49" charset="-122"/>
                <a:ea typeface="仿宋" panose="02010609060101010101" pitchFamily="49" charset="-122"/>
              </a:rPr>
              <a:t>光学</a:t>
            </a:r>
            <a:r>
              <a:rPr lang="zh-CN" altLang="en-US" sz="2400" dirty="0" smtClean="0">
                <a:solidFill>
                  <a:schemeClr val="tx1"/>
                </a:solidFill>
                <a:latin typeface="仿宋" panose="02010609060101010101" pitchFamily="49" charset="-122"/>
                <a:ea typeface="仿宋" panose="02010609060101010101" pitchFamily="49" charset="-122"/>
              </a:rPr>
              <a:t>：</a:t>
            </a:r>
            <a:endParaRPr lang="en-US" altLang="zh-CN" sz="2400" dirty="0" smtClean="0">
              <a:solidFill>
                <a:schemeClr val="tx1"/>
              </a:solidFill>
              <a:latin typeface="仿宋" panose="02010609060101010101" pitchFamily="49" charset="-122"/>
              <a:ea typeface="仿宋" panose="02010609060101010101" pitchFamily="49" charset="-122"/>
            </a:endParaRPr>
          </a:p>
          <a:p>
            <a:pPr>
              <a:lnSpc>
                <a:spcPct val="150000"/>
              </a:lnSpc>
              <a:buFont typeface="Wingdings" panose="05000000000000000000" pitchFamily="2" charset="2"/>
              <a:buChar char="n"/>
            </a:pPr>
            <a:r>
              <a:rPr lang="zh-CN" altLang="en-US" sz="2400" dirty="0" smtClean="0">
                <a:solidFill>
                  <a:schemeClr val="tx1"/>
                </a:solidFill>
                <a:latin typeface="仿宋" panose="02010609060101010101" pitchFamily="49" charset="-122"/>
                <a:ea typeface="仿宋" panose="02010609060101010101" pitchFamily="49" charset="-122"/>
              </a:rPr>
              <a:t>无论</a:t>
            </a:r>
            <a:r>
              <a:rPr lang="zh-CN" altLang="en-US" sz="2400" dirty="0">
                <a:solidFill>
                  <a:schemeClr val="tx1"/>
                </a:solidFill>
                <a:latin typeface="仿宋" panose="02010609060101010101" pitchFamily="49" charset="-122"/>
                <a:ea typeface="仿宋" panose="02010609060101010101" pitchFamily="49" charset="-122"/>
              </a:rPr>
              <a:t>镜片</a:t>
            </a:r>
            <a:r>
              <a:rPr lang="zh-CN" altLang="en-US" sz="2400" dirty="0" smtClean="0">
                <a:solidFill>
                  <a:schemeClr val="tx1"/>
                </a:solidFill>
                <a:latin typeface="仿宋" panose="02010609060101010101" pitchFamily="49" charset="-122"/>
                <a:ea typeface="仿宋" panose="02010609060101010101" pitchFamily="49" charset="-122"/>
              </a:rPr>
              <a:t>口径大小，一般正透镜边缘厚≥</a:t>
            </a:r>
            <a:r>
              <a:rPr lang="en-US" altLang="zh-CN" sz="2400" dirty="0" smtClean="0">
                <a:solidFill>
                  <a:schemeClr val="tx1"/>
                </a:solidFill>
                <a:latin typeface="仿宋" panose="02010609060101010101" pitchFamily="49" charset="-122"/>
                <a:ea typeface="仿宋" panose="02010609060101010101" pitchFamily="49" charset="-122"/>
              </a:rPr>
              <a:t>2mm</a:t>
            </a:r>
            <a:endParaRPr lang="en-US" altLang="zh-CN" sz="2400" dirty="0" smtClean="0">
              <a:solidFill>
                <a:schemeClr val="tx1"/>
              </a:solidFill>
              <a:latin typeface="仿宋" panose="02010609060101010101" pitchFamily="49" charset="-122"/>
              <a:ea typeface="仿宋" panose="02010609060101010101" pitchFamily="49" charset="-122"/>
            </a:endParaRPr>
          </a:p>
          <a:p>
            <a:pPr marL="0">
              <a:lnSpc>
                <a:spcPct val="150000"/>
              </a:lnSpc>
              <a:spcBef>
                <a:spcPts val="0"/>
              </a:spcBef>
              <a:buFont typeface="Wingdings" panose="05000000000000000000" pitchFamily="2" charset="2"/>
              <a:buChar char="n"/>
            </a:pPr>
            <a:r>
              <a:rPr lang="zh-CN" altLang="en-US" sz="2400" dirty="0" smtClean="0">
                <a:solidFill>
                  <a:schemeClr val="tx1"/>
                </a:solidFill>
                <a:latin typeface="仿宋" panose="02010609060101010101" pitchFamily="49" charset="-122"/>
                <a:ea typeface="仿宋" panose="02010609060101010101" pitchFamily="49" charset="-122"/>
              </a:rPr>
              <a:t>由于折射率高，正透镜相对廋，此时满足</a:t>
            </a:r>
            <a:endParaRPr lang="en-US" altLang="zh-CN" sz="2400" dirty="0" smtClean="0">
              <a:solidFill>
                <a:schemeClr val="tx1"/>
              </a:solidFill>
              <a:latin typeface="仿宋" panose="02010609060101010101" pitchFamily="49" charset="-122"/>
              <a:ea typeface="仿宋" panose="02010609060101010101" pitchFamily="49" charset="-122"/>
            </a:endParaRPr>
          </a:p>
          <a:p>
            <a:pPr marL="0">
              <a:lnSpc>
                <a:spcPct val="150000"/>
              </a:lnSpc>
              <a:spcBef>
                <a:spcPts val="0"/>
              </a:spcBef>
            </a:pPr>
            <a:r>
              <a:rPr lang="zh-CN" altLang="en-US" sz="2400" dirty="0" smtClean="0">
                <a:solidFill>
                  <a:schemeClr val="tx1"/>
                </a:solidFill>
                <a:latin typeface="仿宋" panose="02010609060101010101" pitchFamily="49" charset="-122"/>
                <a:ea typeface="仿宋" panose="02010609060101010101" pitchFamily="49" charset="-122"/>
              </a:rPr>
              <a:t>   正透镜：</a:t>
            </a:r>
            <a:r>
              <a:rPr lang="en-US" altLang="zh-CN" sz="2400" dirty="0" smtClean="0">
                <a:solidFill>
                  <a:schemeClr val="tx1"/>
                </a:solidFill>
                <a:latin typeface="仿宋" panose="02010609060101010101" pitchFamily="49" charset="-122"/>
                <a:ea typeface="仿宋" panose="02010609060101010101" pitchFamily="49" charset="-122"/>
              </a:rPr>
              <a:t>7d+3T</a:t>
            </a:r>
            <a:r>
              <a:rPr lang="zh-CN" altLang="en-US" sz="2400" dirty="0" smtClean="0">
                <a:solidFill>
                  <a:schemeClr val="tx1"/>
                </a:solidFill>
                <a:latin typeface="仿宋" panose="02010609060101010101" pitchFamily="49" charset="-122"/>
                <a:ea typeface="仿宋" panose="02010609060101010101" pitchFamily="49" charset="-122"/>
              </a:rPr>
              <a:t>≥</a:t>
            </a:r>
            <a:r>
              <a:rPr lang="en-US" altLang="zh-CN" sz="2400" dirty="0" smtClean="0">
                <a:solidFill>
                  <a:schemeClr val="tx1"/>
                </a:solidFill>
                <a:latin typeface="仿宋" panose="02010609060101010101" pitchFamily="49" charset="-122"/>
                <a:ea typeface="仿宋" panose="02010609060101010101" pitchFamily="49" charset="-122"/>
              </a:rPr>
              <a:t>D/</a:t>
            </a:r>
            <a:r>
              <a:rPr lang="en-US" altLang="zh-CN" sz="2400" dirty="0">
                <a:solidFill>
                  <a:schemeClr val="tx1"/>
                </a:solidFill>
                <a:latin typeface="仿宋" panose="02010609060101010101" pitchFamily="49" charset="-122"/>
                <a:ea typeface="仿宋" panose="02010609060101010101" pitchFamily="49" charset="-122"/>
              </a:rPr>
              <a:t>(</a:t>
            </a:r>
            <a:r>
              <a:rPr lang="en-US" altLang="zh-CN" sz="2400" dirty="0" smtClean="0">
                <a:solidFill>
                  <a:schemeClr val="tx1"/>
                </a:solidFill>
                <a:latin typeface="仿宋" panose="02010609060101010101" pitchFamily="49" charset="-122"/>
                <a:ea typeface="仿宋" panose="02010609060101010101" pitchFamily="49" charset="-122"/>
              </a:rPr>
              <a:t>1.5~2.0)</a:t>
            </a:r>
            <a:r>
              <a:rPr lang="zh-CN" altLang="en-US" sz="2400" dirty="0" smtClean="0">
                <a:solidFill>
                  <a:schemeClr val="tx1"/>
                </a:solidFill>
                <a:latin typeface="仿宋" panose="02010609060101010101" pitchFamily="49" charset="-122"/>
                <a:ea typeface="仿宋" panose="02010609060101010101" pitchFamily="49" charset="-122"/>
              </a:rPr>
              <a:t>，</a:t>
            </a:r>
            <a:r>
              <a:rPr lang="en-US" altLang="zh-CN" sz="2400" dirty="0" smtClean="0">
                <a:solidFill>
                  <a:schemeClr val="tx1"/>
                </a:solidFill>
                <a:latin typeface="仿宋" panose="02010609060101010101" pitchFamily="49" charset="-122"/>
                <a:ea typeface="仿宋" panose="02010609060101010101" pitchFamily="49" charset="-122"/>
              </a:rPr>
              <a:t>2.0</a:t>
            </a:r>
            <a:r>
              <a:rPr lang="zh-CN" altLang="en-US" sz="2400" dirty="0" smtClean="0">
                <a:solidFill>
                  <a:schemeClr val="tx1"/>
                </a:solidFill>
                <a:latin typeface="仿宋" panose="02010609060101010101" pitchFamily="49" charset="-122"/>
                <a:ea typeface="仿宋" panose="02010609060101010101" pitchFamily="49" charset="-122"/>
              </a:rPr>
              <a:t>作为参考</a:t>
            </a:r>
            <a:endParaRPr lang="en-US" altLang="zh-CN" sz="2400" dirty="0" smtClean="0">
              <a:solidFill>
                <a:schemeClr val="tx1"/>
              </a:solidFill>
              <a:latin typeface="仿宋" panose="02010609060101010101" pitchFamily="49" charset="-122"/>
              <a:ea typeface="仿宋" panose="02010609060101010101" pitchFamily="49" charset="-122"/>
            </a:endParaRPr>
          </a:p>
          <a:p>
            <a:pPr>
              <a:lnSpc>
                <a:spcPct val="150000"/>
              </a:lnSpc>
            </a:pPr>
            <a:r>
              <a:rPr lang="zh-CN" altLang="en-US" sz="2400" dirty="0" smtClean="0">
                <a:solidFill>
                  <a:schemeClr val="tx1"/>
                </a:solidFill>
                <a:latin typeface="仿宋" panose="02010609060101010101" pitchFamily="49" charset="-122"/>
                <a:ea typeface="仿宋" panose="02010609060101010101" pitchFamily="49" charset="-122"/>
              </a:rPr>
              <a:t>   负透镜：</a:t>
            </a:r>
            <a:r>
              <a:rPr lang="en-US" altLang="zh-CN" sz="2400" dirty="0" smtClean="0">
                <a:solidFill>
                  <a:schemeClr val="tx1"/>
                </a:solidFill>
                <a:latin typeface="仿宋" panose="02010609060101010101" pitchFamily="49" charset="-122"/>
                <a:ea typeface="仿宋" panose="02010609060101010101" pitchFamily="49" charset="-122"/>
              </a:rPr>
              <a:t>8T+2d</a:t>
            </a:r>
            <a:r>
              <a:rPr lang="zh-CN" altLang="en-US" sz="2400" dirty="0" smtClean="0">
                <a:solidFill>
                  <a:schemeClr val="tx1"/>
                </a:solidFill>
                <a:latin typeface="仿宋" panose="02010609060101010101" pitchFamily="49" charset="-122"/>
                <a:ea typeface="仿宋" panose="02010609060101010101" pitchFamily="49" charset="-122"/>
              </a:rPr>
              <a:t>≥</a:t>
            </a:r>
            <a:r>
              <a:rPr lang="en-US" altLang="zh-CN" sz="2400" dirty="0" smtClean="0">
                <a:solidFill>
                  <a:schemeClr val="tx1"/>
                </a:solidFill>
                <a:latin typeface="仿宋" panose="02010609060101010101" pitchFamily="49" charset="-122"/>
                <a:ea typeface="仿宋" panose="02010609060101010101" pitchFamily="49" charset="-122"/>
              </a:rPr>
              <a:t>D/1.5</a:t>
            </a:r>
            <a:endParaRPr lang="zh-CN" altLang="en-US" sz="2400" dirty="0">
              <a:solidFill>
                <a:schemeClr val="tx1"/>
              </a:solidFill>
              <a:latin typeface="仿宋" panose="02010609060101010101" pitchFamily="49" charset="-122"/>
              <a:ea typeface="仿宋" panose="02010609060101010101" pitchFamily="49" charset="-122"/>
            </a:endParaRPr>
          </a:p>
        </p:txBody>
      </p:sp>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96320" y="737344"/>
            <a:ext cx="4909538" cy="360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平行光入射</a:t>
            </a:r>
            <a:endParaRPr lang="zh-CN" altLang="en-US" dirty="0"/>
          </a:p>
        </p:txBody>
      </p:sp>
      <p:pic>
        <p:nvPicPr>
          <p:cNvPr id="7170"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7272114" y="4985816"/>
            <a:ext cx="5229225" cy="3000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0780" y="809352"/>
            <a:ext cx="12020550" cy="4029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17" y="0"/>
            <a:ext cx="14398978" cy="8099425"/>
          </a:xfrm>
          <a:prstGeom prst="rect">
            <a:avLst/>
          </a:prstGeom>
        </p:spPr>
      </p:pic>
      <p:sp>
        <p:nvSpPr>
          <p:cNvPr id="8" name="矩形 7"/>
          <p:cNvSpPr/>
          <p:nvPr/>
        </p:nvSpPr>
        <p:spPr>
          <a:xfrm>
            <a:off x="863402" y="809352"/>
            <a:ext cx="7197725" cy="1323439"/>
          </a:xfrm>
          <a:prstGeom prst="rect">
            <a:avLst/>
          </a:prstGeom>
          <a:scene3d>
            <a:camera prst="orthographicFront">
              <a:rot lat="0" lon="0" rev="0"/>
            </a:camera>
            <a:lightRig rig="threePt" dir="t"/>
          </a:scene3d>
        </p:spPr>
        <p:txBody>
          <a:bodyPr>
            <a:spAutoFit/>
          </a:bodyPr>
          <a:lstStyle/>
          <a:p>
            <a:r>
              <a:rPr lang="en-US" altLang="zh-CN" sz="80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Thanks!</a:t>
            </a:r>
            <a:endParaRPr lang="zh-CN" altLang="en-US" sz="80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 name="矩形 4"/>
          <p:cNvSpPr/>
          <p:nvPr/>
        </p:nvSpPr>
        <p:spPr>
          <a:xfrm>
            <a:off x="839579" y="5705896"/>
            <a:ext cx="13536811" cy="461665"/>
          </a:xfrm>
          <a:prstGeom prst="rect">
            <a:avLst/>
          </a:prstGeom>
        </p:spPr>
        <p:txBody>
          <a:bodyPr wrap="square">
            <a:spAutoFit/>
          </a:bodyPr>
          <a:lstStyle/>
          <a:p>
            <a:r>
              <a:rPr lang="zh-CN" altLang="en-US"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武汉高德智感科技有限公司</a:t>
            </a:r>
            <a:endParaRPr lang="zh-CN" altLang="en-US"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a:p>
            <a:r>
              <a:rPr lang="en-US" altLang="zh-CN"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Wuhan Guide Sensmart Tech Co.,</a:t>
            </a:r>
            <a:r>
              <a:rPr lang="en-US" altLang="zh-CN" sz="12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Ltd.</a:t>
            </a:r>
            <a:endParaRPr lang="zh-CN" altLang="en-US"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6" name="矩形 5"/>
          <p:cNvSpPr/>
          <p:nvPr/>
        </p:nvSpPr>
        <p:spPr>
          <a:xfrm>
            <a:off x="839579" y="6714008"/>
            <a:ext cx="2400087" cy="461665"/>
          </a:xfrm>
          <a:prstGeom prst="rect">
            <a:avLst/>
          </a:prstGeom>
        </p:spPr>
        <p:txBody>
          <a:bodyPr wrap="square">
            <a:spAutoFit/>
          </a:bodyPr>
          <a:lstStyle/>
          <a:p>
            <a:r>
              <a:rPr lang="en-US" altLang="zh-CN" sz="1200" dirty="0">
                <a:solidFill>
                  <a:schemeClr val="bg1"/>
                </a:solidFill>
                <a:latin typeface="Arial" panose="020B0604020202020204" pitchFamily="34" charset="0"/>
                <a:ea typeface="微软雅黑" panose="020B0503020204020204" pitchFamily="34" charset="-122"/>
                <a:cs typeface="Arial" panose="020B0604020202020204" pitchFamily="34" charset="0"/>
              </a:rPr>
              <a:t>T  +86-27-81298783</a:t>
            </a:r>
            <a:endParaRPr lang="en-US" altLang="zh-CN" sz="12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a:p>
            <a:r>
              <a:rPr lang="en-US" altLang="zh-CN" sz="1200" dirty="0">
                <a:solidFill>
                  <a:schemeClr val="bg1"/>
                </a:solidFill>
                <a:latin typeface="Arial" panose="020B0604020202020204" pitchFamily="34" charset="0"/>
                <a:ea typeface="微软雅黑" panose="020B0503020204020204" pitchFamily="34" charset="-122"/>
                <a:cs typeface="Arial" panose="020B0604020202020204" pitchFamily="34" charset="0"/>
              </a:rPr>
              <a:t>F  +86-27-81298345</a:t>
            </a:r>
            <a:endParaRPr lang="zh-CN" altLang="en-US" sz="12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7" name="矩形 6"/>
          <p:cNvSpPr/>
          <p:nvPr/>
        </p:nvSpPr>
        <p:spPr>
          <a:xfrm>
            <a:off x="2879626" y="6714008"/>
            <a:ext cx="3456384" cy="461665"/>
          </a:xfrm>
          <a:prstGeom prst="rect">
            <a:avLst/>
          </a:prstGeom>
        </p:spPr>
        <p:txBody>
          <a:bodyPr wrap="square">
            <a:spAutoFit/>
          </a:bodyPr>
          <a:lstStyle/>
          <a:p>
            <a:r>
              <a:rPr lang="en-US" altLang="zh-CN" sz="1200" dirty="0">
                <a:solidFill>
                  <a:schemeClr val="bg1"/>
                </a:solidFill>
                <a:latin typeface="Arial" panose="020B0604020202020204" pitchFamily="34" charset="0"/>
                <a:ea typeface="微软雅黑" panose="020B0503020204020204" pitchFamily="34" charset="-122"/>
                <a:cs typeface="Arial" panose="020B0604020202020204" pitchFamily="34" charset="0"/>
              </a:rPr>
              <a:t>E   Mei@guide-infrared.com</a:t>
            </a:r>
            <a:endParaRPr lang="en-US" altLang="zh-CN" sz="12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a:p>
            <a:r>
              <a:rPr lang="en-US" altLang="zh-CN" sz="1200" dirty="0">
                <a:solidFill>
                  <a:schemeClr val="bg1"/>
                </a:solidFill>
                <a:latin typeface="Arial" panose="020B0604020202020204" pitchFamily="34" charset="0"/>
                <a:ea typeface="微软雅黑" panose="020B0503020204020204" pitchFamily="34" charset="-122"/>
                <a:cs typeface="Arial" panose="020B0604020202020204" pitchFamily="34" charset="0"/>
              </a:rPr>
              <a:t>W  </a:t>
            </a:r>
            <a:r>
              <a:rPr lang="en-US" altLang="zh-CN" sz="1200" dirty="0" smtClean="0">
                <a:solidFill>
                  <a:schemeClr val="bg1"/>
                </a:solidFill>
                <a:latin typeface="Arial" panose="020B0604020202020204" pitchFamily="34" charset="0"/>
                <a:ea typeface="微软雅黑" panose="020B0503020204020204" pitchFamily="34" charset="-122"/>
                <a:cs typeface="Arial" panose="020B0604020202020204" pitchFamily="34" charset="0"/>
              </a:rPr>
              <a:t>www.guideir.com</a:t>
            </a:r>
            <a:endParaRPr lang="zh-CN" altLang="en-US" sz="12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10" name="矩形 9"/>
          <p:cNvSpPr/>
          <p:nvPr/>
        </p:nvSpPr>
        <p:spPr>
          <a:xfrm>
            <a:off x="839579" y="6209952"/>
            <a:ext cx="13536811" cy="461665"/>
          </a:xfrm>
          <a:prstGeom prst="rect">
            <a:avLst/>
          </a:prstGeom>
        </p:spPr>
        <p:txBody>
          <a:bodyPr wrap="square">
            <a:spAutoFit/>
          </a:bodyPr>
          <a:lstStyle/>
          <a:p>
            <a:r>
              <a:rPr lang="zh-CN" altLang="en-US"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湖北省武汉市东湖开发区光谷大道黄龙山南路</a:t>
            </a:r>
            <a:r>
              <a:rPr lang="en-US" altLang="zh-CN"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6</a:t>
            </a:r>
            <a:r>
              <a:rPr lang="zh-CN" altLang="en-US"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号，</a:t>
            </a:r>
            <a:r>
              <a:rPr lang="en-US" altLang="zh-CN"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430205</a:t>
            </a:r>
            <a:endParaRPr lang="en-US" altLang="zh-CN"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a:p>
            <a:r>
              <a:rPr lang="en-US" altLang="zh-CN"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No.6 Huanglongshan South Rd,Wuhan,430205,P.R.China</a:t>
            </a:r>
            <a:endParaRPr lang="zh-CN" altLang="en-US"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nodeType="withEffect">
                                  <p:stCondLst>
                                    <p:cond delay="0"/>
                                  </p:stCondLst>
                                  <p:iterate type="lt">
                                    <p:tmPct val="10000"/>
                                  </p:iterate>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500" fill="hold"/>
                                        <p:tgtEl>
                                          <p:spTgt spid="8">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8">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8">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8">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8">
                                            <p:txEl>
                                              <p:pRg st="0" end="0"/>
                                            </p:txEl>
                                          </p:spTgt>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0" grpId="0"/>
    </p:bldLst>
  </p:timing>
</p:sld>
</file>

<file path=ppt/tags/tag1.xml><?xml version="1.0" encoding="utf-8"?>
<p:tagLst xmlns:p="http://schemas.openxmlformats.org/presentationml/2006/main">
  <p:tag name="KSO_WPP_MARK_KEY" val="712c8d3f-2fd1-4bd1-b0e9-d3f79096b21a"/>
  <p:tag name="COMMONDATA" val="eyJoZGlkIjoiODUwMTAzNGE4YzdkYmQ1YzE0MmVjNmU2Y2U0ZDMyZDMifQ=="/>
</p:tagLst>
</file>

<file path=ppt/theme/theme1.xml><?xml version="1.0" encoding="utf-8"?>
<a:theme xmlns:a="http://schemas.openxmlformats.org/drawingml/2006/main" name="Office 主题">
  <a:themeElements>
    <a:clrScheme name="高德智感">
      <a:dk1>
        <a:srgbClr val="000000"/>
      </a:dk1>
      <a:lt1>
        <a:srgbClr val="F5F5F5"/>
      </a:lt1>
      <a:dk2>
        <a:srgbClr val="C90915"/>
      </a:dk2>
      <a:lt2>
        <a:srgbClr val="B4B4B4"/>
      </a:lt2>
      <a:accent1>
        <a:srgbClr val="FFF100"/>
      </a:accent1>
      <a:accent2>
        <a:srgbClr val="6A258A"/>
      </a:accent2>
      <a:accent3>
        <a:srgbClr val="3D9740"/>
      </a:accent3>
      <a:accent4>
        <a:srgbClr val="E62E8B"/>
      </a:accent4>
      <a:accent5>
        <a:srgbClr val="1D50A2"/>
      </a:accent5>
      <a:accent6>
        <a:srgbClr val="FFFFFF"/>
      </a:accent6>
      <a:hlink>
        <a:srgbClr val="000099"/>
      </a:hlink>
      <a:folHlink>
        <a:srgbClr val="5F5F5F"/>
      </a:folHlink>
    </a:clrScheme>
    <a:fontScheme name="高德红外">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9098</Words>
  <Application>WPS 演示</Application>
  <PresentationFormat>自定义</PresentationFormat>
  <Paragraphs>619</Paragraphs>
  <Slides>80</Slides>
  <Notes>7</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4</vt:i4>
      </vt:variant>
      <vt:variant>
        <vt:lpstr>幻灯片标题</vt:lpstr>
      </vt:variant>
      <vt:variant>
        <vt:i4>80</vt:i4>
      </vt:variant>
    </vt:vector>
  </HeadingPairs>
  <TitlesOfParts>
    <vt:vector size="99" baseType="lpstr">
      <vt:lpstr>Arial</vt:lpstr>
      <vt:lpstr>宋体</vt:lpstr>
      <vt:lpstr>Wingdings</vt:lpstr>
      <vt:lpstr>微软雅黑</vt:lpstr>
      <vt:lpstr>微软雅黑 Light</vt:lpstr>
      <vt:lpstr>Impact</vt:lpstr>
      <vt:lpstr>张海山锐谐体</vt:lpstr>
      <vt:lpstr>仿宋</vt:lpstr>
      <vt:lpstr>Cambria Math</vt:lpstr>
      <vt:lpstr>Cambria Math</vt:lpstr>
      <vt:lpstr>Arial Unicode MS</vt:lpstr>
      <vt:lpstr>等线</vt:lpstr>
      <vt:lpstr>Times New Roman</vt:lpstr>
      <vt:lpstr>华文楷体</vt:lpstr>
      <vt:lpstr>Office 主题</vt:lpstr>
      <vt:lpstr>Equation.3</vt:lpstr>
      <vt:lpstr>Equation.3</vt:lpstr>
      <vt:lpstr>Equation.3</vt:lpstr>
      <vt:lpstr>Visio.Drawing.11</vt:lpstr>
      <vt:lpstr>PowerPoint 演示文稿</vt:lpstr>
      <vt:lpstr>PowerPoint 演示文稿</vt:lpstr>
      <vt:lpstr>一、镜头设计前需要了解的知识点</vt:lpstr>
      <vt:lpstr>几何光学基本概念</vt:lpstr>
      <vt:lpstr>几何光学基本概念</vt:lpstr>
      <vt:lpstr>几何光学基本概念</vt:lpstr>
      <vt:lpstr>几何光学基本定律</vt:lpstr>
      <vt:lpstr>几何光学基本定律</vt:lpstr>
      <vt:lpstr>几何光学基本定律</vt:lpstr>
      <vt:lpstr>成像基本概念</vt:lpstr>
      <vt:lpstr>成像基本概念</vt:lpstr>
      <vt:lpstr>成像基本概念</vt:lpstr>
      <vt:lpstr>成像基本概念</vt:lpstr>
      <vt:lpstr>共轴光学系统、理想光学系统</vt:lpstr>
      <vt:lpstr>焦点与焦平面</vt:lpstr>
      <vt:lpstr>主点与主平面</vt:lpstr>
      <vt:lpstr>光学系统的节点</vt:lpstr>
      <vt:lpstr>电磁波、波长</vt:lpstr>
      <vt:lpstr>大气窗口</vt:lpstr>
      <vt:lpstr>光阑</vt:lpstr>
      <vt:lpstr>光阑</vt:lpstr>
      <vt:lpstr>光阑</vt:lpstr>
      <vt:lpstr>像差概述</vt:lpstr>
      <vt:lpstr>球差</vt:lpstr>
      <vt:lpstr>彗差</vt:lpstr>
      <vt:lpstr>场曲</vt:lpstr>
      <vt:lpstr>像散</vt:lpstr>
      <vt:lpstr>畸变</vt:lpstr>
      <vt:lpstr>位置色差（轴向色差）/倍率色差（垂轴色差）</vt:lpstr>
      <vt:lpstr>衍射、艾里斑</vt:lpstr>
      <vt:lpstr>瑞里判据</vt:lpstr>
      <vt:lpstr>二、红外镜头相关概念</vt:lpstr>
      <vt:lpstr>红外波段</vt:lpstr>
      <vt:lpstr>红外探测器</vt:lpstr>
      <vt:lpstr>焦距</vt:lpstr>
      <vt:lpstr>视场角</vt:lpstr>
      <vt:lpstr>视场角计算</vt:lpstr>
      <vt:lpstr>视场角计算实例</vt:lpstr>
      <vt:lpstr>焦距和视场角的关系</vt:lpstr>
      <vt:lpstr>F数</vt:lpstr>
      <vt:lpstr>F数</vt:lpstr>
      <vt:lpstr>景深</vt:lpstr>
      <vt:lpstr>景深影响因素——焦距</vt:lpstr>
      <vt:lpstr>景深影响因素——拍摄距离</vt:lpstr>
      <vt:lpstr>景深影响因素——F数</vt:lpstr>
      <vt:lpstr>焦深</vt:lpstr>
      <vt:lpstr>红外材料</vt:lpstr>
      <vt:lpstr>消色差</vt:lpstr>
      <vt:lpstr>消色差</vt:lpstr>
      <vt:lpstr>无热化</vt:lpstr>
      <vt:lpstr>非制冷和制冷</vt:lpstr>
      <vt:lpstr>非制冷和制冷</vt:lpstr>
      <vt:lpstr>光学后截距BFL、后靠距</vt:lpstr>
      <vt:lpstr>FOCUS、ZOOM</vt:lpstr>
      <vt:lpstr>三、红外镜头主要评价指标</vt:lpstr>
      <vt:lpstr>清晰度（解析度）：分辨率和对比度</vt:lpstr>
      <vt:lpstr>分辨率</vt:lpstr>
      <vt:lpstr>对比度</vt:lpstr>
      <vt:lpstr>MTF</vt:lpstr>
      <vt:lpstr>尼奎斯特频率</vt:lpstr>
      <vt:lpstr>SFR</vt:lpstr>
      <vt:lpstr>点列图(Spot Diagram)</vt:lpstr>
      <vt:lpstr>相对照度</vt:lpstr>
      <vt:lpstr>畸变</vt:lpstr>
      <vt:lpstr>包围圆能量(Diffraction Encircled Energy)</vt:lpstr>
      <vt:lpstr>四、热成像需要了解的概念</vt:lpstr>
      <vt:lpstr>MRTD</vt:lpstr>
      <vt:lpstr>NETD</vt:lpstr>
      <vt:lpstr>整机视觉放大率</vt:lpstr>
      <vt:lpstr>显示器放大倍率</vt:lpstr>
      <vt:lpstr>作用距离估算</vt:lpstr>
      <vt:lpstr>五、常见的一些光学系统</vt:lpstr>
      <vt:lpstr>常见红外光学系统</vt:lpstr>
      <vt:lpstr>望远系统</vt:lpstr>
      <vt:lpstr>望远系统</vt:lpstr>
      <vt:lpstr>平行光管</vt:lpstr>
      <vt:lpstr>目镜</vt:lpstr>
      <vt:lpstr>透镜中心厚度和边缘厚度</vt:lpstr>
      <vt:lpstr>平行光入射</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口口口口</cp:lastModifiedBy>
  <cp:revision>1289</cp:revision>
  <dcterms:created xsi:type="dcterms:W3CDTF">2015-07-01T09:37:00Z</dcterms:created>
  <dcterms:modified xsi:type="dcterms:W3CDTF">2023-07-01T02:45:35Z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08279B5633D04358A1B01E2A6A5B9C82_12</vt:lpwstr>
  </property>
  <property fmtid="{D5CDD505-2E9C-101B-9397-08002B2CF9AE}" pid="3" name="KSOProductBuildVer">
    <vt:lpwstr>2052-11.1.0.14309</vt:lpwstr>
  </property>
</Properties>
</file>