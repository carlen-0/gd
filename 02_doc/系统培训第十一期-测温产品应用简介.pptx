
<file path=[Content_Types].xml><?xml version="1.0" encoding="utf-8"?>
<Types xmlns="http://schemas.openxmlformats.org/package/2006/content-types">
  <Default Extension="png" ContentType="image/png"/>
  <Default Extension="tmp" ContentType="image/png"/>
  <Default Extension="vsd" ContentType="application/vnd.visio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61"/>
  </p:notesMasterIdLst>
  <p:sldIdLst>
    <p:sldId id="329" r:id="rId3"/>
    <p:sldId id="299" r:id="rId4"/>
    <p:sldId id="372" r:id="rId5"/>
    <p:sldId id="351" r:id="rId6"/>
    <p:sldId id="380" r:id="rId7"/>
    <p:sldId id="381" r:id="rId8"/>
    <p:sldId id="382" r:id="rId9"/>
    <p:sldId id="383" r:id="rId10"/>
    <p:sldId id="388" r:id="rId11"/>
    <p:sldId id="387" r:id="rId12"/>
    <p:sldId id="386" r:id="rId13"/>
    <p:sldId id="385" r:id="rId14"/>
    <p:sldId id="384" r:id="rId15"/>
    <p:sldId id="389" r:id="rId16"/>
    <p:sldId id="390" r:id="rId17"/>
    <p:sldId id="393" r:id="rId18"/>
    <p:sldId id="392" r:id="rId19"/>
    <p:sldId id="391" r:id="rId20"/>
    <p:sldId id="394" r:id="rId21"/>
    <p:sldId id="396" r:id="rId22"/>
    <p:sldId id="399" r:id="rId23"/>
    <p:sldId id="398" r:id="rId24"/>
    <p:sldId id="397" r:id="rId25"/>
    <p:sldId id="395" r:id="rId26"/>
    <p:sldId id="373" r:id="rId27"/>
    <p:sldId id="352" r:id="rId28"/>
    <p:sldId id="409" r:id="rId29"/>
    <p:sldId id="408" r:id="rId30"/>
    <p:sldId id="407" r:id="rId31"/>
    <p:sldId id="406" r:id="rId32"/>
    <p:sldId id="405" r:id="rId33"/>
    <p:sldId id="404" r:id="rId34"/>
    <p:sldId id="403" r:id="rId35"/>
    <p:sldId id="402" r:id="rId36"/>
    <p:sldId id="401" r:id="rId37"/>
    <p:sldId id="374" r:id="rId38"/>
    <p:sldId id="371" r:id="rId39"/>
    <p:sldId id="413" r:id="rId40"/>
    <p:sldId id="423" r:id="rId41"/>
    <p:sldId id="422" r:id="rId42"/>
    <p:sldId id="421" r:id="rId43"/>
    <p:sldId id="420" r:id="rId44"/>
    <p:sldId id="419" r:id="rId45"/>
    <p:sldId id="418" r:id="rId46"/>
    <p:sldId id="417" r:id="rId47"/>
    <p:sldId id="416" r:id="rId48"/>
    <p:sldId id="415" r:id="rId49"/>
    <p:sldId id="375" r:id="rId50"/>
    <p:sldId id="370" r:id="rId51"/>
    <p:sldId id="376" r:id="rId52"/>
    <p:sldId id="412" r:id="rId53"/>
    <p:sldId id="410" r:id="rId54"/>
    <p:sldId id="377" r:id="rId55"/>
    <p:sldId id="378" r:id="rId56"/>
    <p:sldId id="379" r:id="rId57"/>
    <p:sldId id="411" r:id="rId58"/>
    <p:sldId id="424" r:id="rId59"/>
    <p:sldId id="425" r:id="rId60"/>
  </p:sldIdLst>
  <p:sldSz cx="12192000" cy="6858000"/>
  <p:notesSz cx="6858000" cy="9144000"/>
  <p:custDataLst>
    <p:tags r:id="rId6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明龙" initials="张明龙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6161"/>
    <a:srgbClr val="0000FF"/>
    <a:srgbClr val="47B6A6"/>
    <a:srgbClr val="475866"/>
    <a:srgbClr val="AA7B51"/>
    <a:srgbClr val="4CB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39" autoAdjust="0"/>
    <p:restoredTop sz="88120" autoAdjust="0"/>
  </p:normalViewPr>
  <p:slideViewPr>
    <p:cSldViewPr snapToGrid="0">
      <p:cViewPr varScale="1">
        <p:scale>
          <a:sx n="116" d="100"/>
          <a:sy n="116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0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4" Type="http://schemas.openxmlformats.org/officeDocument/2006/relationships/image" Target="../media/image4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C2ABB-7ACD-4D1B-AFA3-CC3BA8DF66E3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75355-354A-4170-8A8D-810D26FAA5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31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</a:t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597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5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31504" y="1295012"/>
            <a:ext cx="5791257" cy="14700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31504" y="3050786"/>
            <a:ext cx="5683671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71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9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4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6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6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 descr="未标题-1.png"/>
          <p:cNvPicPr>
            <a:picLocks noChangeAspect="1"/>
          </p:cNvPicPr>
          <p:nvPr/>
        </p:nvPicPr>
        <p:blipFill>
          <a:blip r:embed="rId2" cstate="print"/>
          <a:srcRect r="1055" b="2344"/>
          <a:stretch>
            <a:fillRect/>
          </a:stretch>
        </p:blipFill>
        <p:spPr>
          <a:xfrm>
            <a:off x="3901229" y="2567640"/>
            <a:ext cx="8290771" cy="42903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6174" y="1"/>
            <a:ext cx="10364198" cy="563358"/>
          </a:xfrm>
          <a:prstGeom prst="rect">
            <a:avLst/>
          </a:prstGeom>
        </p:spPr>
        <p:txBody>
          <a:bodyPr anchor="ctr"/>
          <a:lstStyle>
            <a:lvl1pPr algn="l">
              <a:defRPr sz="2370">
                <a:solidFill>
                  <a:schemeClr val="accent6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9827" y="807242"/>
            <a:ext cx="10852574" cy="5318921"/>
          </a:xfrm>
          <a:prstGeom prst="rect">
            <a:avLst/>
          </a:prstGeom>
        </p:spPr>
        <p:txBody>
          <a:bodyPr/>
          <a:lstStyle>
            <a:lvl1pPr>
              <a:buNone/>
              <a:defRPr sz="3725" b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高德智感logo中英文常规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1337" y="6310508"/>
            <a:ext cx="1036420" cy="3833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5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6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44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6" y="2906715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20">
                <a:solidFill>
                  <a:schemeClr val="tx1">
                    <a:tint val="75000"/>
                  </a:schemeClr>
                </a:solidFill>
              </a:defRPr>
            </a:lvl1pPr>
            <a:lvl2pPr marL="50927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185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44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4pPr>
            <a:lvl5pPr marL="203771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5pPr>
            <a:lvl6pPr marL="254698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6pPr>
            <a:lvl7pPr marL="305625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7pPr>
            <a:lvl8pPr marL="356616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8pPr>
            <a:lvl9pPr marL="407543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120"/>
            </a:lvl1pPr>
            <a:lvl2pPr>
              <a:defRPr sz="2700"/>
            </a:lvl2pPr>
            <a:lvl3pPr>
              <a:defRPr sz="2220"/>
            </a:lvl3pPr>
            <a:lvl4pPr>
              <a:defRPr sz="1980"/>
            </a:lvl4pPr>
            <a:lvl5pPr>
              <a:defRPr sz="1980"/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120"/>
            </a:lvl1pPr>
            <a:lvl2pPr>
              <a:defRPr sz="2700"/>
            </a:lvl2pPr>
            <a:lvl3pPr>
              <a:defRPr sz="2220"/>
            </a:lvl3pPr>
            <a:lvl4pPr>
              <a:defRPr sz="1980"/>
            </a:lvl4pPr>
            <a:lvl5pPr>
              <a:defRPr sz="1980"/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4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700" b="1"/>
            </a:lvl1pPr>
            <a:lvl2pPr marL="509270" indent="0">
              <a:buNone/>
              <a:defRPr sz="2220" b="1"/>
            </a:lvl2pPr>
            <a:lvl3pPr marL="1018540" indent="0">
              <a:buNone/>
              <a:defRPr sz="1980" b="1"/>
            </a:lvl3pPr>
            <a:lvl4pPr marL="1528445" indent="0">
              <a:buNone/>
              <a:defRPr sz="1800" b="1"/>
            </a:lvl4pPr>
            <a:lvl5pPr marL="2037715" indent="0">
              <a:buNone/>
              <a:defRPr sz="1800" b="1"/>
            </a:lvl5pPr>
            <a:lvl6pPr marL="2546985" indent="0">
              <a:buNone/>
              <a:defRPr sz="1800" b="1"/>
            </a:lvl6pPr>
            <a:lvl7pPr marL="3056255" indent="0">
              <a:buNone/>
              <a:defRPr sz="1800" b="1"/>
            </a:lvl7pPr>
            <a:lvl8pPr marL="3566160" indent="0">
              <a:buNone/>
              <a:defRPr sz="1800" b="1"/>
            </a:lvl8pPr>
            <a:lvl9pPr marL="407543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6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700"/>
            </a:lvl1pPr>
            <a:lvl2pPr>
              <a:defRPr sz="2220"/>
            </a:lvl2pPr>
            <a:lvl3pPr>
              <a:defRPr sz="198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4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700" b="1"/>
            </a:lvl1pPr>
            <a:lvl2pPr marL="509270" indent="0">
              <a:buNone/>
              <a:defRPr sz="2220" b="1"/>
            </a:lvl2pPr>
            <a:lvl3pPr marL="1018540" indent="0">
              <a:buNone/>
              <a:defRPr sz="1980" b="1"/>
            </a:lvl3pPr>
            <a:lvl4pPr marL="1528445" indent="0">
              <a:buNone/>
              <a:defRPr sz="1800" b="1"/>
            </a:lvl4pPr>
            <a:lvl5pPr marL="2037715" indent="0">
              <a:buNone/>
              <a:defRPr sz="1800" b="1"/>
            </a:lvl5pPr>
            <a:lvl6pPr marL="2546985" indent="0">
              <a:buNone/>
              <a:defRPr sz="1800" b="1"/>
            </a:lvl6pPr>
            <a:lvl7pPr marL="3056255" indent="0">
              <a:buNone/>
              <a:defRPr sz="1800" b="1"/>
            </a:lvl7pPr>
            <a:lvl8pPr marL="3566160" indent="0">
              <a:buNone/>
              <a:defRPr sz="1800" b="1"/>
            </a:lvl8pPr>
            <a:lvl9pPr marL="407543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6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700"/>
            </a:lvl1pPr>
            <a:lvl2pPr>
              <a:defRPr sz="2220"/>
            </a:lvl2pPr>
            <a:lvl3pPr>
              <a:defRPr sz="198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22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0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540"/>
            </a:lvl1pPr>
            <a:lvl2pPr>
              <a:defRPr sz="3120"/>
            </a:lvl2pPr>
            <a:lvl3pPr>
              <a:defRPr sz="2700"/>
            </a:lvl3pPr>
            <a:lvl4pPr>
              <a:defRPr sz="2220"/>
            </a:lvl4pPr>
            <a:lvl5pPr>
              <a:defRPr sz="2220"/>
            </a:lvl5pPr>
            <a:lvl6pPr>
              <a:defRPr sz="2220"/>
            </a:lvl6pPr>
            <a:lvl7pPr>
              <a:defRPr sz="2220"/>
            </a:lvl7pPr>
            <a:lvl8pPr>
              <a:defRPr sz="2220"/>
            </a:lvl8pPr>
            <a:lvl9pPr>
              <a:defRPr sz="22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1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60"/>
            </a:lvl1pPr>
            <a:lvl2pPr marL="509270" indent="0">
              <a:buNone/>
              <a:defRPr sz="1320"/>
            </a:lvl2pPr>
            <a:lvl3pPr marL="1018540" indent="0">
              <a:buNone/>
              <a:defRPr sz="1140"/>
            </a:lvl3pPr>
            <a:lvl4pPr marL="1528445" indent="0">
              <a:buNone/>
              <a:defRPr sz="1020"/>
            </a:lvl4pPr>
            <a:lvl5pPr marL="2037715" indent="0">
              <a:buNone/>
              <a:defRPr sz="1020"/>
            </a:lvl5pPr>
            <a:lvl6pPr marL="2546985" indent="0">
              <a:buNone/>
              <a:defRPr sz="1020"/>
            </a:lvl6pPr>
            <a:lvl7pPr marL="3056255" indent="0">
              <a:buNone/>
              <a:defRPr sz="1020"/>
            </a:lvl7pPr>
            <a:lvl8pPr marL="3566160" indent="0">
              <a:buNone/>
              <a:defRPr sz="1020"/>
            </a:lvl8pPr>
            <a:lvl9pPr marL="4075430" indent="0">
              <a:buNone/>
              <a:defRPr sz="10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4"/>
          <p:cNvSpPr txBox="1"/>
          <p:nvPr/>
        </p:nvSpPr>
        <p:spPr>
          <a:xfrm>
            <a:off x="10668440" y="136560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15" dirty="0"/>
              <a:t>www.guideir.cn</a:t>
            </a:r>
            <a:endParaRPr lang="zh-CN" altLang="en-US" sz="1015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22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8" y="612776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40"/>
            </a:lvl1pPr>
            <a:lvl2pPr marL="509270" indent="0">
              <a:buNone/>
              <a:defRPr sz="3120"/>
            </a:lvl2pPr>
            <a:lvl3pPr marL="1018540" indent="0">
              <a:buNone/>
              <a:defRPr sz="2700"/>
            </a:lvl3pPr>
            <a:lvl4pPr marL="1528445" indent="0">
              <a:buNone/>
              <a:defRPr sz="2220"/>
            </a:lvl4pPr>
            <a:lvl5pPr marL="2037715" indent="0">
              <a:buNone/>
              <a:defRPr sz="2220"/>
            </a:lvl5pPr>
            <a:lvl6pPr marL="2546985" indent="0">
              <a:buNone/>
              <a:defRPr sz="2220"/>
            </a:lvl6pPr>
            <a:lvl7pPr marL="3056255" indent="0">
              <a:buNone/>
              <a:defRPr sz="2220"/>
            </a:lvl7pPr>
            <a:lvl8pPr marL="3566160" indent="0">
              <a:buNone/>
              <a:defRPr sz="2220"/>
            </a:lvl8pPr>
            <a:lvl9pPr marL="4075430" indent="0">
              <a:buNone/>
              <a:defRPr sz="222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60"/>
            </a:lvl1pPr>
            <a:lvl2pPr marL="509270" indent="0">
              <a:buNone/>
              <a:defRPr sz="1320"/>
            </a:lvl2pPr>
            <a:lvl3pPr marL="1018540" indent="0">
              <a:buNone/>
              <a:defRPr sz="1140"/>
            </a:lvl3pPr>
            <a:lvl4pPr marL="1528445" indent="0">
              <a:buNone/>
              <a:defRPr sz="1020"/>
            </a:lvl4pPr>
            <a:lvl5pPr marL="2037715" indent="0">
              <a:buNone/>
              <a:defRPr sz="1020"/>
            </a:lvl5pPr>
            <a:lvl6pPr marL="2546985" indent="0">
              <a:buNone/>
              <a:defRPr sz="1020"/>
            </a:lvl6pPr>
            <a:lvl7pPr marL="3056255" indent="0">
              <a:buNone/>
              <a:defRPr sz="1020"/>
            </a:lvl7pPr>
            <a:lvl8pPr marL="3566160" indent="0">
              <a:buNone/>
              <a:defRPr sz="1020"/>
            </a:lvl8pPr>
            <a:lvl9pPr marL="4075430" indent="0">
              <a:buNone/>
              <a:defRPr sz="10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4"/>
          <p:cNvSpPr txBox="1"/>
          <p:nvPr/>
        </p:nvSpPr>
        <p:spPr>
          <a:xfrm>
            <a:off x="10668440" y="136560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15" dirty="0"/>
              <a:t>www.guideir.cn</a:t>
            </a:r>
            <a:endParaRPr lang="zh-CN" altLang="en-US" sz="1015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/>
          <p:cNvSpPr txBox="1"/>
          <p:nvPr/>
        </p:nvSpPr>
        <p:spPr>
          <a:xfrm>
            <a:off x="10668440" y="136560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15" dirty="0"/>
              <a:t>www.guideir.cn</a:t>
            </a:r>
            <a:endParaRPr lang="zh-CN" altLang="en-US" sz="1015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6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1117AC4-C4B6-4BB1-A699-26FD239F4236}" type="datetimeFigureOut">
              <a:rPr lang="zh-CN" altLang="en-US" smtClean="0"/>
              <a:t>2023/9/2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F2CBD76-B1E9-4B90-AB72-0B1A9784801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4"/>
          <p:cNvSpPr txBox="1"/>
          <p:nvPr/>
        </p:nvSpPr>
        <p:spPr>
          <a:xfrm>
            <a:off x="10668440" y="136560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15" dirty="0"/>
              <a:t>www.guideir.cn</a:t>
            </a:r>
            <a:endParaRPr lang="zh-CN" altLang="en-US" sz="1015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5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31504" y="1295012"/>
            <a:ext cx="5791257" cy="14700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31504" y="3050786"/>
            <a:ext cx="5683671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71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9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7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6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8" name="图片 7" descr="未标题-1.png"/>
          <p:cNvPicPr>
            <a:picLocks noChangeAspect="1"/>
          </p:cNvPicPr>
          <p:nvPr/>
        </p:nvPicPr>
        <p:blipFill>
          <a:blip r:embed="rId2" cstate="print"/>
          <a:srcRect r="1055" b="2344"/>
          <a:stretch>
            <a:fillRect/>
          </a:stretch>
        </p:blipFill>
        <p:spPr>
          <a:xfrm>
            <a:off x="3901229" y="2567640"/>
            <a:ext cx="8290771" cy="42903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6174" y="1"/>
            <a:ext cx="10364198" cy="563358"/>
          </a:xfrm>
          <a:prstGeom prst="rect">
            <a:avLst/>
          </a:prstGeom>
        </p:spPr>
        <p:txBody>
          <a:bodyPr anchor="ctr"/>
          <a:lstStyle>
            <a:lvl1pPr algn="l">
              <a:defRPr sz="2370">
                <a:solidFill>
                  <a:schemeClr val="accent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9827" y="807242"/>
            <a:ext cx="10852574" cy="5318921"/>
          </a:xfrm>
          <a:prstGeom prst="rect">
            <a:avLst/>
          </a:prstGeom>
        </p:spPr>
        <p:txBody>
          <a:bodyPr/>
          <a:lstStyle>
            <a:lvl1pPr>
              <a:buNone/>
              <a:defRPr sz="3725" b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9" name="图片 8" descr="高德智感logo中英文常规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1337" y="6310508"/>
            <a:ext cx="1036420" cy="383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5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6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44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6" y="2906715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20">
                <a:solidFill>
                  <a:schemeClr val="tx1">
                    <a:tint val="75000"/>
                  </a:schemeClr>
                </a:solidFill>
              </a:defRPr>
            </a:lvl1pPr>
            <a:lvl2pPr marL="50927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2pPr>
            <a:lvl3pPr marL="10185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781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4pPr>
            <a:lvl5pPr marL="203771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5pPr>
            <a:lvl6pPr marL="254698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6pPr>
            <a:lvl7pPr marL="305625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7pPr>
            <a:lvl8pPr marL="3565525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8pPr>
            <a:lvl9pPr marL="4075430" indent="0">
              <a:buNone/>
              <a:defRPr sz="15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120"/>
            </a:lvl1pPr>
            <a:lvl2pPr>
              <a:defRPr sz="2700"/>
            </a:lvl2pPr>
            <a:lvl3pPr>
              <a:defRPr sz="2220"/>
            </a:lvl3pPr>
            <a:lvl4pPr>
              <a:defRPr sz="1980"/>
            </a:lvl4pPr>
            <a:lvl5pPr>
              <a:defRPr sz="1980"/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120"/>
            </a:lvl1pPr>
            <a:lvl2pPr>
              <a:defRPr sz="2700"/>
            </a:lvl2pPr>
            <a:lvl3pPr>
              <a:defRPr sz="2220"/>
            </a:lvl3pPr>
            <a:lvl4pPr>
              <a:defRPr sz="1980"/>
            </a:lvl4pPr>
            <a:lvl5pPr>
              <a:defRPr sz="1980"/>
            </a:lvl5pPr>
            <a:lvl6pPr>
              <a:defRPr sz="1980"/>
            </a:lvl6pPr>
            <a:lvl7pPr>
              <a:defRPr sz="1980"/>
            </a:lvl7pPr>
            <a:lvl8pPr>
              <a:defRPr sz="1980"/>
            </a:lvl8pPr>
            <a:lvl9pPr>
              <a:defRPr sz="19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4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700" b="1"/>
            </a:lvl1pPr>
            <a:lvl2pPr marL="509270" indent="0">
              <a:buNone/>
              <a:defRPr sz="2220" b="1"/>
            </a:lvl2pPr>
            <a:lvl3pPr marL="1018540" indent="0">
              <a:buNone/>
              <a:defRPr sz="1980" b="1"/>
            </a:lvl3pPr>
            <a:lvl4pPr marL="1527810" indent="0">
              <a:buNone/>
              <a:defRPr sz="1800" b="1"/>
            </a:lvl4pPr>
            <a:lvl5pPr marL="2037715" indent="0">
              <a:buNone/>
              <a:defRPr sz="1800" b="1"/>
            </a:lvl5pPr>
            <a:lvl6pPr marL="2546985" indent="0">
              <a:buNone/>
              <a:defRPr sz="1800" b="1"/>
            </a:lvl6pPr>
            <a:lvl7pPr marL="3056255" indent="0">
              <a:buNone/>
              <a:defRPr sz="1800" b="1"/>
            </a:lvl7pPr>
            <a:lvl8pPr marL="3565525" indent="0">
              <a:buNone/>
              <a:defRPr sz="1800" b="1"/>
            </a:lvl8pPr>
            <a:lvl9pPr marL="407543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6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700"/>
            </a:lvl1pPr>
            <a:lvl2pPr>
              <a:defRPr sz="2220"/>
            </a:lvl2pPr>
            <a:lvl3pPr>
              <a:defRPr sz="198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4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700" b="1"/>
            </a:lvl1pPr>
            <a:lvl2pPr marL="509270" indent="0">
              <a:buNone/>
              <a:defRPr sz="2220" b="1"/>
            </a:lvl2pPr>
            <a:lvl3pPr marL="1018540" indent="0">
              <a:buNone/>
              <a:defRPr sz="1980" b="1"/>
            </a:lvl3pPr>
            <a:lvl4pPr marL="1527810" indent="0">
              <a:buNone/>
              <a:defRPr sz="1800" b="1"/>
            </a:lvl4pPr>
            <a:lvl5pPr marL="2037715" indent="0">
              <a:buNone/>
              <a:defRPr sz="1800" b="1"/>
            </a:lvl5pPr>
            <a:lvl6pPr marL="2546985" indent="0">
              <a:buNone/>
              <a:defRPr sz="1800" b="1"/>
            </a:lvl6pPr>
            <a:lvl7pPr marL="3056255" indent="0">
              <a:buNone/>
              <a:defRPr sz="1800" b="1"/>
            </a:lvl7pPr>
            <a:lvl8pPr marL="3565525" indent="0">
              <a:buNone/>
              <a:defRPr sz="1800" b="1"/>
            </a:lvl8pPr>
            <a:lvl9pPr marL="4075430" indent="0">
              <a:buNone/>
              <a:defRPr sz="18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6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700"/>
            </a:lvl1pPr>
            <a:lvl2pPr>
              <a:defRPr sz="2220"/>
            </a:lvl2pPr>
            <a:lvl3pPr>
              <a:defRPr sz="198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22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273050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540"/>
            </a:lvl1pPr>
            <a:lvl2pPr>
              <a:defRPr sz="3120"/>
            </a:lvl2pPr>
            <a:lvl3pPr>
              <a:defRPr sz="2700"/>
            </a:lvl3pPr>
            <a:lvl4pPr>
              <a:defRPr sz="2220"/>
            </a:lvl4pPr>
            <a:lvl5pPr>
              <a:defRPr sz="2220"/>
            </a:lvl5pPr>
            <a:lvl6pPr>
              <a:defRPr sz="2220"/>
            </a:lvl6pPr>
            <a:lvl7pPr>
              <a:defRPr sz="2220"/>
            </a:lvl7pPr>
            <a:lvl8pPr>
              <a:defRPr sz="2220"/>
            </a:lvl8pPr>
            <a:lvl9pPr>
              <a:defRPr sz="22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1"/>
            <a:ext cx="4011084" cy="46910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60"/>
            </a:lvl1pPr>
            <a:lvl2pPr marL="509270" indent="0">
              <a:buNone/>
              <a:defRPr sz="1320"/>
            </a:lvl2pPr>
            <a:lvl3pPr marL="1018540" indent="0">
              <a:buNone/>
              <a:defRPr sz="1140"/>
            </a:lvl3pPr>
            <a:lvl4pPr marL="1527810" indent="0">
              <a:buNone/>
              <a:defRPr sz="1020"/>
            </a:lvl4pPr>
            <a:lvl5pPr marL="2037715" indent="0">
              <a:buNone/>
              <a:defRPr sz="1020"/>
            </a:lvl5pPr>
            <a:lvl6pPr marL="2546985" indent="0">
              <a:buNone/>
              <a:defRPr sz="1020"/>
            </a:lvl6pPr>
            <a:lvl7pPr marL="3056255" indent="0">
              <a:buNone/>
              <a:defRPr sz="1020"/>
            </a:lvl7pPr>
            <a:lvl8pPr marL="3565525" indent="0">
              <a:buNone/>
              <a:defRPr sz="1020"/>
            </a:lvl8pPr>
            <a:lvl9pPr marL="4075430" indent="0">
              <a:buNone/>
              <a:defRPr sz="10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 txBox="1"/>
          <p:nvPr/>
        </p:nvSpPr>
        <p:spPr>
          <a:xfrm>
            <a:off x="10668440" y="136560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15" dirty="0">
                <a:solidFill>
                  <a:srgbClr val="F5F5F5"/>
                </a:solidFill>
              </a:rPr>
              <a:t>www.guideir.cn</a:t>
            </a:r>
            <a:endParaRPr lang="zh-CN" altLang="en-US" sz="1015" dirty="0">
              <a:solidFill>
                <a:srgbClr val="F5F5F5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22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8" y="612776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540"/>
            </a:lvl1pPr>
            <a:lvl2pPr marL="509270" indent="0">
              <a:buNone/>
              <a:defRPr sz="3120"/>
            </a:lvl2pPr>
            <a:lvl3pPr marL="1018540" indent="0">
              <a:buNone/>
              <a:defRPr sz="2700"/>
            </a:lvl3pPr>
            <a:lvl4pPr marL="1527810" indent="0">
              <a:buNone/>
              <a:defRPr sz="2220"/>
            </a:lvl4pPr>
            <a:lvl5pPr marL="2037715" indent="0">
              <a:buNone/>
              <a:defRPr sz="2220"/>
            </a:lvl5pPr>
            <a:lvl6pPr marL="2546985" indent="0">
              <a:buNone/>
              <a:defRPr sz="2220"/>
            </a:lvl6pPr>
            <a:lvl7pPr marL="3056255" indent="0">
              <a:buNone/>
              <a:defRPr sz="2220"/>
            </a:lvl7pPr>
            <a:lvl8pPr marL="3565525" indent="0">
              <a:buNone/>
              <a:defRPr sz="2220"/>
            </a:lvl8pPr>
            <a:lvl9pPr marL="4075430" indent="0">
              <a:buNone/>
              <a:defRPr sz="222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60"/>
            </a:lvl1pPr>
            <a:lvl2pPr marL="509270" indent="0">
              <a:buNone/>
              <a:defRPr sz="1320"/>
            </a:lvl2pPr>
            <a:lvl3pPr marL="1018540" indent="0">
              <a:buNone/>
              <a:defRPr sz="1140"/>
            </a:lvl3pPr>
            <a:lvl4pPr marL="1527810" indent="0">
              <a:buNone/>
              <a:defRPr sz="1020"/>
            </a:lvl4pPr>
            <a:lvl5pPr marL="2037715" indent="0">
              <a:buNone/>
              <a:defRPr sz="1020"/>
            </a:lvl5pPr>
            <a:lvl6pPr marL="2546985" indent="0">
              <a:buNone/>
              <a:defRPr sz="1020"/>
            </a:lvl6pPr>
            <a:lvl7pPr marL="3056255" indent="0">
              <a:buNone/>
              <a:defRPr sz="1020"/>
            </a:lvl7pPr>
            <a:lvl8pPr marL="3565525" indent="0">
              <a:buNone/>
              <a:defRPr sz="1020"/>
            </a:lvl8pPr>
            <a:lvl9pPr marL="4075430" indent="0">
              <a:buNone/>
              <a:defRPr sz="10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 txBox="1"/>
          <p:nvPr/>
        </p:nvSpPr>
        <p:spPr>
          <a:xfrm>
            <a:off x="10668440" y="136560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15" dirty="0">
                <a:solidFill>
                  <a:srgbClr val="F5F5F5"/>
                </a:solidFill>
              </a:rPr>
              <a:t>www.guideir.cn</a:t>
            </a:r>
            <a:endParaRPr lang="zh-CN" altLang="en-US" sz="1015" dirty="0">
              <a:solidFill>
                <a:srgbClr val="F5F5F5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页脚占位符 4"/>
          <p:cNvSpPr txBox="1"/>
          <p:nvPr/>
        </p:nvSpPr>
        <p:spPr>
          <a:xfrm>
            <a:off x="10668440" y="136560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15" dirty="0">
                <a:solidFill>
                  <a:srgbClr val="F5F5F5"/>
                </a:solidFill>
              </a:rPr>
              <a:t>www.guideir.cn</a:t>
            </a:r>
            <a:endParaRPr lang="zh-CN" altLang="en-US" sz="1015" dirty="0">
              <a:solidFill>
                <a:srgbClr val="F5F5F5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6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0DCC8EE-E6F6-4467-9AF0-F8B5534EE82E}" type="datetimeFigureOut">
              <a:rPr lang="zh-CN" altLang="en-US" smtClean="0">
                <a:solidFill>
                  <a:srgbClr val="000000"/>
                </a:solidFill>
              </a:rPr>
              <a:t>2023/9/2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BB3CDBE-1733-4CBC-BC01-EB5E67CFFB3A}" type="slidenum">
              <a:rPr lang="zh-CN" altLang="en-US" smtClean="0">
                <a:solidFill>
                  <a:srgbClr val="000000"/>
                </a:solidFill>
              </a:r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 txBox="1"/>
          <p:nvPr/>
        </p:nvSpPr>
        <p:spPr>
          <a:xfrm>
            <a:off x="10668440" y="136560"/>
            <a:ext cx="38608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15" dirty="0">
                <a:solidFill>
                  <a:srgbClr val="F5F5F5"/>
                </a:solidFill>
              </a:rPr>
              <a:t>www.guideir.cn</a:t>
            </a:r>
            <a:endParaRPr lang="zh-CN" altLang="en-US" sz="1015" dirty="0">
              <a:solidFill>
                <a:srgbClr val="F5F5F5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72" y="0"/>
            <a:ext cx="12192000" cy="5633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5"/>
          </a:p>
        </p:txBody>
      </p:sp>
      <p:sp>
        <p:nvSpPr>
          <p:cNvPr id="5" name="页脚占位符 4"/>
          <p:cNvSpPr txBox="1"/>
          <p:nvPr/>
        </p:nvSpPr>
        <p:spPr>
          <a:xfrm>
            <a:off x="10737091" y="197531"/>
            <a:ext cx="1394530" cy="36582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15" dirty="0" smtClean="0"/>
              <a:t>www.guideir.com</a:t>
            </a:r>
            <a:endParaRPr lang="zh-CN" altLang="en-US" sz="101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1018540" rtl="0" eaLnBrk="1" latinLnBrk="0" hangingPunct="1">
        <a:spcBef>
          <a:spcPct val="0"/>
        </a:spcBef>
        <a:buNone/>
        <a:defRPr sz="4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270" indent="-382270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540" kern="1200">
          <a:solidFill>
            <a:schemeClr val="tx1"/>
          </a:solidFill>
          <a:latin typeface="+mn-lt"/>
          <a:ea typeface="+mn-ea"/>
          <a:cs typeface="+mn-cs"/>
        </a:defRPr>
      </a:lvl1pPr>
      <a:lvl2pPr marL="828040" indent="-3181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273810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3080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220" kern="1200">
          <a:solidFill>
            <a:schemeClr val="tx1"/>
          </a:solidFill>
          <a:latin typeface="+mn-lt"/>
          <a:ea typeface="+mn-ea"/>
          <a:cs typeface="+mn-cs"/>
        </a:defRPr>
      </a:lvl4pPr>
      <a:lvl5pPr marL="2292350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»"/>
        <a:defRPr sz="2220" kern="1200">
          <a:solidFill>
            <a:schemeClr val="tx1"/>
          </a:solidFill>
          <a:latin typeface="+mn-lt"/>
          <a:ea typeface="+mn-ea"/>
          <a:cs typeface="+mn-cs"/>
        </a:defRPr>
      </a:lvl5pPr>
      <a:lvl6pPr marL="2801620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6pPr>
      <a:lvl7pPr marL="3311525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7pPr>
      <a:lvl8pPr marL="3820795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65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9270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40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28445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37715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46985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56255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66160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75430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72" y="0"/>
            <a:ext cx="12192000" cy="5633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25">
              <a:solidFill>
                <a:srgbClr val="F5F5F5"/>
              </a:solidFill>
            </a:endParaRPr>
          </a:p>
        </p:txBody>
      </p:sp>
      <p:sp>
        <p:nvSpPr>
          <p:cNvPr id="5" name="页脚占位符 4"/>
          <p:cNvSpPr txBox="1"/>
          <p:nvPr/>
        </p:nvSpPr>
        <p:spPr>
          <a:xfrm>
            <a:off x="10737091" y="197531"/>
            <a:ext cx="1394530" cy="365827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015" dirty="0">
                <a:solidFill>
                  <a:srgbClr val="F5F5F5"/>
                </a:solidFill>
              </a:rPr>
              <a:t>www.guideir.com</a:t>
            </a:r>
            <a:endParaRPr lang="zh-CN" altLang="en-US" sz="1015" dirty="0">
              <a:solidFill>
                <a:srgbClr val="F5F5F5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018540" rtl="0" eaLnBrk="1" latinLnBrk="0" hangingPunct="1">
        <a:spcBef>
          <a:spcPct val="0"/>
        </a:spcBef>
        <a:buNone/>
        <a:defRPr sz="4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2270" indent="-382270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540" kern="1200">
          <a:solidFill>
            <a:schemeClr val="tx1"/>
          </a:solidFill>
          <a:latin typeface="+mn-lt"/>
          <a:ea typeface="+mn-ea"/>
          <a:cs typeface="+mn-cs"/>
        </a:defRPr>
      </a:lvl1pPr>
      <a:lvl2pPr marL="828040" indent="-3181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273810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3080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–"/>
        <a:defRPr sz="2220" kern="1200">
          <a:solidFill>
            <a:schemeClr val="tx1"/>
          </a:solidFill>
          <a:latin typeface="+mn-lt"/>
          <a:ea typeface="+mn-ea"/>
          <a:cs typeface="+mn-cs"/>
        </a:defRPr>
      </a:lvl4pPr>
      <a:lvl5pPr marL="2292350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»"/>
        <a:defRPr sz="2220" kern="1200">
          <a:solidFill>
            <a:schemeClr val="tx1"/>
          </a:solidFill>
          <a:latin typeface="+mn-lt"/>
          <a:ea typeface="+mn-ea"/>
          <a:cs typeface="+mn-cs"/>
        </a:defRPr>
      </a:lvl5pPr>
      <a:lvl6pPr marL="2801620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6pPr>
      <a:lvl7pPr marL="3311525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7pPr>
      <a:lvl8pPr marL="3820795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65" indent="-254635" algn="l" defTabSz="101854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9270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40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10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37715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46985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56255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65525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75430" algn="l" defTabSz="10185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32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1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0.png"/><Relationship Id="rId4" Type="http://schemas.openxmlformats.org/officeDocument/2006/relationships/image" Target="../media/image39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package" Target="../embeddings/Microsoft_Visio_Drawing12.vsdx"/><Relationship Id="rId7" Type="http://schemas.openxmlformats.org/officeDocument/2006/relationships/package" Target="../embeddings/Microsoft_Visio_Drawing34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3.emf"/><Relationship Id="rId5" Type="http://schemas.openxmlformats.org/officeDocument/2006/relationships/package" Target="../embeddings/Microsoft_Visio_Drawing23.vsdx"/><Relationship Id="rId10" Type="http://schemas.openxmlformats.org/officeDocument/2006/relationships/image" Target="../media/image45.emf"/><Relationship Id="rId4" Type="http://schemas.openxmlformats.org/officeDocument/2006/relationships/image" Target="../media/image42.emf"/><Relationship Id="rId9" Type="http://schemas.openxmlformats.org/officeDocument/2006/relationships/package" Target="../embeddings/Microsoft_Visio_Drawing45.vsdx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330"/>
            <a:ext cx="12190955" cy="68574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08" y="5501840"/>
            <a:ext cx="2020967" cy="670625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740214" y="981504"/>
            <a:ext cx="6566278" cy="986634"/>
          </a:xfrm>
          <a:prstGeom prst="rect">
            <a:avLst/>
          </a:prstGeom>
        </p:spPr>
        <p:txBody>
          <a:bodyPr anchor="ctr"/>
          <a:lstStyle>
            <a:lvl1pPr algn="l" defTabSz="1018540" rtl="0" eaLnBrk="1" latinLnBrk="0" hangingPunct="1">
              <a:spcBef>
                <a:spcPct val="0"/>
              </a:spcBef>
              <a:buNone/>
              <a:defRPr sz="237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6000" dirty="0" smtClean="0"/>
              <a:t>测温产品应用</a:t>
            </a:r>
            <a:r>
              <a:rPr lang="zh-CN" altLang="en-US" sz="6000" dirty="0"/>
              <a:t>介绍</a:t>
            </a:r>
            <a:endParaRPr lang="zh-CN" altLang="en-US" sz="6000" dirty="0"/>
          </a:p>
        </p:txBody>
      </p:sp>
      <p:sp>
        <p:nvSpPr>
          <p:cNvPr id="7" name="副标题 2"/>
          <p:cNvSpPr txBox="1"/>
          <p:nvPr/>
        </p:nvSpPr>
        <p:spPr>
          <a:xfrm>
            <a:off x="852554" y="3303334"/>
            <a:ext cx="5683671" cy="1590883"/>
          </a:xfrm>
          <a:prstGeom prst="rect">
            <a:avLst/>
          </a:prstGeom>
        </p:spPr>
        <p:txBody>
          <a:bodyPr/>
          <a:lstStyle>
            <a:lvl1pPr marL="382270" indent="-382270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725" b="0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828040" indent="-318135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12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273810" indent="-254635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783080" indent="-254635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22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292350" indent="-254635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22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801620" indent="-254635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525" indent="-254635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795" indent="-254635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65" indent="-254635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 smtClean="0">
                <a:solidFill>
                  <a:schemeClr val="bg1"/>
                </a:solidFill>
              </a:rPr>
              <a:t>硬   件</a:t>
            </a:r>
            <a:r>
              <a:rPr lang="zh-CN" altLang="en-US" sz="2000" dirty="0" smtClean="0">
                <a:solidFill>
                  <a:schemeClr val="bg1"/>
                </a:solidFill>
              </a:rPr>
              <a:t>：</a:t>
            </a:r>
            <a:r>
              <a:rPr lang="zh-CN" altLang="en-US" sz="2000" dirty="0">
                <a:solidFill>
                  <a:schemeClr val="bg1"/>
                </a:solidFill>
              </a:rPr>
              <a:t>周浩</a:t>
            </a:r>
            <a:r>
              <a:rPr lang="zh-CN" altLang="en-US" sz="2000" dirty="0" smtClean="0">
                <a:solidFill>
                  <a:schemeClr val="bg1"/>
                </a:solidFill>
              </a:rPr>
              <a:t> </a:t>
            </a:r>
            <a:r>
              <a:rPr lang="en-US" altLang="zh-CN" sz="2000" dirty="0" smtClean="0">
                <a:solidFill>
                  <a:schemeClr val="bg1"/>
                </a:solidFill>
              </a:rPr>
              <a:t>08265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zh-CN" altLang="en-US" sz="2000" dirty="0" smtClean="0">
                <a:solidFill>
                  <a:schemeClr val="bg1"/>
                </a:solidFill>
              </a:rPr>
              <a:t>算   法</a:t>
            </a:r>
            <a:r>
              <a:rPr lang="zh-CN" altLang="en-US" sz="2000" dirty="0" smtClean="0">
                <a:solidFill>
                  <a:schemeClr val="bg1"/>
                </a:solidFill>
              </a:rPr>
              <a:t>：潘想 </a:t>
            </a:r>
            <a:r>
              <a:rPr lang="en-US" altLang="zh-CN" sz="2000" dirty="0" smtClean="0">
                <a:solidFill>
                  <a:schemeClr val="bg1"/>
                </a:solidFill>
              </a:rPr>
              <a:t>03225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zh-CN" altLang="en-US" sz="2000" dirty="0" smtClean="0">
                <a:solidFill>
                  <a:schemeClr val="bg1"/>
                </a:solidFill>
              </a:rPr>
              <a:t>嵌入式</a:t>
            </a:r>
            <a:r>
              <a:rPr lang="zh-CN" altLang="en-US" sz="2000" dirty="0" smtClean="0">
                <a:solidFill>
                  <a:schemeClr val="bg1"/>
                </a:solidFill>
              </a:rPr>
              <a:t>：易敏 </a:t>
            </a:r>
            <a:r>
              <a:rPr lang="en-US" altLang="zh-CN" sz="2000" dirty="0" smtClean="0">
                <a:solidFill>
                  <a:schemeClr val="bg1"/>
                </a:solidFill>
              </a:rPr>
              <a:t>03381</a:t>
            </a:r>
            <a:endParaRPr lang="en-US" altLang="zh-CN" sz="2000" dirty="0" smtClean="0">
              <a:solidFill>
                <a:schemeClr val="bg1"/>
              </a:solidFill>
            </a:endParaRPr>
          </a:p>
          <a:p>
            <a:r>
              <a:rPr lang="zh-CN" altLang="en-US" sz="2000" dirty="0" smtClean="0">
                <a:solidFill>
                  <a:schemeClr val="bg1"/>
                </a:solidFill>
              </a:rPr>
              <a:t>测   </a:t>
            </a:r>
            <a:r>
              <a:rPr lang="zh-CN" altLang="en-US" sz="2000" dirty="0" smtClean="0">
                <a:solidFill>
                  <a:schemeClr val="bg1"/>
                </a:solidFill>
              </a:rPr>
              <a:t>试：</a:t>
            </a:r>
            <a:r>
              <a:rPr lang="zh-CN" altLang="en-US" sz="2000" dirty="0" smtClean="0">
                <a:solidFill>
                  <a:schemeClr val="bg1"/>
                </a:solidFill>
              </a:rPr>
              <a:t>黄红</a:t>
            </a:r>
            <a:r>
              <a:rPr lang="zh-CN" altLang="en-US" sz="2000" dirty="0" smtClean="0">
                <a:solidFill>
                  <a:schemeClr val="bg1"/>
                </a:solidFill>
              </a:rPr>
              <a:t> </a:t>
            </a:r>
            <a:r>
              <a:rPr lang="en-US" altLang="zh-CN" sz="2000" dirty="0" smtClean="0">
                <a:solidFill>
                  <a:schemeClr val="bg1"/>
                </a:solidFill>
              </a:rPr>
              <a:t>06726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副标题 33"/>
          <p:cNvSpPr>
            <a:spLocks noGrp="1"/>
          </p:cNvSpPr>
          <p:nvPr>
            <p:ph type="subTitle" idx="1"/>
          </p:nvPr>
        </p:nvSpPr>
        <p:spPr>
          <a:xfrm>
            <a:off x="892261" y="2303958"/>
            <a:ext cx="5672168" cy="642620"/>
          </a:xfrm>
        </p:spPr>
        <p:txBody>
          <a:bodyPr/>
          <a:lstStyle/>
          <a:p>
            <a:pPr indent="360680" algn="l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370" b="1" dirty="0" smtClean="0">
                <a:solidFill>
                  <a:schemeClr val="tx2"/>
                </a:solidFill>
                <a:latin typeface="+mn-ea"/>
              </a:rPr>
              <a:t>（一</a:t>
            </a:r>
            <a:r>
              <a:rPr lang="zh-CN" altLang="en-US" sz="2370" b="1" dirty="0" smtClean="0">
                <a:solidFill>
                  <a:schemeClr val="tx2"/>
                </a:solidFill>
                <a:latin typeface="+mn-ea"/>
              </a:rPr>
              <a:t>）</a:t>
            </a:r>
            <a:r>
              <a:rPr lang="zh-CN" altLang="en-US" sz="2370" b="1" dirty="0" smtClean="0">
                <a:solidFill>
                  <a:schemeClr val="tx2"/>
                </a:solidFill>
                <a:latin typeface="+mn-ea"/>
              </a:rPr>
              <a:t>探测器响应率调试方法</a:t>
            </a:r>
            <a:endParaRPr lang="en-US" altLang="zh-CN" sz="2370" b="1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5" name="直接连接符 4"/>
          <p:cNvCxnSpPr>
            <a:cxnSpLocks noChangeShapeType="1"/>
            <a:endCxn id="16" idx="4"/>
          </p:cNvCxnSpPr>
          <p:nvPr/>
        </p:nvCxnSpPr>
        <p:spPr bwMode="auto">
          <a:xfrm flipH="1">
            <a:off x="1044269" y="2318777"/>
            <a:ext cx="1" cy="2277863"/>
          </a:xfrm>
          <a:prstGeom prst="line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round/>
          </a:ln>
        </p:spPr>
      </p:cxnSp>
      <p:sp>
        <p:nvSpPr>
          <p:cNvPr id="6" name="椭圆 5"/>
          <p:cNvSpPr>
            <a:spLocks noChangeArrowheads="1"/>
          </p:cNvSpPr>
          <p:nvPr/>
        </p:nvSpPr>
        <p:spPr bwMode="auto">
          <a:xfrm>
            <a:off x="953391" y="2433527"/>
            <a:ext cx="182902" cy="183123"/>
          </a:xfrm>
          <a:prstGeom prst="ellipse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1525">
              <a:solidFill>
                <a:srgbClr val="FFFFFF"/>
              </a:solidFill>
            </a:endParaRPr>
          </a:p>
        </p:txBody>
      </p:sp>
      <p:sp>
        <p:nvSpPr>
          <p:cNvPr id="7" name="椭圆 6"/>
          <p:cNvSpPr>
            <a:spLocks noChangeArrowheads="1"/>
          </p:cNvSpPr>
          <p:nvPr/>
        </p:nvSpPr>
        <p:spPr bwMode="auto">
          <a:xfrm>
            <a:off x="952818" y="2922123"/>
            <a:ext cx="182902" cy="183123"/>
          </a:xfrm>
          <a:prstGeom prst="ellipse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 lang="zh-CN" altLang="en-US" sz="1525">
              <a:solidFill>
                <a:srgbClr val="FFFFFF"/>
              </a:solidFill>
            </a:endParaRPr>
          </a:p>
        </p:txBody>
      </p:sp>
      <p:sp>
        <p:nvSpPr>
          <p:cNvPr id="10" name="文本框 20"/>
          <p:cNvSpPr txBox="1">
            <a:spLocks noChangeArrowheads="1"/>
          </p:cNvSpPr>
          <p:nvPr/>
        </p:nvSpPr>
        <p:spPr bwMode="auto">
          <a:xfrm>
            <a:off x="750797" y="492739"/>
            <a:ext cx="4389614" cy="10302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6095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  录</a:t>
            </a:r>
            <a:endParaRPr lang="zh-CN" altLang="en-US" sz="6095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副标题 33"/>
          <p:cNvSpPr>
            <a:spLocks noGrp="1"/>
          </p:cNvSpPr>
          <p:nvPr/>
        </p:nvSpPr>
        <p:spPr>
          <a:xfrm>
            <a:off x="892261" y="2839115"/>
            <a:ext cx="6040120" cy="689610"/>
          </a:xfrm>
          <a:prstGeom prst="rect">
            <a:avLst/>
          </a:prstGeom>
        </p:spPr>
        <p:txBody>
          <a:bodyPr/>
          <a:lstStyle>
            <a:lvl1pPr marL="0" indent="0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1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927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1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1854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2844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3771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4698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05625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56616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07543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680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370" b="1" dirty="0">
                <a:solidFill>
                  <a:schemeClr val="tx2"/>
                </a:solidFill>
                <a:latin typeface="+mn-ea"/>
              </a:rPr>
              <a:t>（二</a:t>
            </a:r>
            <a:r>
              <a:rPr lang="zh-CN" altLang="en-US" sz="2370" b="1" dirty="0" smtClean="0">
                <a:solidFill>
                  <a:schemeClr val="tx2"/>
                </a:solidFill>
                <a:latin typeface="+mn-ea"/>
              </a:rPr>
              <a:t>）测温应用算法</a:t>
            </a:r>
            <a:endParaRPr lang="en-US" altLang="zh-CN" sz="237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8" name="副标题 33"/>
          <p:cNvSpPr>
            <a:spLocks noGrp="1"/>
          </p:cNvSpPr>
          <p:nvPr/>
        </p:nvSpPr>
        <p:spPr>
          <a:xfrm>
            <a:off x="892261" y="3330547"/>
            <a:ext cx="9512648" cy="689610"/>
          </a:xfrm>
          <a:prstGeom prst="rect">
            <a:avLst/>
          </a:prstGeom>
        </p:spPr>
        <p:txBody>
          <a:bodyPr/>
          <a:lstStyle>
            <a:lvl1pPr marL="0" indent="0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1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927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1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1854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2844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3771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4698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05625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56616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07543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680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370" b="1" dirty="0" smtClean="0">
                <a:solidFill>
                  <a:schemeClr val="tx2"/>
                </a:solidFill>
                <a:latin typeface="+mn-ea"/>
              </a:rPr>
              <a:t>（三</a:t>
            </a:r>
            <a:r>
              <a:rPr lang="zh-CN" altLang="en-US" sz="2370" b="1" dirty="0" smtClean="0">
                <a:solidFill>
                  <a:schemeClr val="tx2"/>
                </a:solidFill>
                <a:latin typeface="+mn-ea"/>
              </a:rPr>
              <a:t>）前端机芯测温功能介绍</a:t>
            </a:r>
            <a:endParaRPr lang="en-US" altLang="zh-CN" sz="237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9" name="椭圆 8"/>
          <p:cNvSpPr>
            <a:spLocks noChangeArrowheads="1"/>
          </p:cNvSpPr>
          <p:nvPr/>
        </p:nvSpPr>
        <p:spPr bwMode="auto">
          <a:xfrm>
            <a:off x="952818" y="3463382"/>
            <a:ext cx="182902" cy="183123"/>
          </a:xfrm>
          <a:prstGeom prst="ellipse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1525">
              <a:solidFill>
                <a:srgbClr val="FFFFFF"/>
              </a:solidFill>
            </a:endParaRPr>
          </a:p>
        </p:txBody>
      </p:sp>
      <p:sp>
        <p:nvSpPr>
          <p:cNvPr id="12" name="副标题 33"/>
          <p:cNvSpPr>
            <a:spLocks noGrp="1"/>
          </p:cNvSpPr>
          <p:nvPr/>
        </p:nvSpPr>
        <p:spPr>
          <a:xfrm>
            <a:off x="892261" y="3843643"/>
            <a:ext cx="6040120" cy="689610"/>
          </a:xfrm>
          <a:prstGeom prst="rect">
            <a:avLst/>
          </a:prstGeom>
        </p:spPr>
        <p:txBody>
          <a:bodyPr/>
          <a:lstStyle>
            <a:lvl1pPr marL="0" indent="0" algn="l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1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0927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1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1854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2844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3771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4698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056255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56616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075430" indent="0" algn="ctr" defTabSz="101854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22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680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370" b="1" dirty="0" smtClean="0">
                <a:solidFill>
                  <a:schemeClr val="tx2"/>
                </a:solidFill>
                <a:latin typeface="+mn-ea"/>
              </a:rPr>
              <a:t>（四</a:t>
            </a:r>
            <a:r>
              <a:rPr lang="zh-CN" altLang="en-US" sz="2370" b="1" dirty="0" smtClean="0">
                <a:solidFill>
                  <a:schemeClr val="tx2"/>
                </a:solidFill>
                <a:latin typeface="+mn-ea"/>
              </a:rPr>
              <a:t>）测温验收标准</a:t>
            </a:r>
            <a:endParaRPr lang="en-US" altLang="zh-CN" sz="2370" b="1" dirty="0">
              <a:solidFill>
                <a:schemeClr val="tx2"/>
              </a:solidFill>
              <a:latin typeface="+mn-ea"/>
            </a:endParaRPr>
          </a:p>
          <a:p>
            <a:pPr indent="360680">
              <a:lnSpc>
                <a:spcPct val="150000"/>
              </a:lnSpc>
              <a:buClr>
                <a:schemeClr val="tx2"/>
              </a:buClr>
              <a:buSzPct val="100000"/>
            </a:pPr>
            <a:endParaRPr lang="en-US" altLang="zh-CN" sz="2370" b="1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13" name="椭圆 12"/>
          <p:cNvSpPr>
            <a:spLocks noChangeArrowheads="1"/>
          </p:cNvSpPr>
          <p:nvPr/>
        </p:nvSpPr>
        <p:spPr bwMode="auto">
          <a:xfrm>
            <a:off x="952818" y="3927050"/>
            <a:ext cx="182902" cy="183123"/>
          </a:xfrm>
          <a:prstGeom prst="ellipse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1525">
              <a:solidFill>
                <a:srgbClr val="FFFFFF"/>
              </a:solidFill>
            </a:endParaRPr>
          </a:p>
        </p:txBody>
      </p:sp>
      <p:sp>
        <p:nvSpPr>
          <p:cNvPr id="16" name="椭圆 15"/>
          <p:cNvSpPr>
            <a:spLocks noChangeArrowheads="1"/>
          </p:cNvSpPr>
          <p:nvPr/>
        </p:nvSpPr>
        <p:spPr bwMode="auto">
          <a:xfrm>
            <a:off x="952818" y="4413517"/>
            <a:ext cx="182902" cy="183123"/>
          </a:xfrm>
          <a:prstGeom prst="ellipse">
            <a:avLst/>
          </a:prstGeom>
          <a:solidFill>
            <a:schemeClr val="tx2"/>
          </a:solidFill>
          <a:ln w="9525">
            <a:noFill/>
            <a:round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1525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advClick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34" grpId="1" build="p"/>
      <p:bldP spid="6" grpId="0" bldLvl="0" animBg="1"/>
      <p:bldP spid="6" grpId="1" animBg="1"/>
      <p:bldP spid="7" grpId="0" bldLvl="0" animBg="1"/>
      <p:bldP spid="7" grpId="1" animBg="1"/>
      <p:bldP spid="14" grpId="0"/>
      <p:bldP spid="14" grpId="1"/>
      <p:bldP spid="8" grpId="0"/>
      <p:bldP spid="8" grpId="1"/>
      <p:bldP spid="9" grpId="0" bldLvl="0" animBg="1"/>
      <p:bldP spid="9" grpId="1" animBg="1"/>
      <p:bldP spid="12" grpId="0"/>
      <p:bldP spid="12" grpId="1"/>
      <p:bldP spid="13" grpId="0" bldLvl="0" animBg="1"/>
      <p:bldP spid="13" grpId="1" animBg="1"/>
      <p:bldP spid="16" grpId="0" bldLvl="0" animBg="1"/>
      <p:bldP spid="1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548064" y="2154455"/>
            <a:ext cx="51084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 noProof="1">
                <a:solidFill>
                  <a:srgbClr val="C00000"/>
                </a:solidFill>
                <a:latin typeface="+mn-ea"/>
                <a:sym typeface="+mn-ea"/>
              </a:rPr>
              <a:t>PART </a:t>
            </a:r>
            <a:r>
              <a:rPr lang="zh-CN" altLang="en-US" sz="2400" b="1" noProof="1">
                <a:solidFill>
                  <a:srgbClr val="C00000"/>
                </a:solidFill>
                <a:latin typeface="+mn-ea"/>
                <a:sym typeface="+mn-ea"/>
              </a:rPr>
              <a:t>1   </a:t>
            </a:r>
            <a:r>
              <a:rPr lang="zh-CN" altLang="en-US" sz="2400" b="1" noProof="1" smtClean="0">
                <a:solidFill>
                  <a:srgbClr val="C00000"/>
                </a:solidFill>
                <a:latin typeface="+mn-ea"/>
                <a:sym typeface="+mn-ea"/>
              </a:rPr>
              <a:t>探测器响应率调试方法</a:t>
            </a:r>
            <a:endParaRPr lang="en-US" altLang="zh-CN" sz="2400" b="1" noProof="1">
              <a:solidFill>
                <a:srgbClr val="C00000"/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</a:t>
            </a:r>
            <a:r>
              <a:rPr lang="en-US" altLang="zh-CN" sz="2400" noProof="1" smtClean="0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2    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测温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应用</a:t>
            </a:r>
            <a:r>
              <a:rPr lang="zh-CN" altLang="en-US" sz="24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算法</a:t>
            </a:r>
            <a:endParaRPr lang="en-US" altLang="zh-CN" sz="2400" noProof="1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</a:t>
            </a:r>
            <a:r>
              <a:rPr lang="zh-CN" altLang="en-US" sz="2400" noProof="1" smtClean="0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3    前端机芯测温功能介绍</a:t>
            </a:r>
            <a:endParaRPr lang="en-US" altLang="zh-CN" sz="2400" noProof="1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</a:t>
            </a:r>
            <a:r>
              <a:rPr lang="en-US" altLang="zh-CN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4   </a:t>
            </a:r>
            <a:r>
              <a:rPr lang="zh-CN" altLang="en-US" sz="24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测温验收标准</a:t>
            </a:r>
            <a:endParaRPr lang="zh-CN" altLang="en-US" sz="2400" noProof="1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076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426174" y="869460"/>
            <a:ext cx="10810875" cy="2657138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indent="457200">
              <a:lnSpc>
                <a:spcPts val="4000"/>
              </a:lnSpc>
            </a:pP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像元响应率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含义是指在一定帧周期或</a:t>
            </a:r>
            <a:r>
              <a:rPr lang="zh-CN" altLang="en-US" sz="2000" dirty="0" smtClean="0"/>
              <a:t>行</a:t>
            </a:r>
            <a:r>
              <a:rPr lang="zh-CN" altLang="en-US" sz="2000" dirty="0">
                <a:latin typeface="+mn-ea"/>
              </a:rPr>
              <a:t>周期条件下，红外焦平面</a:t>
            </a:r>
            <a:r>
              <a:rPr lang="zh-CN" altLang="en-US" sz="2000" dirty="0" smtClean="0">
                <a:latin typeface="+mn-ea"/>
              </a:rPr>
              <a:t>各</a:t>
            </a:r>
            <a:r>
              <a:rPr lang="zh-CN" altLang="en-US" sz="2000" dirty="0">
                <a:latin typeface="+mn-ea"/>
              </a:rPr>
              <a:t>像元</a:t>
            </a:r>
            <a:r>
              <a:rPr lang="zh-CN" altLang="en-US" sz="2000" dirty="0" smtClean="0">
                <a:latin typeface="+mn-ea"/>
              </a:rPr>
              <a:t>对</a:t>
            </a:r>
            <a:r>
              <a:rPr lang="zh-CN" altLang="en-US" sz="2000" dirty="0">
                <a:latin typeface="+mn-ea"/>
              </a:rPr>
              <a:t>每单位辐射功率产生的输出电压信号</a:t>
            </a:r>
            <a:r>
              <a:rPr lang="zh-CN" altLang="en-US" sz="2000" dirty="0" smtClean="0">
                <a:latin typeface="+mn-ea"/>
              </a:rPr>
              <a:t>。</a:t>
            </a:r>
            <a:r>
              <a:rPr lang="zh-CN" altLang="en-US" sz="2000" dirty="0" smtClean="0"/>
              <a:t>即</a:t>
            </a:r>
            <a:r>
              <a:rPr lang="zh-CN" altLang="en-US" sz="2000" dirty="0"/>
              <a:t>测试目标</a:t>
            </a: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每变化</a:t>
            </a:r>
            <a:r>
              <a:rPr lang="en-US" altLang="zh-CN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1℃</a:t>
            </a:r>
            <a:r>
              <a:rPr lang="zh-CN" altLang="en-US" sz="2000" dirty="0"/>
              <a:t>，对应的</a:t>
            </a:r>
            <a:r>
              <a:rPr lang="zh-CN" altLang="en-US" sz="2000" dirty="0" smtClean="0"/>
              <a:t>探测器（像元）输出模拟</a:t>
            </a: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电压的变化量</a:t>
            </a:r>
            <a:r>
              <a:rPr lang="zh-CN" altLang="en-US" sz="2000" dirty="0"/>
              <a:t>，单位</a:t>
            </a:r>
            <a:r>
              <a:rPr lang="zh-CN" altLang="en-US" sz="2000" dirty="0" smtClean="0"/>
              <a:t>为</a:t>
            </a:r>
            <a:r>
              <a:rPr lang="en-US" altLang="zh-CN" sz="2000" dirty="0" smtClean="0"/>
              <a:t>mV/K </a:t>
            </a:r>
            <a:r>
              <a:rPr lang="zh-CN" altLang="en-US" sz="2000" dirty="0"/>
              <a:t>。探测器手册里一般指的是探测器的平均响应率</a:t>
            </a:r>
            <a:r>
              <a:rPr lang="zh-CN" altLang="en-US" sz="2000" dirty="0" smtClean="0"/>
              <a:t>，也就是焦平面所有有效</a:t>
            </a:r>
            <a:r>
              <a:rPr lang="zh-CN" altLang="en-US" sz="2000" dirty="0"/>
              <a:t>像元响应率的</a:t>
            </a: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平均值</a:t>
            </a:r>
            <a:r>
              <a:rPr lang="zh-CN" altLang="en-US" sz="2000" dirty="0" smtClean="0"/>
              <a:t>，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它表征的是探测器对温度（辐射照度）变化响应的</a:t>
            </a: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灵敏度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pPr indent="457200">
              <a:lnSpc>
                <a:spcPts val="4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响应率可以用</a:t>
            </a:r>
            <a:r>
              <a:rPr lang="en-US" altLang="zh-CN" sz="2000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表示，即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Responsivity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818660" y="4046810"/>
            <a:ext cx="2056346" cy="53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响应率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3718377" y="3866985"/>
                <a:ext cx="5642570" cy="897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nor/>
                        </m:rPr>
                        <a:rPr lang="zh-CN" alt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  <m:r>
                                <a:rPr lang="zh-CN" altLang="en-US" sz="24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)×(1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𝐿𝑆𝐵</m:t>
                              </m:r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对应的电压值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377" y="3866985"/>
                <a:ext cx="5642570" cy="8977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62756" y="5280750"/>
            <a:ext cx="9413239" cy="538096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◆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1LSB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对应的电压值：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最小分辨电压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参考电压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/(2^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采样精度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=2/16383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1.1</a:t>
            </a:r>
            <a:r>
              <a:rPr lang="zh-CN" altLang="en-US" b="1" dirty="0"/>
              <a:t> </a:t>
            </a:r>
            <a:r>
              <a:rPr lang="zh-CN" altLang="en-US" b="1" dirty="0" smtClean="0"/>
              <a:t>响应率基本概念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副标题 33"/>
          <p:cNvSpPr txBox="1">
            <a:spLocks/>
          </p:cNvSpPr>
          <p:nvPr/>
        </p:nvSpPr>
        <p:spPr>
          <a:xfrm>
            <a:off x="0" y="635480"/>
            <a:ext cx="5117560" cy="748477"/>
          </a:xfrm>
          <a:prstGeom prst="rect">
            <a:avLst/>
          </a:prstGeom>
        </p:spPr>
        <p:txBody>
          <a:bodyPr/>
          <a:lstStyle>
            <a:lvl1pPr marL="382069" indent="-382069" algn="l" defTabSz="1018852" rtl="0" eaLnBrk="1" latinLnBrk="0" hangingPunct="1">
              <a:spcBef>
                <a:spcPct val="20000"/>
              </a:spcBef>
              <a:buFont typeface="Arial" pitchFamily="34" charset="0"/>
              <a:buNone/>
              <a:defRPr sz="3725" b="0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827817" indent="-318391" algn="l" defTabSz="10188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1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273565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782990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292417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2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801843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268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695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121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●影响探测器响应率的因素</a:t>
            </a:r>
            <a:endParaRPr lang="en-US" altLang="zh-CN" sz="2000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800" dirty="0" smtClean="0">
                <a:solidFill>
                  <a:srgbClr val="7030A0"/>
                </a:solidFill>
              </a:rPr>
              <a:t>     </a:t>
            </a:r>
            <a:endParaRPr lang="en-US" altLang="zh-CN" sz="2800" dirty="0" smtClean="0">
              <a:solidFill>
                <a:srgbClr val="7030A0"/>
              </a:solidFill>
            </a:endParaRPr>
          </a:p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 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48633" y="1456078"/>
            <a:ext cx="11296231" cy="4206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★内部因素</a:t>
            </a:r>
            <a:endParaRPr lang="en-US" altLang="zh-CN" sz="2000" dirty="0"/>
          </a:p>
          <a:p>
            <a:pPr>
              <a:lnSpc>
                <a:spcPts val="4000"/>
              </a:lnSpc>
            </a:pPr>
            <a:r>
              <a:rPr lang="en-US" altLang="zh-CN" sz="2000" dirty="0"/>
              <a:t>   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探测器响应率公式如下：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7030A0"/>
                </a:solidFill>
              </a:rPr>
              <a:t> </a:t>
            </a:r>
            <a:endParaRPr lang="en-US" altLang="zh-CN" dirty="0" smtClean="0">
              <a:solidFill>
                <a:srgbClr val="7030A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7030A0"/>
                </a:solidFill>
              </a:rPr>
              <a:t> </a:t>
            </a:r>
            <a:r>
              <a:rPr lang="en-US" altLang="zh-CN" dirty="0" smtClean="0">
                <a:solidFill>
                  <a:srgbClr val="7030A0"/>
                </a:solidFill>
              </a:rPr>
              <a:t>       </a:t>
            </a:r>
            <a:r>
              <a:rPr lang="en-US" altLang="zh-CN" sz="2000" dirty="0"/>
              <a:t>tint</a:t>
            </a:r>
            <a:r>
              <a:rPr lang="zh-CN" altLang="en-US" sz="2000" dirty="0"/>
              <a:t>为探测器积分时间；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Cint</a:t>
            </a:r>
            <a:r>
              <a:rPr lang="zh-CN" altLang="en-US" sz="2000" dirty="0"/>
              <a:t>为探测器积分电容大小，它由增益设置来控制，增益越大，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Cint</a:t>
            </a:r>
            <a:r>
              <a:rPr lang="zh-CN" altLang="en-US" sz="2000" dirty="0"/>
              <a:t>值越小，相应的探测器响应率越高；</a:t>
            </a:r>
            <a:r>
              <a:rPr lang="en-US" altLang="zh-CN" sz="2000" dirty="0" err="1"/>
              <a:t>Ractive</a:t>
            </a:r>
            <a:r>
              <a:rPr lang="zh-CN" altLang="en-US" sz="2000" dirty="0"/>
              <a:t>为热敏电阻的初值，它是由探测器像元的衬底温度（焦温）及本身的材料确定，该热敏电阻为负温度系数的电阻，焦温越高，</a:t>
            </a:r>
            <a:r>
              <a:rPr lang="en-US" altLang="zh-CN" sz="2000" dirty="0" err="1"/>
              <a:t>Ractive</a:t>
            </a:r>
            <a:r>
              <a:rPr lang="zh-CN" altLang="en-US" sz="2000" dirty="0"/>
              <a:t>值越小，相应的探测器响应率越高。从公式可以看出，影响探测器响应率的内部因素为：</a:t>
            </a: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积分时间</a:t>
            </a:r>
            <a:r>
              <a:rPr lang="zh-CN" altLang="en-US" sz="2000" dirty="0"/>
              <a:t>，</a:t>
            </a: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增益</a:t>
            </a:r>
            <a:r>
              <a:rPr lang="zh-CN" altLang="en-US" sz="2000" dirty="0"/>
              <a:t>，</a:t>
            </a:r>
            <a:r>
              <a:rPr lang="en-US" altLang="zh-CN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GFID</a:t>
            </a:r>
            <a:r>
              <a:rPr lang="zh-CN" altLang="en-US" sz="2000" dirty="0"/>
              <a:t>，</a:t>
            </a: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热敏电阻材料</a:t>
            </a:r>
            <a:r>
              <a:rPr lang="zh-CN" altLang="en-US" sz="2000" dirty="0"/>
              <a:t>，</a:t>
            </a: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焦平面温度</a:t>
            </a:r>
            <a:r>
              <a:rPr lang="zh-CN" altLang="en-US" sz="2000" dirty="0"/>
              <a:t>等。</a:t>
            </a:r>
            <a:r>
              <a:rPr lang="en-US" altLang="zh-CN" sz="2000" dirty="0"/>
              <a:t>      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1.1</a:t>
            </a:r>
            <a:r>
              <a:rPr lang="zh-CN" altLang="en-US" b="1" dirty="0"/>
              <a:t> </a:t>
            </a:r>
            <a:r>
              <a:rPr lang="zh-CN" altLang="en-US" b="1" dirty="0" smtClean="0"/>
              <a:t>响应</a:t>
            </a:r>
            <a:r>
              <a:rPr lang="zh-CN" altLang="en-US" b="1" dirty="0"/>
              <a:t>率基本概念</a:t>
            </a:r>
          </a:p>
        </p:txBody>
      </p:sp>
    </p:spTree>
    <p:extLst>
      <p:ext uri="{BB962C8B-B14F-4D97-AF65-F5344CB8AC3E}">
        <p14:creationId xmlns:p14="http://schemas.microsoft.com/office/powerpoint/2010/main" val="35756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33"/>
          <p:cNvSpPr txBox="1">
            <a:spLocks/>
          </p:cNvSpPr>
          <p:nvPr/>
        </p:nvSpPr>
        <p:spPr>
          <a:xfrm>
            <a:off x="-296562" y="478961"/>
            <a:ext cx="5117560" cy="748477"/>
          </a:xfrm>
          <a:prstGeom prst="rect">
            <a:avLst/>
          </a:prstGeom>
        </p:spPr>
        <p:txBody>
          <a:bodyPr/>
          <a:lstStyle>
            <a:lvl1pPr marL="382069" indent="-382069" algn="l" defTabSz="1018852" rtl="0" eaLnBrk="1" latinLnBrk="0" hangingPunct="1">
              <a:spcBef>
                <a:spcPct val="20000"/>
              </a:spcBef>
              <a:buFont typeface="Arial" pitchFamily="34" charset="0"/>
              <a:buNone/>
              <a:defRPr sz="3725" b="0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827817" indent="-318391" algn="l" defTabSz="10188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1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273565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782990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292417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2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801843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268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695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121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000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●影响探测器响应率的因素</a:t>
            </a:r>
            <a:endParaRPr lang="en-US" altLang="zh-CN" sz="2000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800" dirty="0" smtClean="0">
                <a:solidFill>
                  <a:srgbClr val="7030A0"/>
                </a:solidFill>
              </a:rPr>
              <a:t>     </a:t>
            </a:r>
            <a:endParaRPr lang="en-US" altLang="zh-CN" sz="2800" dirty="0" smtClean="0">
              <a:solidFill>
                <a:srgbClr val="7030A0"/>
              </a:solidFill>
            </a:endParaRPr>
          </a:p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76648" y="972065"/>
            <a:ext cx="10475636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★外部因素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7030A0"/>
                </a:solidFill>
              </a:rPr>
              <a:t>       </a:t>
            </a:r>
            <a:r>
              <a:rPr lang="en-US" altLang="zh-CN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 </a:t>
            </a:r>
            <a:r>
              <a:rPr lang="zh-CN" altLang="en-US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红外镜头</a:t>
            </a:r>
            <a:endParaRPr lang="en-US" altLang="zh-CN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indent="457200"/>
            <a:r>
              <a:rPr lang="en-US" altLang="zh-CN" dirty="0"/>
              <a:t> </a:t>
            </a:r>
            <a:r>
              <a:rPr lang="zh-CN" altLang="en-US" dirty="0"/>
              <a:t>镜头的</a:t>
            </a:r>
            <a:r>
              <a:rPr lang="en-US" altLang="zh-CN" dirty="0"/>
              <a:t>F#</a:t>
            </a:r>
            <a:r>
              <a:rPr lang="zh-CN" altLang="en-US" dirty="0"/>
              <a:t>及透过率，会影响目标物体的辐射能量进入到探测器的衰减程度。</a:t>
            </a:r>
            <a:r>
              <a:rPr lang="en-US" altLang="zh-CN" dirty="0"/>
              <a:t>F</a:t>
            </a:r>
            <a:r>
              <a:rPr lang="zh-CN" altLang="en-US" dirty="0"/>
              <a:t>数值越大，响应率越低。透过率越高，响应率越高。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</a:t>
            </a:r>
            <a:r>
              <a:rPr lang="en-US" altLang="zh-CN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 </a:t>
            </a:r>
            <a:r>
              <a:rPr lang="zh-CN" altLang="en-US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探测器工艺</a:t>
            </a:r>
            <a:endParaRPr lang="en-US" altLang="zh-CN" dirty="0" smtClean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indent="457200"/>
            <a:r>
              <a:rPr lang="zh-CN" altLang="en-US" dirty="0"/>
              <a:t>像元尺寸越大，单个像元接受能量就越强，响应率就越高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indent="457200"/>
            <a:r>
              <a:rPr lang="zh-CN" altLang="en-US" dirty="0"/>
              <a:t>热响应时间越长，响应率越高。</a:t>
            </a:r>
            <a:endParaRPr lang="en-US" altLang="zh-CN" dirty="0"/>
          </a:p>
          <a:p>
            <a:pPr indent="457200"/>
            <a:r>
              <a:rPr lang="zh-CN" altLang="en-US" dirty="0"/>
              <a:t>真空度越高，响应率就越高。探测器漏气会使响应率下降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  </a:t>
            </a:r>
            <a:r>
              <a:rPr lang="en-US" altLang="zh-CN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3. </a:t>
            </a:r>
            <a:r>
              <a:rPr lang="zh-CN" altLang="en-US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目标温度</a:t>
            </a:r>
            <a:endParaRPr lang="en-US" altLang="zh-CN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zh-CN" dirty="0"/>
              <a:t>        </a:t>
            </a:r>
            <a:r>
              <a:rPr lang="zh-CN" altLang="en-US" dirty="0"/>
              <a:t>物体对外辐射的能量与绝对温度呈</a:t>
            </a:r>
            <a:r>
              <a:rPr lang="en-US" altLang="zh-CN" dirty="0"/>
              <a:t>4</a:t>
            </a:r>
            <a:r>
              <a:rPr lang="zh-CN" altLang="en-US" dirty="0"/>
              <a:t>次方关系，目标温度越高，进入到探测器的能量增加越多，测得的响应率越高。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</a:t>
            </a:r>
            <a:r>
              <a:rPr lang="en-US" altLang="zh-CN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4. </a:t>
            </a:r>
            <a:r>
              <a:rPr lang="zh-CN" altLang="en-US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窗口</a:t>
            </a:r>
            <a:endParaRPr lang="en-US" altLang="zh-CN" dirty="0" smtClean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indent="457200"/>
            <a:r>
              <a:rPr lang="zh-CN" altLang="en-US" dirty="0"/>
              <a:t>影响窗口的透过率一般与窗口的材质和镀膜工艺有关；常用窗口材料一般有硅和锗，锗对长波红外的透过率高于硅，锗的成本也高于硅，</a:t>
            </a:r>
            <a:r>
              <a:rPr lang="zh-CN" altLang="en-US" dirty="0">
                <a:solidFill>
                  <a:srgbClr val="00B0F0"/>
                </a:solidFill>
              </a:rPr>
              <a:t>金属和陶瓷探测器的窗口用的是锗，晶圆探测器用的是硅。</a:t>
            </a:r>
            <a:r>
              <a:rPr lang="zh-CN" altLang="en-US" dirty="0"/>
              <a:t>一般</a:t>
            </a:r>
            <a:r>
              <a:rPr lang="zh-CN" altLang="en-US" dirty="0">
                <a:solidFill>
                  <a:srgbClr val="00B0F0"/>
                </a:solidFill>
              </a:rPr>
              <a:t>测温用的金属和陶瓷探测器是前截止膜，观瞄应用是全通</a:t>
            </a:r>
            <a:r>
              <a:rPr lang="zh-CN" altLang="en-US" dirty="0" smtClean="0">
                <a:solidFill>
                  <a:srgbClr val="00B0F0"/>
                </a:solidFill>
              </a:rPr>
              <a:t>的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7030A0"/>
                </a:solidFill>
              </a:rPr>
              <a:t>             </a:t>
            </a:r>
            <a:endParaRPr lang="en-US" altLang="zh-CN" dirty="0">
              <a:solidFill>
                <a:srgbClr val="7030A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1.1</a:t>
            </a:r>
            <a:r>
              <a:rPr lang="zh-CN" altLang="en-US" b="1" dirty="0"/>
              <a:t> </a:t>
            </a:r>
            <a:r>
              <a:rPr lang="zh-CN" altLang="en-US" b="1" dirty="0" smtClean="0"/>
              <a:t>响应</a:t>
            </a:r>
            <a:r>
              <a:rPr lang="zh-CN" altLang="en-US" b="1" dirty="0"/>
              <a:t>率基本概念</a:t>
            </a:r>
          </a:p>
        </p:txBody>
      </p:sp>
    </p:spTree>
    <p:extLst>
      <p:ext uri="{BB962C8B-B14F-4D97-AF65-F5344CB8AC3E}">
        <p14:creationId xmlns:p14="http://schemas.microsoft.com/office/powerpoint/2010/main" val="133849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/>
          </p:cNvSpPr>
          <p:nvPr/>
        </p:nvSpPr>
        <p:spPr>
          <a:xfrm>
            <a:off x="426174" y="1"/>
            <a:ext cx="10364198" cy="563358"/>
          </a:xfrm>
          <a:prstGeom prst="rect">
            <a:avLst/>
          </a:prstGeom>
        </p:spPr>
        <p:txBody>
          <a:bodyPr anchor="ctr"/>
          <a:lstStyle>
            <a:lvl1pPr algn="l" defTabSz="1018540" rtl="0" eaLnBrk="1" latinLnBrk="0" hangingPunct="1">
              <a:spcBef>
                <a:spcPct val="0"/>
              </a:spcBef>
              <a:buNone/>
              <a:defRPr sz="237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1.1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sym typeface="+mn-ea"/>
              </a:rPr>
              <a:t>响应率基本概念</a:t>
            </a:r>
            <a:endParaRPr lang="zh-CN" altLang="en-US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8615" y="1075716"/>
            <a:ext cx="8166806" cy="4708981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观瞄产品：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◆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目前陶瓷探测器项目的响应率一般设置在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12mV/K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左右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◆响应率不要求非常精确，不会针对每台机器设置响应率参数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测温产品</a:t>
            </a:r>
            <a:r>
              <a:rPr lang="en-US" altLang="zh-CN" sz="20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◆按照测温范围划分不同的响应率，测温范围约大，响应率设定越小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◆测温精度要求较高，故响应率要求偏差较小，一般每台机器的响应率需要单独调试并设定参数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4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8615" y="738219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不同产品、不同探测器响应率应用差异</a:t>
            </a:r>
          </a:p>
        </p:txBody>
      </p:sp>
    </p:spTree>
    <p:extLst>
      <p:ext uri="{BB962C8B-B14F-4D97-AF65-F5344CB8AC3E}">
        <p14:creationId xmlns:p14="http://schemas.microsoft.com/office/powerpoint/2010/main" val="357540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1.2</a:t>
            </a:r>
            <a:r>
              <a:rPr lang="zh-CN" altLang="en-US" b="1" dirty="0"/>
              <a:t> </a:t>
            </a:r>
            <a:r>
              <a:rPr lang="zh-CN" altLang="en-US" b="1" dirty="0" smtClean="0"/>
              <a:t>调节响应率参数</a:t>
            </a:r>
            <a:endParaRPr lang="zh-CN" altLang="en-US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438" y="1302286"/>
            <a:ext cx="7268123" cy="4881575"/>
          </a:xfrm>
          <a:prstGeom prst="rect">
            <a:avLst/>
          </a:prstGeom>
        </p:spPr>
      </p:pic>
      <p:sp>
        <p:nvSpPr>
          <p:cNvPr id="12" name="副标题 33"/>
          <p:cNvSpPr txBox="1">
            <a:spLocks/>
          </p:cNvSpPr>
          <p:nvPr/>
        </p:nvSpPr>
        <p:spPr>
          <a:xfrm>
            <a:off x="-527221" y="563359"/>
            <a:ext cx="3970637" cy="540511"/>
          </a:xfrm>
          <a:prstGeom prst="rect">
            <a:avLst/>
          </a:prstGeom>
        </p:spPr>
        <p:txBody>
          <a:bodyPr/>
          <a:lstStyle>
            <a:lvl1pPr marL="382069" indent="-382069" algn="l" defTabSz="1018852" rtl="0" eaLnBrk="1" latinLnBrk="0" hangingPunct="1">
              <a:spcBef>
                <a:spcPct val="20000"/>
              </a:spcBef>
              <a:buFont typeface="Arial" pitchFamily="34" charset="0"/>
              <a:buNone/>
              <a:defRPr sz="3725" b="0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827817" indent="-318391" algn="l" defTabSz="10188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1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273565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782990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292417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2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801843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268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695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121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000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●</a:t>
            </a:r>
            <a:r>
              <a:rPr lang="en-US" altLang="zh-CN" sz="2000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GST612</a:t>
            </a:r>
            <a:r>
              <a:rPr lang="zh-CN" altLang="en-US" sz="2000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探测器相关配置</a:t>
            </a:r>
            <a:endParaRPr lang="en-US" altLang="zh-CN" sz="2000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800" dirty="0" smtClean="0">
                <a:solidFill>
                  <a:srgbClr val="7030A0"/>
                </a:solidFill>
              </a:rPr>
              <a:t>     </a:t>
            </a:r>
            <a:endParaRPr lang="en-US" altLang="zh-CN" sz="2800" dirty="0" smtClean="0">
              <a:solidFill>
                <a:srgbClr val="7030A0"/>
              </a:solidFill>
            </a:endParaRPr>
          </a:p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0458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1.2 </a:t>
            </a:r>
            <a:r>
              <a:rPr lang="zh-CN" altLang="en-US" b="1" dirty="0" smtClean="0"/>
              <a:t>调节响应率参数</a:t>
            </a:r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86" y="1243956"/>
            <a:ext cx="10359456" cy="5010209"/>
          </a:xfrm>
          <a:prstGeom prst="rect">
            <a:avLst/>
          </a:prstGeom>
        </p:spPr>
      </p:pic>
      <p:sp>
        <p:nvSpPr>
          <p:cNvPr id="5" name="副标题 33"/>
          <p:cNvSpPr txBox="1">
            <a:spLocks/>
          </p:cNvSpPr>
          <p:nvPr/>
        </p:nvSpPr>
        <p:spPr>
          <a:xfrm>
            <a:off x="-527221" y="563359"/>
            <a:ext cx="3970637" cy="540511"/>
          </a:xfrm>
          <a:prstGeom prst="rect">
            <a:avLst/>
          </a:prstGeom>
        </p:spPr>
        <p:txBody>
          <a:bodyPr/>
          <a:lstStyle>
            <a:lvl1pPr marL="382069" indent="-382069" algn="l" defTabSz="1018852" rtl="0" eaLnBrk="1" latinLnBrk="0" hangingPunct="1">
              <a:spcBef>
                <a:spcPct val="20000"/>
              </a:spcBef>
              <a:buFont typeface="Arial" pitchFamily="34" charset="0"/>
              <a:buNone/>
              <a:defRPr sz="3725" b="0" kern="1200">
                <a:solidFill>
                  <a:schemeClr val="tx2"/>
                </a:solidFill>
                <a:latin typeface="+mj-ea"/>
                <a:ea typeface="+mj-ea"/>
                <a:cs typeface="+mn-cs"/>
              </a:defRPr>
            </a:lvl1pPr>
            <a:lvl2pPr marL="827817" indent="-318391" algn="l" defTabSz="10188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1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273565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782990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292417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219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801843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268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695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121" indent="-254714" algn="l" defTabSz="101885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000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</a:rPr>
              <a:t>●高芯推荐寄存器初始配置</a:t>
            </a:r>
            <a:endParaRPr lang="en-US" altLang="zh-CN" sz="2000" dirty="0">
              <a:ln w="0"/>
              <a:solidFill>
                <a:srgbClr val="00B0F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ea typeface="+mn-ea"/>
            </a:endParaRPr>
          </a:p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zh-CN" altLang="en-US" sz="2800" dirty="0" smtClean="0">
                <a:solidFill>
                  <a:srgbClr val="7030A0"/>
                </a:solidFill>
              </a:rPr>
              <a:t>     </a:t>
            </a:r>
            <a:endParaRPr lang="en-US" altLang="zh-CN" sz="2800" dirty="0" smtClean="0">
              <a:solidFill>
                <a:srgbClr val="7030A0"/>
              </a:solidFill>
            </a:endParaRPr>
          </a:p>
          <a:p>
            <a:pPr indent="360363">
              <a:lnSpc>
                <a:spcPct val="150000"/>
              </a:lnSpc>
              <a:buClr>
                <a:schemeClr val="tx2"/>
              </a:buClr>
              <a:buSzPct val="100000"/>
            </a:pPr>
            <a:r>
              <a:rPr lang="en-US" altLang="zh-CN" sz="2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3971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1.2 </a:t>
            </a:r>
            <a:r>
              <a:rPr lang="zh-CN" altLang="en-US" b="1" dirty="0" smtClean="0"/>
              <a:t>调节响应率参数</a:t>
            </a:r>
            <a:r>
              <a:rPr lang="en-US" altLang="zh-CN" b="1" dirty="0">
                <a:solidFill>
                  <a:schemeClr val="bg1"/>
                </a:solidFill>
                <a:latin typeface="+mn-ea"/>
                <a:sym typeface="+mn-ea"/>
              </a:rPr>
              <a:t>—GAIN</a:t>
            </a:r>
            <a:r>
              <a:rPr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+mn-ea"/>
                <a:sym typeface="+mn-ea"/>
              </a:rPr>
              <a:t>GFID</a:t>
            </a:r>
            <a:r>
              <a:rPr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+mn-ea"/>
                <a:sym typeface="+mn-ea"/>
              </a:rPr>
              <a:t>INT</a:t>
            </a:r>
            <a:endParaRPr lang="zh-CN" altLang="en-US" b="1" dirty="0"/>
          </a:p>
        </p:txBody>
      </p:sp>
      <p:pic>
        <p:nvPicPr>
          <p:cNvPr id="4" name="内容占位符 2" descr="屏幕剪辑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196" y="809173"/>
            <a:ext cx="3644008" cy="2316451"/>
          </a:xfrm>
        </p:spPr>
      </p:pic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196" y="3371438"/>
            <a:ext cx="3855308" cy="233383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08" y="3310266"/>
            <a:ext cx="3621456" cy="217672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3296" y="1321068"/>
            <a:ext cx="45663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增益（</a:t>
            </a:r>
            <a:r>
              <a:rPr lang="en-US" altLang="zh-CN" dirty="0" smtClean="0"/>
              <a:t>GAIN</a:t>
            </a:r>
            <a:r>
              <a:rPr lang="zh-CN" altLang="en-US" dirty="0" smtClean="0"/>
              <a:t>）、</a:t>
            </a:r>
            <a:r>
              <a:rPr lang="en-US" altLang="zh-CN" dirty="0" smtClean="0"/>
              <a:t>GFID</a:t>
            </a:r>
            <a:r>
              <a:rPr lang="zh-CN" altLang="en-US" dirty="0" smtClean="0"/>
              <a:t>和积分时间（</a:t>
            </a:r>
            <a:r>
              <a:rPr lang="en-US" altLang="zh-CN" dirty="0" smtClean="0"/>
              <a:t>INT</a:t>
            </a:r>
            <a:r>
              <a:rPr lang="zh-CN" altLang="en-US" dirty="0" smtClean="0"/>
              <a:t>）对响应率影响如图所示。</a:t>
            </a:r>
            <a:endParaRPr lang="en-US" altLang="zh-CN" dirty="0" smtClean="0"/>
          </a:p>
        </p:txBody>
      </p:sp>
      <p:sp>
        <p:nvSpPr>
          <p:cNvPr id="8" name="文本框 7"/>
          <p:cNvSpPr txBox="1"/>
          <p:nvPr/>
        </p:nvSpPr>
        <p:spPr>
          <a:xfrm>
            <a:off x="5830947" y="5848327"/>
            <a:ext cx="4566390" cy="538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INT_Set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（行周期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-Tint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*4</a:t>
            </a:r>
          </a:p>
        </p:txBody>
      </p:sp>
    </p:spTree>
    <p:extLst>
      <p:ext uri="{BB962C8B-B14F-4D97-AF65-F5344CB8AC3E}">
        <p14:creationId xmlns:p14="http://schemas.microsoft.com/office/powerpoint/2010/main" val="129674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1.2 </a:t>
            </a:r>
            <a:r>
              <a:rPr lang="zh-CN" altLang="en-US" b="1" dirty="0" smtClean="0"/>
              <a:t>调节响应率参数</a:t>
            </a:r>
            <a:r>
              <a:rPr lang="en-US" altLang="zh-CN" b="1" dirty="0">
                <a:solidFill>
                  <a:schemeClr val="bg1"/>
                </a:solidFill>
                <a:latin typeface="+mn-ea"/>
                <a:sym typeface="+mn-ea"/>
              </a:rPr>
              <a:t>—RD/RC</a:t>
            </a:r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84" y="2561843"/>
            <a:ext cx="4584589" cy="27556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305" y="2561843"/>
            <a:ext cx="4584589" cy="275563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39188" y="1549667"/>
            <a:ext cx="784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目前探测器都有 </a:t>
            </a:r>
            <a:r>
              <a:rPr lang="en-US" altLang="zh-CN" dirty="0" smtClean="0"/>
              <a:t>RD</a:t>
            </a:r>
            <a:r>
              <a:rPr lang="zh-CN" altLang="en-US" dirty="0" smtClean="0"/>
              <a:t>和</a:t>
            </a:r>
            <a:r>
              <a:rPr lang="en-US" altLang="zh-CN" dirty="0" smtClean="0"/>
              <a:t>RC</a:t>
            </a:r>
            <a:r>
              <a:rPr lang="zh-CN" altLang="en-US" dirty="0" smtClean="0"/>
              <a:t>这两个参数用于响应率调节，其变化规律如图示：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53837" y="5590986"/>
            <a:ext cx="5468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一般</a:t>
            </a:r>
            <a:r>
              <a:rPr lang="en-US" altLang="zh-CN" dirty="0" smtClean="0"/>
              <a:t>RD</a:t>
            </a:r>
            <a:r>
              <a:rPr lang="zh-CN" altLang="en-US" dirty="0" smtClean="0"/>
              <a:t>和</a:t>
            </a:r>
            <a:r>
              <a:rPr lang="en-US" altLang="zh-CN" dirty="0" smtClean="0"/>
              <a:t>RC</a:t>
            </a:r>
            <a:r>
              <a:rPr lang="zh-CN" altLang="en-US" dirty="0" smtClean="0"/>
              <a:t>这两个参数建议按照高芯推荐的默认值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761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1.2 </a:t>
            </a:r>
            <a:r>
              <a:rPr lang="zh-CN" altLang="en-US" b="1" dirty="0" smtClean="0"/>
              <a:t>调节响应率参数</a:t>
            </a:r>
            <a:r>
              <a:rPr lang="en-US" altLang="zh-CN" b="1" dirty="0">
                <a:solidFill>
                  <a:schemeClr val="bg1"/>
                </a:solidFill>
                <a:latin typeface="+mn-ea"/>
                <a:sym typeface="+mn-ea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焦温</a:t>
            </a:r>
            <a:endParaRPr lang="zh-CN" altLang="en-US" b="1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732" y="1540476"/>
            <a:ext cx="5865131" cy="363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3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1.2 </a:t>
            </a:r>
            <a:r>
              <a:rPr lang="zh-CN" altLang="en-US" b="1" dirty="0" smtClean="0"/>
              <a:t>调节响应率参数</a:t>
            </a:r>
            <a:endParaRPr lang="zh-CN" alt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48" y="1225892"/>
            <a:ext cx="11467070" cy="429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8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  <a:sym typeface="+mn-ea"/>
              </a:rPr>
              <a:t>1.3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sym typeface="+mn-ea"/>
              </a:rPr>
              <a:t>探测器</a:t>
            </a:r>
            <a:r>
              <a:rPr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参数调试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760" y="2496000"/>
            <a:ext cx="6258540" cy="177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15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  <a:sym typeface="+mn-ea"/>
              </a:rPr>
              <a:t>1.3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sym typeface="+mn-ea"/>
              </a:rPr>
              <a:t>探测器</a:t>
            </a:r>
            <a:r>
              <a:rPr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参数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sym typeface="+mn-ea"/>
              </a:rPr>
              <a:t>调试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黑体选择</a:t>
            </a:r>
            <a:endParaRPr lang="zh-CN" altLang="en-US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917" y="1065328"/>
            <a:ext cx="4015557" cy="428409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6174" y="1065328"/>
            <a:ext cx="51130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黑体选择的原则是：与校温保持一致，温度点</a:t>
            </a:r>
            <a:endParaRPr lang="en-US" altLang="zh-CN" dirty="0" smtClean="0"/>
          </a:p>
          <a:p>
            <a:r>
              <a:rPr lang="zh-CN" altLang="en-US" dirty="0" smtClean="0"/>
              <a:t>尽量通用。</a:t>
            </a:r>
            <a:endParaRPr lang="en-US" altLang="zh-CN" dirty="0" smtClean="0"/>
          </a:p>
          <a:p>
            <a:r>
              <a:rPr lang="zh-CN" altLang="en-US" dirty="0" smtClean="0"/>
              <a:t>注意点：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温度：一般为测温范围的最大值和最小值。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距离：一般与校温距离保持一致。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发射率：</a:t>
            </a:r>
            <a:r>
              <a:rPr lang="zh-CN" altLang="en-US" dirty="0"/>
              <a:t>一般与校</a:t>
            </a:r>
            <a:r>
              <a:rPr lang="zh-CN" altLang="en-US" dirty="0" smtClean="0"/>
              <a:t>温发射率保持</a:t>
            </a:r>
            <a:r>
              <a:rPr lang="zh-CN" altLang="en-US" dirty="0"/>
              <a:t>一致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型号：</a:t>
            </a:r>
            <a:r>
              <a:rPr lang="zh-CN" altLang="en-US" dirty="0"/>
              <a:t>一般与校</a:t>
            </a:r>
            <a:r>
              <a:rPr lang="zh-CN" altLang="en-US" dirty="0" smtClean="0"/>
              <a:t>温黑体保持</a:t>
            </a:r>
            <a:r>
              <a:rPr lang="zh-CN" altLang="en-US" dirty="0"/>
              <a:t>一致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8617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  <a:sym typeface="+mn-ea"/>
              </a:rPr>
              <a:t>1.3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sym typeface="+mn-ea"/>
              </a:rPr>
              <a:t>探测器</a:t>
            </a:r>
            <a:r>
              <a:rPr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参数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sym typeface="+mn-ea"/>
              </a:rPr>
              <a:t>调试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响应率确定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07082" y="1405288"/>
            <a:ext cx="106618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响应率确定的原则是：在机器工作温度范围和机器测温范围内不出现</a:t>
            </a:r>
            <a:r>
              <a:rPr lang="en-US" altLang="zh-CN" dirty="0" smtClean="0"/>
              <a:t>AD</a:t>
            </a:r>
            <a:r>
              <a:rPr lang="zh-CN" altLang="en-US" dirty="0" smtClean="0"/>
              <a:t>值饱和的前提下尽量调节最大。</a:t>
            </a:r>
            <a:endParaRPr lang="en-US" altLang="zh-CN" dirty="0" smtClean="0"/>
          </a:p>
          <a:p>
            <a:r>
              <a:rPr lang="zh-CN" altLang="en-US" dirty="0" smtClean="0"/>
              <a:t>注意点：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焦温：需满足工作温度范围内响应率最高的焦温下，</a:t>
            </a:r>
            <a:r>
              <a:rPr lang="en-US" altLang="zh-CN" dirty="0" smtClean="0"/>
              <a:t>AD</a:t>
            </a:r>
            <a:r>
              <a:rPr lang="zh-CN" altLang="en-US" dirty="0" smtClean="0"/>
              <a:t>值不饱和。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闭环区间：需要满足在闭环区间下最极限时，</a:t>
            </a:r>
            <a:r>
              <a:rPr lang="en-US" altLang="zh-CN" dirty="0"/>
              <a:t> AD</a:t>
            </a:r>
            <a:r>
              <a:rPr lang="zh-CN" altLang="en-US" dirty="0"/>
              <a:t>值不饱和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温飘：两次</a:t>
            </a:r>
            <a:r>
              <a:rPr lang="en-US" altLang="zh-CN" dirty="0" smtClean="0"/>
              <a:t>NUC</a:t>
            </a:r>
            <a:r>
              <a:rPr lang="zh-CN" altLang="en-US" dirty="0" smtClean="0"/>
              <a:t>之间，</a:t>
            </a:r>
            <a:r>
              <a:rPr lang="en-US" altLang="zh-CN" dirty="0"/>
              <a:t> AD</a:t>
            </a:r>
            <a:r>
              <a:rPr lang="zh-CN" altLang="en-US" dirty="0"/>
              <a:t>值不饱和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655723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  <a:sym typeface="+mn-ea"/>
              </a:rPr>
              <a:t>1.3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sym typeface="+mn-ea"/>
              </a:rPr>
              <a:t>探测器</a:t>
            </a:r>
            <a:r>
              <a:rPr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参数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sym typeface="+mn-ea"/>
              </a:rPr>
              <a:t>调试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探测器参数确定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45825" y="984374"/>
            <a:ext cx="11544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探测器参数确定的原则是：需要调节的值尽可能少，建议仅调节</a:t>
            </a:r>
            <a:r>
              <a:rPr lang="en-US" altLang="zh-CN" dirty="0" smtClean="0"/>
              <a:t>INT</a:t>
            </a:r>
            <a:r>
              <a:rPr lang="zh-CN" altLang="en-US" dirty="0" smtClean="0"/>
              <a:t>参数。</a:t>
            </a:r>
            <a:endParaRPr lang="en-US" altLang="zh-CN" dirty="0" smtClean="0"/>
          </a:p>
          <a:p>
            <a:r>
              <a:rPr lang="zh-CN" altLang="en-US" dirty="0" smtClean="0"/>
              <a:t>注意点：</a:t>
            </a:r>
            <a:endParaRPr lang="en-US" altLang="zh-CN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响应率参数一般有</a:t>
            </a:r>
            <a:r>
              <a:rPr lang="en-US" altLang="zh-CN" dirty="0" smtClean="0"/>
              <a:t>RD/RC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GAIN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GFID</a:t>
            </a:r>
            <a:r>
              <a:rPr lang="zh-CN" altLang="en-US" dirty="0" smtClean="0"/>
              <a:t>和</a:t>
            </a:r>
            <a:r>
              <a:rPr lang="en-US" altLang="zh-CN" dirty="0" smtClean="0"/>
              <a:t>INT;</a:t>
            </a:r>
            <a:r>
              <a:rPr lang="zh-CN" altLang="en-US" dirty="0" smtClean="0"/>
              <a:t>一般建议</a:t>
            </a:r>
            <a:r>
              <a:rPr lang="en-US" altLang="zh-CN" dirty="0"/>
              <a:t>RD/RC</a:t>
            </a:r>
            <a:r>
              <a:rPr lang="zh-CN" altLang="en-US" dirty="0"/>
              <a:t>、</a:t>
            </a:r>
            <a:r>
              <a:rPr lang="en-US" altLang="zh-CN" dirty="0"/>
              <a:t>GAIN</a:t>
            </a:r>
            <a:r>
              <a:rPr lang="zh-CN" altLang="en-US" dirty="0"/>
              <a:t>、</a:t>
            </a:r>
            <a:r>
              <a:rPr lang="en-US" altLang="zh-CN" dirty="0" smtClean="0"/>
              <a:t>GFID</a:t>
            </a:r>
            <a:r>
              <a:rPr lang="zh-CN" altLang="en-US" dirty="0" smtClean="0"/>
              <a:t>保持为默认值（高芯提供）。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如果高芯的参数不合适（仅调节</a:t>
            </a:r>
            <a:r>
              <a:rPr lang="en-US" altLang="zh-CN" dirty="0" smtClean="0"/>
              <a:t>INT</a:t>
            </a:r>
            <a:r>
              <a:rPr lang="zh-CN" altLang="en-US" dirty="0" smtClean="0"/>
              <a:t>无法将响应率调节到范围内），可以调节</a:t>
            </a:r>
            <a:r>
              <a:rPr lang="en-US" altLang="zh-CN" dirty="0" smtClean="0"/>
              <a:t>GAIN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GFID</a:t>
            </a:r>
            <a:r>
              <a:rPr lang="zh-CN" altLang="en-US" dirty="0" smtClean="0"/>
              <a:t>，尽量不要调</a:t>
            </a:r>
            <a:r>
              <a:rPr lang="en-US" altLang="zh-CN" dirty="0" smtClean="0"/>
              <a:t>RD/RC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61379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  <a:sym typeface="+mn-ea"/>
              </a:rPr>
              <a:t>1.3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sym typeface="+mn-ea"/>
              </a:rPr>
              <a:t>探测器</a:t>
            </a:r>
            <a:r>
              <a:rPr lang="zh-CN" altLang="en-US" b="1" dirty="0">
                <a:solidFill>
                  <a:schemeClr val="bg1"/>
                </a:solidFill>
                <a:latin typeface="+mn-ea"/>
                <a:sym typeface="+mn-ea"/>
              </a:rPr>
              <a:t>参数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  <a:sym typeface="+mn-ea"/>
              </a:rPr>
              <a:t>调试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闭环范围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37817" y="1302008"/>
            <a:ext cx="115445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dirty="0" smtClean="0">
                <a:solidFill>
                  <a:srgbClr val="000000"/>
                </a:solidFill>
              </a:rPr>
              <a:t>探测器参数部分有</a:t>
            </a:r>
            <a:r>
              <a:rPr lang="en-US" altLang="zh-CN" dirty="0" smtClean="0">
                <a:solidFill>
                  <a:srgbClr val="000000"/>
                </a:solidFill>
              </a:rPr>
              <a:t>4</a:t>
            </a:r>
            <a:r>
              <a:rPr lang="zh-CN" altLang="en-US" dirty="0" smtClean="0">
                <a:solidFill>
                  <a:srgbClr val="000000"/>
                </a:solidFill>
              </a:rPr>
              <a:t>个区间范围，分别为：</a:t>
            </a:r>
            <a:r>
              <a:rPr lang="en-US" altLang="zh-CN" dirty="0" smtClean="0">
                <a:solidFill>
                  <a:srgbClr val="000000"/>
                </a:solidFill>
              </a:rPr>
              <a:t>RA_SEL</a:t>
            </a:r>
            <a:r>
              <a:rPr lang="zh-CN" altLang="en-US" dirty="0" smtClean="0">
                <a:solidFill>
                  <a:srgbClr val="000000"/>
                </a:solidFill>
              </a:rPr>
              <a:t>闭环范围、</a:t>
            </a:r>
            <a:r>
              <a:rPr lang="en-US" altLang="zh-CN" dirty="0" smtClean="0">
                <a:solidFill>
                  <a:srgbClr val="000000"/>
                </a:solidFill>
              </a:rPr>
              <a:t>HSSD</a:t>
            </a:r>
            <a:r>
              <a:rPr lang="zh-CN" altLang="en-US" dirty="0" smtClean="0">
                <a:solidFill>
                  <a:srgbClr val="000000"/>
                </a:solidFill>
              </a:rPr>
              <a:t>闭环范围、</a:t>
            </a:r>
            <a:r>
              <a:rPr lang="en-US" altLang="zh-CN" dirty="0" smtClean="0">
                <a:solidFill>
                  <a:srgbClr val="000000"/>
                </a:solidFill>
              </a:rPr>
              <a:t>NUC</a:t>
            </a:r>
            <a:r>
              <a:rPr lang="zh-CN" altLang="en-US" dirty="0" smtClean="0">
                <a:solidFill>
                  <a:srgbClr val="000000"/>
                </a:solidFill>
              </a:rPr>
              <a:t>粗调范围和</a:t>
            </a:r>
            <a:r>
              <a:rPr lang="en-US" altLang="zh-CN" dirty="0" smtClean="0">
                <a:solidFill>
                  <a:srgbClr val="000000"/>
                </a:solidFill>
              </a:rPr>
              <a:t>NUC</a:t>
            </a:r>
            <a:r>
              <a:rPr lang="zh-CN" altLang="en-US" dirty="0" smtClean="0">
                <a:solidFill>
                  <a:srgbClr val="000000"/>
                </a:solidFill>
              </a:rPr>
              <a:t>细调范围。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 indent="457200"/>
            <a:r>
              <a:rPr lang="zh-CN" altLang="en-US" dirty="0" smtClean="0">
                <a:solidFill>
                  <a:srgbClr val="000000"/>
                </a:solidFill>
              </a:rPr>
              <a:t>各闭环范围确定原则是，</a:t>
            </a:r>
            <a:r>
              <a:rPr lang="zh-CN" altLang="zh-CN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需要</a:t>
            </a:r>
            <a:r>
              <a:rPr lang="zh-CN" altLang="zh-CN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保证闭环区间大于等于一格步进能力，且考虑探测器的离散性，留一定的裕</a:t>
            </a:r>
            <a:r>
              <a:rPr lang="zh-CN" altLang="zh-CN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量</a:t>
            </a:r>
            <a:r>
              <a:rPr lang="zh-CN" altLang="en-US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，</a:t>
            </a:r>
            <a:r>
              <a:rPr lang="zh-CN" altLang="en-US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歩进</a:t>
            </a:r>
            <a:r>
              <a:rPr lang="zh-CN" altLang="en-US" dirty="0" smtClean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值为引起</a:t>
            </a:r>
            <a:r>
              <a:rPr lang="en-US" altLang="zh-CN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</a:t>
            </a:r>
            <a:r>
              <a:rPr lang="zh-CN" altLang="en-US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值变化的</a:t>
            </a:r>
            <a:r>
              <a:rPr lang="en-US" altLang="zh-CN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1.5~2</a:t>
            </a:r>
            <a:r>
              <a:rPr lang="zh-CN" altLang="en-US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倍。</a:t>
            </a:r>
            <a:r>
              <a:rPr lang="zh-CN" altLang="en-US" dirty="0" smtClean="0">
                <a:solidFill>
                  <a:srgbClr val="000000"/>
                </a:solidFill>
              </a:rPr>
              <a:t>比如</a:t>
            </a:r>
            <a:r>
              <a:rPr lang="en-US" altLang="zh-CN" dirty="0" smtClean="0">
                <a:solidFill>
                  <a:srgbClr val="000000"/>
                </a:solidFill>
              </a:rPr>
              <a:t>HSSD</a:t>
            </a:r>
            <a:r>
              <a:rPr lang="zh-CN" altLang="en-US" dirty="0" smtClean="0">
                <a:solidFill>
                  <a:srgbClr val="000000"/>
                </a:solidFill>
              </a:rPr>
              <a:t>从</a:t>
            </a:r>
            <a:r>
              <a:rPr lang="en-US" altLang="zh-CN" dirty="0" smtClean="0">
                <a:solidFill>
                  <a:srgbClr val="000000"/>
                </a:solidFill>
              </a:rPr>
              <a:t>64</a:t>
            </a:r>
            <a:r>
              <a:rPr lang="zh-CN" altLang="en-US" dirty="0" smtClean="0">
                <a:solidFill>
                  <a:srgbClr val="000000"/>
                </a:solidFill>
              </a:rPr>
              <a:t>调节到</a:t>
            </a:r>
            <a:r>
              <a:rPr lang="en-US" altLang="zh-CN" dirty="0" smtClean="0">
                <a:solidFill>
                  <a:srgbClr val="000000"/>
                </a:solidFill>
              </a:rPr>
              <a:t>65</a:t>
            </a:r>
            <a:r>
              <a:rPr lang="zh-CN" altLang="en-US" dirty="0" smtClean="0">
                <a:solidFill>
                  <a:srgbClr val="000000"/>
                </a:solidFill>
              </a:rPr>
              <a:t>，</a:t>
            </a:r>
            <a:r>
              <a:rPr lang="en-US" altLang="zh-CN" dirty="0" smtClean="0">
                <a:solidFill>
                  <a:srgbClr val="000000"/>
                </a:solidFill>
              </a:rPr>
              <a:t>AD</a:t>
            </a:r>
            <a:r>
              <a:rPr lang="zh-CN" altLang="en-US" dirty="0" smtClean="0">
                <a:solidFill>
                  <a:srgbClr val="000000"/>
                </a:solidFill>
              </a:rPr>
              <a:t>值变化</a:t>
            </a:r>
            <a:r>
              <a:rPr lang="en-US" altLang="zh-CN" dirty="0" smtClean="0">
                <a:solidFill>
                  <a:srgbClr val="000000"/>
                </a:solidFill>
              </a:rPr>
              <a:t>1000</a:t>
            </a:r>
            <a:r>
              <a:rPr lang="zh-CN" altLang="en-US" dirty="0" smtClean="0">
                <a:solidFill>
                  <a:srgbClr val="000000"/>
                </a:solidFill>
              </a:rPr>
              <a:t>，则</a:t>
            </a:r>
            <a:r>
              <a:rPr lang="en-US" altLang="zh-CN" dirty="0" smtClean="0">
                <a:solidFill>
                  <a:srgbClr val="000000"/>
                </a:solidFill>
              </a:rPr>
              <a:t>HSSD</a:t>
            </a:r>
            <a:r>
              <a:rPr lang="zh-CN" altLang="en-US" dirty="0" smtClean="0">
                <a:solidFill>
                  <a:srgbClr val="000000"/>
                </a:solidFill>
              </a:rPr>
              <a:t>区间可选取</a:t>
            </a:r>
            <a:r>
              <a:rPr lang="en-US" altLang="zh-CN" dirty="0" smtClean="0">
                <a:solidFill>
                  <a:srgbClr val="000000"/>
                </a:solidFill>
              </a:rPr>
              <a:t>±1000</a:t>
            </a:r>
            <a:r>
              <a:rPr lang="zh-CN" altLang="en-US" dirty="0" smtClean="0">
                <a:solidFill>
                  <a:srgbClr val="000000"/>
                </a:solidFill>
              </a:rPr>
              <a:t>另外</a:t>
            </a:r>
            <a:r>
              <a:rPr lang="en-US" altLang="zh-CN" dirty="0" smtClean="0">
                <a:solidFill>
                  <a:srgbClr val="000000"/>
                </a:solidFill>
              </a:rPr>
              <a:t>NUC</a:t>
            </a:r>
            <a:r>
              <a:rPr lang="zh-CN" altLang="en-US" dirty="0" smtClean="0">
                <a:solidFill>
                  <a:srgbClr val="000000"/>
                </a:solidFill>
              </a:rPr>
              <a:t>细调比如</a:t>
            </a:r>
            <a:r>
              <a:rPr lang="en-US" altLang="zh-CN" dirty="0" smtClean="0">
                <a:solidFill>
                  <a:srgbClr val="000000"/>
                </a:solidFill>
              </a:rPr>
              <a:t>612</a:t>
            </a:r>
            <a:r>
              <a:rPr lang="zh-CN" altLang="en-US" dirty="0" smtClean="0">
                <a:solidFill>
                  <a:srgbClr val="000000"/>
                </a:solidFill>
              </a:rPr>
              <a:t>的探测器最低</a:t>
            </a:r>
            <a:r>
              <a:rPr lang="zh-CN" altLang="en-US" dirty="0">
                <a:solidFill>
                  <a:srgbClr val="000000"/>
                </a:solidFill>
              </a:rPr>
              <a:t>两</a:t>
            </a:r>
            <a:r>
              <a:rPr lang="zh-CN" altLang="en-US" dirty="0" smtClean="0">
                <a:solidFill>
                  <a:srgbClr val="000000"/>
                </a:solidFill>
              </a:rPr>
              <a:t>位是无效的，需要注意步进值是以</a:t>
            </a:r>
            <a:r>
              <a:rPr lang="en-US" altLang="zh-CN" dirty="0" smtClean="0">
                <a:solidFill>
                  <a:srgbClr val="000000"/>
                </a:solidFill>
              </a:rPr>
              <a:t>4</a:t>
            </a:r>
            <a:r>
              <a:rPr lang="zh-CN" altLang="en-US" dirty="0" smtClean="0">
                <a:solidFill>
                  <a:srgbClr val="000000"/>
                </a:solidFill>
              </a:rPr>
              <a:t>为步进。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endParaRPr lang="en-US" altLang="zh-CN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476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1.4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响应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率调试实例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—GST612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陶瓷探测器低温档位参数确认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047" y="762135"/>
            <a:ext cx="7377970" cy="535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468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1.4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响应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率调试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实例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—GST612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陶瓷探测器高温档位参数确认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146" y="908257"/>
            <a:ext cx="7720073" cy="488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2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1.4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响应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率调试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实例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响应率计算方法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50" y="1212203"/>
            <a:ext cx="10758616" cy="420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743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1.4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响应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率调试实例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响应率计算方法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47" y="1642857"/>
            <a:ext cx="105918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55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1.4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响应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率调试实例</a:t>
            </a:r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—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ZC16A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标准镜头和广角镜头响应率数据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24" y="697917"/>
            <a:ext cx="10685578" cy="30510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4" y="4094068"/>
            <a:ext cx="10660865" cy="232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27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6174" y="-19249"/>
            <a:ext cx="10364198" cy="563358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1.4 </a:t>
            </a:r>
            <a:r>
              <a:rPr lang="zh-CN" altLang="en-US" b="1" dirty="0" smtClean="0">
                <a:solidFill>
                  <a:schemeClr val="bg1"/>
                </a:solidFill>
                <a:latin typeface="+mn-ea"/>
              </a:rPr>
              <a:t>探测器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参数调试</a:t>
            </a:r>
            <a:r>
              <a:rPr lang="en-US" altLang="zh-CN" b="1" dirty="0">
                <a:solidFill>
                  <a:schemeClr val="bg1"/>
                </a:solidFill>
                <a:latin typeface="+mn-ea"/>
              </a:rPr>
              <a:t>—</a:t>
            </a:r>
            <a:r>
              <a:rPr lang="zh-CN" altLang="en-US" b="1" dirty="0">
                <a:solidFill>
                  <a:schemeClr val="bg1"/>
                </a:solidFill>
                <a:latin typeface="+mn-ea"/>
              </a:rPr>
              <a:t>调试步骤总结</a:t>
            </a:r>
            <a:endParaRPr lang="zh-CN" altLang="en-US" dirty="0"/>
          </a:p>
        </p:txBody>
      </p:sp>
      <p:sp>
        <p:nvSpPr>
          <p:cNvPr id="17" name="下箭头 16"/>
          <p:cNvSpPr/>
          <p:nvPr/>
        </p:nvSpPr>
        <p:spPr>
          <a:xfrm>
            <a:off x="-183604" y="796372"/>
            <a:ext cx="2300628" cy="6202999"/>
          </a:xfrm>
          <a:prstGeom prst="downArrow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Freeform 6"/>
          <p:cNvSpPr>
            <a:spLocks/>
          </p:cNvSpPr>
          <p:nvPr/>
        </p:nvSpPr>
        <p:spPr bwMode="auto">
          <a:xfrm>
            <a:off x="75785" y="798145"/>
            <a:ext cx="1779182" cy="501201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4758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Freeform 7"/>
          <p:cNvSpPr>
            <a:spLocks/>
          </p:cNvSpPr>
          <p:nvPr/>
        </p:nvSpPr>
        <p:spPr bwMode="auto">
          <a:xfrm>
            <a:off x="71067" y="1442578"/>
            <a:ext cx="1779182" cy="501201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EB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Freeform 8"/>
          <p:cNvSpPr>
            <a:spLocks/>
          </p:cNvSpPr>
          <p:nvPr/>
        </p:nvSpPr>
        <p:spPr bwMode="auto">
          <a:xfrm>
            <a:off x="75059" y="2191521"/>
            <a:ext cx="1779182" cy="501201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4CB7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1" name="Freeform 9"/>
          <p:cNvSpPr>
            <a:spLocks/>
          </p:cNvSpPr>
          <p:nvPr/>
        </p:nvSpPr>
        <p:spPr bwMode="auto">
          <a:xfrm>
            <a:off x="79049" y="3123337"/>
            <a:ext cx="1780794" cy="501201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4758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2" name="Freeform 10"/>
          <p:cNvSpPr>
            <a:spLocks/>
          </p:cNvSpPr>
          <p:nvPr/>
        </p:nvSpPr>
        <p:spPr bwMode="auto">
          <a:xfrm>
            <a:off x="84652" y="4211918"/>
            <a:ext cx="1779182" cy="501201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EB616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3" name="Freeform 11"/>
          <p:cNvSpPr>
            <a:spLocks/>
          </p:cNvSpPr>
          <p:nvPr/>
        </p:nvSpPr>
        <p:spPr bwMode="auto">
          <a:xfrm>
            <a:off x="99926" y="5213418"/>
            <a:ext cx="1756620" cy="501201"/>
          </a:xfrm>
          <a:custGeom>
            <a:avLst/>
            <a:gdLst>
              <a:gd name="T0" fmla="*/ 70 w 461"/>
              <a:gd name="T1" fmla="*/ 123 h 131"/>
              <a:gd name="T2" fmla="*/ 7 w 461"/>
              <a:gd name="T3" fmla="*/ 27 h 131"/>
              <a:gd name="T4" fmla="*/ 22 w 461"/>
              <a:gd name="T5" fmla="*/ 0 h 131"/>
              <a:gd name="T6" fmla="*/ 376 w 461"/>
              <a:gd name="T7" fmla="*/ 0 h 131"/>
              <a:gd name="T8" fmla="*/ 391 w 461"/>
              <a:gd name="T9" fmla="*/ 8 h 131"/>
              <a:gd name="T10" fmla="*/ 453 w 461"/>
              <a:gd name="T11" fmla="*/ 104 h 131"/>
              <a:gd name="T12" fmla="*/ 439 w 461"/>
              <a:gd name="T13" fmla="*/ 131 h 131"/>
              <a:gd name="T14" fmla="*/ 85 w 461"/>
              <a:gd name="T15" fmla="*/ 131 h 131"/>
              <a:gd name="T16" fmla="*/ 70 w 461"/>
              <a:gd name="T17" fmla="*/ 123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1" h="131">
                <a:moveTo>
                  <a:pt x="70" y="123"/>
                </a:moveTo>
                <a:cubicBezTo>
                  <a:pt x="7" y="27"/>
                  <a:pt x="7" y="27"/>
                  <a:pt x="7" y="27"/>
                </a:cubicBezTo>
                <a:cubicBezTo>
                  <a:pt x="0" y="16"/>
                  <a:pt x="8" y="0"/>
                  <a:pt x="22" y="0"/>
                </a:cubicBezTo>
                <a:cubicBezTo>
                  <a:pt x="376" y="0"/>
                  <a:pt x="376" y="0"/>
                  <a:pt x="376" y="0"/>
                </a:cubicBezTo>
                <a:cubicBezTo>
                  <a:pt x="382" y="0"/>
                  <a:pt x="387" y="3"/>
                  <a:pt x="391" y="8"/>
                </a:cubicBezTo>
                <a:cubicBezTo>
                  <a:pt x="453" y="104"/>
                  <a:pt x="453" y="104"/>
                  <a:pt x="453" y="104"/>
                </a:cubicBezTo>
                <a:cubicBezTo>
                  <a:pt x="461" y="115"/>
                  <a:pt x="453" y="131"/>
                  <a:pt x="439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79" y="131"/>
                  <a:pt x="73" y="128"/>
                  <a:pt x="70" y="123"/>
                </a:cubicBezTo>
                <a:close/>
              </a:path>
            </a:pathLst>
          </a:custGeom>
          <a:solidFill>
            <a:srgbClr val="47B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" name="Rectangle 54"/>
          <p:cNvSpPr>
            <a:spLocks noChangeArrowheads="1"/>
          </p:cNvSpPr>
          <p:nvPr/>
        </p:nvSpPr>
        <p:spPr bwMode="auto">
          <a:xfrm>
            <a:off x="548322" y="909345"/>
            <a:ext cx="9233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 smtClean="0">
                <a:solidFill>
                  <a:srgbClr val="EEEEEF"/>
                </a:solidFill>
                <a:latin typeface="Myriad Roman" charset="0"/>
              </a:rPr>
              <a:t>定义理解</a:t>
            </a:r>
            <a:endParaRPr lang="zh-CN" altLang="zh-CN" dirty="0">
              <a:solidFill>
                <a:srgbClr val="000000"/>
              </a:solidFill>
            </a:endParaRPr>
          </a:p>
        </p:txBody>
      </p:sp>
      <p:sp>
        <p:nvSpPr>
          <p:cNvPr id="31" name="Rectangle 55"/>
          <p:cNvSpPr>
            <a:spLocks noChangeArrowheads="1"/>
          </p:cNvSpPr>
          <p:nvPr/>
        </p:nvSpPr>
        <p:spPr bwMode="auto">
          <a:xfrm>
            <a:off x="499233" y="1553778"/>
            <a:ext cx="923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rgbClr val="F5F5F5"/>
                </a:solidFill>
              </a:rPr>
              <a:t>需求确认</a:t>
            </a:r>
            <a:endParaRPr lang="zh-CN" altLang="zh-CN" dirty="0">
              <a:solidFill>
                <a:srgbClr val="F5F5F5"/>
              </a:solidFill>
            </a:endParaRPr>
          </a:p>
        </p:txBody>
      </p:sp>
      <p:sp>
        <p:nvSpPr>
          <p:cNvPr id="32" name="Rectangle 56"/>
          <p:cNvSpPr>
            <a:spLocks noChangeArrowheads="1"/>
          </p:cNvSpPr>
          <p:nvPr/>
        </p:nvSpPr>
        <p:spPr bwMode="auto">
          <a:xfrm>
            <a:off x="248358" y="2302721"/>
            <a:ext cx="143629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600" dirty="0" smtClean="0">
                <a:solidFill>
                  <a:srgbClr val="EEEEEF"/>
                </a:solidFill>
                <a:latin typeface="Myriad Roman" charset="0"/>
              </a:rPr>
              <a:t>探测器参数确认</a:t>
            </a:r>
            <a:endParaRPr lang="zh-CN" altLang="zh-CN" sz="1600" dirty="0">
              <a:solidFill>
                <a:srgbClr val="000000"/>
              </a:solidFill>
            </a:endParaRPr>
          </a:p>
        </p:txBody>
      </p:sp>
      <p:sp>
        <p:nvSpPr>
          <p:cNvPr id="33" name="Rectangle 57"/>
          <p:cNvSpPr>
            <a:spLocks noChangeArrowheads="1"/>
          </p:cNvSpPr>
          <p:nvPr/>
        </p:nvSpPr>
        <p:spPr bwMode="auto">
          <a:xfrm>
            <a:off x="393412" y="3217119"/>
            <a:ext cx="11541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rgbClr val="EEEEEF"/>
                </a:solidFill>
                <a:latin typeface="Myriad Roman" charset="0"/>
              </a:rPr>
              <a:t>响应率调试</a:t>
            </a:r>
            <a:endParaRPr lang="zh-CN" altLang="zh-CN" dirty="0">
              <a:solidFill>
                <a:srgbClr val="000000"/>
              </a:solidFill>
            </a:endParaRPr>
          </a:p>
        </p:txBody>
      </p:sp>
      <p:sp>
        <p:nvSpPr>
          <p:cNvPr id="34" name="Rectangle 58"/>
          <p:cNvSpPr>
            <a:spLocks noChangeArrowheads="1"/>
          </p:cNvSpPr>
          <p:nvPr/>
        </p:nvSpPr>
        <p:spPr bwMode="auto">
          <a:xfrm>
            <a:off x="281986" y="4323118"/>
            <a:ext cx="13849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dirty="0" smtClean="0">
                <a:solidFill>
                  <a:srgbClr val="EEEEEF"/>
                </a:solidFill>
                <a:latin typeface="Myriad Roman" charset="0"/>
              </a:rPr>
              <a:t>闭环参数调试</a:t>
            </a:r>
            <a:endParaRPr lang="zh-CN" altLang="zh-CN" dirty="0">
              <a:solidFill>
                <a:srgbClr val="000000"/>
              </a:solidFill>
            </a:endParaRPr>
          </a:p>
        </p:txBody>
      </p:sp>
      <p:sp>
        <p:nvSpPr>
          <p:cNvPr id="35" name="Rectangle 59"/>
          <p:cNvSpPr>
            <a:spLocks noChangeArrowheads="1"/>
          </p:cNvSpPr>
          <p:nvPr/>
        </p:nvSpPr>
        <p:spPr bwMode="auto">
          <a:xfrm>
            <a:off x="260331" y="5324618"/>
            <a:ext cx="143629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1400" dirty="0" smtClean="0">
                <a:solidFill>
                  <a:srgbClr val="EEEEEF"/>
                </a:solidFill>
                <a:latin typeface="Myriad Roman" charset="0"/>
              </a:rPr>
              <a:t>高低温响应率摸底</a:t>
            </a:r>
            <a:endParaRPr lang="zh-CN" altLang="zh-CN" sz="1400" dirty="0">
              <a:solidFill>
                <a:srgbClr val="000000"/>
              </a:solidFill>
            </a:endParaRPr>
          </a:p>
        </p:txBody>
      </p:sp>
      <p:sp>
        <p:nvSpPr>
          <p:cNvPr id="36" name="Freeform 6"/>
          <p:cNvSpPr>
            <a:spLocks/>
          </p:cNvSpPr>
          <p:nvPr/>
        </p:nvSpPr>
        <p:spPr bwMode="auto">
          <a:xfrm>
            <a:off x="69570" y="6093157"/>
            <a:ext cx="1779182" cy="501201"/>
          </a:xfrm>
          <a:custGeom>
            <a:avLst/>
            <a:gdLst>
              <a:gd name="T0" fmla="*/ 75 w 467"/>
              <a:gd name="T1" fmla="*/ 125 h 131"/>
              <a:gd name="T2" fmla="*/ 5 w 467"/>
              <a:gd name="T3" fmla="*/ 18 h 131"/>
              <a:gd name="T4" fmla="*/ 14 w 467"/>
              <a:gd name="T5" fmla="*/ 0 h 131"/>
              <a:gd name="T6" fmla="*/ 382 w 467"/>
              <a:gd name="T7" fmla="*/ 0 h 131"/>
              <a:gd name="T8" fmla="*/ 392 w 467"/>
              <a:gd name="T9" fmla="*/ 6 h 131"/>
              <a:gd name="T10" fmla="*/ 462 w 467"/>
              <a:gd name="T11" fmla="*/ 113 h 131"/>
              <a:gd name="T12" fmla="*/ 453 w 467"/>
              <a:gd name="T13" fmla="*/ 131 h 131"/>
              <a:gd name="T14" fmla="*/ 85 w 467"/>
              <a:gd name="T15" fmla="*/ 131 h 131"/>
              <a:gd name="T16" fmla="*/ 75 w 467"/>
              <a:gd name="T17" fmla="*/ 125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7" h="131">
                <a:moveTo>
                  <a:pt x="75" y="125"/>
                </a:moveTo>
                <a:cubicBezTo>
                  <a:pt x="5" y="18"/>
                  <a:pt x="5" y="18"/>
                  <a:pt x="5" y="18"/>
                </a:cubicBezTo>
                <a:cubicBezTo>
                  <a:pt x="0" y="10"/>
                  <a:pt x="5" y="0"/>
                  <a:pt x="14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386" y="0"/>
                  <a:pt x="390" y="2"/>
                  <a:pt x="392" y="6"/>
                </a:cubicBezTo>
                <a:cubicBezTo>
                  <a:pt x="462" y="113"/>
                  <a:pt x="462" y="113"/>
                  <a:pt x="462" y="113"/>
                </a:cubicBezTo>
                <a:cubicBezTo>
                  <a:pt x="467" y="121"/>
                  <a:pt x="462" y="131"/>
                  <a:pt x="453" y="131"/>
                </a:cubicBezTo>
                <a:cubicBezTo>
                  <a:pt x="85" y="131"/>
                  <a:pt x="85" y="131"/>
                  <a:pt x="85" y="131"/>
                </a:cubicBezTo>
                <a:cubicBezTo>
                  <a:pt x="81" y="131"/>
                  <a:pt x="77" y="129"/>
                  <a:pt x="75" y="125"/>
                </a:cubicBezTo>
                <a:close/>
              </a:path>
            </a:pathLst>
          </a:custGeom>
          <a:solidFill>
            <a:srgbClr val="4758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7" name="Rectangle 59"/>
          <p:cNvSpPr>
            <a:spLocks noChangeArrowheads="1"/>
          </p:cNvSpPr>
          <p:nvPr/>
        </p:nvSpPr>
        <p:spPr bwMode="auto">
          <a:xfrm>
            <a:off x="494198" y="6198308"/>
            <a:ext cx="9233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b="1" dirty="0" smtClean="0">
                <a:solidFill>
                  <a:srgbClr val="EEEEEF"/>
                </a:solidFill>
                <a:latin typeface="Myriad Roman" charset="0"/>
              </a:rPr>
              <a:t>测温复核</a:t>
            </a:r>
            <a:endParaRPr lang="zh-CN" altLang="zh-CN" b="1" dirty="0">
              <a:solidFill>
                <a:srgbClr val="000000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398923" y="726433"/>
            <a:ext cx="4081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Tx/>
              <a:buAutoNum type="arabicPeriod"/>
            </a:pPr>
            <a:r>
              <a:rPr lang="zh-CN" altLang="en-US" sz="1200" dirty="0">
                <a:solidFill>
                  <a:srgbClr val="7030A0"/>
                </a:solidFill>
              </a:rPr>
              <a:t>理解响应率、增益、积分时间、焦温等参数的定义，了解</a:t>
            </a:r>
            <a:r>
              <a:rPr lang="en-US" altLang="zh-CN" sz="1200" dirty="0">
                <a:solidFill>
                  <a:srgbClr val="7030A0"/>
                </a:solidFill>
              </a:rPr>
              <a:t>RA_SEL</a:t>
            </a:r>
            <a:r>
              <a:rPr lang="zh-CN" altLang="en-US" sz="1200" dirty="0">
                <a:solidFill>
                  <a:srgbClr val="7030A0"/>
                </a:solidFill>
              </a:rPr>
              <a:t>闭环、</a:t>
            </a:r>
            <a:r>
              <a:rPr lang="en-US" altLang="zh-CN" sz="1200" dirty="0">
                <a:solidFill>
                  <a:srgbClr val="7030A0"/>
                </a:solidFill>
              </a:rPr>
              <a:t>HSSD</a:t>
            </a:r>
            <a:r>
              <a:rPr lang="zh-CN" altLang="en-US" sz="1200" dirty="0">
                <a:solidFill>
                  <a:srgbClr val="7030A0"/>
                </a:solidFill>
              </a:rPr>
              <a:t>闭环、</a:t>
            </a:r>
            <a:r>
              <a:rPr lang="en-US" altLang="zh-CN" sz="1200" dirty="0">
                <a:solidFill>
                  <a:srgbClr val="7030A0"/>
                </a:solidFill>
              </a:rPr>
              <a:t>NUC</a:t>
            </a:r>
            <a:r>
              <a:rPr lang="zh-CN" altLang="en-US" sz="1200" dirty="0">
                <a:solidFill>
                  <a:srgbClr val="7030A0"/>
                </a:solidFill>
              </a:rPr>
              <a:t>闭环的机制和原理。</a:t>
            </a:r>
            <a:endParaRPr lang="en-US" altLang="zh-CN" sz="1200" dirty="0">
              <a:solidFill>
                <a:srgbClr val="7030A0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zh-CN" altLang="en-US" sz="1200" dirty="0">
                <a:solidFill>
                  <a:srgbClr val="7030A0"/>
                </a:solidFill>
              </a:rPr>
              <a:t>理解探测器温度分档机制，温循补偿和定时补偿机制。</a:t>
            </a:r>
            <a:endParaRPr lang="en-US" altLang="zh-CN" sz="1200" dirty="0">
              <a:solidFill>
                <a:srgbClr val="7030A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398923" y="1476723"/>
            <a:ext cx="4081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B0F0"/>
                </a:solidFill>
              </a:rPr>
              <a:t>1.</a:t>
            </a:r>
            <a:r>
              <a:rPr lang="zh-CN" altLang="en-US" sz="1200" dirty="0" smtClean="0">
                <a:solidFill>
                  <a:srgbClr val="00B0F0"/>
                </a:solidFill>
              </a:rPr>
              <a:t>明确产品测温范围、档位划分、镜头的类型等。</a:t>
            </a:r>
            <a:endParaRPr lang="en-US" altLang="zh-CN" sz="1200" dirty="0" smtClean="0">
              <a:solidFill>
                <a:srgbClr val="00B0F0"/>
              </a:solidFill>
            </a:endParaRPr>
          </a:p>
          <a:p>
            <a:r>
              <a:rPr lang="en-US" altLang="zh-CN" sz="1200" dirty="0" smtClean="0">
                <a:solidFill>
                  <a:srgbClr val="00B0F0"/>
                </a:solidFill>
              </a:rPr>
              <a:t>2.</a:t>
            </a:r>
            <a:r>
              <a:rPr lang="zh-CN" altLang="en-US" sz="1200" dirty="0" smtClean="0">
                <a:solidFill>
                  <a:srgbClr val="00B0F0"/>
                </a:solidFill>
              </a:rPr>
              <a:t>需评估产品给出的测温要求是否能够满足。</a:t>
            </a:r>
            <a:endParaRPr lang="en-US" altLang="zh-CN" sz="1200" dirty="0">
              <a:solidFill>
                <a:srgbClr val="00B0F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398923" y="2070019"/>
            <a:ext cx="5891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Tx/>
              <a:buAutoNum type="arabicPeriod"/>
            </a:pPr>
            <a:r>
              <a:rPr lang="zh-CN" altLang="en-US" sz="1200" dirty="0">
                <a:solidFill>
                  <a:srgbClr val="7030A0"/>
                </a:solidFill>
              </a:rPr>
              <a:t>与高芯确认探测器各配置参数是否正确。</a:t>
            </a:r>
            <a:endParaRPr lang="en-US" altLang="zh-CN" sz="1200" dirty="0">
              <a:solidFill>
                <a:srgbClr val="7030A0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zh-CN" altLang="en-US" sz="1200" dirty="0">
                <a:solidFill>
                  <a:srgbClr val="7030A0"/>
                </a:solidFill>
              </a:rPr>
              <a:t>确认响应率换算公式有没有，如果没有，需要项目组讨论测试方案。</a:t>
            </a:r>
            <a:endParaRPr lang="en-US" altLang="zh-CN" sz="1200" dirty="0">
              <a:solidFill>
                <a:srgbClr val="7030A0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zh-CN" altLang="en-US" sz="1200" dirty="0">
                <a:solidFill>
                  <a:srgbClr val="7030A0"/>
                </a:solidFill>
              </a:rPr>
              <a:t>确认焦温的计算公式是否正确。</a:t>
            </a:r>
            <a:endParaRPr lang="en-US" altLang="zh-CN" sz="1200" dirty="0">
              <a:solidFill>
                <a:srgbClr val="7030A0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zh-CN" altLang="en-US" sz="1200" dirty="0">
                <a:solidFill>
                  <a:srgbClr val="7030A0"/>
                </a:solidFill>
              </a:rPr>
              <a:t>确认每个档位的</a:t>
            </a:r>
            <a:r>
              <a:rPr lang="en-US" altLang="zh-CN" sz="1200" dirty="0">
                <a:solidFill>
                  <a:srgbClr val="7030A0"/>
                </a:solidFill>
              </a:rPr>
              <a:t>RA_SEL</a:t>
            </a:r>
            <a:r>
              <a:rPr lang="zh-CN" altLang="en-US" sz="1200" dirty="0">
                <a:solidFill>
                  <a:srgbClr val="7030A0"/>
                </a:solidFill>
              </a:rPr>
              <a:t>、</a:t>
            </a:r>
            <a:r>
              <a:rPr lang="en-US" altLang="zh-CN" sz="1200" dirty="0">
                <a:solidFill>
                  <a:srgbClr val="7030A0"/>
                </a:solidFill>
              </a:rPr>
              <a:t>HSSD</a:t>
            </a:r>
            <a:r>
              <a:rPr lang="zh-CN" altLang="en-US" sz="1200" dirty="0">
                <a:solidFill>
                  <a:srgbClr val="7030A0"/>
                </a:solidFill>
              </a:rPr>
              <a:t> 、</a:t>
            </a:r>
            <a:r>
              <a:rPr lang="en-US" altLang="zh-CN" sz="1200" dirty="0">
                <a:solidFill>
                  <a:srgbClr val="7030A0"/>
                </a:solidFill>
              </a:rPr>
              <a:t>NUC</a:t>
            </a:r>
            <a:r>
              <a:rPr lang="zh-CN" altLang="en-US" sz="1200" dirty="0">
                <a:solidFill>
                  <a:srgbClr val="7030A0"/>
                </a:solidFill>
              </a:rPr>
              <a:t>闭环区间范围是否合理。</a:t>
            </a:r>
            <a:endParaRPr lang="en-US" altLang="zh-CN" sz="1200" dirty="0">
              <a:solidFill>
                <a:srgbClr val="7030A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394932" y="2967915"/>
            <a:ext cx="8844562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B0F0"/>
                </a:solidFill>
              </a:rPr>
              <a:t>1.</a:t>
            </a:r>
            <a:r>
              <a:rPr lang="zh-CN" altLang="en-US" sz="1200" dirty="0" smtClean="0">
                <a:solidFill>
                  <a:srgbClr val="00B0F0"/>
                </a:solidFill>
              </a:rPr>
              <a:t>根据确认后的探测器参数配置进行常温响应率摸底。（需与各领域工程师进行沟通确认：参数是否设置成功，镜头识别功能是否正常，参数是否能够正常保存等等）</a:t>
            </a:r>
            <a:endParaRPr lang="en-US" altLang="zh-CN" sz="1200" dirty="0" smtClean="0">
              <a:solidFill>
                <a:srgbClr val="00B0F0"/>
              </a:solidFill>
            </a:endParaRPr>
          </a:p>
          <a:p>
            <a:r>
              <a:rPr lang="en-US" altLang="zh-CN" sz="1200" dirty="0" smtClean="0">
                <a:solidFill>
                  <a:srgbClr val="00B0F0"/>
                </a:solidFill>
              </a:rPr>
              <a:t>2.</a:t>
            </a:r>
            <a:r>
              <a:rPr lang="zh-CN" altLang="en-US" sz="1200" dirty="0" smtClean="0">
                <a:solidFill>
                  <a:srgbClr val="00B0F0"/>
                </a:solidFill>
              </a:rPr>
              <a:t>逐步调整</a:t>
            </a:r>
            <a:r>
              <a:rPr lang="en-US" altLang="zh-CN" sz="1200" dirty="0" smtClean="0">
                <a:solidFill>
                  <a:srgbClr val="00B0F0"/>
                </a:solidFill>
              </a:rPr>
              <a:t>INT</a:t>
            </a:r>
            <a:r>
              <a:rPr lang="zh-CN" altLang="en-US" sz="1200" dirty="0" smtClean="0">
                <a:solidFill>
                  <a:srgbClr val="00B0F0"/>
                </a:solidFill>
              </a:rPr>
              <a:t>、</a:t>
            </a:r>
            <a:r>
              <a:rPr lang="en-US" altLang="zh-CN" sz="1200" dirty="0" smtClean="0">
                <a:solidFill>
                  <a:srgbClr val="00B0F0"/>
                </a:solidFill>
              </a:rPr>
              <a:t>GAIN</a:t>
            </a:r>
            <a:r>
              <a:rPr lang="zh-CN" altLang="en-US" sz="1200" dirty="0" smtClean="0">
                <a:solidFill>
                  <a:srgbClr val="00B0F0"/>
                </a:solidFill>
              </a:rPr>
              <a:t>来使响应率达到目标范围，一般优先调</a:t>
            </a:r>
            <a:r>
              <a:rPr lang="en-US" altLang="zh-CN" sz="1200" dirty="0" smtClean="0">
                <a:solidFill>
                  <a:srgbClr val="00B0F0"/>
                </a:solidFill>
              </a:rPr>
              <a:t>INT</a:t>
            </a:r>
            <a:r>
              <a:rPr lang="zh-CN" altLang="en-US" sz="1200" dirty="0" smtClean="0">
                <a:solidFill>
                  <a:srgbClr val="00B0F0"/>
                </a:solidFill>
              </a:rPr>
              <a:t>，如果</a:t>
            </a:r>
            <a:r>
              <a:rPr lang="en-US" altLang="zh-CN" sz="1200" dirty="0" smtClean="0">
                <a:solidFill>
                  <a:srgbClr val="00B0F0"/>
                </a:solidFill>
              </a:rPr>
              <a:t>INT</a:t>
            </a:r>
            <a:r>
              <a:rPr lang="zh-CN" altLang="en-US" sz="1200" dirty="0" smtClean="0">
                <a:solidFill>
                  <a:srgbClr val="00B0F0"/>
                </a:solidFill>
              </a:rPr>
              <a:t>调到头还是不行，就调</a:t>
            </a:r>
            <a:r>
              <a:rPr lang="en-US" altLang="zh-CN" sz="1200" dirty="0" smtClean="0">
                <a:solidFill>
                  <a:srgbClr val="00B0F0"/>
                </a:solidFill>
              </a:rPr>
              <a:t>GAIN</a:t>
            </a:r>
            <a:r>
              <a:rPr lang="zh-CN" altLang="en-US" sz="1200" dirty="0" smtClean="0">
                <a:solidFill>
                  <a:srgbClr val="00B0F0"/>
                </a:solidFill>
              </a:rPr>
              <a:t>。</a:t>
            </a:r>
            <a:endParaRPr lang="en-US" altLang="zh-CN" sz="1200" dirty="0" smtClean="0">
              <a:solidFill>
                <a:srgbClr val="00B0F0"/>
              </a:solidFill>
            </a:endParaRPr>
          </a:p>
          <a:p>
            <a:r>
              <a:rPr lang="en-US" altLang="zh-CN" sz="1200" dirty="0" smtClean="0">
                <a:solidFill>
                  <a:srgbClr val="00B0F0"/>
                </a:solidFill>
              </a:rPr>
              <a:t>3.</a:t>
            </a:r>
            <a:r>
              <a:rPr lang="zh-CN" altLang="zh-CN" sz="1200" dirty="0" smtClean="0">
                <a:solidFill>
                  <a:srgbClr val="00B0F0"/>
                </a:solidFill>
              </a:rPr>
              <a:t>测温范围越大，响应率设置的要越小，设置响应率不合适会带来测温范围内的最高值饱和</a:t>
            </a:r>
            <a:r>
              <a:rPr lang="zh-CN" altLang="en-US" sz="1200" dirty="0" smtClean="0">
                <a:solidFill>
                  <a:srgbClr val="00B0F0"/>
                </a:solidFill>
              </a:rPr>
              <a:t>。</a:t>
            </a:r>
          </a:p>
          <a:p>
            <a:r>
              <a:rPr lang="en-US" altLang="zh-CN" sz="1200" dirty="0" smtClean="0">
                <a:solidFill>
                  <a:srgbClr val="00B0F0"/>
                </a:solidFill>
              </a:rPr>
              <a:t>4.</a:t>
            </a:r>
            <a:r>
              <a:rPr lang="zh-CN" altLang="en-US" sz="1200" dirty="0">
                <a:solidFill>
                  <a:srgbClr val="00B0F0"/>
                </a:solidFill>
              </a:rPr>
              <a:t>常温</a:t>
            </a:r>
            <a:r>
              <a:rPr lang="zh-CN" altLang="en-US" sz="1200" dirty="0" smtClean="0">
                <a:solidFill>
                  <a:srgbClr val="00B0F0"/>
                </a:solidFill>
              </a:rPr>
              <a:t>下可以</a:t>
            </a:r>
            <a:r>
              <a:rPr lang="zh-CN" altLang="en-US" sz="1200" dirty="0">
                <a:solidFill>
                  <a:srgbClr val="00B0F0"/>
                </a:solidFill>
              </a:rPr>
              <a:t>多调整几组</a:t>
            </a:r>
            <a:r>
              <a:rPr lang="en-US" altLang="zh-CN" sz="1200" dirty="0">
                <a:solidFill>
                  <a:srgbClr val="00B0F0"/>
                </a:solidFill>
              </a:rPr>
              <a:t>INT</a:t>
            </a:r>
            <a:r>
              <a:rPr lang="zh-CN" altLang="en-US" sz="1200" dirty="0">
                <a:solidFill>
                  <a:srgbClr val="00B0F0"/>
                </a:solidFill>
              </a:rPr>
              <a:t>、</a:t>
            </a:r>
            <a:r>
              <a:rPr lang="en-US" altLang="zh-CN" sz="1200" dirty="0">
                <a:solidFill>
                  <a:srgbClr val="00B0F0"/>
                </a:solidFill>
              </a:rPr>
              <a:t>GAIN</a:t>
            </a:r>
            <a:r>
              <a:rPr lang="zh-CN" altLang="en-US" sz="1200" dirty="0">
                <a:solidFill>
                  <a:srgbClr val="00B0F0"/>
                </a:solidFill>
              </a:rPr>
              <a:t>的参数看一下响应率的变化</a:t>
            </a:r>
            <a:r>
              <a:rPr lang="zh-CN" altLang="en-US" sz="1200" dirty="0" smtClean="0">
                <a:solidFill>
                  <a:srgbClr val="00B0F0"/>
                </a:solidFill>
              </a:rPr>
              <a:t>，根据焦温和响应率变化规律推算高低温响应率是否会饱和偏压。</a:t>
            </a:r>
            <a:endParaRPr lang="zh-CN" altLang="en-US" sz="1200" dirty="0">
              <a:solidFill>
                <a:srgbClr val="00B0F0"/>
              </a:solidFill>
            </a:endParaRPr>
          </a:p>
          <a:p>
            <a:endParaRPr lang="en-US" altLang="zh-CN" sz="1100" dirty="0">
              <a:solidFill>
                <a:srgbClr val="00B0F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361994" y="4047345"/>
            <a:ext cx="90890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Tx/>
              <a:buAutoNum type="arabicPeriod"/>
            </a:pPr>
            <a:r>
              <a:rPr lang="zh-CN" altLang="en-US" sz="1200" dirty="0" smtClean="0">
                <a:solidFill>
                  <a:srgbClr val="7030A0"/>
                </a:solidFill>
              </a:rPr>
              <a:t>探测器</a:t>
            </a:r>
            <a:r>
              <a:rPr lang="zh-CN" altLang="zh-CN" sz="1200" dirty="0" smtClean="0">
                <a:solidFill>
                  <a:srgbClr val="7030A0"/>
                </a:solidFill>
              </a:rPr>
              <a:t>的</a:t>
            </a:r>
            <a:r>
              <a:rPr lang="zh-CN" altLang="zh-CN" sz="1200" dirty="0">
                <a:solidFill>
                  <a:srgbClr val="7030A0"/>
                </a:solidFill>
              </a:rPr>
              <a:t>响应率和其</a:t>
            </a:r>
            <a:r>
              <a:rPr lang="en-US" altLang="zh-CN" sz="1200" dirty="0">
                <a:solidFill>
                  <a:srgbClr val="7030A0"/>
                </a:solidFill>
              </a:rPr>
              <a:t>NUC</a:t>
            </a:r>
            <a:r>
              <a:rPr lang="zh-CN" altLang="zh-CN" sz="1200" dirty="0">
                <a:solidFill>
                  <a:srgbClr val="7030A0"/>
                </a:solidFill>
              </a:rPr>
              <a:t>能力成正相关性，响应率设置时要考虑闭环区间与之相对应，若出现失配会造成局部偏压的现象。另外，闭环区间给的偏小会出现削底现象，影响技术规格书中的测温范围指标</a:t>
            </a:r>
            <a:r>
              <a:rPr lang="en-US" altLang="zh-CN" sz="1200" dirty="0">
                <a:solidFill>
                  <a:srgbClr val="7030A0"/>
                </a:solidFill>
              </a:rPr>
              <a:t>(</a:t>
            </a:r>
            <a:r>
              <a:rPr lang="zh-CN" altLang="zh-CN" sz="1200" dirty="0">
                <a:solidFill>
                  <a:srgbClr val="7030A0"/>
                </a:solidFill>
              </a:rPr>
              <a:t>下限</a:t>
            </a:r>
            <a:r>
              <a:rPr lang="en-US" altLang="zh-CN" sz="1200" dirty="0">
                <a:solidFill>
                  <a:srgbClr val="7030A0"/>
                </a:solidFill>
              </a:rPr>
              <a:t>)</a:t>
            </a:r>
            <a:r>
              <a:rPr lang="zh-CN" altLang="zh-CN" sz="1200" dirty="0">
                <a:solidFill>
                  <a:srgbClr val="7030A0"/>
                </a:solidFill>
              </a:rPr>
              <a:t>实现</a:t>
            </a:r>
            <a:r>
              <a:rPr lang="zh-CN" altLang="zh-CN" sz="1200" dirty="0" smtClean="0">
                <a:solidFill>
                  <a:srgbClr val="7030A0"/>
                </a:solidFill>
              </a:rPr>
              <a:t>。</a:t>
            </a:r>
            <a:endParaRPr lang="en-US" altLang="zh-CN" sz="1200" dirty="0" smtClean="0">
              <a:solidFill>
                <a:srgbClr val="7030A0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zh-CN" altLang="zh-CN" sz="1200" dirty="0">
                <a:solidFill>
                  <a:srgbClr val="7030A0"/>
                </a:solidFill>
              </a:rPr>
              <a:t>在环境温度温度的上限快门补偿后看测温目标的下限不</a:t>
            </a:r>
            <a:r>
              <a:rPr lang="zh-CN" altLang="zh-CN" sz="1200" dirty="0" smtClean="0">
                <a:solidFill>
                  <a:srgbClr val="7030A0"/>
                </a:solidFill>
              </a:rPr>
              <a:t>饱和</a:t>
            </a:r>
            <a:r>
              <a:rPr lang="zh-CN" altLang="en-US" sz="1200" dirty="0" smtClean="0">
                <a:solidFill>
                  <a:srgbClr val="7030A0"/>
                </a:solidFill>
              </a:rPr>
              <a:t>，</a:t>
            </a:r>
            <a:r>
              <a:rPr lang="zh-CN" altLang="zh-CN" sz="1200" dirty="0">
                <a:solidFill>
                  <a:srgbClr val="7030A0"/>
                </a:solidFill>
              </a:rPr>
              <a:t>在环境温度温度的下限快门补偿后看测温目标的上限不饱和</a:t>
            </a:r>
          </a:p>
          <a:p>
            <a:pPr marL="228600" indent="-228600">
              <a:buFontTx/>
              <a:buAutoNum type="arabicPeriod"/>
            </a:pPr>
            <a:r>
              <a:rPr lang="zh-CN" altLang="zh-CN" sz="1200" dirty="0">
                <a:solidFill>
                  <a:srgbClr val="7030A0"/>
                </a:solidFill>
              </a:rPr>
              <a:t>闭环区间除了上述要求外，还和</a:t>
            </a:r>
            <a:r>
              <a:rPr lang="en-US" altLang="zh-CN" sz="1200" dirty="0">
                <a:solidFill>
                  <a:srgbClr val="7030A0"/>
                </a:solidFill>
              </a:rPr>
              <a:t>VSK</a:t>
            </a:r>
            <a:r>
              <a:rPr lang="zh-CN" altLang="zh-CN" sz="1200" dirty="0">
                <a:solidFill>
                  <a:srgbClr val="7030A0"/>
                </a:solidFill>
              </a:rPr>
              <a:t>、</a:t>
            </a:r>
            <a:r>
              <a:rPr lang="en-US" altLang="zh-CN" sz="1200" dirty="0">
                <a:solidFill>
                  <a:srgbClr val="7030A0"/>
                </a:solidFill>
              </a:rPr>
              <a:t>NUC</a:t>
            </a:r>
            <a:r>
              <a:rPr lang="zh-CN" altLang="zh-CN" sz="1200" dirty="0">
                <a:solidFill>
                  <a:srgbClr val="7030A0"/>
                </a:solidFill>
              </a:rPr>
              <a:t>的步进能力息息相关，需要保证闭环区间大于等于一格步进能力，且考虑探测器的离散性，留一定的裕量</a:t>
            </a:r>
          </a:p>
          <a:p>
            <a:endParaRPr lang="en-US" altLang="zh-CN" sz="1200" dirty="0">
              <a:solidFill>
                <a:srgbClr val="7030A0"/>
              </a:solidFill>
            </a:endParaRPr>
          </a:p>
          <a:p>
            <a:pPr marL="228600" indent="-228600">
              <a:buFontTx/>
              <a:buAutoNum type="arabicPeriod"/>
            </a:pPr>
            <a:endParaRPr lang="en-US" altLang="zh-CN" sz="1200" dirty="0">
              <a:solidFill>
                <a:srgbClr val="92D050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346912" y="5077494"/>
            <a:ext cx="8844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solidFill>
                  <a:srgbClr val="00B0F0"/>
                </a:solidFill>
              </a:rPr>
              <a:t>1.</a:t>
            </a:r>
            <a:r>
              <a:rPr lang="zh-CN" altLang="en-US" sz="1200" dirty="0" smtClean="0">
                <a:solidFill>
                  <a:srgbClr val="00B0F0"/>
                </a:solidFill>
              </a:rPr>
              <a:t>确认测试环境，用步入室或者高低温箱都可以，对于</a:t>
            </a:r>
            <a:r>
              <a:rPr lang="en-US" altLang="zh-CN" sz="1200" dirty="0" smtClean="0">
                <a:solidFill>
                  <a:srgbClr val="00B0F0"/>
                </a:solidFill>
              </a:rPr>
              <a:t>600°</a:t>
            </a:r>
            <a:r>
              <a:rPr lang="zh-CN" altLang="en-US" sz="1200" dirty="0" smtClean="0">
                <a:solidFill>
                  <a:srgbClr val="00B0F0"/>
                </a:solidFill>
              </a:rPr>
              <a:t>以上的高温黑体需确认步入式能否使用。</a:t>
            </a:r>
            <a:endParaRPr lang="en-US" altLang="zh-CN" sz="1200" dirty="0" smtClean="0">
              <a:solidFill>
                <a:srgbClr val="00B0F0"/>
              </a:solidFill>
            </a:endParaRPr>
          </a:p>
          <a:p>
            <a:r>
              <a:rPr lang="en-US" altLang="zh-CN" sz="1200" dirty="0">
                <a:solidFill>
                  <a:srgbClr val="00B0F0"/>
                </a:solidFill>
              </a:rPr>
              <a:t>2</a:t>
            </a:r>
            <a:r>
              <a:rPr lang="en-US" altLang="zh-CN" sz="1200" dirty="0" smtClean="0">
                <a:solidFill>
                  <a:srgbClr val="00B0F0"/>
                </a:solidFill>
              </a:rPr>
              <a:t>.</a:t>
            </a:r>
            <a:r>
              <a:rPr lang="zh-CN" altLang="en-US" sz="1200" dirty="0" smtClean="0">
                <a:solidFill>
                  <a:srgbClr val="00B0F0"/>
                </a:solidFill>
              </a:rPr>
              <a:t>将</a:t>
            </a:r>
            <a:r>
              <a:rPr lang="zh-CN" altLang="en-US" sz="1200" dirty="0">
                <a:solidFill>
                  <a:srgbClr val="00B0F0"/>
                </a:solidFill>
              </a:rPr>
              <a:t>机器放到箱子里，关机状态在低温环境下保温</a:t>
            </a:r>
            <a:r>
              <a:rPr lang="en-US" altLang="zh-CN" sz="1200" dirty="0">
                <a:solidFill>
                  <a:srgbClr val="00B0F0"/>
                </a:solidFill>
              </a:rPr>
              <a:t>1</a:t>
            </a:r>
            <a:r>
              <a:rPr lang="zh-CN" altLang="en-US" sz="1200" dirty="0">
                <a:solidFill>
                  <a:srgbClr val="00B0F0"/>
                </a:solidFill>
              </a:rPr>
              <a:t>小时（从箱子温度达到设定温度开始算），让机器完全处于低温状态。</a:t>
            </a:r>
            <a:endParaRPr lang="en-US" altLang="zh-CN" sz="1200" dirty="0">
              <a:solidFill>
                <a:srgbClr val="00B0F0"/>
              </a:solidFill>
            </a:endParaRPr>
          </a:p>
          <a:p>
            <a:r>
              <a:rPr lang="en-US" altLang="zh-CN" sz="1200" dirty="0">
                <a:solidFill>
                  <a:srgbClr val="00B0F0"/>
                </a:solidFill>
              </a:rPr>
              <a:t>3.</a:t>
            </a:r>
            <a:r>
              <a:rPr lang="zh-CN" altLang="en-US" sz="1200" dirty="0">
                <a:solidFill>
                  <a:srgbClr val="00B0F0"/>
                </a:solidFill>
              </a:rPr>
              <a:t>将机器从箱子里拿出，确认成像是否正常，如有偏压，应及时调整</a:t>
            </a:r>
            <a:r>
              <a:rPr lang="en-US" altLang="zh-CN" sz="1200" dirty="0">
                <a:solidFill>
                  <a:srgbClr val="00B0F0"/>
                </a:solidFill>
              </a:rPr>
              <a:t>RA_SEL</a:t>
            </a:r>
            <a:r>
              <a:rPr lang="zh-CN" altLang="en-US" sz="1200" dirty="0">
                <a:solidFill>
                  <a:srgbClr val="00B0F0"/>
                </a:solidFill>
              </a:rPr>
              <a:t>或</a:t>
            </a:r>
            <a:r>
              <a:rPr lang="en-US" altLang="zh-CN" sz="1200" dirty="0">
                <a:solidFill>
                  <a:srgbClr val="00B0F0"/>
                </a:solidFill>
              </a:rPr>
              <a:t>HSSD</a:t>
            </a:r>
            <a:r>
              <a:rPr lang="zh-CN" altLang="en-US" sz="1200" dirty="0">
                <a:solidFill>
                  <a:srgbClr val="00B0F0"/>
                </a:solidFill>
              </a:rPr>
              <a:t>值，然后快速把机器物镜对准高低温两个黑体，记录</a:t>
            </a:r>
            <a:r>
              <a:rPr lang="en-US" altLang="zh-CN" sz="1200" dirty="0">
                <a:solidFill>
                  <a:srgbClr val="00B0F0"/>
                </a:solidFill>
              </a:rPr>
              <a:t>AD</a:t>
            </a:r>
            <a:r>
              <a:rPr lang="zh-CN" altLang="en-US" sz="1200" dirty="0">
                <a:solidFill>
                  <a:srgbClr val="00B0F0"/>
                </a:solidFill>
              </a:rPr>
              <a:t>值，算响应率。</a:t>
            </a:r>
            <a:endParaRPr lang="en-US" altLang="zh-CN" sz="1200" dirty="0">
              <a:solidFill>
                <a:srgbClr val="00B0F0"/>
              </a:solidFill>
            </a:endParaRPr>
          </a:p>
          <a:p>
            <a:r>
              <a:rPr lang="en-US" altLang="zh-CN" sz="1200" dirty="0">
                <a:solidFill>
                  <a:srgbClr val="00B0F0"/>
                </a:solidFill>
              </a:rPr>
              <a:t>4.</a:t>
            </a:r>
            <a:r>
              <a:rPr lang="zh-CN" altLang="en-US" sz="1200" dirty="0">
                <a:solidFill>
                  <a:srgbClr val="00B0F0"/>
                </a:solidFill>
              </a:rPr>
              <a:t>如果超出范围，可以快速调整一下</a:t>
            </a:r>
            <a:r>
              <a:rPr lang="en-US" altLang="zh-CN" sz="1200" dirty="0">
                <a:solidFill>
                  <a:srgbClr val="00B0F0"/>
                </a:solidFill>
              </a:rPr>
              <a:t>INT</a:t>
            </a:r>
            <a:r>
              <a:rPr lang="zh-CN" altLang="en-US" sz="1200" dirty="0">
                <a:solidFill>
                  <a:srgbClr val="00B0F0"/>
                </a:solidFill>
              </a:rPr>
              <a:t>，然后关机保温</a:t>
            </a:r>
            <a:r>
              <a:rPr lang="en-US" altLang="zh-CN" sz="1200" dirty="0">
                <a:solidFill>
                  <a:srgbClr val="00B0F0"/>
                </a:solidFill>
              </a:rPr>
              <a:t>30</a:t>
            </a:r>
            <a:r>
              <a:rPr lang="zh-CN" altLang="en-US" sz="1200" dirty="0">
                <a:solidFill>
                  <a:srgbClr val="00B0F0"/>
                </a:solidFill>
              </a:rPr>
              <a:t>分钟～</a:t>
            </a:r>
            <a:r>
              <a:rPr lang="en-US" altLang="zh-CN" sz="1200" dirty="0">
                <a:solidFill>
                  <a:srgbClr val="00B0F0"/>
                </a:solidFill>
              </a:rPr>
              <a:t>1</a:t>
            </a:r>
            <a:r>
              <a:rPr lang="zh-CN" altLang="en-US" sz="1200" dirty="0">
                <a:solidFill>
                  <a:srgbClr val="00B0F0"/>
                </a:solidFill>
              </a:rPr>
              <a:t>小时，保证开机时焦温接近低温环境再复测一下响应率</a:t>
            </a:r>
            <a:r>
              <a:rPr lang="zh-CN" altLang="en-US" sz="1200" dirty="0" smtClean="0">
                <a:solidFill>
                  <a:srgbClr val="00B0F0"/>
                </a:solidFill>
              </a:rPr>
              <a:t>。</a:t>
            </a:r>
            <a:endParaRPr lang="zh-CN" altLang="en-US" sz="1200" dirty="0">
              <a:solidFill>
                <a:srgbClr val="00B0F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346912" y="6198308"/>
            <a:ext cx="8844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Tx/>
              <a:buAutoNum type="arabicPeriod"/>
            </a:pPr>
            <a:r>
              <a:rPr lang="zh-CN" altLang="en-US" sz="1200" dirty="0" smtClean="0">
                <a:solidFill>
                  <a:srgbClr val="7030A0"/>
                </a:solidFill>
              </a:rPr>
              <a:t>将响应率测试记录结果邮件发给测温同事进行复核。</a:t>
            </a:r>
            <a:endParaRPr lang="en-US" altLang="zh-CN" sz="1200" dirty="0" smtClean="0">
              <a:solidFill>
                <a:srgbClr val="7030A0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lang="zh-CN" altLang="en-US" sz="1200" dirty="0" smtClean="0">
                <a:solidFill>
                  <a:srgbClr val="7030A0"/>
                </a:solidFill>
              </a:rPr>
              <a:t>因为后期涉及到软硬件或者光学问题需要反复调试，需记录好测试环境和测试条件，便于后期追溯查询。</a:t>
            </a:r>
            <a:endParaRPr lang="zh-CN" altLang="en-US" sz="1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102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548065" y="2106329"/>
            <a:ext cx="51084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1    </a:t>
            </a: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探测器响应率</a:t>
            </a: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调试</a:t>
            </a:r>
            <a:r>
              <a:rPr lang="zh-CN" altLang="en-US" sz="2400" noProof="1" smtClean="0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方法</a:t>
            </a:r>
            <a:endParaRPr lang="en-US" altLang="zh-CN" sz="2400" noProof="1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400" b="1" noProof="1">
                <a:solidFill>
                  <a:srgbClr val="C00000"/>
                </a:solidFill>
                <a:latin typeface="+mn-ea"/>
                <a:sym typeface="+mn-ea"/>
              </a:rPr>
              <a:t>PART </a:t>
            </a:r>
            <a:r>
              <a:rPr lang="en-US" altLang="zh-CN" sz="2400" b="1" noProof="1" smtClean="0">
                <a:solidFill>
                  <a:srgbClr val="C00000"/>
                </a:solidFill>
                <a:latin typeface="+mn-ea"/>
                <a:sym typeface="+mn-ea"/>
              </a:rPr>
              <a:t>2   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测温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</a:rPr>
              <a:t>应用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算法</a:t>
            </a:r>
            <a:endParaRPr lang="en-US" altLang="zh-CN" sz="2400" b="1" noProof="1">
              <a:solidFill>
                <a:srgbClr val="C00000"/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</a:t>
            </a:r>
            <a:r>
              <a:rPr lang="zh-CN" altLang="en-US" sz="2400" noProof="1" smtClean="0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3    </a:t>
            </a:r>
            <a:r>
              <a:rPr lang="zh-CN" altLang="en-US" sz="24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前端机芯测温功能介绍</a:t>
            </a:r>
            <a:endParaRPr lang="en-US" altLang="zh-CN" sz="2400" noProof="1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</a:t>
            </a:r>
            <a:r>
              <a:rPr lang="en-US" altLang="zh-CN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4   </a:t>
            </a:r>
            <a:r>
              <a:rPr lang="zh-CN" altLang="en-US" sz="24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测温验收标准</a:t>
            </a:r>
            <a:endParaRPr lang="zh-CN" altLang="en-US" sz="2400" noProof="1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2339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2.1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测温应用算法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3231" y="621207"/>
            <a:ext cx="5617210" cy="619442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411044" y="687111"/>
            <a:ext cx="5270500" cy="598553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主要包含以下关键模块：</a:t>
            </a:r>
            <a:endParaRPr lang="en-US" altLang="zh-CN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响应率设置</a:t>
            </a:r>
            <a:endParaRPr lang="en-US" altLang="zh-CN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焦温</a:t>
            </a:r>
            <a:r>
              <a:rPr lang="en-US" altLang="zh-CN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TEC</a:t>
            </a: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控制</a:t>
            </a:r>
            <a:r>
              <a:rPr lang="en-US" altLang="zh-CN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/</a:t>
            </a: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焦温权重</a:t>
            </a:r>
            <a:endParaRPr lang="en-US" altLang="zh-CN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测温曲线拟合</a:t>
            </a:r>
            <a:endParaRPr lang="en-US" altLang="zh-CN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正查</a:t>
            </a:r>
            <a:r>
              <a:rPr lang="en-US" altLang="zh-CN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/</a:t>
            </a: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反查温度曲线</a:t>
            </a:r>
            <a:endParaRPr lang="en-US" altLang="zh-CN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镜筒温漂</a:t>
            </a:r>
            <a:endParaRPr lang="en-US" altLang="zh-CN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快门温漂</a:t>
            </a:r>
            <a:endParaRPr lang="en-US" altLang="zh-CN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距离修正</a:t>
            </a:r>
            <a:endParaRPr lang="en-US" altLang="zh-CN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发射率修正</a:t>
            </a:r>
            <a:endParaRPr lang="zh-CN" altLang="en-US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环温修正</a:t>
            </a:r>
            <a:endParaRPr lang="zh-CN" altLang="en-US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大气透过率修正</a:t>
            </a:r>
            <a:endParaRPr lang="en-US" altLang="zh-CN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窗口透过率修正</a:t>
            </a:r>
            <a:endParaRPr lang="en-US" altLang="zh-CN" sz="2000" dirty="0">
              <a:solidFill>
                <a:srgbClr val="404040"/>
              </a:solidFill>
              <a:latin typeface="冬青黑体简体中文 W3" panose="020B0300000000000000" pitchFamily="34" charset="-122"/>
              <a:ea typeface="冬青黑体简体中文 W3" panose="020B0300000000000000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404040"/>
                </a:solidFill>
                <a:latin typeface="冬青黑体简体中文 W3" panose="020B0300000000000000" pitchFamily="34" charset="-122"/>
                <a:ea typeface="冬青黑体简体中文 W3" panose="020B0300000000000000" pitchFamily="34" charset="-122"/>
                <a:sym typeface="+mn-ea"/>
              </a:rPr>
              <a:t>校温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2.2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应用算法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—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焦温档位划分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13839" y="1090896"/>
            <a:ext cx="5162550" cy="4648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5991" y="1062681"/>
            <a:ext cx="55523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通常根据设定的焦温档位来控制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将设备的焦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温控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43℃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。但一般会根据设备所处的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环境温度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选择对应的档位去控制，保证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可以稳定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控温。</a:t>
            </a:r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3566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2.3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应用算法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—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焦温档位划分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568466" y="996518"/>
            <a:ext cx="5343525" cy="4695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6873" y="1202463"/>
            <a:ext cx="629983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根据产品的目标工作环境温度，设定不同的焦温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范围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，由自动化数据采集工装完成不同焦温下的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温度曲线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采集。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人体测温一般精确测温环境温度为：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10℃~35℃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。根据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设备温升情况，将采集的焦温范围设定为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10℃~40℃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工业测温一般精确测温环境温度为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℃~50℃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由于工装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TEC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控温效率问题，将采集的焦温范围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10℃~50℃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。其余焦温区间通过曲线延伸的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方式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保证测温精度。</a:t>
            </a:r>
            <a:endParaRPr lang="zh-CN" altLang="en-US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8053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2.4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应用算法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—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测温范围划分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5285" y="1547295"/>
            <a:ext cx="659667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根据测温应用和响应率等确定测温范围。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响应率要求：在测温范围内，响应率应尽可能大，以提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高温度的稳定性和分辨率。但需要注意当响应率过大时，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容易在低温下偏压，所以要综合工作环温的情况来确定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测温范围。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人体测温：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0~60℃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工业测温：（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-20℃~150℃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0℃~650℃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500℃~2000℃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69950" y="970024"/>
            <a:ext cx="3185828" cy="524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73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2.5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应用算法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—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自动切档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6226" y="1417739"/>
            <a:ext cx="61423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根据场景内的温度分布情况，自动选择对应的测温范围。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当场景内的温度大于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140℃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）的点的数量大于阈值后，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温度范围切换至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0~650℃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当场景内的温度小于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130℃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）的点的数量大于阈值后，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温度范围切换至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-20~150℃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endParaRPr lang="zh-CN" altLang="en-US" sz="2000" dirty="0"/>
          </a:p>
        </p:txBody>
      </p:sp>
      <p:pic>
        <p:nvPicPr>
          <p:cNvPr id="4" name="video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768849" y="964659"/>
            <a:ext cx="2783821" cy="477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6370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2.6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应用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算法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—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手动调光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7988" y="1566602"/>
            <a:ext cx="520849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自动调光：实际计算当前图像中的最大最小Y16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与其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动态范围，根据提前设定好的期望亮度与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对比度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，自动进行动态范围压缩；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手动调光：根据输入的温度上下限，反算出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对应的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Y16做为调光最大最小Y16，然后调节其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动态范围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；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优点：可以增加客户需求温度区间段内的对比度。</a:t>
            </a:r>
          </a:p>
          <a:p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06588" y="1690172"/>
            <a:ext cx="2286000" cy="304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415193" y="1690172"/>
            <a:ext cx="228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4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2.7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应用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算法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—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镜头免校准测温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8518" y="1957638"/>
            <a:ext cx="557075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客户加购镜头但不愿寄回设备或运输成本高。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使用免校准可直接进行温度复核，不需要重新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调整响应率、拟合曲线、重新校温。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通过在精机采集标准镜头Y16、在精机上换上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免校准镜头采集Y16，通过两组Y16值计算出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免校准镜头相对于标准镜头的透过率；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再通过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采用二维码的方式将相对透过率保存到镜头中，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程序内部自动计算对应的校温参数，客户收到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镜头可直接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使用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</a:p>
        </p:txBody>
      </p:sp>
      <p:pic>
        <p:nvPicPr>
          <p:cNvPr id="4" name="图片 3" descr="Screenshot_20230904-1920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782" y="1195322"/>
            <a:ext cx="5610844" cy="462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2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2.8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应用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算法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—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二次分析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466" y="1210962"/>
            <a:ext cx="45967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保存红外图片、相关测温参数及温度</a:t>
            </a:r>
          </a:p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矩阵信息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，通过反发射率修正、反透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过率修正、反距离修正等算法将温度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信息还原至原始温度，再改变测温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参数，实现图片的二次分析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988731" y="1134614"/>
            <a:ext cx="2173146" cy="48790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425774" y="1134614"/>
            <a:ext cx="2097043" cy="48959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805920" y="1134613"/>
            <a:ext cx="2054764" cy="478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2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2.9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应用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算法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—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二次焦温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0426" y="1074190"/>
            <a:ext cx="6853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目的：解决客户使用场景下黑体差异带来的温度准确性问题</a:t>
            </a:r>
            <a:endParaRPr lang="en-US" altLang="zh-CN" sz="2000" dirty="0" smtClean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807784" y="1848164"/>
            <a:ext cx="549910" cy="103441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黑体</a:t>
            </a:r>
            <a:r>
              <a:rPr lang="en-US" altLang="zh-CN"/>
              <a:t> 1</a:t>
            </a: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630744" y="1838004"/>
            <a:ext cx="549910" cy="10445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黑体</a:t>
            </a:r>
            <a:r>
              <a:rPr lang="en-US" altLang="zh-CN"/>
              <a:t> 2</a:t>
            </a: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455609" y="1848164"/>
            <a:ext cx="549910" cy="103441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黑体</a:t>
            </a:r>
            <a:r>
              <a:rPr lang="en-US" altLang="zh-CN"/>
              <a:t> 3</a:t>
            </a: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4767644" y="1827844"/>
            <a:ext cx="549910" cy="105473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黑体</a:t>
            </a:r>
            <a:r>
              <a:rPr lang="en-US" altLang="zh-CN"/>
              <a:t>N</a:t>
            </a: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3302064" y="1945319"/>
            <a:ext cx="1198880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4000" smtClean="0">
                <a:solidFill>
                  <a:srgbClr val="404040"/>
                </a:solidFill>
                <a:latin typeface="Arial" panose="020B0604020202020204" pitchFamily="34" charset="0"/>
                <a:ea typeface="冬青黑体简体中文 W3" panose="020B0300000000000000" pitchFamily="34" charset="-122"/>
                <a:cs typeface="Arial" panose="020B0604020202020204" pitchFamily="34" charset="0"/>
              </a:rPr>
              <a:t>……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2287628" y="5117265"/>
            <a:ext cx="1380830" cy="721413"/>
          </a:xfrm>
          <a:prstGeom prst="rect">
            <a:avLst/>
          </a:prstGeom>
        </p:spPr>
      </p:pic>
      <p:cxnSp>
        <p:nvCxnSpPr>
          <p:cNvPr id="10" name="直接连接符 9"/>
          <p:cNvCxnSpPr>
            <a:stCxn id="4" idx="2"/>
            <a:endCxn id="9" idx="3"/>
          </p:cNvCxnSpPr>
          <p:nvPr>
            <p:custDataLst>
              <p:tags r:id="rId8"/>
            </p:custDataLst>
          </p:nvPr>
        </p:nvCxnSpPr>
        <p:spPr>
          <a:xfrm>
            <a:off x="1082739" y="2882579"/>
            <a:ext cx="1895475" cy="190436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5" idx="2"/>
            <a:endCxn id="9" idx="3"/>
          </p:cNvCxnSpPr>
          <p:nvPr>
            <p:custDataLst>
              <p:tags r:id="rId9"/>
            </p:custDataLst>
          </p:nvPr>
        </p:nvCxnSpPr>
        <p:spPr>
          <a:xfrm>
            <a:off x="1905699" y="2882579"/>
            <a:ext cx="1072515" cy="190436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6" idx="2"/>
          </p:cNvCxnSpPr>
          <p:nvPr>
            <p:custDataLst>
              <p:tags r:id="rId10"/>
            </p:custDataLst>
          </p:nvPr>
        </p:nvCxnSpPr>
        <p:spPr>
          <a:xfrm>
            <a:off x="2730564" y="2882579"/>
            <a:ext cx="260350" cy="195961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7" idx="2"/>
            <a:endCxn id="9" idx="3"/>
          </p:cNvCxnSpPr>
          <p:nvPr>
            <p:custDataLst>
              <p:tags r:id="rId11"/>
            </p:custDataLst>
          </p:nvPr>
        </p:nvCxnSpPr>
        <p:spPr>
          <a:xfrm flipH="1">
            <a:off x="2978214" y="2882579"/>
            <a:ext cx="2064385" cy="190436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139925" y="2298696"/>
            <a:ext cx="52282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根据黑体1至黑体N的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设定值反算对应的Y16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值Y1至Yn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采集各黑体对应的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真实Y16值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Yt1至Ytn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使用最小二乘法对上述两组Y16值进行拟合，得到二次校温系数KJ,BJ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KJ,BJ对后续Y16值修正后再进行测温</a:t>
            </a:r>
          </a:p>
        </p:txBody>
      </p:sp>
    </p:spTree>
    <p:extLst>
      <p:ext uri="{BB962C8B-B14F-4D97-AF65-F5344CB8AC3E}">
        <p14:creationId xmlns:p14="http://schemas.microsoft.com/office/powerpoint/2010/main" val="3035131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2.10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测温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应用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算法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—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温度矩阵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6183" y="1466335"/>
            <a:ext cx="582723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温度矩阵：计算整帧图像每一个点的温度并输出。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快速温度矩阵：将整帧图像的Y16按大小分为N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段，计算每一段端点的温度后，使用分段线性的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方式分为N段线性函数。根据输入点的Y16，判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断其属于哪段线性函数后，代入计算温度。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高精度温度矩阵：计算输入帧的最大最小Y16，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然后计算范围内所有Y16对应的温度值，生成温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度表，然后根据当前点的Y16去温度表查找对应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的温度。</a:t>
            </a:r>
          </a:p>
          <a:p>
            <a:endParaRPr lang="zh-CN" altLang="en-US" sz="2000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6458464" y="1142570"/>
            <a:ext cx="5229975" cy="4706293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82360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673193" y="2096704"/>
            <a:ext cx="532485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1    </a:t>
            </a: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探测器响应率</a:t>
            </a: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调试</a:t>
            </a:r>
            <a:r>
              <a:rPr lang="zh-CN" altLang="en-US" sz="2400" noProof="1" smtClean="0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方法</a:t>
            </a:r>
            <a:endParaRPr lang="en-US" altLang="zh-CN" sz="2400" noProof="1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</a:t>
            </a:r>
            <a:r>
              <a:rPr lang="en-US" altLang="zh-CN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2    </a:t>
            </a:r>
            <a:r>
              <a:rPr lang="zh-CN" altLang="en-US" sz="240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测温应用</a:t>
            </a:r>
            <a:r>
              <a:rPr lang="zh-CN" altLang="en-US" sz="24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算法</a:t>
            </a:r>
            <a:endParaRPr lang="en-US" altLang="zh-CN" sz="2400" noProof="1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 noProof="1">
                <a:solidFill>
                  <a:srgbClr val="C00000"/>
                </a:solidFill>
                <a:latin typeface="+mn-ea"/>
                <a:sym typeface="+mn-ea"/>
              </a:rPr>
              <a:t>PART </a:t>
            </a:r>
            <a:r>
              <a:rPr lang="zh-CN" altLang="en-US" sz="2400" b="1" noProof="1" smtClean="0">
                <a:solidFill>
                  <a:srgbClr val="C00000"/>
                </a:solidFill>
                <a:latin typeface="+mn-ea"/>
                <a:sym typeface="+mn-ea"/>
              </a:rPr>
              <a:t>3    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前端机芯测温功能介绍</a:t>
            </a:r>
            <a:endParaRPr lang="en-US" altLang="zh-CN" sz="2400" b="1" noProof="1">
              <a:solidFill>
                <a:srgbClr val="C00000"/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</a:t>
            </a:r>
            <a:r>
              <a:rPr lang="en-US" altLang="zh-CN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4   </a:t>
            </a:r>
            <a:r>
              <a:rPr lang="zh-CN" altLang="en-US" sz="24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测温验收标准</a:t>
            </a:r>
            <a:endParaRPr lang="zh-CN" altLang="en-US" sz="2400" noProof="1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144486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3.1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系统框架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DB0EADD7-6D4A-4598-A963-663DB3C58CCF}"/>
              </a:ext>
            </a:extLst>
          </p:cNvPr>
          <p:cNvSpPr/>
          <p:nvPr/>
        </p:nvSpPr>
        <p:spPr bwMode="auto">
          <a:xfrm>
            <a:off x="1102231" y="4661194"/>
            <a:ext cx="149115" cy="1196682"/>
          </a:xfrm>
          <a:prstGeom prst="rect">
            <a:avLst/>
          </a:prstGeom>
          <a:solidFill>
            <a:srgbClr val="BD253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016BFA5-A621-4459-9182-4A8A7E6B3F1B}"/>
              </a:ext>
            </a:extLst>
          </p:cNvPr>
          <p:cNvSpPr/>
          <p:nvPr/>
        </p:nvSpPr>
        <p:spPr bwMode="auto">
          <a:xfrm>
            <a:off x="10811269" y="4661194"/>
            <a:ext cx="129385" cy="1196681"/>
          </a:xfrm>
          <a:prstGeom prst="rect">
            <a:avLst/>
          </a:prstGeom>
          <a:solidFill>
            <a:srgbClr val="BD253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951166B8-129D-4DD4-B2A0-4344D67ADCD0}"/>
              </a:ext>
            </a:extLst>
          </p:cNvPr>
          <p:cNvSpPr/>
          <p:nvPr/>
        </p:nvSpPr>
        <p:spPr>
          <a:xfrm>
            <a:off x="1540821" y="4399787"/>
            <a:ext cx="9090628" cy="1719494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从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FPGA/ASIC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功能实现上，可以将测温类产品分为两大类：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</a:rPr>
              <a:t>测温机芯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</a:rPr>
              <a:t>测温机器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。</a:t>
            </a: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测温机芯是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FPGA/ASIC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在实现机芯成像的同时，实现测温功能及对外交互功能。</a:t>
            </a: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测温机器目前是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ARM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和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APP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实现测温功能，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FPGA/ASIC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实现机芯红外成像及通信交互，作为测温机器里的一个机芯组件。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14DBAB67-5AD1-4CFE-A234-F6F80C1E96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74"/>
          <a:stretch/>
        </p:blipFill>
        <p:spPr>
          <a:xfrm>
            <a:off x="239083" y="689096"/>
            <a:ext cx="5782359" cy="288415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11509129-E86A-4590-BE3F-AB9BCC82C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57172"/>
            <a:ext cx="3162741" cy="28769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A8D57839-76A8-4AB8-AEE3-741474DBD1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868" y="1215820"/>
            <a:ext cx="2953162" cy="194337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24633823-BBAB-44DB-B91C-8C50FDE0CA47}"/>
              </a:ext>
            </a:extLst>
          </p:cNvPr>
          <p:cNvSpPr/>
          <p:nvPr/>
        </p:nvSpPr>
        <p:spPr>
          <a:xfrm>
            <a:off x="2452161" y="3578842"/>
            <a:ext cx="2262713" cy="472998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测温机芯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(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单点测温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)</a:t>
            </a:r>
            <a:endParaRPr lang="zh-CN" altLang="en-US" dirty="0">
              <a:solidFill>
                <a:srgbClr val="484849"/>
              </a:solidFill>
              <a:latin typeface="微软雅黑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2A8A91B5-351E-4D75-90D2-19826E4EEB21}"/>
              </a:ext>
            </a:extLst>
          </p:cNvPr>
          <p:cNvSpPr/>
          <p:nvPr/>
        </p:nvSpPr>
        <p:spPr>
          <a:xfrm>
            <a:off x="8491012" y="3596514"/>
            <a:ext cx="2032898" cy="472998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测温机器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(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面测温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)</a:t>
            </a:r>
            <a:endParaRPr lang="zh-CN" altLang="en-US" dirty="0">
              <a:solidFill>
                <a:srgbClr val="484849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111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3.1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系统框架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77704EAB-72C5-437F-A2F8-874F2428CA2F}"/>
              </a:ext>
            </a:extLst>
          </p:cNvPr>
          <p:cNvSpPr/>
          <p:nvPr/>
        </p:nvSpPr>
        <p:spPr bwMode="auto">
          <a:xfrm>
            <a:off x="1185600" y="4092771"/>
            <a:ext cx="9671685" cy="2346129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484849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DB0EADD7-6D4A-4598-A963-663DB3C58CCF}"/>
              </a:ext>
            </a:extLst>
          </p:cNvPr>
          <p:cNvSpPr/>
          <p:nvPr/>
        </p:nvSpPr>
        <p:spPr bwMode="auto">
          <a:xfrm>
            <a:off x="1102231" y="4661194"/>
            <a:ext cx="149115" cy="1196682"/>
          </a:xfrm>
          <a:prstGeom prst="rect">
            <a:avLst/>
          </a:prstGeom>
          <a:solidFill>
            <a:srgbClr val="BD253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016BFA5-A621-4459-9182-4A8A7E6B3F1B}"/>
              </a:ext>
            </a:extLst>
          </p:cNvPr>
          <p:cNvSpPr/>
          <p:nvPr/>
        </p:nvSpPr>
        <p:spPr bwMode="auto">
          <a:xfrm>
            <a:off x="10811269" y="4661194"/>
            <a:ext cx="129385" cy="1196681"/>
          </a:xfrm>
          <a:prstGeom prst="rect">
            <a:avLst/>
          </a:prstGeom>
          <a:solidFill>
            <a:srgbClr val="BD253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951166B8-129D-4DD4-B2A0-4344D67ADCD0}"/>
              </a:ext>
            </a:extLst>
          </p:cNvPr>
          <p:cNvSpPr/>
          <p:nvPr/>
        </p:nvSpPr>
        <p:spPr>
          <a:xfrm>
            <a:off x="1550686" y="4553880"/>
            <a:ext cx="9090628" cy="1303995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FPGA/ASIC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完成红外图像的基本处理，实现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X16-&gt;Y16-&gt;Y8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，在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Y16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上主要有时域滤波、坏点替换、去竖纹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/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去横纹、去噪算法，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Y16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经过调光后变成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Y8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灰度数据，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Y8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灰度查对应的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RGB/YUV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伪彩表后带有色彩信息，最后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Y16+Y8/Y16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输出给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ARM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后端处理。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xmlns="" id="{8ACAC16C-9705-440C-98D6-3A14DD3C2D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787304"/>
              </p:ext>
            </p:extLst>
          </p:nvPr>
        </p:nvGraphicFramePr>
        <p:xfrm>
          <a:off x="1828800" y="1155070"/>
          <a:ext cx="7873522" cy="2810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0" name="Visio" r:id="rId3" imgW="2933714" imgH="1057198" progId="Visio.Drawing.15">
                  <p:embed/>
                </p:oleObj>
              </mc:Choice>
              <mc:Fallback>
                <p:oleObj name="Visio" r:id="rId3" imgW="2933714" imgH="1057198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155070"/>
                        <a:ext cx="7873522" cy="28107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015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3.2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算法流程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xmlns="" id="{C26CB114-5024-48EF-ACA0-6A8390FB2D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630223"/>
              </p:ext>
            </p:extLst>
          </p:nvPr>
        </p:nvGraphicFramePr>
        <p:xfrm>
          <a:off x="1085850" y="1685925"/>
          <a:ext cx="10241580" cy="341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3" name="Visio" r:id="rId3" imgW="5781715" imgH="1923947" progId="Visio.Drawing.11">
                  <p:embed/>
                </p:oleObj>
              </mc:Choice>
              <mc:Fallback>
                <p:oleObj name="Visio" r:id="rId3" imgW="5781715" imgH="1923947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5850" y="1685925"/>
                        <a:ext cx="10241580" cy="3419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FF0B067B-2682-4068-95F1-70554EF350B5}"/>
              </a:ext>
            </a:extLst>
          </p:cNvPr>
          <p:cNvCxnSpPr>
            <a:cxnSpLocks/>
          </p:cNvCxnSpPr>
          <p:nvPr/>
        </p:nvCxnSpPr>
        <p:spPr>
          <a:xfrm>
            <a:off x="4800600" y="1543050"/>
            <a:ext cx="0" cy="923925"/>
          </a:xfrm>
          <a:prstGeom prst="line">
            <a:avLst/>
          </a:prstGeom>
          <a:ln w="5715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81965411-D32B-4F0B-9064-40AB78CB7602}"/>
              </a:ext>
            </a:extLst>
          </p:cNvPr>
          <p:cNvCxnSpPr>
            <a:cxnSpLocks/>
          </p:cNvCxnSpPr>
          <p:nvPr/>
        </p:nvCxnSpPr>
        <p:spPr>
          <a:xfrm>
            <a:off x="4800600" y="2600325"/>
            <a:ext cx="0" cy="80962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B8748387-089D-4CA0-BA1C-F21A505D43B3}"/>
              </a:ext>
            </a:extLst>
          </p:cNvPr>
          <p:cNvSpPr txBox="1"/>
          <p:nvPr/>
        </p:nvSpPr>
        <p:spPr>
          <a:xfrm>
            <a:off x="3038475" y="1336715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X16=AD</a:t>
            </a:r>
            <a:r>
              <a:rPr lang="zh-CN" altLang="en-US" dirty="0">
                <a:solidFill>
                  <a:srgbClr val="FF0000"/>
                </a:solidFill>
              </a:rPr>
              <a:t>值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6A7684FA-00C9-43BD-9346-EB9685BCE08A}"/>
              </a:ext>
            </a:extLst>
          </p:cNvPr>
          <p:cNvSpPr txBox="1"/>
          <p:nvPr/>
        </p:nvSpPr>
        <p:spPr>
          <a:xfrm>
            <a:off x="5631660" y="1336715"/>
            <a:ext cx="165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Y16=</a:t>
            </a:r>
            <a:r>
              <a:rPr lang="zh-CN" altLang="en-US" dirty="0">
                <a:solidFill>
                  <a:srgbClr val="FF0000"/>
                </a:solidFill>
              </a:rPr>
              <a:t>测温数据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0B399150-E9BD-4AEE-84E5-03D295B57ABE}"/>
              </a:ext>
            </a:extLst>
          </p:cNvPr>
          <p:cNvSpPr txBox="1"/>
          <p:nvPr/>
        </p:nvSpPr>
        <p:spPr>
          <a:xfrm>
            <a:off x="4878129" y="2466975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Y8=</a:t>
            </a:r>
            <a:r>
              <a:rPr lang="zh-CN" altLang="en-US" dirty="0">
                <a:solidFill>
                  <a:srgbClr val="FF0000"/>
                </a:solidFill>
              </a:rPr>
              <a:t>成像数据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7DB850FD-96A3-44D8-B3D3-C59B2F3B974E}"/>
              </a:ext>
            </a:extLst>
          </p:cNvPr>
          <p:cNvSpPr/>
          <p:nvPr/>
        </p:nvSpPr>
        <p:spPr>
          <a:xfrm>
            <a:off x="566212" y="809590"/>
            <a:ext cx="9090628" cy="472998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前端机芯（</a:t>
            </a:r>
            <a:r>
              <a:rPr lang="en-US" altLang="zh-CN" dirty="0" err="1">
                <a:solidFill>
                  <a:srgbClr val="484849"/>
                </a:solidFill>
                <a:latin typeface="微软雅黑" pitchFamily="34" charset="-122"/>
              </a:rPr>
              <a:t>fpga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/</a:t>
            </a:r>
            <a:r>
              <a:rPr lang="en-US" altLang="zh-CN" dirty="0" err="1">
                <a:solidFill>
                  <a:srgbClr val="484849"/>
                </a:solidFill>
                <a:latin typeface="微软雅黑" pitchFamily="34" charset="-122"/>
              </a:rPr>
              <a:t>asic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平台处理红外图像数据的机芯），典型算法流程如下图：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xmlns="" id="{B2549A8A-46F7-47D1-8C8C-2E0B999F18D5}"/>
                  </a:ext>
                </a:extLst>
              </p:cNvPr>
              <p:cNvSpPr/>
              <p:nvPr/>
            </p:nvSpPr>
            <p:spPr>
              <a:xfrm>
                <a:off x="481385" y="5377327"/>
                <a:ext cx="9090628" cy="1303995"/>
              </a:xfrm>
              <a:prstGeom prst="rect">
                <a:avLst/>
              </a:prstGeom>
              <a:noFill/>
            </p:spPr>
            <p:txBody>
              <a:bodyPr wrap="square" lIns="105394" tIns="52697" rIns="105394" bIns="52697" rtlCol="0">
                <a:spAutoFit/>
              </a:bodyPr>
              <a:lstStyle/>
              <a:p>
                <a:pPr algn="just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r>
                  <a:rPr lang="en-US" altLang="zh-CN" dirty="0">
                    <a:solidFill>
                      <a:srgbClr val="484849"/>
                    </a:solidFill>
                    <a:latin typeface="微软雅黑" pitchFamily="34" charset="-122"/>
                  </a:rPr>
                  <a:t>X16(AD): sensor</a:t>
                </a:r>
                <a:r>
                  <a:rPr lang="zh-CN" altLang="en-US" dirty="0">
                    <a:solidFill>
                      <a:srgbClr val="484849"/>
                    </a:solidFill>
                    <a:latin typeface="微软雅黑" pitchFamily="34" charset="-122"/>
                  </a:rPr>
                  <a:t>探测器输出的原始数据；</a:t>
                </a:r>
                <a:endParaRPr lang="en-US" altLang="zh-CN" dirty="0">
                  <a:solidFill>
                    <a:srgbClr val="484849"/>
                  </a:solidFill>
                  <a:latin typeface="微软雅黑" pitchFamily="34" charset="-122"/>
                </a:endParaRPr>
              </a:p>
              <a:p>
                <a:pPr algn="just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r>
                  <a:rPr lang="en-US" altLang="zh-CN" dirty="0">
                    <a:solidFill>
                      <a:srgbClr val="484849"/>
                    </a:solidFill>
                    <a:latin typeface="微软雅黑" pitchFamily="34" charset="-122"/>
                  </a:rPr>
                  <a:t>Y16(RAW): </a:t>
                </a:r>
                <a:r>
                  <a:rPr lang="zh-CN" altLang="en-US" dirty="0">
                    <a:solidFill>
                      <a:srgbClr val="484849"/>
                    </a:solidFill>
                    <a:latin typeface="微软雅黑" pitchFamily="34" charset="-122"/>
                  </a:rPr>
                  <a:t>经过两点矫正后的图像数据统称为</a:t>
                </a:r>
                <a:r>
                  <a:rPr lang="en-US" altLang="zh-CN" dirty="0">
                    <a:solidFill>
                      <a:srgbClr val="484849"/>
                    </a:solidFill>
                    <a:latin typeface="微软雅黑" pitchFamily="34" charset="-122"/>
                  </a:rPr>
                  <a:t>Y16(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rgbClr val="484849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>
                        <a:solidFill>
                          <a:srgbClr val="48484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484849"/>
                        </a:solidFill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CN">
                        <a:solidFill>
                          <a:srgbClr val="484849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484849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>
                        <a:solidFill>
                          <a:srgbClr val="48484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484849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zh-CN" dirty="0">
                    <a:solidFill>
                      <a:srgbClr val="484849"/>
                    </a:solidFill>
                    <a:latin typeface="微软雅黑" pitchFamily="34" charset="-122"/>
                  </a:rPr>
                  <a:t>)</a:t>
                </a:r>
                <a:r>
                  <a:rPr lang="zh-CN" altLang="en-US" dirty="0">
                    <a:solidFill>
                      <a:srgbClr val="484849"/>
                    </a:solidFill>
                    <a:latin typeface="微软雅黑" pitchFamily="34" charset="-122"/>
                  </a:rPr>
                  <a:t>，用于测温；</a:t>
                </a:r>
                <a:endParaRPr lang="en-US" altLang="zh-CN" dirty="0">
                  <a:solidFill>
                    <a:srgbClr val="484849"/>
                  </a:solidFill>
                  <a:latin typeface="微软雅黑" pitchFamily="34" charset="-122"/>
                </a:endParaRPr>
              </a:p>
              <a:p>
                <a:pPr algn="just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r>
                  <a:rPr lang="en-US" altLang="zh-CN" dirty="0">
                    <a:solidFill>
                      <a:srgbClr val="484849"/>
                    </a:solidFill>
                    <a:latin typeface="微软雅黑" pitchFamily="34" charset="-122"/>
                  </a:rPr>
                  <a:t>Y8: Y16</a:t>
                </a:r>
                <a:r>
                  <a:rPr lang="zh-CN" altLang="en-US" dirty="0">
                    <a:solidFill>
                      <a:srgbClr val="484849"/>
                    </a:solidFill>
                    <a:latin typeface="微软雅黑" pitchFamily="34" charset="-122"/>
                  </a:rPr>
                  <a:t>数据（取值范围</a:t>
                </a:r>
                <a:r>
                  <a:rPr lang="en-US" altLang="zh-CN" dirty="0">
                    <a:solidFill>
                      <a:srgbClr val="484849"/>
                    </a:solidFill>
                    <a:latin typeface="微软雅黑" pitchFamily="34" charset="-122"/>
                  </a:rPr>
                  <a:t>0~16383</a:t>
                </a:r>
                <a:r>
                  <a:rPr lang="zh-CN" altLang="en-US" dirty="0">
                    <a:solidFill>
                      <a:srgbClr val="484849"/>
                    </a:solidFill>
                    <a:latin typeface="微软雅黑" pitchFamily="34" charset="-122"/>
                  </a:rPr>
                  <a:t>）经过</a:t>
                </a:r>
                <a:r>
                  <a:rPr lang="zh-CN" altLang="en-US" dirty="0">
                    <a:solidFill>
                      <a:srgbClr val="FF0000"/>
                    </a:solidFill>
                    <a:latin typeface="微软雅黑" pitchFamily="34" charset="-122"/>
                  </a:rPr>
                  <a:t>调光</a:t>
                </a:r>
                <a:r>
                  <a:rPr lang="zh-CN" altLang="en-US" dirty="0">
                    <a:solidFill>
                      <a:srgbClr val="484849"/>
                    </a:solidFill>
                    <a:latin typeface="微软雅黑" pitchFamily="34" charset="-122"/>
                  </a:rPr>
                  <a:t>映射到</a:t>
                </a:r>
                <a:r>
                  <a:rPr lang="en-US" altLang="zh-CN" dirty="0">
                    <a:solidFill>
                      <a:srgbClr val="484849"/>
                    </a:solidFill>
                    <a:latin typeface="微软雅黑" pitchFamily="34" charset="-122"/>
                  </a:rPr>
                  <a:t>Y8</a:t>
                </a:r>
                <a:r>
                  <a:rPr lang="zh-CN" altLang="en-US" dirty="0">
                    <a:solidFill>
                      <a:srgbClr val="484849"/>
                    </a:solidFill>
                    <a:latin typeface="微软雅黑" pitchFamily="34" charset="-122"/>
                  </a:rPr>
                  <a:t>（取值范围</a:t>
                </a:r>
                <a:r>
                  <a:rPr lang="en-US" altLang="zh-CN" dirty="0">
                    <a:solidFill>
                      <a:srgbClr val="484849"/>
                    </a:solidFill>
                    <a:latin typeface="微软雅黑" pitchFamily="34" charset="-122"/>
                  </a:rPr>
                  <a:t>0~255</a:t>
                </a:r>
                <a:r>
                  <a:rPr lang="zh-CN" altLang="en-US" dirty="0">
                    <a:solidFill>
                      <a:srgbClr val="484849"/>
                    </a:solidFill>
                    <a:latin typeface="微软雅黑" pitchFamily="34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2549A8A-46F7-47D1-8C8C-2E0B999F18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85" y="5377327"/>
                <a:ext cx="9090628" cy="1303995"/>
              </a:xfrm>
              <a:prstGeom prst="rect">
                <a:avLst/>
              </a:prstGeom>
              <a:blipFill>
                <a:blip r:embed="rId5"/>
                <a:stretch>
                  <a:fillRect l="-402" b="-60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377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3.3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基本功能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77704EAB-72C5-437F-A2F8-874F2428CA2F}"/>
              </a:ext>
            </a:extLst>
          </p:cNvPr>
          <p:cNvSpPr/>
          <p:nvPr/>
        </p:nvSpPr>
        <p:spPr bwMode="auto">
          <a:xfrm>
            <a:off x="1185600" y="923925"/>
            <a:ext cx="9671685" cy="551497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484849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DB0EADD7-6D4A-4598-A963-663DB3C58CCF}"/>
              </a:ext>
            </a:extLst>
          </p:cNvPr>
          <p:cNvSpPr/>
          <p:nvPr/>
        </p:nvSpPr>
        <p:spPr bwMode="auto">
          <a:xfrm>
            <a:off x="1121961" y="1485901"/>
            <a:ext cx="129385" cy="4371976"/>
          </a:xfrm>
          <a:prstGeom prst="rect">
            <a:avLst/>
          </a:prstGeom>
          <a:solidFill>
            <a:srgbClr val="BD253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016BFA5-A621-4459-9182-4A8A7E6B3F1B}"/>
              </a:ext>
            </a:extLst>
          </p:cNvPr>
          <p:cNvSpPr/>
          <p:nvPr/>
        </p:nvSpPr>
        <p:spPr bwMode="auto">
          <a:xfrm>
            <a:off x="10811269" y="1485900"/>
            <a:ext cx="129385" cy="4371976"/>
          </a:xfrm>
          <a:prstGeom prst="rect">
            <a:avLst/>
          </a:prstGeom>
          <a:solidFill>
            <a:srgbClr val="BD253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951166B8-129D-4DD4-B2A0-4344D67ADCD0}"/>
              </a:ext>
            </a:extLst>
          </p:cNvPr>
          <p:cNvSpPr/>
          <p:nvPr/>
        </p:nvSpPr>
        <p:spPr>
          <a:xfrm>
            <a:off x="1476128" y="1409591"/>
            <a:ext cx="9090628" cy="4212484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参数行：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包含机芯前端配置、状态等相关信息的数据行，例如快门温度、镜筒温度、探测器参数、镜头类型、快门状态、电机状态等，</a:t>
            </a:r>
            <a:r>
              <a:rPr lang="zh-CN" altLang="en-US" b="1" dirty="0">
                <a:solidFill>
                  <a:srgbClr val="484849"/>
                </a:solidFill>
                <a:latin typeface="微软雅黑" pitchFamily="34" charset="-122"/>
              </a:rPr>
              <a:t>必备功能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；</a:t>
            </a: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功能：用于红外图像数据测温过程，生产调试过程等。</a:t>
            </a: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</a:rPr>
              <a:t>Y16Max/Min/</a:t>
            </a:r>
            <a:r>
              <a:rPr lang="en-US" altLang="zh-CN" b="1" dirty="0" err="1">
                <a:solidFill>
                  <a:srgbClr val="C00000"/>
                </a:solidFill>
                <a:latin typeface="微软雅黑" pitchFamily="34" charset="-122"/>
              </a:rPr>
              <a:t>Csr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</a:rPr>
              <a:t>: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全画幅的最高温、最低温、光标温对应的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Y16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值，称为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Y16MAX\Y16MIN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，获取到这些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Y16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值后，前端或者后端可以根据测温模型计算出对应的温度信息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;</a:t>
            </a: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字符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光标叠加：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在红外图像面阵上根据字符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/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光标样式在对应位置区域填充特定颜色的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YUV/RGB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数据，之后再图像上显示出字符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/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光标，光标用于指示位置，也用于坏点标记；</a:t>
            </a:r>
            <a:endParaRPr lang="zh-CN" altLang="zh-CN" dirty="0">
              <a:solidFill>
                <a:srgbClr val="484849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889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3.3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基本功能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06D39BC0-F49C-4813-8E5F-7729FEF36EC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83" y="1917218"/>
            <a:ext cx="4492543" cy="3023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BD40AB4C-EF8A-4E88-AB9B-6A1606DBD001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" t="4275" r="4145" b="4790"/>
          <a:stretch/>
        </p:blipFill>
        <p:spPr bwMode="auto">
          <a:xfrm>
            <a:off x="5857874" y="1917217"/>
            <a:ext cx="5451869" cy="302356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00430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3.3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基本功能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77704EAB-72C5-437F-A2F8-874F2428CA2F}"/>
              </a:ext>
            </a:extLst>
          </p:cNvPr>
          <p:cNvSpPr/>
          <p:nvPr/>
        </p:nvSpPr>
        <p:spPr bwMode="auto">
          <a:xfrm>
            <a:off x="1185600" y="923925"/>
            <a:ext cx="9671685" cy="551497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484849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DB0EADD7-6D4A-4598-A963-663DB3C58CCF}"/>
              </a:ext>
            </a:extLst>
          </p:cNvPr>
          <p:cNvSpPr/>
          <p:nvPr/>
        </p:nvSpPr>
        <p:spPr bwMode="auto">
          <a:xfrm>
            <a:off x="1121961" y="1485901"/>
            <a:ext cx="129385" cy="4371976"/>
          </a:xfrm>
          <a:prstGeom prst="rect">
            <a:avLst/>
          </a:prstGeom>
          <a:solidFill>
            <a:srgbClr val="BD253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016BFA5-A621-4459-9182-4A8A7E6B3F1B}"/>
              </a:ext>
            </a:extLst>
          </p:cNvPr>
          <p:cNvSpPr/>
          <p:nvPr/>
        </p:nvSpPr>
        <p:spPr bwMode="auto">
          <a:xfrm>
            <a:off x="10811269" y="1485900"/>
            <a:ext cx="129385" cy="4371976"/>
          </a:xfrm>
          <a:prstGeom prst="rect">
            <a:avLst/>
          </a:prstGeom>
          <a:solidFill>
            <a:srgbClr val="BD253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5394" tIns="52697" rIns="105394" bIns="52697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1053937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2100" b="0" i="0" u="none" strike="noStrike" kern="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951166B8-129D-4DD4-B2A0-4344D67ADCD0}"/>
              </a:ext>
            </a:extLst>
          </p:cNvPr>
          <p:cNvSpPr/>
          <p:nvPr/>
        </p:nvSpPr>
        <p:spPr>
          <a:xfrm>
            <a:off x="1476128" y="1409591"/>
            <a:ext cx="9090628" cy="3381487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</a:rPr>
              <a:t>DVP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传输：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机芯前端输出图像数据接口为并口，包含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Pclk Data[7:0] </a:t>
            </a:r>
            <a:r>
              <a:rPr lang="en-US" altLang="zh-CN" dirty="0" err="1">
                <a:solidFill>
                  <a:srgbClr val="484849"/>
                </a:solidFill>
                <a:latin typeface="微软雅黑" pitchFamily="34" charset="-122"/>
              </a:rPr>
              <a:t>Hsync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 </a:t>
            </a:r>
            <a:r>
              <a:rPr lang="en-US" altLang="zh-CN" dirty="0" err="1">
                <a:solidFill>
                  <a:srgbClr val="484849"/>
                </a:solidFill>
                <a:latin typeface="微软雅黑" pitchFamily="34" charset="-122"/>
              </a:rPr>
              <a:t>Vsync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等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11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个信号，测温机器传输的数据内容（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</a:rPr>
              <a:t>Y16+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</a:rPr>
              <a:t>参数行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或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Y8+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</a:rPr>
              <a:t>Y16+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</a:rPr>
              <a:t>参数行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）。</a:t>
            </a: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手动调光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</a:rPr>
              <a:t>: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从界面上调节的是最高温</a:t>
            </a:r>
            <a:r>
              <a:rPr lang="en-US" altLang="zh-CN" dirty="0" err="1">
                <a:solidFill>
                  <a:srgbClr val="484849"/>
                </a:solidFill>
                <a:latin typeface="微软雅黑" pitchFamily="34" charset="-122"/>
              </a:rPr>
              <a:t>Tmax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与最低温</a:t>
            </a:r>
            <a:r>
              <a:rPr lang="en-US" altLang="zh-CN" dirty="0" err="1">
                <a:solidFill>
                  <a:srgbClr val="484849"/>
                </a:solidFill>
                <a:latin typeface="微软雅黑" pitchFamily="34" charset="-122"/>
              </a:rPr>
              <a:t>Tmin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，通过温度反算得到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Y16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值进行调光，即用户只想关注他感兴趣的温度范围内场景的成像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;</a:t>
            </a: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等温线：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设置温度值界限</a:t>
            </a:r>
            <a:r>
              <a:rPr lang="en-US" altLang="zh-CN" dirty="0" err="1">
                <a:solidFill>
                  <a:srgbClr val="484849"/>
                </a:solidFill>
                <a:latin typeface="微软雅黑" pitchFamily="34" charset="-122"/>
              </a:rPr>
              <a:t>Tth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，在</a:t>
            </a:r>
            <a:r>
              <a:rPr lang="en-US" altLang="zh-CN" dirty="0" err="1">
                <a:solidFill>
                  <a:srgbClr val="484849"/>
                </a:solidFill>
                <a:latin typeface="微软雅黑" pitchFamily="34" charset="-122"/>
              </a:rPr>
              <a:t>Tth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以上、以下、温度区间内外场景的颜色与其他区域伪彩不同；</a:t>
            </a:r>
            <a:endParaRPr lang="zh-CN" altLang="zh-CN" dirty="0">
              <a:solidFill>
                <a:srgbClr val="484849"/>
              </a:solidFill>
              <a:latin typeface="微软雅黑" pitchFamily="34" charset="-122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xmlns="" id="{548E0AC3-F77E-41D0-9A24-4A555F227E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257314"/>
              </p:ext>
            </p:extLst>
          </p:nvPr>
        </p:nvGraphicFramePr>
        <p:xfrm>
          <a:off x="1571625" y="5033964"/>
          <a:ext cx="188595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6" name="Visio" r:id="rId3" imgW="1600200" imgH="990664" progId="Visio.Drawing.15">
                  <p:embed/>
                </p:oleObj>
              </mc:Choice>
              <mc:Fallback>
                <p:oleObj name="Visio" r:id="rId3" imgW="1600200" imgH="990664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5033964"/>
                        <a:ext cx="1885950" cy="1162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xmlns="" id="{C12058E3-C57D-4167-9DBD-D32CE655F2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886376"/>
              </p:ext>
            </p:extLst>
          </p:nvPr>
        </p:nvGraphicFramePr>
        <p:xfrm>
          <a:off x="3702088" y="5054580"/>
          <a:ext cx="18478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7" name="Visio" r:id="rId5" imgW="1600200" imgH="990664" progId="Visio.Drawing.15">
                  <p:embed/>
                </p:oleObj>
              </mc:Choice>
              <mc:Fallback>
                <p:oleObj name="Visio" r:id="rId5" imgW="1600200" imgH="990664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088" y="5054580"/>
                        <a:ext cx="184785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xmlns="" id="{A2696B13-D995-41AE-9406-10AA5D2D81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619698"/>
              </p:ext>
            </p:extLst>
          </p:nvPr>
        </p:nvGraphicFramePr>
        <p:xfrm>
          <a:off x="6080915" y="4381609"/>
          <a:ext cx="252412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8" name="Visio" r:id="rId7" imgW="1657408" imgH="1400175" progId="Visio.Drawing.15">
                  <p:embed/>
                </p:oleObj>
              </mc:Choice>
              <mc:Fallback>
                <p:oleObj name="Visio" r:id="rId7" imgW="1657408" imgH="1400175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915" y="4381609"/>
                        <a:ext cx="2524125" cy="213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xmlns="" id="{33B2380D-EF81-4DAB-9159-4C3C78FCE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10744"/>
              </p:ext>
            </p:extLst>
          </p:nvPr>
        </p:nvGraphicFramePr>
        <p:xfrm>
          <a:off x="8605040" y="4533899"/>
          <a:ext cx="2152650" cy="181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29" name="Visio" r:id="rId9" imgW="1657408" imgH="1400175" progId="Visio.Drawing.15">
                  <p:embed/>
                </p:oleObj>
              </mc:Choice>
              <mc:Fallback>
                <p:oleObj name="Visio" r:id="rId9" imgW="1657408" imgH="1400175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5040" y="4533899"/>
                        <a:ext cx="2152650" cy="181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159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3.3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基本功能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079BBEF2-80F0-4AD5-83A7-E7C013393A5C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9147" y="1805305"/>
            <a:ext cx="4687253" cy="3862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B1CB2916-73C1-492C-9BEA-B7CC80D44A03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59475" y="1805305"/>
            <a:ext cx="5527675" cy="3862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569F50E7-408C-476A-9E36-C0C55B9F591A}"/>
              </a:ext>
            </a:extLst>
          </p:cNvPr>
          <p:cNvSpPr/>
          <p:nvPr/>
        </p:nvSpPr>
        <p:spPr>
          <a:xfrm>
            <a:off x="2268591" y="1275157"/>
            <a:ext cx="2262713" cy="472998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上下等温线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2F456060-7C0B-47B2-97C0-293399C3AE4B}"/>
              </a:ext>
            </a:extLst>
          </p:cNvPr>
          <p:cNvSpPr/>
          <p:nvPr/>
        </p:nvSpPr>
        <p:spPr>
          <a:xfrm>
            <a:off x="8240766" y="1275157"/>
            <a:ext cx="2262713" cy="472998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中等温线</a:t>
            </a:r>
          </a:p>
        </p:txBody>
      </p:sp>
    </p:spTree>
    <p:extLst>
      <p:ext uri="{BB962C8B-B14F-4D97-AF65-F5344CB8AC3E}">
        <p14:creationId xmlns:p14="http://schemas.microsoft.com/office/powerpoint/2010/main" val="31844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3.4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差异介绍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951166B8-129D-4DD4-B2A0-4344D67ADCD0}"/>
              </a:ext>
            </a:extLst>
          </p:cNvPr>
          <p:cNvSpPr/>
          <p:nvPr/>
        </p:nvSpPr>
        <p:spPr>
          <a:xfrm>
            <a:off x="885493" y="866666"/>
            <a:ext cx="9090628" cy="1303995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一、分档方案</a:t>
            </a:r>
            <a:endParaRPr lang="en-US" altLang="zh-CN" b="1" dirty="0">
              <a:solidFill>
                <a:srgbClr val="C00000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探测器测温应用需要根据机器环境温度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/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焦温、测温范围、镜头类型等因素进行分档，与观瞄差异在于测温范围这个因素，如下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C400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产品的测温方案：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08AFD93A-8355-4F83-B154-D886D9026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686723"/>
              </p:ext>
            </p:extLst>
          </p:nvPr>
        </p:nvGraphicFramePr>
        <p:xfrm>
          <a:off x="1535079" y="2248788"/>
          <a:ext cx="8342344" cy="4165445"/>
        </p:xfrm>
        <a:graphic>
          <a:graphicData uri="http://schemas.openxmlformats.org/drawingml/2006/table">
            <a:tbl>
              <a:tblPr firstRow="1" firstCol="1" bandRow="1"/>
              <a:tblGrid>
                <a:gridCol w="949129">
                  <a:extLst>
                    <a:ext uri="{9D8B030D-6E8A-4147-A177-3AD203B41FA5}">
                      <a16:colId xmlns:a16="http://schemas.microsoft.com/office/drawing/2014/main" xmlns="" val="883442488"/>
                    </a:ext>
                  </a:extLst>
                </a:gridCol>
                <a:gridCol w="1448670">
                  <a:extLst>
                    <a:ext uri="{9D8B030D-6E8A-4147-A177-3AD203B41FA5}">
                      <a16:colId xmlns:a16="http://schemas.microsoft.com/office/drawing/2014/main" xmlns="" val="2597573305"/>
                    </a:ext>
                  </a:extLst>
                </a:gridCol>
                <a:gridCol w="1448670">
                  <a:extLst>
                    <a:ext uri="{9D8B030D-6E8A-4147-A177-3AD203B41FA5}">
                      <a16:colId xmlns:a16="http://schemas.microsoft.com/office/drawing/2014/main" xmlns="" val="1613100005"/>
                    </a:ext>
                  </a:extLst>
                </a:gridCol>
                <a:gridCol w="899175">
                  <a:extLst>
                    <a:ext uri="{9D8B030D-6E8A-4147-A177-3AD203B41FA5}">
                      <a16:colId xmlns:a16="http://schemas.microsoft.com/office/drawing/2014/main" xmlns="" val="1484999610"/>
                    </a:ext>
                  </a:extLst>
                </a:gridCol>
                <a:gridCol w="899175">
                  <a:extLst>
                    <a:ext uri="{9D8B030D-6E8A-4147-A177-3AD203B41FA5}">
                      <a16:colId xmlns:a16="http://schemas.microsoft.com/office/drawing/2014/main" xmlns="" val="3149911691"/>
                    </a:ext>
                  </a:extLst>
                </a:gridCol>
                <a:gridCol w="899175">
                  <a:extLst>
                    <a:ext uri="{9D8B030D-6E8A-4147-A177-3AD203B41FA5}">
                      <a16:colId xmlns:a16="http://schemas.microsoft.com/office/drawing/2014/main" xmlns="" val="2227367677"/>
                    </a:ext>
                  </a:extLst>
                </a:gridCol>
                <a:gridCol w="899175">
                  <a:extLst>
                    <a:ext uri="{9D8B030D-6E8A-4147-A177-3AD203B41FA5}">
                      <a16:colId xmlns:a16="http://schemas.microsoft.com/office/drawing/2014/main" xmlns="" val="3926432389"/>
                    </a:ext>
                  </a:extLst>
                </a:gridCol>
                <a:gridCol w="899175">
                  <a:extLst>
                    <a:ext uri="{9D8B030D-6E8A-4147-A177-3AD203B41FA5}">
                      <a16:colId xmlns:a16="http://schemas.microsoft.com/office/drawing/2014/main" xmlns="" val="2849957865"/>
                    </a:ext>
                  </a:extLst>
                </a:gridCol>
              </a:tblGrid>
              <a:tr h="459059"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环境温度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测温范围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AD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差值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镜头类型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FID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VSK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INT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备注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34956005"/>
                  </a:ext>
                </a:extLst>
              </a:tr>
              <a:tr h="231649">
                <a:tc rowSpan="7"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常温</a:t>
                      </a:r>
                      <a:endParaRPr lang="en-US" altLang="zh-CN" sz="1400" kern="100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/>
                      <a:r>
                        <a:rPr lang="en-US" alt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&gt;=20</a:t>
                      </a:r>
                      <a:r>
                        <a:rPr lang="zh-CN" alt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度</a:t>
                      </a:r>
                      <a:endParaRPr lang="zh-CN" sz="1400" kern="100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-20~150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40~150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黑体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差值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±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标准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882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147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VSK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范围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885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±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9300443"/>
                  </a:ext>
                </a:extLst>
              </a:tr>
              <a:tr h="231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广角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840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873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203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96486805"/>
                  </a:ext>
                </a:extLst>
              </a:tr>
              <a:tr h="231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长焦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840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873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200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9322590"/>
                  </a:ext>
                </a:extLst>
              </a:tr>
              <a:tr h="231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150~800</a:t>
                      </a:r>
                      <a:endParaRPr lang="zh-CN" sz="1400" kern="100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150~780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黑体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差值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11000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±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标准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495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740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52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VSK</a:t>
                      </a:r>
                      <a:r>
                        <a:rPr 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范围</a:t>
                      </a:r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735</a:t>
                      </a:r>
                      <a:r>
                        <a:rPr 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±</a:t>
                      </a:r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zh-CN" sz="1400" kern="100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0357402"/>
                  </a:ext>
                </a:extLst>
              </a:tr>
              <a:tr h="231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广角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540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740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62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29157726"/>
                  </a:ext>
                </a:extLst>
              </a:tr>
              <a:tr h="231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长焦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505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740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63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34450976"/>
                  </a:ext>
                </a:extLst>
              </a:tr>
              <a:tr h="4632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800~2000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780~1500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黑体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差值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4000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±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高温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735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156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08435528"/>
                  </a:ext>
                </a:extLst>
              </a:tr>
              <a:tr h="231649">
                <a:tc rowSpan="7">
                  <a:txBody>
                    <a:bodyPr/>
                    <a:lstStyle/>
                    <a:p>
                      <a:pPr algn="ctr"/>
                      <a:r>
                        <a:rPr 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低温</a:t>
                      </a:r>
                      <a:endParaRPr lang="en-US" altLang="zh-CN" sz="1400" kern="100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algn="ctr"/>
                      <a:r>
                        <a:rPr lang="en-US" alt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&lt;20</a:t>
                      </a:r>
                      <a:r>
                        <a:rPr lang="zh-CN" alt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度</a:t>
                      </a:r>
                      <a:endParaRPr lang="zh-CN" sz="1400" kern="100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-20~150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40~150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黑体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差值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±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标准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830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888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186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VSK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范围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885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±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50036249"/>
                  </a:ext>
                </a:extLst>
              </a:tr>
              <a:tr h="231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广角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830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893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255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17492323"/>
                  </a:ext>
                </a:extLst>
              </a:tr>
              <a:tr h="231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长焦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830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890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250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139046683"/>
                  </a:ext>
                </a:extLst>
              </a:tr>
              <a:tr h="231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150~800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150~780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黑体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差值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11000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±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标准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504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795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56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VSK</a:t>
                      </a:r>
                      <a:r>
                        <a:rPr 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范围</a:t>
                      </a:r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735</a:t>
                      </a:r>
                      <a:r>
                        <a:rPr lang="zh-CN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±</a:t>
                      </a:r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zh-CN" sz="1400" kern="100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583615432"/>
                  </a:ext>
                </a:extLst>
              </a:tr>
              <a:tr h="231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广角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500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745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77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32419624"/>
                  </a:ext>
                </a:extLst>
              </a:tr>
              <a:tr h="23164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长焦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500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73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74009683"/>
                  </a:ext>
                </a:extLst>
              </a:tr>
              <a:tr h="46329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800~2000</a:t>
                      </a:r>
                      <a:endParaRPr lang="zh-CN" sz="1400" kern="100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780~1500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黑体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差值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4000</a:t>
                      </a:r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±</a:t>
                      </a:r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高温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550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750</a:t>
                      </a:r>
                      <a:endParaRPr lang="zh-CN" sz="1400" kern="10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00" dirty="0">
                          <a:solidFill>
                            <a:schemeClr val="bg1">
                              <a:lumMod val="25000"/>
                            </a:schemeClr>
                          </a:solidFill>
                          <a:effectLst/>
                          <a:latin typeface="+mj-ea"/>
                          <a:ea typeface="+mj-ea"/>
                        </a:rPr>
                        <a:t>185</a:t>
                      </a:r>
                      <a:endParaRPr lang="zh-CN" sz="1400" kern="100" dirty="0">
                        <a:solidFill>
                          <a:schemeClr val="bg1">
                            <a:lumMod val="25000"/>
                          </a:schemeClr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4954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86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3.4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差异介绍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CE5C681C-59C9-4E3A-BB75-0BB185EDC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678873"/>
            <a:ext cx="8049209" cy="606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06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en-US" altLang="zh-CN" sz="2400" b="1" dirty="0" smtClean="0">
                <a:solidFill>
                  <a:schemeClr val="bg1"/>
                </a:solidFill>
                <a:latin typeface="+mn-ea"/>
                <a:sym typeface="+mn-ea"/>
              </a:rPr>
              <a:t>3.4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差异介绍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F95D065-4C42-49C0-8211-0E327F8B3D4A}"/>
              </a:ext>
            </a:extLst>
          </p:cNvPr>
          <p:cNvSpPr/>
          <p:nvPr/>
        </p:nvSpPr>
        <p:spPr>
          <a:xfrm>
            <a:off x="1063082" y="1530507"/>
            <a:ext cx="9090628" cy="3796985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二、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</a:rPr>
              <a:t>FPGA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与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</a:rPr>
              <a:t>ASIC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方案</a:t>
            </a:r>
            <a:endParaRPr lang="en-US" altLang="zh-CN" b="1" dirty="0">
              <a:solidFill>
                <a:srgbClr val="C00000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srgbClr val="484849"/>
                </a:solidFill>
                <a:latin typeface="微软雅黑" pitchFamily="34" charset="-122"/>
              </a:rPr>
              <a:t>测温成像需求：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红外实时图像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/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图片需要在红外分析软件上进行分析，需求要保持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</a:rPr>
              <a:t>成像效果的一致性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，分析软件使用的是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Y16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成像；</a:t>
            </a: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srgbClr val="484849"/>
                </a:solidFill>
                <a:latin typeface="微软雅黑" pitchFamily="34" charset="-122"/>
              </a:rPr>
              <a:t>方案说明：</a:t>
            </a:r>
            <a:endParaRPr lang="en-US" altLang="zh-CN" b="1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FPGA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方案为自研图像算法，能够移植到分析软件中使用，保持机芯输出的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Y8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成像和分析软件的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Y16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成像一致；</a:t>
            </a: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XSASIC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方案为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IC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自带的图像算法，无源处理算法模型，无法保证实时预览或图片在分析软件上成像的一致性；</a:t>
            </a: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srgbClr val="484849"/>
                </a:solidFill>
                <a:latin typeface="微软雅黑" pitchFamily="34" charset="-122"/>
              </a:rPr>
              <a:t>因此：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ZC16AB/17A/08B/ZU08D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前端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ASIC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只输出了</a:t>
            </a:r>
            <a:r>
              <a:rPr lang="en-US" altLang="zh-CN" dirty="0">
                <a:solidFill>
                  <a:srgbClr val="484849"/>
                </a:solidFill>
                <a:latin typeface="微软雅黑" pitchFamily="34" charset="-122"/>
              </a:rPr>
              <a:t>Y16+</a:t>
            </a:r>
            <a:r>
              <a:rPr lang="zh-CN" altLang="en-US" dirty="0">
                <a:solidFill>
                  <a:srgbClr val="484849"/>
                </a:solidFill>
                <a:latin typeface="微软雅黑" pitchFamily="34" charset="-122"/>
              </a:rPr>
              <a:t>参数行数据；</a:t>
            </a: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05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1"/>
          </p:cNvSpPr>
          <p:nvPr>
            <p:ph type="title"/>
          </p:nvPr>
        </p:nvSpPr>
        <p:spPr>
          <a:xfrm>
            <a:off x="426183" y="219"/>
            <a:ext cx="10364427" cy="563322"/>
          </a:xfrm>
        </p:spPr>
        <p:txBody>
          <a:bodyPr/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sym typeface="+mn-ea"/>
              </a:rPr>
              <a:t>四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sym typeface="+mn-ea"/>
              </a:rPr>
              <a:t>、差异介绍</a:t>
            </a:r>
            <a:endParaRPr lang="zh-CN" altLang="en-US" sz="2400" b="1" dirty="0" smtClean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C249931F-A795-4BC5-ABCF-73465BFA9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6174"/>
            <a:ext cx="11765817" cy="502159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xmlns="" id="{8F95D065-4C42-49C0-8211-0E327F8B3D4A}"/>
              </a:ext>
            </a:extLst>
          </p:cNvPr>
          <p:cNvSpPr/>
          <p:nvPr/>
        </p:nvSpPr>
        <p:spPr>
          <a:xfrm>
            <a:off x="346390" y="905511"/>
            <a:ext cx="9090628" cy="472998"/>
          </a:xfrm>
          <a:prstGeom prst="rect">
            <a:avLst/>
          </a:prstGeom>
          <a:noFill/>
        </p:spPr>
        <p:txBody>
          <a:bodyPr wrap="square" lIns="105394" tIns="52697" rIns="105394" bIns="52697" rtlCol="0"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三、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</a:rPr>
              <a:t>FPGA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与</a:t>
            </a:r>
            <a:r>
              <a:rPr lang="en-US" altLang="zh-CN" b="1" dirty="0">
                <a:solidFill>
                  <a:srgbClr val="C00000"/>
                </a:solidFill>
                <a:latin typeface="微软雅黑" pitchFamily="34" charset="-122"/>
              </a:rPr>
              <a:t>ASIC</a:t>
            </a:r>
            <a:r>
              <a:rPr lang="zh-CN" altLang="en-US" b="1" dirty="0">
                <a:solidFill>
                  <a:srgbClr val="C00000"/>
                </a:solidFill>
                <a:latin typeface="微软雅黑" pitchFamily="34" charset="-122"/>
              </a:rPr>
              <a:t>测温需求</a:t>
            </a:r>
            <a:endParaRPr lang="en-US" altLang="zh-CN" dirty="0">
              <a:solidFill>
                <a:srgbClr val="484849"/>
              </a:solidFill>
              <a:latin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204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240056" y="2183331"/>
            <a:ext cx="510845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1    </a:t>
            </a: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探测器响应率</a:t>
            </a: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调试</a:t>
            </a:r>
            <a:r>
              <a:rPr lang="zh-CN" altLang="en-US" sz="2400" noProof="1" smtClean="0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方法</a:t>
            </a:r>
            <a:endParaRPr lang="en-US" altLang="zh-CN" sz="2400" noProof="1" smtClean="0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400" noProof="1" smtClean="0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2    </a:t>
            </a:r>
            <a:r>
              <a:rPr lang="zh-CN" altLang="en-US" sz="24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测温应用算法</a:t>
            </a:r>
            <a:endParaRPr lang="en-US" altLang="zh-CN" sz="2400" noProof="1" smtClean="0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 smtClean="0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PART </a:t>
            </a:r>
            <a:r>
              <a:rPr lang="zh-CN" altLang="en-US" sz="2400" noProof="1">
                <a:solidFill>
                  <a:schemeClr val="bg1">
                    <a:lumMod val="75000"/>
                  </a:schemeClr>
                </a:solidFill>
                <a:latin typeface="+mn-ea"/>
                <a:sym typeface="+mn-ea"/>
              </a:rPr>
              <a:t>3    </a:t>
            </a:r>
            <a:r>
              <a:rPr lang="zh-CN" altLang="en-US" sz="24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前端机芯测温功能介绍</a:t>
            </a:r>
            <a:endParaRPr lang="en-US" altLang="zh-CN" sz="2400" noProof="1">
              <a:solidFill>
                <a:schemeClr val="bg1">
                  <a:lumMod val="75000"/>
                </a:schemeClr>
              </a:solidFill>
              <a:latin typeface="+mn-ea"/>
              <a:sym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 b="1" noProof="1">
                <a:solidFill>
                  <a:srgbClr val="C00000"/>
                </a:solidFill>
                <a:latin typeface="+mn-ea"/>
                <a:sym typeface="+mn-ea"/>
              </a:rPr>
              <a:t>PART </a:t>
            </a:r>
            <a:r>
              <a:rPr lang="en-US" altLang="zh-CN" sz="2400" b="1" noProof="1">
                <a:solidFill>
                  <a:srgbClr val="C00000"/>
                </a:solidFill>
                <a:latin typeface="+mn-ea"/>
                <a:sym typeface="+mn-ea"/>
              </a:rPr>
              <a:t>4   </a:t>
            </a:r>
            <a:r>
              <a:rPr lang="zh-CN" altLang="en-US" sz="2400" b="1" dirty="0" smtClean="0">
                <a:solidFill>
                  <a:srgbClr val="C00000"/>
                </a:solidFill>
                <a:latin typeface="+mn-ea"/>
              </a:rPr>
              <a:t>测温验收标准</a:t>
            </a:r>
            <a:endParaRPr lang="zh-CN" altLang="en-US" sz="2400" b="1" noProof="1">
              <a:solidFill>
                <a:srgbClr val="C00000"/>
              </a:solidFill>
              <a:latin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293021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4 </a:t>
            </a:r>
            <a:r>
              <a:rPr lang="zh-CN" altLang="en-US" b="1" dirty="0" smtClean="0"/>
              <a:t>测温</a:t>
            </a:r>
            <a:r>
              <a:rPr lang="zh-CN" altLang="en-US" b="1" dirty="0" smtClean="0"/>
              <a:t>验收标准</a:t>
            </a:r>
            <a:endParaRPr lang="zh-CN" altLang="en-US" b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280304" y="852923"/>
            <a:ext cx="1163984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C000"/>
                </a:solidFill>
              </a:rPr>
              <a:t>影响测温的功能点：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00B0F0"/>
                </a:solidFill>
              </a:rPr>
              <a:t>1</a:t>
            </a:r>
            <a:r>
              <a:rPr lang="zh-CN" altLang="en-US" sz="2000" dirty="0" smtClean="0">
                <a:solidFill>
                  <a:srgbClr val="00B0F0"/>
                </a:solidFill>
              </a:rPr>
              <a:t>、发射率</a:t>
            </a:r>
            <a:endParaRPr lang="en-US" altLang="zh-CN" sz="2000" dirty="0" smtClean="0">
              <a:solidFill>
                <a:srgbClr val="00B0F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</a:t>
            </a:r>
            <a:r>
              <a:rPr lang="zh-CN" altLang="zh-CN" sz="2000" dirty="0" smtClean="0"/>
              <a:t>发射率</a:t>
            </a:r>
            <a:r>
              <a:rPr lang="zh-CN" altLang="zh-CN" sz="2000" dirty="0"/>
              <a:t>作用在由温度反查得到的辐射量上。测试此参数前，可以先关闭发射率修正开关，观察目标温度：</a:t>
            </a:r>
            <a:r>
              <a:rPr lang="zh-CN" altLang="zh-CN" sz="2000" b="1" dirty="0"/>
              <a:t>当目标温度小于反射温度时，此时打开发射率修正开关，调大发射率，温度会上升，调低发射率，温度会下降；当目标温度大于反射温度时，此时打开发射率修正开关，调大发射率，温度会下降，调低发射率，温度会上升</a:t>
            </a:r>
            <a:r>
              <a:rPr lang="zh-CN" altLang="zh-CN" sz="2000" dirty="0"/>
              <a:t>；</a:t>
            </a:r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）</a:t>
            </a:r>
            <a:r>
              <a:rPr lang="zh-CN" altLang="zh-CN" sz="2000" dirty="0" smtClean="0"/>
              <a:t>室内测试</a:t>
            </a:r>
            <a:r>
              <a:rPr lang="zh-CN" altLang="zh-CN" sz="2000" dirty="0"/>
              <a:t>时选择一个较低温度目标（</a:t>
            </a:r>
            <a:r>
              <a:rPr lang="en-US" altLang="zh-CN" sz="2000" dirty="0"/>
              <a:t>20</a:t>
            </a:r>
            <a:r>
              <a:rPr lang="zh-CN" altLang="zh-CN" sz="2000" dirty="0"/>
              <a:t>℃以下）和一个高温目标（</a:t>
            </a:r>
            <a:r>
              <a:rPr lang="en-US" altLang="zh-CN" sz="2000" dirty="0"/>
              <a:t>50</a:t>
            </a:r>
            <a:r>
              <a:rPr lang="zh-CN" altLang="zh-CN" sz="2000" dirty="0"/>
              <a:t>℃以上）来测试。</a:t>
            </a:r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）</a:t>
            </a:r>
            <a:r>
              <a:rPr lang="zh-CN" altLang="zh-CN" sz="2000" dirty="0" smtClean="0"/>
              <a:t>测试</a:t>
            </a:r>
            <a:r>
              <a:rPr lang="zh-CN" altLang="zh-CN" sz="2000" dirty="0"/>
              <a:t>时，发射率不要设置的过小（如</a:t>
            </a:r>
            <a:r>
              <a:rPr lang="en-US" altLang="zh-CN" sz="2000" dirty="0"/>
              <a:t>0.01</a:t>
            </a:r>
            <a:r>
              <a:rPr lang="zh-CN" altLang="zh-CN" sz="2000" dirty="0"/>
              <a:t>），温度容易异常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B0F0"/>
                </a:solidFill>
              </a:rPr>
              <a:t>2</a:t>
            </a:r>
            <a:r>
              <a:rPr lang="zh-CN" altLang="en-US" sz="2000" dirty="0">
                <a:solidFill>
                  <a:srgbClr val="00B0F0"/>
                </a:solidFill>
              </a:rPr>
              <a:t>、透过率</a:t>
            </a:r>
            <a:endParaRPr lang="en-US" altLang="zh-CN" sz="20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B0F0"/>
                </a:solidFill>
              </a:rPr>
              <a:t>    </a:t>
            </a:r>
            <a:r>
              <a:rPr lang="zh-CN" altLang="zh-CN" sz="2000" dirty="0"/>
              <a:t>透过率作用在发射率上，因此温度变化规律同发射率。测试方式也同发射率测试</a:t>
            </a:r>
            <a:r>
              <a:rPr lang="zh-CN" altLang="zh-CN" sz="2000" dirty="0" smtClean="0"/>
              <a:t>。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4 </a:t>
            </a:r>
            <a:r>
              <a:rPr lang="zh-CN" altLang="en-US" b="1" dirty="0" smtClean="0"/>
              <a:t>测温</a:t>
            </a:r>
            <a:r>
              <a:rPr lang="zh-CN" altLang="en-US" b="1" dirty="0" smtClean="0"/>
              <a:t>验收标准</a:t>
            </a:r>
            <a:endParaRPr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280304" y="852923"/>
            <a:ext cx="1163984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C000"/>
                </a:solidFill>
              </a:rPr>
              <a:t>影响测温的功能点：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B0F0"/>
                </a:solidFill>
              </a:rPr>
              <a:t>3</a:t>
            </a:r>
            <a:r>
              <a:rPr lang="zh-CN" altLang="en-US" sz="2000" dirty="0" smtClean="0">
                <a:solidFill>
                  <a:srgbClr val="00B0F0"/>
                </a:solidFill>
              </a:rPr>
              <a:t>、距离</a:t>
            </a:r>
            <a:endParaRPr lang="en-US" altLang="zh-CN" sz="2000" dirty="0" smtClean="0">
              <a:solidFill>
                <a:srgbClr val="00B0F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</a:t>
            </a:r>
            <a:r>
              <a:rPr lang="zh-CN" altLang="zh-CN" sz="2000" dirty="0" smtClean="0"/>
              <a:t>距离</a:t>
            </a:r>
            <a:r>
              <a:rPr lang="zh-CN" altLang="zh-CN" sz="2000" dirty="0"/>
              <a:t>参数作用在温度上。测试此参数可以分为两种测试方法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lvl="0">
              <a:lnSpc>
                <a:spcPct val="150000"/>
              </a:lnSpc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</a:t>
            </a:r>
            <a:r>
              <a:rPr lang="zh-CN" altLang="zh-CN" sz="2000" dirty="0" smtClean="0"/>
              <a:t>设备不动，修改距离参数：当目标温度较低时（</a:t>
            </a:r>
            <a:r>
              <a:rPr lang="en-US" altLang="zh-CN" sz="2000" dirty="0" smtClean="0"/>
              <a:t>20</a:t>
            </a:r>
            <a:r>
              <a:rPr lang="zh-CN" altLang="zh-CN" sz="2000" dirty="0" smtClean="0"/>
              <a:t>℃以下），距离越远，温度越低</a:t>
            </a:r>
            <a:r>
              <a:rPr lang="zh-CN" altLang="zh-CN" sz="2000" dirty="0"/>
              <a:t>，距离越近，温度越高；当目标温度较高时（</a:t>
            </a:r>
            <a:r>
              <a:rPr lang="en-US" altLang="zh-CN" sz="2000" dirty="0"/>
              <a:t>50</a:t>
            </a:r>
            <a:r>
              <a:rPr lang="zh-CN" altLang="zh-CN" sz="2000" dirty="0"/>
              <a:t>℃以下上），距离越远，温度越高，</a:t>
            </a:r>
            <a:r>
              <a:rPr lang="zh-CN" altLang="zh-CN" sz="2000" dirty="0" smtClean="0"/>
              <a:t>距离越</a:t>
            </a:r>
            <a:r>
              <a:rPr lang="zh-CN" altLang="zh-CN" sz="2000" dirty="0"/>
              <a:t>近，温度越低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lvl="0">
              <a:lnSpc>
                <a:spcPct val="150000"/>
              </a:lnSpc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  </a:t>
            </a:r>
            <a:r>
              <a:rPr lang="zh-CN" altLang="zh-CN" sz="2000" dirty="0" smtClean="0"/>
              <a:t>设备</a:t>
            </a:r>
            <a:r>
              <a:rPr lang="zh-CN" altLang="zh-CN" sz="2000" dirty="0"/>
              <a:t>移动，距离参数不变：当目标温度较低时（</a:t>
            </a:r>
            <a:r>
              <a:rPr lang="en-US" altLang="zh-CN" sz="2000" dirty="0"/>
              <a:t>20</a:t>
            </a:r>
            <a:r>
              <a:rPr lang="zh-CN" altLang="zh-CN" sz="2000" dirty="0"/>
              <a:t>℃以下），设备距离目标越近，温度越低，设备距离目标越远，温度越高；当目标温度较高时（</a:t>
            </a:r>
            <a:r>
              <a:rPr lang="en-US" altLang="zh-CN" sz="2000" dirty="0"/>
              <a:t>50</a:t>
            </a:r>
            <a:r>
              <a:rPr lang="zh-CN" altLang="zh-CN" sz="2000" dirty="0"/>
              <a:t>℃以下上），设备距离目标越远，温度越低，设备距离目标越近，温度越高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）</a:t>
            </a:r>
            <a:r>
              <a:rPr lang="zh-CN" altLang="zh-CN" sz="2000" dirty="0" smtClean="0"/>
              <a:t>室内测试</a:t>
            </a:r>
            <a:r>
              <a:rPr lang="zh-CN" altLang="zh-CN" sz="2000" dirty="0"/>
              <a:t>时选择一个较低温度目标（</a:t>
            </a:r>
            <a:r>
              <a:rPr lang="en-US" altLang="zh-CN" sz="2000" dirty="0"/>
              <a:t>20</a:t>
            </a:r>
            <a:r>
              <a:rPr lang="zh-CN" altLang="zh-CN" sz="2000" dirty="0"/>
              <a:t>℃以下）和一个高温目标（</a:t>
            </a:r>
            <a:r>
              <a:rPr lang="en-US" altLang="zh-CN" sz="2000" dirty="0"/>
              <a:t>50</a:t>
            </a:r>
            <a:r>
              <a:rPr lang="zh-CN" altLang="zh-CN" sz="2000" dirty="0"/>
              <a:t>℃以上）来测试</a:t>
            </a:r>
            <a:r>
              <a:rPr lang="zh-CN" altLang="zh-CN" sz="2000" dirty="0" smtClean="0"/>
              <a:t>。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172035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4 </a:t>
            </a:r>
            <a:r>
              <a:rPr lang="zh-CN" altLang="en-US" b="1" dirty="0" smtClean="0"/>
              <a:t>测温</a:t>
            </a:r>
            <a:r>
              <a:rPr lang="zh-CN" altLang="en-US" b="1" dirty="0" smtClean="0"/>
              <a:t>验收标准</a:t>
            </a:r>
            <a:endParaRPr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299095" y="951776"/>
            <a:ext cx="106183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C000"/>
                </a:solidFill>
              </a:rPr>
              <a:t>影响测温的功能点：</a:t>
            </a:r>
            <a:endParaRPr lang="en-US" altLang="zh-CN" sz="2400" dirty="0" smtClean="0">
              <a:solidFill>
                <a:srgbClr val="FFC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00B0F0"/>
                </a:solidFill>
              </a:rPr>
              <a:t>4</a:t>
            </a:r>
            <a:r>
              <a:rPr lang="zh-CN" altLang="en-US" sz="2000" dirty="0" smtClean="0">
                <a:solidFill>
                  <a:srgbClr val="00B0F0"/>
                </a:solidFill>
              </a:rPr>
              <a:t>、反射温度</a:t>
            </a:r>
            <a:endParaRPr lang="en-US" altLang="zh-CN" sz="2000" dirty="0" smtClean="0">
              <a:solidFill>
                <a:srgbClr val="00B0F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</a:t>
            </a:r>
            <a:r>
              <a:rPr lang="zh-CN" altLang="zh-CN" sz="2000" dirty="0" smtClean="0"/>
              <a:t>当</a:t>
            </a:r>
            <a:r>
              <a:rPr lang="zh-CN" altLang="zh-CN" sz="2000" dirty="0"/>
              <a:t>发射率为</a:t>
            </a:r>
            <a:r>
              <a:rPr lang="en-US" altLang="zh-CN" sz="2000" dirty="0"/>
              <a:t>1</a:t>
            </a:r>
            <a:r>
              <a:rPr lang="zh-CN" altLang="zh-CN" sz="2000" dirty="0"/>
              <a:t>时，调整反射温度对温度不应该有</a:t>
            </a:r>
            <a:r>
              <a:rPr lang="zh-CN" altLang="zh-CN" sz="2000" dirty="0" smtClean="0"/>
              <a:t>影响</a:t>
            </a:r>
            <a:r>
              <a:rPr lang="zh-CN" altLang="en-US" sz="2000" dirty="0" smtClean="0"/>
              <a:t>。</a:t>
            </a:r>
            <a:endParaRPr lang="zh-CN" altLang="zh-CN" sz="2000" dirty="0"/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）</a:t>
            </a:r>
            <a:r>
              <a:rPr lang="zh-CN" altLang="zh-CN" sz="2000" dirty="0" smtClean="0"/>
              <a:t>反射</a:t>
            </a:r>
            <a:r>
              <a:rPr lang="zh-CN" altLang="zh-CN" sz="2000" dirty="0"/>
              <a:t>温度作用在辐射量上。当反射温度调大时，温度应该降低；当反射温度调小时，温度应该上升。</a:t>
            </a:r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/>
              <a:t>3</a:t>
            </a:r>
            <a:r>
              <a:rPr lang="zh-CN" altLang="en-US" sz="2000" dirty="0" smtClean="0"/>
              <a:t>）</a:t>
            </a:r>
            <a:r>
              <a:rPr lang="zh-CN" altLang="zh-CN" sz="2000" dirty="0" smtClean="0"/>
              <a:t>反射</a:t>
            </a:r>
            <a:r>
              <a:rPr lang="zh-CN" altLang="zh-CN" sz="2000" dirty="0"/>
              <a:t>温度设置过高时，温度容易异常，且手动调光也易异常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pPr lvl="0"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00B0F0"/>
                </a:solidFill>
              </a:rPr>
              <a:t>5</a:t>
            </a:r>
            <a:r>
              <a:rPr lang="zh-CN" altLang="en-US" sz="2000" dirty="0" smtClean="0">
                <a:solidFill>
                  <a:srgbClr val="00B0F0"/>
                </a:solidFill>
              </a:rPr>
              <a:t>、湿度</a:t>
            </a:r>
            <a:endParaRPr lang="en-US" altLang="zh-CN" sz="2000" dirty="0">
              <a:solidFill>
                <a:srgbClr val="00B0F0"/>
              </a:solidFill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</a:t>
            </a:r>
            <a:r>
              <a:rPr lang="zh-CN" altLang="zh-CN" sz="2000" dirty="0" smtClean="0"/>
              <a:t>湿度</a:t>
            </a:r>
            <a:r>
              <a:rPr lang="zh-CN" altLang="zh-CN" sz="2000" dirty="0"/>
              <a:t>作用在</a:t>
            </a:r>
            <a:r>
              <a:rPr lang="en-US" altLang="zh-CN" sz="2000" dirty="0"/>
              <a:t>Y16</a:t>
            </a:r>
            <a:r>
              <a:rPr lang="zh-CN" altLang="zh-CN" sz="2000" dirty="0"/>
              <a:t>上。当湿度调大时，温度应该降低；当湿度调小时，温度应该上升。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）</a:t>
            </a:r>
            <a:r>
              <a:rPr lang="zh-CN" altLang="zh-CN" sz="2000" dirty="0" smtClean="0"/>
              <a:t>湿度</a:t>
            </a:r>
            <a:r>
              <a:rPr lang="zh-CN" altLang="zh-CN" sz="2000" dirty="0"/>
              <a:t>对于温度的影响</a:t>
            </a:r>
            <a:r>
              <a:rPr lang="zh-CN" altLang="zh-CN" sz="2000" dirty="0" smtClean="0"/>
              <a:t>较小</a:t>
            </a:r>
            <a:r>
              <a:rPr lang="zh-CN" altLang="en-US" sz="2000" dirty="0" smtClean="0"/>
              <a:t>，</a:t>
            </a:r>
            <a:r>
              <a:rPr lang="zh-CN" altLang="zh-CN" sz="2000" dirty="0" smtClean="0"/>
              <a:t>基本</a:t>
            </a:r>
            <a:r>
              <a:rPr lang="zh-CN" altLang="zh-CN" sz="2000" dirty="0"/>
              <a:t>可以忽略不计。</a:t>
            </a:r>
          </a:p>
        </p:txBody>
      </p:sp>
    </p:spTree>
    <p:extLst>
      <p:ext uri="{BB962C8B-B14F-4D97-AF65-F5344CB8AC3E}">
        <p14:creationId xmlns:p14="http://schemas.microsoft.com/office/powerpoint/2010/main" val="1442221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4 </a:t>
            </a:r>
            <a:r>
              <a:rPr lang="zh-CN" altLang="en-US" b="1" dirty="0" smtClean="0"/>
              <a:t>测温</a:t>
            </a:r>
            <a:r>
              <a:rPr lang="zh-CN" altLang="en-US" b="1" dirty="0" smtClean="0"/>
              <a:t>验收标准</a:t>
            </a:r>
            <a:endParaRPr lang="zh-CN" altLang="en-US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901" y="634312"/>
            <a:ext cx="8460260" cy="614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412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4 </a:t>
            </a:r>
            <a:r>
              <a:rPr lang="zh-CN" altLang="en-US" b="1" dirty="0" smtClean="0"/>
              <a:t>测温</a:t>
            </a:r>
            <a:r>
              <a:rPr lang="zh-CN" altLang="en-US" b="1" dirty="0" smtClean="0"/>
              <a:t>验收标准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50" y="671110"/>
            <a:ext cx="8800160" cy="299371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439" y="3741753"/>
            <a:ext cx="8800160" cy="249601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69996" y="1072961"/>
            <a:ext cx="144623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测温档位</a:t>
            </a:r>
            <a:endParaRPr lang="en-US" altLang="zh-CN" sz="2000" dirty="0"/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-20~150</a:t>
            </a:r>
            <a:r>
              <a:rPr lang="zh-CN" altLang="en-US" sz="2000" dirty="0" smtClean="0"/>
              <a:t>℃</a:t>
            </a:r>
            <a:endParaRPr lang="en-US" altLang="zh-CN" sz="2000" dirty="0" smtClean="0"/>
          </a:p>
          <a:p>
            <a:r>
              <a:rPr lang="en-US" altLang="zh-CN" sz="2000" dirty="0" smtClean="0"/>
              <a:t>100~550</a:t>
            </a:r>
            <a:r>
              <a:rPr lang="zh-CN" altLang="en-US" sz="2000" dirty="0" smtClean="0"/>
              <a:t>℃</a:t>
            </a:r>
            <a:endParaRPr lang="en-US" altLang="zh-CN" sz="2000" dirty="0" smtClean="0"/>
          </a:p>
          <a:p>
            <a:r>
              <a:rPr lang="zh-CN" altLang="en-US" sz="2000" dirty="0" smtClean="0"/>
              <a:t>自动切档</a:t>
            </a:r>
            <a:endParaRPr lang="zh-CN" altLang="en-US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186994" y="3213779"/>
            <a:ext cx="236475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/>
              <a:t>±</a:t>
            </a:r>
            <a:r>
              <a:rPr lang="en-US" altLang="zh-CN" sz="2000" dirty="0"/>
              <a:t>2</a:t>
            </a:r>
            <a:r>
              <a:rPr lang="en-US" altLang="zh-CN" sz="2000" dirty="0" smtClean="0"/>
              <a:t>℃</a:t>
            </a:r>
            <a:r>
              <a:rPr lang="zh-CN" altLang="en-US" sz="2000" dirty="0" smtClean="0"/>
              <a:t>或</a:t>
            </a:r>
            <a:r>
              <a:rPr lang="en-US" altLang="zh-CN" sz="2000" dirty="0"/>
              <a:t>±2%</a:t>
            </a:r>
            <a:r>
              <a:rPr lang="zh-CN" altLang="en-US" sz="2000" dirty="0"/>
              <a:t>取大</a:t>
            </a:r>
            <a:r>
              <a:rPr lang="zh-CN" altLang="en-US" sz="2000" dirty="0" smtClean="0"/>
              <a:t>值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zh-CN" altLang="en-US" sz="2000" dirty="0"/>
              <a:t>以</a:t>
            </a:r>
            <a:r>
              <a:rPr lang="en-US" altLang="zh-CN" sz="2000" dirty="0" smtClean="0"/>
              <a:t>150</a:t>
            </a:r>
            <a:r>
              <a:rPr lang="zh-CN" altLang="en-US" sz="2000" dirty="0" smtClean="0"/>
              <a:t>℃为例</a:t>
            </a:r>
            <a:endParaRPr lang="en-US" altLang="zh-CN" sz="2000" dirty="0" smtClean="0"/>
          </a:p>
          <a:p>
            <a:r>
              <a:rPr lang="en-US" altLang="zh-CN" sz="2000" dirty="0" smtClean="0"/>
              <a:t>150+2=152</a:t>
            </a:r>
          </a:p>
          <a:p>
            <a:r>
              <a:rPr lang="en-US" altLang="zh-CN" sz="2000" dirty="0" smtClean="0"/>
              <a:t>150+150*0.02=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6700343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4 </a:t>
            </a:r>
            <a:r>
              <a:rPr lang="zh-CN" altLang="en-US" b="1" dirty="0" smtClean="0"/>
              <a:t>测温</a:t>
            </a:r>
            <a:r>
              <a:rPr lang="zh-CN" altLang="en-US" b="1" dirty="0" smtClean="0"/>
              <a:t>验收标准</a:t>
            </a:r>
            <a:endParaRPr lang="zh-CN" altLang="en-US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82"/>
          <a:stretch/>
        </p:blipFill>
        <p:spPr>
          <a:xfrm>
            <a:off x="2154549" y="743657"/>
            <a:ext cx="8622320" cy="244653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49" y="3441854"/>
            <a:ext cx="8635823" cy="293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1082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4 </a:t>
            </a:r>
            <a:r>
              <a:rPr lang="zh-CN" altLang="en-US" b="1" dirty="0" smtClean="0"/>
              <a:t>测温</a:t>
            </a:r>
            <a:r>
              <a:rPr lang="zh-CN" altLang="en-US" b="1" dirty="0" smtClean="0"/>
              <a:t>验收标准</a:t>
            </a:r>
            <a:endParaRPr lang="zh-CN" alt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2" y="589567"/>
            <a:ext cx="8277882" cy="552568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22" y="6156438"/>
            <a:ext cx="8277882" cy="63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132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4 </a:t>
            </a:r>
            <a:r>
              <a:rPr lang="zh-CN" altLang="en-US" b="1" dirty="0" smtClean="0"/>
              <a:t>测温</a:t>
            </a:r>
            <a:r>
              <a:rPr lang="zh-CN" altLang="en-US" b="1" dirty="0" smtClean="0"/>
              <a:t>验收标准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156" y="675502"/>
            <a:ext cx="3125124" cy="607082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397" y="675502"/>
            <a:ext cx="4732568" cy="607082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8436" y="1116073"/>
            <a:ext cx="13388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C000"/>
                </a:solidFill>
              </a:rPr>
              <a:t>调光功能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endParaRPr lang="en-US" altLang="zh-CN" dirty="0"/>
          </a:p>
          <a:p>
            <a:r>
              <a:rPr lang="zh-CN" altLang="en-US" dirty="0" smtClean="0"/>
              <a:t>自动调光</a:t>
            </a:r>
            <a:endParaRPr lang="en-US" altLang="zh-CN" dirty="0" smtClean="0"/>
          </a:p>
          <a:p>
            <a:r>
              <a:rPr lang="zh-CN" altLang="en-US" dirty="0" smtClean="0"/>
              <a:t>手动调光</a:t>
            </a:r>
            <a:endParaRPr lang="en-US" altLang="zh-CN" dirty="0" smtClean="0"/>
          </a:p>
          <a:p>
            <a:r>
              <a:rPr lang="zh-CN" altLang="en-US" dirty="0" smtClean="0"/>
              <a:t>半自动调光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2379926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chemeClr val="bg1"/>
                </a:solidFill>
                <a:latin typeface="+mn-ea"/>
              </a:rPr>
              <a:t>4 </a:t>
            </a:r>
            <a:r>
              <a:rPr lang="zh-CN" altLang="en-US" b="1" dirty="0" smtClean="0"/>
              <a:t>测温</a:t>
            </a:r>
            <a:r>
              <a:rPr lang="zh-CN" altLang="en-US" b="1" dirty="0" smtClean="0"/>
              <a:t>验收标准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158436" y="1116073"/>
            <a:ext cx="156966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等温线</a:t>
            </a:r>
            <a:r>
              <a:rPr lang="zh-CN" altLang="en-US" dirty="0" smtClean="0">
                <a:solidFill>
                  <a:srgbClr val="FFC000"/>
                </a:solidFill>
              </a:rPr>
              <a:t>功能</a:t>
            </a:r>
            <a:endParaRPr lang="en-US" altLang="zh-CN" dirty="0" smtClean="0">
              <a:solidFill>
                <a:srgbClr val="FFC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高</a:t>
            </a:r>
            <a:r>
              <a:rPr lang="zh-CN" altLang="en-US" dirty="0" smtClean="0"/>
              <a:t>等温线</a:t>
            </a:r>
            <a:endParaRPr lang="en-US" altLang="zh-CN" dirty="0" smtClean="0"/>
          </a:p>
          <a:p>
            <a:r>
              <a:rPr lang="zh-CN" altLang="en-US" dirty="0" smtClean="0"/>
              <a:t>低等温线</a:t>
            </a:r>
            <a:endParaRPr lang="en-US" altLang="zh-CN" dirty="0" smtClean="0"/>
          </a:p>
          <a:p>
            <a:r>
              <a:rPr lang="zh-CN" altLang="en-US" dirty="0" smtClean="0"/>
              <a:t>区间外等温线</a:t>
            </a:r>
            <a:endParaRPr lang="en-US" altLang="zh-CN" dirty="0" smtClean="0"/>
          </a:p>
          <a:p>
            <a:r>
              <a:rPr lang="zh-CN" altLang="en-US" dirty="0" smtClean="0"/>
              <a:t>区间内等温线</a:t>
            </a:r>
            <a:endParaRPr lang="en-US" altLang="zh-CN" dirty="0" smtClean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319" y="649245"/>
            <a:ext cx="7971181" cy="274009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320" y="3451655"/>
            <a:ext cx="7971181" cy="328689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36" y="3163055"/>
            <a:ext cx="3606256" cy="176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24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70" y="-7620"/>
            <a:ext cx="12219305" cy="68738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83773" y="2003796"/>
            <a:ext cx="6093984" cy="1134798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spAutoFit/>
          </a:bodyPr>
          <a:lstStyle/>
          <a:p>
            <a:r>
              <a:rPr lang="en-US" altLang="zh-CN" sz="677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Thanks!</a:t>
            </a:r>
            <a:endParaRPr lang="zh-CN" altLang="en-US" sz="677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513445" y="5995670"/>
            <a:ext cx="4060825" cy="403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1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武汉高德智感科技有限公司</a:t>
            </a:r>
          </a:p>
          <a:p>
            <a:r>
              <a:rPr lang="en-US" altLang="zh-CN" sz="101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Wuhan Guide Sensmart Tech Co.,Ltd.</a:t>
            </a:r>
            <a:endParaRPr lang="zh-CN" altLang="en-US" sz="101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513445" y="6399530"/>
            <a:ext cx="4262120" cy="403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1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湖北省武汉市东湖开发区光谷大道黄龙山南路</a:t>
            </a:r>
            <a:r>
              <a:rPr lang="en-US" altLang="zh-CN" sz="101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101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号，</a:t>
            </a:r>
            <a:r>
              <a:rPr lang="en-US" altLang="zh-CN" sz="101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430205</a:t>
            </a:r>
          </a:p>
          <a:p>
            <a:r>
              <a:rPr lang="en-US" altLang="zh-CN" sz="101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No.6 Huanglongshan South Rd,Wuhan,430205,P.R.China</a:t>
            </a:r>
            <a:endParaRPr lang="zh-CN" altLang="en-US" sz="101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 descr="图怪兽_0526f02e4e92e17b91dbbe6c86fefcd7_196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6045" y="-8255"/>
            <a:ext cx="5172710" cy="686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30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56400f6-bfd5-459c-a3f9-28c945937f3c"/>
  <p:tag name="COMMONDATA" val="eyJoZGlkIjoiODc2OTk0MjY3ODZjMjIxMzA4YjEyZTE4ZTNhZDVkYj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2755,&quot;width&quot;:22675.5559055118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default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571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可见光调试—202307010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4758</TotalTime>
  <Words>4255</Words>
  <Application>Microsoft Office PowerPoint</Application>
  <PresentationFormat>宽屏</PresentationFormat>
  <Paragraphs>417</Paragraphs>
  <Slides>58</Slides>
  <Notes>1</Notes>
  <HiddenSlides>0</HiddenSlides>
  <MMClips>1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0" baseType="lpstr">
      <vt:lpstr>Myriad Roman</vt:lpstr>
      <vt:lpstr>等线</vt:lpstr>
      <vt:lpstr>冬青黑体简体中文 W3</vt:lpstr>
      <vt:lpstr>宋体</vt:lpstr>
      <vt:lpstr>微软雅黑</vt:lpstr>
      <vt:lpstr>Arial</vt:lpstr>
      <vt:lpstr>Calibri</vt:lpstr>
      <vt:lpstr>Cambria Math</vt:lpstr>
      <vt:lpstr>Wingdings</vt:lpstr>
      <vt:lpstr>default</vt:lpstr>
      <vt:lpstr>可见光调试—202307010</vt:lpstr>
      <vt:lpstr>Visio</vt:lpstr>
      <vt:lpstr>PowerPoint 演示文稿</vt:lpstr>
      <vt:lpstr>PowerPoint 演示文稿</vt:lpstr>
      <vt:lpstr>PowerPoint 演示文稿</vt:lpstr>
      <vt:lpstr>1.1 响应率基本概念</vt:lpstr>
      <vt:lpstr>1.1 响应率基本概念</vt:lpstr>
      <vt:lpstr>1.1 响应率基本概念</vt:lpstr>
      <vt:lpstr>PowerPoint 演示文稿</vt:lpstr>
      <vt:lpstr>1.2 调节响应率参数</vt:lpstr>
      <vt:lpstr>1.2 调节响应率参数</vt:lpstr>
      <vt:lpstr>1.2 调节响应率参数—GAIN、GFID、INT</vt:lpstr>
      <vt:lpstr>1.2 调节响应率参数—RD/RC</vt:lpstr>
      <vt:lpstr>1.2 调节响应率参数—焦温</vt:lpstr>
      <vt:lpstr>1.2 调节响应率参数</vt:lpstr>
      <vt:lpstr>1.3 探测器参数调试</vt:lpstr>
      <vt:lpstr>1.3 探测器参数调试—黑体选择</vt:lpstr>
      <vt:lpstr>1.3 探测器参数调试—响应率确定</vt:lpstr>
      <vt:lpstr>1.3 探测器参数调试—探测器参数确定</vt:lpstr>
      <vt:lpstr>1.3 探测器参数调试—闭环范围</vt:lpstr>
      <vt:lpstr>1.4 响应率调试实例—GST612陶瓷探测器低温档位参数确认</vt:lpstr>
      <vt:lpstr>1.4 响应率调试实例—GST612陶瓷探测器高温档位参数确认</vt:lpstr>
      <vt:lpstr>1.4 响应率调试实例—响应率计算方法</vt:lpstr>
      <vt:lpstr>1.4 响应率调试实例—响应率计算方法</vt:lpstr>
      <vt:lpstr>1.4 响应率调试实例—ZC16A标准镜头和广角镜头响应率数据</vt:lpstr>
      <vt:lpstr>1.4 探测器参数调试—调试步骤总结</vt:lpstr>
      <vt:lpstr>PowerPoint 演示文稿</vt:lpstr>
      <vt:lpstr>2.1 测温应用算法</vt:lpstr>
      <vt:lpstr>2.2 测温应用算法—焦温档位划分</vt:lpstr>
      <vt:lpstr>2.3 测温应用算法—焦温档位划分</vt:lpstr>
      <vt:lpstr>2.4 测温应用算法—测温范围划分</vt:lpstr>
      <vt:lpstr>2.5 测温应用算法—自动切档</vt:lpstr>
      <vt:lpstr>2.6 测温应用算法—手动调光</vt:lpstr>
      <vt:lpstr>2.7 测温应用算法—镜头免校准测温</vt:lpstr>
      <vt:lpstr>2.8 测温应用算法—二次分析</vt:lpstr>
      <vt:lpstr>2.9 测温应用算法—二次焦温</vt:lpstr>
      <vt:lpstr>2.10 测温应用算法—温度矩阵</vt:lpstr>
      <vt:lpstr>PowerPoint 演示文稿</vt:lpstr>
      <vt:lpstr>3.1 系统框架</vt:lpstr>
      <vt:lpstr>3.1 系统框架</vt:lpstr>
      <vt:lpstr>3.2 算法流程</vt:lpstr>
      <vt:lpstr>3.3 基本功能</vt:lpstr>
      <vt:lpstr>3.3 基本功能</vt:lpstr>
      <vt:lpstr>3.3 基本功能</vt:lpstr>
      <vt:lpstr>3.3 基本功能</vt:lpstr>
      <vt:lpstr>3.4 差异介绍</vt:lpstr>
      <vt:lpstr>3.4 差异介绍</vt:lpstr>
      <vt:lpstr>3.4 差异介绍</vt:lpstr>
      <vt:lpstr>四、差异介绍</vt:lpstr>
      <vt:lpstr>PowerPoint 演示文稿</vt:lpstr>
      <vt:lpstr>4 测温验收标准</vt:lpstr>
      <vt:lpstr>4 测温验收标准</vt:lpstr>
      <vt:lpstr>4 测温验收标准</vt:lpstr>
      <vt:lpstr>4 测温验收标准</vt:lpstr>
      <vt:lpstr>4 测温验收标准</vt:lpstr>
      <vt:lpstr>4 测温验收标准</vt:lpstr>
      <vt:lpstr>4 测温验收标准</vt:lpstr>
      <vt:lpstr>4 测温验收标准</vt:lpstr>
      <vt:lpstr>4 测温验收标准</vt:lpstr>
      <vt:lpstr>PowerPoint 演示文稿</vt:lpstr>
    </vt:vector>
  </TitlesOfParts>
  <Company>SysCeo.com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崔红豆</dc:creator>
  <cp:lastModifiedBy>黄红</cp:lastModifiedBy>
  <cp:revision>695</cp:revision>
  <dcterms:created xsi:type="dcterms:W3CDTF">2022-12-21T00:54:00Z</dcterms:created>
  <dcterms:modified xsi:type="dcterms:W3CDTF">2023-09-05T12:52:50Z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6C12E01629CD467E905130C3FAA50FA3_13</vt:lpwstr>
  </property>
  <property fmtid="{D5CDD505-2E9C-101B-9397-08002B2CF9AE}" pid="3" name="KSOProductBuildVer">
    <vt:lpwstr>2052-11.1.0.10314</vt:lpwstr>
  </property>
</Properties>
</file>