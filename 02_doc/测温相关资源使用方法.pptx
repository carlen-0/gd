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8"/>
  </p:handoutMasterIdLst>
  <p:sldIdLst>
    <p:sldId id="365" r:id="rId4"/>
    <p:sldId id="257" r:id="rId6"/>
    <p:sldId id="581" r:id="rId7"/>
    <p:sldId id="591" r:id="rId8"/>
    <p:sldId id="592" r:id="rId9"/>
    <p:sldId id="594" r:id="rId10"/>
    <p:sldId id="595" r:id="rId11"/>
    <p:sldId id="596" r:id="rId12"/>
    <p:sldId id="597" r:id="rId13"/>
    <p:sldId id="598" r:id="rId14"/>
    <p:sldId id="601" r:id="rId15"/>
    <p:sldId id="600" r:id="rId16"/>
    <p:sldId id="602" r:id="rId17"/>
    <p:sldId id="603" r:id="rId18"/>
    <p:sldId id="604" r:id="rId19"/>
    <p:sldId id="606" r:id="rId20"/>
    <p:sldId id="607" r:id="rId21"/>
    <p:sldId id="608" r:id="rId22"/>
    <p:sldId id="609" r:id="rId23"/>
    <p:sldId id="610" r:id="rId24"/>
    <p:sldId id="611" r:id="rId25"/>
    <p:sldId id="612" r:id="rId26"/>
    <p:sldId id="549" r:id="rId27"/>
  </p:sldIdLst>
  <p:sldSz cx="12192000" cy="6858000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01my2" initials="1" lastIdx="2" clrIdx="0"/>
  <p:cmAuthor id="2" name="01177zp2" initials="0" lastIdx="1" clrIdx="1"/>
  <p:cmAuthor id="3" name="02081tyd" initials="0" lastIdx="1" clrIdx="2"/>
  <p:cmAuthor id="4" name="05621wzp-3" initials="0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DCDCDC"/>
    <a:srgbClr val="E6E6E6"/>
    <a:srgbClr val="EAEAEA"/>
    <a:srgbClr val="404040"/>
    <a:srgbClr val="CECECE"/>
    <a:srgbClr val="CCD0E0"/>
    <a:srgbClr val="363636"/>
    <a:srgbClr val="74309F"/>
    <a:srgbClr val="F0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-342" y="-90"/>
      </p:cViewPr>
      <p:guideLst>
        <p:guide orient="horz" pos="2253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5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z="141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z="165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z="165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z="1890" strike="noStrike" noProof="1" smtClean="0"/>
          </a:p>
          <a:p>
            <a:pPr lvl="1" fontAlgn="base"/>
            <a:r>
              <a:rPr lang="zh-CN" altLang="en-US" sz="1890" strike="noStrike" noProof="1" smtClean="0"/>
              <a:t>第二级</a:t>
            </a:r>
            <a:endParaRPr lang="zh-CN" altLang="en-US" sz="1890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z="1890" strike="noStrike" noProof="1" smtClean="0"/>
          </a:p>
          <a:p>
            <a:pPr lvl="3" fontAlgn="base"/>
            <a:r>
              <a:rPr lang="zh-CN" altLang="en-US" sz="1890" strike="noStrike" noProof="1" smtClean="0"/>
              <a:t>第四级</a:t>
            </a:r>
            <a:endParaRPr lang="zh-CN" altLang="en-US" sz="1890" strike="noStrike" noProof="1" smtClean="0"/>
          </a:p>
          <a:p>
            <a:pPr lvl="4" fontAlgn="base"/>
            <a:r>
              <a:rPr lang="zh-CN" altLang="en-US" sz="189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z="94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r>
              <a:rPr lang="zh-CN" altLang="en-US" strike="noStrike" noProof="1" smtClean="0"/>
              <a:t>单击图标添加图片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z="1180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65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41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18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18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jpeg"/><Relationship Id="rId8" Type="http://schemas.openxmlformats.org/officeDocument/2006/relationships/image" Target="../media/image36.jpeg"/><Relationship Id="rId7" Type="http://schemas.openxmlformats.org/officeDocument/2006/relationships/image" Target="../media/image35.jpeg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0.jpeg"/><Relationship Id="rId11" Type="http://schemas.openxmlformats.org/officeDocument/2006/relationships/image" Target="../media/image39.jpeg"/><Relationship Id="rId10" Type="http://schemas.openxmlformats.org/officeDocument/2006/relationships/image" Target="../media/image38.jpeg"/><Relationship Id="rId1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jpeg"/><Relationship Id="rId8" Type="http://schemas.openxmlformats.org/officeDocument/2006/relationships/image" Target="../media/image51.jpeg"/><Relationship Id="rId7" Type="http://schemas.openxmlformats.org/officeDocument/2006/relationships/image" Target="../media/image50.jpeg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4.xml"/><Relationship Id="rId2" Type="http://schemas.openxmlformats.org/officeDocument/2006/relationships/image" Target="../media/image53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235" y="635"/>
            <a:ext cx="6673215" cy="6857365"/>
          </a:xfrm>
          <a:prstGeom prst="rect">
            <a:avLst/>
          </a:prstGeom>
          <a:blipFill rotWithShape="1">
            <a:blip r:embed="rId1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2122765" y="2492375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测温相关资源使用方法</a:t>
            </a:r>
            <a:endParaRPr lang="zh-CN" altLang="en-US" sz="4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5795" y="17780"/>
            <a:ext cx="6607175" cy="6802755"/>
          </a:xfrm>
          <a:prstGeom prst="rect">
            <a:avLst/>
          </a:prstGeom>
        </p:spPr>
      </p:pic>
      <p:sp>
        <p:nvSpPr>
          <p:cNvPr id="5123" name="文本框 3"/>
          <p:cNvSpPr txBox="1"/>
          <p:nvPr/>
        </p:nvSpPr>
        <p:spPr>
          <a:xfrm>
            <a:off x="552098" y="171450"/>
            <a:ext cx="1820862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791582" y="1701314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5126" name="文本框 3"/>
          <p:cNvSpPr txBox="1"/>
          <p:nvPr/>
        </p:nvSpPr>
        <p:spPr>
          <a:xfrm>
            <a:off x="3937315" y="1772752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57090" y="1803388"/>
            <a:ext cx="28779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黑体</a:t>
            </a:r>
            <a:endParaRPr lang="zh-CN" altLang="en-US" sz="2400" b="1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+mn-ea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42434" y="2925976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sz="2400" dirty="0">
                <a:solidFill>
                  <a:schemeClr val="bg1"/>
                </a:solidFill>
              </a:rPr>
              <a:t>点温枪</a:t>
            </a:r>
            <a:endParaRPr lang="zh-CN" sz="24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63921" y="432771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高低温房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76549" y="5695116"/>
            <a:ext cx="4308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注意事项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-58420"/>
            <a:ext cx="1499235" cy="1351280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4584224" y="2847236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7" name="文本框 3"/>
          <p:cNvSpPr txBox="1"/>
          <p:nvPr/>
        </p:nvSpPr>
        <p:spPr>
          <a:xfrm>
            <a:off x="4729322" y="2891369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70465" y="4221356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9" name="文本框 3"/>
          <p:cNvSpPr txBox="1"/>
          <p:nvPr/>
        </p:nvSpPr>
        <p:spPr>
          <a:xfrm>
            <a:off x="5039693" y="4293429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584094" y="5589389"/>
            <a:ext cx="641985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3" name="文本框 3"/>
          <p:cNvSpPr txBox="1"/>
          <p:nvPr/>
        </p:nvSpPr>
        <p:spPr>
          <a:xfrm>
            <a:off x="4728239" y="5664319"/>
            <a:ext cx="365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2568248" y="837160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5" name="文本框 3"/>
          <p:cNvSpPr txBox="1"/>
          <p:nvPr/>
        </p:nvSpPr>
        <p:spPr>
          <a:xfrm>
            <a:off x="2712076" y="911773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8"/>
          <p:cNvSpPr txBox="1"/>
          <p:nvPr/>
        </p:nvSpPr>
        <p:spPr>
          <a:xfrm>
            <a:off x="3576320" y="911860"/>
            <a:ext cx="2821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测温相关资源介绍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一、测温相关资源 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1270" y="1521460"/>
            <a:ext cx="1242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黑体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5448935" y="1521460"/>
            <a:ext cx="145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点温枪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9840595" y="1521460"/>
            <a:ext cx="145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高低温房</a:t>
            </a:r>
            <a:endParaRPr lang="zh-CN" altLang="en-US" sz="240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7915" y="2276882"/>
            <a:ext cx="2613376" cy="3427448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3215323" y="2636838"/>
            <a:ext cx="5267325" cy="2524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75" y="2421255"/>
            <a:ext cx="3207385" cy="28943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380" y="987425"/>
            <a:ext cx="115042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黑体：</a:t>
            </a:r>
            <a:r>
              <a:rPr lang="zh-CN" altLang="en-US" sz="2400" dirty="0" smtClean="0">
                <a:sym typeface="+mn-ea"/>
              </a:rPr>
              <a:t>黑体是一个能够吸收外来的全部电磁辐射，并且不会有任何反射与透射的物体。</a:t>
            </a:r>
            <a:endParaRPr lang="en-US" altLang="zh-CN" sz="2400" dirty="0" smtClean="0"/>
          </a:p>
          <a:p>
            <a:r>
              <a:rPr lang="en-US" altLang="zh-CN" sz="2400" dirty="0" smtClean="0">
                <a:sym typeface="+mn-ea"/>
              </a:rPr>
              <a:t>	</a:t>
            </a:r>
            <a:r>
              <a:rPr lang="zh-CN" altLang="en-US" sz="2400" dirty="0" smtClean="0">
                <a:sym typeface="+mn-ea"/>
              </a:rPr>
              <a:t>我们使用的称作“黑体“的物品为精确红外校准器</a:t>
            </a:r>
            <a:endParaRPr lang="zh-CN" altLang="en-US" sz="2400" dirty="0"/>
          </a:p>
          <a:p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373380" y="2348865"/>
            <a:ext cx="7764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我司</a:t>
            </a:r>
            <a:r>
              <a:rPr lang="zh-CN" altLang="en-US" sz="2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常用的“黑体”为</a:t>
            </a:r>
            <a:r>
              <a:rPr lang="en-US" altLang="zh-CN" sz="2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FLUKE</a:t>
            </a:r>
            <a:r>
              <a:rPr lang="zh-CN" altLang="en-US" sz="2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zh-CN" sz="2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KELVIN</a:t>
            </a:r>
            <a:r>
              <a:rPr lang="zh-CN" altLang="en-US" sz="2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两个品牌。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605" y="2997200"/>
            <a:ext cx="2298065" cy="29984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23795" y="6237605"/>
            <a:ext cx="221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宋体" panose="02010600030101010101" pitchFamily="2" charset="-122"/>
              </a:rPr>
              <a:t>FLUKE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72580" y="6233795"/>
            <a:ext cx="221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宋体" panose="02010600030101010101" pitchFamily="2" charset="-122"/>
              </a:rPr>
              <a:t>KELVIN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5664200" y="2798763"/>
            <a:ext cx="2952750" cy="343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380" y="981075"/>
            <a:ext cx="65709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FLUKE</a:t>
            </a:r>
            <a:r>
              <a:rPr lang="zh-CN" altLang="en-US" sz="2400"/>
              <a:t>黑体：精度高，温度稳定快，</a:t>
            </a:r>
            <a:r>
              <a:rPr lang="zh-CN" altLang="en-US" sz="2400">
                <a:solidFill>
                  <a:srgbClr val="FF0000"/>
                </a:solidFill>
              </a:rPr>
              <a:t>发射率可调</a:t>
            </a:r>
            <a:r>
              <a:rPr lang="zh-CN" altLang="en-US" sz="2400"/>
              <a:t>，价格相对更高，优先用于人体测温产品及模组数据采集。根据温度设置范围不同可分为</a:t>
            </a:r>
            <a:r>
              <a:rPr lang="en-US" altLang="zh-CN" sz="2400"/>
              <a:t>4180</a:t>
            </a:r>
            <a:r>
              <a:rPr lang="zh-CN" altLang="en-US" sz="2400"/>
              <a:t>和</a:t>
            </a:r>
            <a:r>
              <a:rPr lang="en-US" altLang="zh-CN" sz="2400"/>
              <a:t>4181</a:t>
            </a:r>
            <a:r>
              <a:rPr lang="zh-CN" altLang="en-US" sz="2400"/>
              <a:t>两种型号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373380" y="4869180"/>
            <a:ext cx="60896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FLUKE 4181黑体</a:t>
            </a:r>
            <a:r>
              <a:rPr lang="zh-CN" altLang="en-US" sz="2400"/>
              <a:t>：温度设置范围</a:t>
            </a:r>
            <a:r>
              <a:rPr lang="zh-CN" altLang="en-US" sz="2400">
                <a:solidFill>
                  <a:srgbClr val="FF0000"/>
                </a:solidFill>
              </a:rPr>
              <a:t>35℃至500℃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3380" y="3141345"/>
            <a:ext cx="6214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FLUKE4180黑体</a:t>
            </a:r>
            <a:r>
              <a:rPr lang="zh-CN" altLang="en-US" sz="2400"/>
              <a:t>：温度设置范围</a:t>
            </a:r>
            <a:r>
              <a:rPr lang="zh-CN" altLang="en-US" sz="2400">
                <a:solidFill>
                  <a:srgbClr val="FF0000"/>
                </a:solidFill>
              </a:rPr>
              <a:t>-15℃至120℃。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080" y="692583"/>
            <a:ext cx="5261741" cy="60289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70" y="2997344"/>
            <a:ext cx="3913496" cy="36247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747" y="2925072"/>
            <a:ext cx="3912444" cy="365958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35915" y="1052830"/>
            <a:ext cx="53555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/>
              <a:t>4180黑体靶面相对更加细腻，偏光滑，出风口在两侧，靶面无缝隙密封防水汽。</a:t>
            </a:r>
            <a:endParaRPr sz="2400"/>
          </a:p>
        </p:txBody>
      </p:sp>
      <p:sp>
        <p:nvSpPr>
          <p:cNvPr id="10" name="文本框 9"/>
          <p:cNvSpPr txBox="1"/>
          <p:nvPr/>
        </p:nvSpPr>
        <p:spPr>
          <a:xfrm>
            <a:off x="6240145" y="765175"/>
            <a:ext cx="535559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/>
              <a:t>4181黑体靶面相对更加粗糙，出风口在靶面间隙处。所以常见模组K数据采集时高温黑体建议选用4181型号黑体，靶面粗糙，减少高温反射带来的成像黑影异常</a:t>
            </a:r>
            <a:endParaRPr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1052830"/>
            <a:ext cx="10681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	</a:t>
            </a:r>
            <a:endParaRPr lang="zh-CN" altLang="en-US" sz="2400"/>
          </a:p>
          <a:p>
            <a:endParaRPr lang="en-US" altLang="zh-CN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945" y="1413158"/>
            <a:ext cx="5576920" cy="19442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70560"/>
            <a:ext cx="3717290" cy="645160"/>
          </a:xfrm>
          <a:prstGeom prst="rect">
            <a:avLst/>
          </a:prstGeom>
        </p:spPr>
        <p:txBody>
          <a:bodyPr wrap="square">
            <a:spAutoFit/>
          </a:bodyPr>
          <a:p>
            <a:pPr indent="360680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en-US" altLang="zh-CN" sz="2400" b="1" dirty="0" smtClean="0">
                <a:latin typeface="+mn-ea"/>
              </a:rPr>
              <a:t>FLUKE</a:t>
            </a:r>
            <a:r>
              <a:rPr lang="zh-CN" altLang="en-US" sz="2400" b="1" dirty="0" smtClean="0">
                <a:latin typeface="+mn-ea"/>
              </a:rPr>
              <a:t>黑体显示面板</a:t>
            </a:r>
            <a:endParaRPr lang="en-US" altLang="zh-CN" sz="2400" b="1" dirty="0" smtClean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1" y="3501390"/>
            <a:ext cx="5714189" cy="29664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692609"/>
            <a:ext cx="5792945" cy="603796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1052830"/>
            <a:ext cx="10681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	</a:t>
            </a:r>
            <a:endParaRPr lang="zh-CN" altLang="en-US" sz="2400"/>
          </a:p>
          <a:p>
            <a:endParaRPr lang="en-US" altLang="zh-CN" sz="2400"/>
          </a:p>
        </p:txBody>
      </p:sp>
      <p:sp>
        <p:nvSpPr>
          <p:cNvPr id="7" name="矩形 6"/>
          <p:cNvSpPr/>
          <p:nvPr/>
        </p:nvSpPr>
        <p:spPr>
          <a:xfrm>
            <a:off x="47383" y="692959"/>
            <a:ext cx="3049681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60680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en-US" altLang="zh-CN" sz="2400" b="1" dirty="0" smtClean="0">
                <a:latin typeface="+mn-ea"/>
              </a:rPr>
              <a:t>FLUKE</a:t>
            </a:r>
            <a:r>
              <a:rPr lang="zh-CN" altLang="en-US" sz="2400" b="1" dirty="0" smtClean="0">
                <a:latin typeface="+mn-ea"/>
              </a:rPr>
              <a:t>黑体显示屏</a:t>
            </a:r>
            <a:endParaRPr lang="en-US" altLang="zh-CN" sz="2400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871" y="1196757"/>
            <a:ext cx="3852452" cy="28329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10258" b="61585"/>
          <a:stretch>
            <a:fillRect/>
          </a:stretch>
        </p:blipFill>
        <p:spPr>
          <a:xfrm>
            <a:off x="335871" y="4029422"/>
            <a:ext cx="5376567" cy="26981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t="38499"/>
          <a:stretch>
            <a:fillRect/>
          </a:stretch>
        </p:blipFill>
        <p:spPr>
          <a:xfrm>
            <a:off x="5088423" y="1197005"/>
            <a:ext cx="6659885" cy="506124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1052830"/>
            <a:ext cx="10681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	</a:t>
            </a:r>
            <a:endParaRPr lang="zh-CN" altLang="en-US" sz="2400"/>
          </a:p>
          <a:p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35915" y="1412875"/>
            <a:ext cx="109740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FLUKE</a:t>
            </a:r>
            <a:r>
              <a:rPr lang="zh-CN" altLang="en-US" sz="2400"/>
              <a:t>黑体常用功能</a:t>
            </a:r>
            <a:endParaRPr lang="zh-CN" altLang="en-US" sz="2400"/>
          </a:p>
          <a:p>
            <a:r>
              <a:rPr lang="en-US" altLang="zh-CN" sz="2400"/>
              <a:t>    1</a:t>
            </a:r>
            <a:r>
              <a:rPr lang="zh-CN" altLang="en-US" sz="2400"/>
              <a:t>、开启黑体：打开黑体背部开关，依次按</a:t>
            </a:r>
            <a:r>
              <a:rPr lang="en-US" altLang="zh-CN" sz="2400"/>
              <a:t>Set-&gt;Enter</a:t>
            </a:r>
            <a:r>
              <a:rPr lang="zh-CN" altLang="en-US" sz="2400"/>
              <a:t>进入温度设置，上下键设置好的温度后，</a:t>
            </a:r>
            <a:r>
              <a:rPr lang="en-US" altLang="zh-CN" sz="2400"/>
              <a:t>Enter</a:t>
            </a:r>
            <a:r>
              <a:rPr lang="zh-CN" altLang="en-US" sz="2400"/>
              <a:t>确认</a:t>
            </a:r>
            <a:endParaRPr lang="zh-CN" altLang="en-US" sz="2400"/>
          </a:p>
          <a:p>
            <a:r>
              <a:rPr lang="en-US" altLang="zh-CN" sz="2400"/>
              <a:t>    2</a:t>
            </a:r>
            <a:r>
              <a:rPr lang="zh-CN" altLang="en-US" sz="2400"/>
              <a:t>、设置发射率：</a:t>
            </a:r>
            <a:r>
              <a:rPr lang="zh-CN" altLang="en-US" sz="2400">
                <a:sym typeface="+mn-ea"/>
              </a:rPr>
              <a:t>依次按</a:t>
            </a:r>
            <a:r>
              <a:rPr lang="en-US" altLang="zh-CN" sz="2400"/>
              <a:t>Menu-&gt;F1-&gt;F2</a:t>
            </a:r>
            <a:r>
              <a:rPr lang="zh-CN" altLang="en-US" sz="2400"/>
              <a:t>进入发射率设置界面，修改好发射率后</a:t>
            </a:r>
            <a:r>
              <a:rPr lang="en-US" altLang="zh-CN" sz="2400"/>
              <a:t>Enter</a:t>
            </a:r>
            <a:r>
              <a:rPr lang="zh-CN" altLang="en-US" sz="2400"/>
              <a:t>确认</a:t>
            </a:r>
            <a:endParaRPr lang="zh-CN" altLang="en-US" sz="2400"/>
          </a:p>
          <a:p>
            <a:r>
              <a:rPr lang="en-US" altLang="zh-CN" sz="2400"/>
              <a:t>    3</a:t>
            </a:r>
            <a:r>
              <a:rPr lang="zh-CN" altLang="en-US" sz="2400"/>
              <a:t>、黑体降温：</a:t>
            </a:r>
            <a:r>
              <a:rPr lang="zh-CN" altLang="en-US" sz="2400">
                <a:sym typeface="+mn-ea"/>
              </a:rPr>
              <a:t>依次按</a:t>
            </a:r>
            <a:r>
              <a:rPr lang="en-US" altLang="zh-CN" sz="2400"/>
              <a:t>Set-&gt;F4</a:t>
            </a:r>
            <a:r>
              <a:rPr lang="zh-CN" altLang="en-US" sz="2400"/>
              <a:t>使黑体自然降温，</a:t>
            </a:r>
            <a:r>
              <a:rPr lang="zh-CN" altLang="en-US" sz="2400">
                <a:solidFill>
                  <a:srgbClr val="FF0000"/>
                </a:solidFill>
              </a:rPr>
              <a:t>不可直接关闭黑体或断电</a:t>
            </a:r>
            <a:endParaRPr lang="zh-CN" altLang="en-US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    </a:t>
            </a:r>
            <a:r>
              <a:rPr lang="en-US" altLang="zh-CN" sz="2400">
                <a:solidFill>
                  <a:schemeClr val="tx1"/>
                </a:solidFill>
              </a:rPr>
              <a:t>4</a:t>
            </a:r>
            <a:r>
              <a:rPr lang="zh-CN" altLang="en-US" sz="2400">
                <a:solidFill>
                  <a:schemeClr val="tx1"/>
                </a:solidFill>
              </a:rPr>
              <a:t>、关闭黑体：等待黑体降温至</a:t>
            </a:r>
            <a:r>
              <a:rPr lang="en-US" altLang="zh-CN" sz="2400">
                <a:solidFill>
                  <a:schemeClr val="tx1"/>
                </a:solidFill>
              </a:rPr>
              <a:t>40℃</a:t>
            </a:r>
            <a:r>
              <a:rPr lang="zh-CN" altLang="en-US" sz="2400">
                <a:solidFill>
                  <a:schemeClr val="tx1"/>
                </a:solidFill>
              </a:rPr>
              <a:t>，指示灯熄灭后才可关闭黑体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670" y="764540"/>
            <a:ext cx="10681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 smtClean="0">
                <a:sym typeface="+mn-ea"/>
              </a:rPr>
              <a:t>KELVIN</a:t>
            </a:r>
            <a:r>
              <a:rPr lang="zh-CN" altLang="en-US" sz="2400" dirty="0" smtClean="0">
                <a:sym typeface="+mn-ea"/>
              </a:rPr>
              <a:t>黑体：相对精度较低，温度稳定时间较长，有效</a:t>
            </a:r>
            <a:r>
              <a:rPr lang="zh-CN" altLang="en-US" sz="2400" dirty="0" smtClean="0">
                <a:solidFill>
                  <a:srgbClr val="FF0000"/>
                </a:solidFill>
                <a:sym typeface="+mn-ea"/>
              </a:rPr>
              <a:t>发射率不可调</a:t>
            </a:r>
            <a:r>
              <a:rPr lang="zh-CN" altLang="en-US" sz="2400" dirty="0" smtClean="0">
                <a:sym typeface="+mn-ea"/>
              </a:rPr>
              <a:t>，价格较</a:t>
            </a:r>
            <a:r>
              <a:rPr lang="en-US" altLang="zh-CN" sz="2400" dirty="0" smtClean="0">
                <a:sym typeface="+mn-ea"/>
              </a:rPr>
              <a:t>FLUKE</a:t>
            </a:r>
            <a:r>
              <a:rPr lang="zh-CN" altLang="en-US" sz="2400" dirty="0" smtClean="0">
                <a:sym typeface="+mn-ea"/>
              </a:rPr>
              <a:t>低，无特殊精度要求的工业测温产品使用较多。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4028" r="1649"/>
          <a:stretch>
            <a:fillRect/>
          </a:stretch>
        </p:blipFill>
        <p:spPr>
          <a:xfrm>
            <a:off x="839659" y="1628882"/>
            <a:ext cx="3888433" cy="4208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5" y="1594585"/>
            <a:ext cx="3819281" cy="42084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960" y="5838825"/>
            <a:ext cx="66490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低温黑体</a:t>
            </a:r>
            <a:endParaRPr lang="en-US" altLang="zh-CN" sz="2000" dirty="0" smtClean="0"/>
          </a:p>
          <a:p>
            <a:r>
              <a:rPr lang="zh-CN" altLang="en-US" sz="2000" dirty="0" smtClean="0"/>
              <a:t>工作温度：</a:t>
            </a:r>
            <a:r>
              <a:rPr lang="en-US" altLang="zh-CN" sz="2000" dirty="0" smtClean="0"/>
              <a:t>0~60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zh-CN" altLang="en-US" sz="2000" dirty="0" smtClean="0"/>
              <a:t>环境温度：</a:t>
            </a:r>
            <a:r>
              <a:rPr lang="en-US" altLang="zh-CN" sz="2000" dirty="0" smtClean="0"/>
              <a:t>0~50</a:t>
            </a:r>
            <a:r>
              <a:rPr lang="zh-CN" altLang="en-US" sz="2000" dirty="0" smtClean="0"/>
              <a:t>℃（低温工作时环温≤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℃）</a:t>
            </a:r>
            <a:endParaRPr lang="en-US" altLang="zh-C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952242" y="5803240"/>
            <a:ext cx="309634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中温黑体</a:t>
            </a:r>
            <a:endParaRPr lang="en-US" altLang="zh-CN" sz="2000" dirty="0" smtClean="0"/>
          </a:p>
          <a:p>
            <a:r>
              <a:rPr lang="zh-CN" altLang="en-US" sz="2000" dirty="0" smtClean="0"/>
              <a:t>工作温度：</a:t>
            </a:r>
            <a:r>
              <a:rPr lang="en-US" altLang="zh-CN" sz="2000" dirty="0" smtClean="0"/>
              <a:t>5~400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zh-CN" altLang="en-US" sz="2000" dirty="0" smtClean="0"/>
              <a:t>环境温度：</a:t>
            </a:r>
            <a:r>
              <a:rPr lang="en-US" altLang="zh-CN" sz="2000" dirty="0" smtClean="0"/>
              <a:t>0~50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</p:txBody>
      </p:sp>
      <p:sp>
        <p:nvSpPr>
          <p:cNvPr id="10" name="TextBox 7"/>
          <p:cNvSpPr txBox="1"/>
          <p:nvPr/>
        </p:nvSpPr>
        <p:spPr>
          <a:xfrm>
            <a:off x="8616151" y="5803240"/>
            <a:ext cx="309634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高温黑体</a:t>
            </a:r>
            <a:endParaRPr lang="en-US" altLang="zh-CN" sz="2000" dirty="0" smtClean="0"/>
          </a:p>
          <a:p>
            <a:r>
              <a:rPr lang="zh-CN" altLang="en-US" sz="2000" dirty="0" smtClean="0"/>
              <a:t>工作温度：</a:t>
            </a:r>
            <a:r>
              <a:rPr lang="en-US" altLang="zh-CN" sz="2000" dirty="0" smtClean="0"/>
              <a:t>50~600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zh-CN" altLang="en-US" sz="2000" dirty="0" smtClean="0"/>
              <a:t>环境温度：</a:t>
            </a:r>
            <a:r>
              <a:rPr lang="en-US" altLang="zh-CN" sz="2000" dirty="0" smtClean="0"/>
              <a:t>0~40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1052830"/>
            <a:ext cx="10681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	</a:t>
            </a:r>
            <a:endParaRPr lang="zh-CN" altLang="en-US" sz="2400"/>
          </a:p>
          <a:p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35915" y="1412875"/>
            <a:ext cx="109740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KELVIN</a:t>
            </a:r>
            <a:r>
              <a:rPr lang="zh-CN" altLang="en-US" sz="2400"/>
              <a:t>黑体常用功能</a:t>
            </a:r>
            <a:endParaRPr lang="zh-CN" altLang="en-US" sz="2400"/>
          </a:p>
          <a:p>
            <a:r>
              <a:rPr lang="en-US" altLang="zh-CN" sz="2400"/>
              <a:t>    1</a:t>
            </a:r>
            <a:r>
              <a:rPr lang="zh-CN" altLang="en-US" sz="2400"/>
              <a:t>、开启黑体：打开黑体</a:t>
            </a:r>
            <a:r>
              <a:rPr lang="zh-CN" sz="2400"/>
              <a:t>正面开关按钮</a:t>
            </a:r>
            <a:endParaRPr lang="zh-CN" sz="2400"/>
          </a:p>
          <a:p>
            <a:r>
              <a:rPr lang="zh-CN" sz="2400"/>
              <a:t> </a:t>
            </a:r>
            <a:r>
              <a:rPr lang="en-US" altLang="zh-CN" sz="2400"/>
              <a:t>   2</a:t>
            </a:r>
            <a:r>
              <a:rPr lang="zh-CN" altLang="en-US" sz="2400"/>
              <a:t>、黑体升温以及降温：直接通过上下键进行升温以及降温</a:t>
            </a:r>
            <a:endParaRPr lang="zh-CN" sz="2400"/>
          </a:p>
          <a:p>
            <a:r>
              <a:rPr lang="en-US" altLang="zh-CN" sz="2400">
                <a:solidFill>
                  <a:srgbClr val="FF0000"/>
                </a:solidFill>
              </a:rPr>
              <a:t>    </a:t>
            </a:r>
            <a:r>
              <a:rPr lang="en-US" altLang="zh-CN" sz="2400">
                <a:solidFill>
                  <a:schemeClr val="tx1"/>
                </a:solidFill>
              </a:rPr>
              <a:t>3</a:t>
            </a:r>
            <a:r>
              <a:rPr lang="zh-CN" altLang="en-US" sz="2400">
                <a:solidFill>
                  <a:schemeClr val="tx1"/>
                </a:solidFill>
              </a:rPr>
              <a:t>、关闭黑体：等待黑体降温至</a:t>
            </a:r>
            <a:r>
              <a:rPr lang="en-US" altLang="zh-CN" sz="2400">
                <a:solidFill>
                  <a:schemeClr val="tx1"/>
                </a:solidFill>
              </a:rPr>
              <a:t>6</a:t>
            </a:r>
            <a:r>
              <a:rPr lang="en-US" altLang="zh-CN" sz="2400">
                <a:solidFill>
                  <a:schemeClr val="tx1"/>
                </a:solidFill>
              </a:rPr>
              <a:t>0℃</a:t>
            </a:r>
            <a:r>
              <a:rPr lang="zh-CN" altLang="en-US" sz="2400">
                <a:solidFill>
                  <a:schemeClr val="tx1"/>
                </a:solidFill>
              </a:rPr>
              <a:t>，才可关闭黑体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36" y="2291830"/>
            <a:ext cx="6912768" cy="3915843"/>
          </a:xfrm>
          <a:prstGeom prst="rect">
            <a:avLst/>
          </a:prstGeom>
        </p:spPr>
      </p:pic>
      <p:sp>
        <p:nvSpPr>
          <p:cNvPr id="5" name="TextBox 7"/>
          <p:cNvSpPr txBox="1"/>
          <p:nvPr/>
        </p:nvSpPr>
        <p:spPr>
          <a:xfrm>
            <a:off x="191770" y="810260"/>
            <a:ext cx="49250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黑体使用时，可并排摆放。注意顶部需要留有净空。建议预留至少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米。切勿把仪器放在柜子或其它物体下面。禁止叠放，侧倒使用。开机运行时，尽量避免搬动黑体。</a:t>
            </a:r>
            <a:endParaRPr lang="en-US" altLang="zh-CN" sz="20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27216"/>
          <a:stretch>
            <a:fillRect/>
          </a:stretch>
        </p:blipFill>
        <p:spPr>
          <a:xfrm>
            <a:off x="7176120" y="1124744"/>
            <a:ext cx="4829175" cy="51995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087765" y="1455151"/>
            <a:ext cx="4912891" cy="8217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112" y="487004"/>
            <a:ext cx="4829175" cy="3400425"/>
          </a:xfrm>
          <a:prstGeom prst="rect">
            <a:avLst/>
          </a:prstGeom>
        </p:spPr>
      </p:pic>
      <p:sp>
        <p:nvSpPr>
          <p:cNvPr id="4" name="TextBox 7"/>
          <p:cNvSpPr txBox="1"/>
          <p:nvPr/>
        </p:nvSpPr>
        <p:spPr>
          <a:xfrm>
            <a:off x="263481" y="837134"/>
            <a:ext cx="70567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一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温度设置注意事项</a:t>
            </a:r>
            <a:endParaRPr lang="en-US" altLang="zh-CN" sz="2000" dirty="0" smtClean="0"/>
          </a:p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使用时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避免极限温度的设置，避免极限环温下的使用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r>
              <a:rPr lang="zh-CN" altLang="en-US" sz="2000" dirty="0" smtClean="0"/>
              <a:t>    黑体工作环境温度为</a:t>
            </a:r>
            <a:r>
              <a:rPr lang="en-US" altLang="zh-CN" sz="2000" dirty="0" smtClean="0"/>
              <a:t>5~35</a:t>
            </a:r>
            <a:r>
              <a:rPr lang="zh-CN" altLang="en-US" sz="2000" dirty="0" smtClean="0"/>
              <a:t>℃，应避免长时间在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℃及</a:t>
            </a:r>
            <a:r>
              <a:rPr lang="en-US" altLang="zh-CN" sz="2000" dirty="0" smtClean="0"/>
              <a:t>35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en-US" altLang="zh-CN" sz="2000" dirty="0" smtClean="0"/>
              <a:t>    4180</a:t>
            </a:r>
            <a:r>
              <a:rPr lang="zh-CN" altLang="en-US" sz="2000" dirty="0" smtClean="0"/>
              <a:t>黑体：发射率</a:t>
            </a:r>
            <a:r>
              <a:rPr lang="en-US" altLang="zh-CN" sz="2000" dirty="0" smtClean="0"/>
              <a:t>0.95</a:t>
            </a:r>
            <a:r>
              <a:rPr lang="zh-CN" altLang="en-US" sz="2000" dirty="0" smtClean="0"/>
              <a:t>条件下，温度设定范围</a:t>
            </a:r>
            <a:r>
              <a:rPr lang="en-US" altLang="zh-CN" sz="2000" dirty="0" smtClean="0"/>
              <a:t>-15</a:t>
            </a:r>
            <a:r>
              <a:rPr lang="zh-CN" altLang="en-US" sz="2000" dirty="0" smtClean="0"/>
              <a:t>℃</a:t>
            </a:r>
            <a:r>
              <a:rPr lang="en-US" altLang="zh-CN" sz="2000" dirty="0" smtClean="0"/>
              <a:t>~120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en-US" altLang="zh-CN" sz="2000" dirty="0"/>
              <a:t>	</a:t>
            </a:r>
            <a:r>
              <a:rPr lang="zh-CN" altLang="en-US" sz="2000" dirty="0" smtClean="0"/>
              <a:t>应尽量避免在</a:t>
            </a:r>
            <a:r>
              <a:rPr lang="en-US" altLang="zh-CN" sz="2000" dirty="0" smtClean="0"/>
              <a:t>-15</a:t>
            </a:r>
            <a:r>
              <a:rPr lang="zh-CN" altLang="en-US" sz="2000" dirty="0" smtClean="0"/>
              <a:t>℃与</a:t>
            </a:r>
            <a:r>
              <a:rPr lang="en-US" altLang="zh-CN" sz="2000" dirty="0" smtClean="0"/>
              <a:t>120</a:t>
            </a:r>
            <a:r>
              <a:rPr lang="zh-CN" altLang="en-US" sz="2000" dirty="0" smtClean="0"/>
              <a:t>℃等极限温度下工作。</a:t>
            </a:r>
            <a:endParaRPr lang="en-US" altLang="zh-CN" sz="2000" dirty="0" smtClean="0"/>
          </a:p>
          <a:p>
            <a:r>
              <a:rPr lang="en-US" altLang="zh-CN" sz="2000" dirty="0" smtClean="0"/>
              <a:t>    4181</a:t>
            </a:r>
            <a:r>
              <a:rPr lang="zh-CN" altLang="en-US" sz="2000" dirty="0"/>
              <a:t>黑体：发射率</a:t>
            </a:r>
            <a:r>
              <a:rPr lang="en-US" altLang="zh-CN" sz="2000" dirty="0"/>
              <a:t>0.95</a:t>
            </a:r>
            <a:r>
              <a:rPr lang="zh-CN" altLang="en-US" sz="2000" dirty="0"/>
              <a:t>条件下，温度设定</a:t>
            </a:r>
            <a:r>
              <a:rPr lang="zh-CN" altLang="en-US" sz="2000" dirty="0" smtClean="0"/>
              <a:t>范围</a:t>
            </a:r>
            <a:r>
              <a:rPr lang="en-US" altLang="zh-CN" sz="2000" dirty="0" smtClean="0"/>
              <a:t>35</a:t>
            </a:r>
            <a:r>
              <a:rPr lang="zh-CN" altLang="en-US" sz="2000" dirty="0" smtClean="0"/>
              <a:t>℃</a:t>
            </a:r>
            <a:r>
              <a:rPr lang="en-US" altLang="zh-CN" sz="2000" dirty="0" smtClean="0"/>
              <a:t>~500</a:t>
            </a:r>
            <a:r>
              <a:rPr lang="zh-CN" altLang="en-US" sz="2000" dirty="0" smtClean="0"/>
              <a:t>℃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/>
              <a:t>应尽量避免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500</a:t>
            </a:r>
            <a:r>
              <a:rPr lang="zh-CN" altLang="en-US" sz="2000" dirty="0" smtClean="0"/>
              <a:t>℃高温极限温度</a:t>
            </a:r>
            <a:r>
              <a:rPr lang="zh-CN" altLang="en-US" sz="2000" dirty="0"/>
              <a:t>下</a:t>
            </a:r>
            <a:r>
              <a:rPr lang="zh-CN" altLang="en-US" sz="2000" dirty="0" smtClean="0"/>
              <a:t>工作。</a:t>
            </a:r>
            <a:endParaRPr lang="en-US" altLang="zh-CN" sz="2000" dirty="0" smtClean="0"/>
          </a:p>
          <a:p>
            <a:r>
              <a:rPr lang="en-US" altLang="zh-CN" sz="2000" dirty="0" smtClean="0"/>
              <a:t>2.</a:t>
            </a:r>
            <a:r>
              <a:rPr lang="zh-CN" altLang="en-US" sz="2000" dirty="0" smtClean="0"/>
              <a:t>温度设置时视发射率有所限制，如右图所示</a:t>
            </a:r>
            <a:endParaRPr lang="en-US" altLang="zh-CN" sz="2000" dirty="0" smtClean="0"/>
          </a:p>
          <a:p>
            <a:r>
              <a:rPr lang="zh-CN" altLang="en-US" sz="2000" dirty="0" smtClean="0"/>
              <a:t>   如发射率为</a:t>
            </a:r>
            <a:r>
              <a:rPr lang="en-US" altLang="zh-CN" sz="2000" dirty="0" smtClean="0"/>
              <a:t>1.0</a:t>
            </a:r>
            <a:r>
              <a:rPr lang="zh-CN" altLang="en-US" sz="2000" dirty="0" smtClean="0"/>
              <a:t>时，温度设置范围为</a:t>
            </a:r>
            <a:r>
              <a:rPr lang="en-US" altLang="zh-CN" sz="2000" dirty="0" smtClean="0"/>
              <a:t>4180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-12.5~116</a:t>
            </a:r>
            <a:r>
              <a:rPr lang="zh-CN" altLang="en-US" sz="2000" dirty="0" smtClean="0"/>
              <a:t>℃；    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4181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35~483</a:t>
            </a:r>
            <a:r>
              <a:rPr lang="zh-CN" altLang="en-US" sz="2000" dirty="0" smtClean="0"/>
              <a:t>℃</a:t>
            </a:r>
            <a:endParaRPr lang="en-US" altLang="zh-CN" sz="2000" dirty="0"/>
          </a:p>
        </p:txBody>
      </p:sp>
      <p:sp>
        <p:nvSpPr>
          <p:cNvPr id="5" name="TextBox 7"/>
          <p:cNvSpPr txBox="1"/>
          <p:nvPr/>
        </p:nvSpPr>
        <p:spPr>
          <a:xfrm>
            <a:off x="191091" y="3933269"/>
            <a:ext cx="7056784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二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常温</a:t>
            </a:r>
            <a:r>
              <a:rPr lang="en-US" altLang="zh-CN" sz="2000" dirty="0" smtClean="0"/>
              <a:t>23</a:t>
            </a:r>
            <a:r>
              <a:rPr lang="zh-CN" altLang="en-US" sz="2000" dirty="0" smtClean="0"/>
              <a:t>℃，黑体关机操作注意事项</a:t>
            </a:r>
            <a:endParaRPr lang="en-US" altLang="zh-CN" sz="2000" dirty="0" smtClean="0"/>
          </a:p>
          <a:p>
            <a:r>
              <a:rPr lang="en-US" altLang="zh-CN" sz="2000" dirty="0" smtClean="0"/>
              <a:t>      4180</a:t>
            </a:r>
            <a:r>
              <a:rPr lang="zh-CN" altLang="en-US" sz="2000" dirty="0" smtClean="0"/>
              <a:t>黑体：设置温度低于环温时，易结水，设置温度低于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℃时，易结冰。不使用时用黑体保护盖保护靶面。使用完毕后，需先升温至</a:t>
            </a:r>
            <a:r>
              <a:rPr lang="en-US" altLang="zh-CN" sz="2000" dirty="0" smtClean="0"/>
              <a:t>40</a:t>
            </a:r>
            <a:r>
              <a:rPr lang="zh-CN" altLang="en-US" sz="2000" dirty="0" smtClean="0"/>
              <a:t>℃烘烤靶面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小时，再断电关闭黑体。</a:t>
            </a:r>
            <a:endParaRPr lang="en-US" altLang="zh-CN" sz="2000" dirty="0" smtClean="0"/>
          </a:p>
          <a:p>
            <a:r>
              <a:rPr lang="en-US" altLang="zh-CN" sz="2000" dirty="0" smtClean="0"/>
              <a:t>      4181</a:t>
            </a:r>
            <a:r>
              <a:rPr lang="zh-CN" altLang="en-US" sz="2000" dirty="0" smtClean="0"/>
              <a:t>黑体：</a:t>
            </a:r>
            <a:r>
              <a:rPr lang="zh-CN" altLang="en-US" sz="2000" dirty="0" smtClean="0">
                <a:solidFill>
                  <a:srgbClr val="FF0000"/>
                </a:solidFill>
              </a:rPr>
              <a:t>设置高温不可直接关机</a:t>
            </a:r>
            <a:r>
              <a:rPr lang="zh-CN" altLang="en-US" sz="2000" dirty="0" smtClean="0"/>
              <a:t>，</a:t>
            </a:r>
            <a:r>
              <a:rPr lang="zh-CN" sz="2000" dirty="0" smtClean="0"/>
              <a:t>选择自然降温，黑体降温下来且红灯熄灭后才能关闭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 smtClean="0"/>
          </a:p>
        </p:txBody>
      </p:sp>
      <p:sp>
        <p:nvSpPr>
          <p:cNvPr id="6" name="圆角矩形 5"/>
          <p:cNvSpPr/>
          <p:nvPr/>
        </p:nvSpPr>
        <p:spPr>
          <a:xfrm>
            <a:off x="7104112" y="2292734"/>
            <a:ext cx="4805757" cy="15121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78" y="3933056"/>
            <a:ext cx="2266222" cy="2753487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7896200" y="5575043"/>
            <a:ext cx="1182997" cy="11663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7"/>
          <p:cNvSpPr txBox="1"/>
          <p:nvPr/>
        </p:nvSpPr>
        <p:spPr>
          <a:xfrm>
            <a:off x="7320136" y="5013176"/>
            <a:ext cx="1973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FF00"/>
                </a:solidFill>
              </a:rPr>
              <a:t>靶面凝水示意图</a:t>
            </a:r>
            <a:endParaRPr lang="en-US" altLang="zh-CN" sz="2000" dirty="0" smtClean="0">
              <a:solidFill>
                <a:srgbClr val="FFFF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408" y="3933056"/>
            <a:ext cx="2164879" cy="2753487"/>
          </a:xfrm>
          <a:prstGeom prst="rect">
            <a:avLst/>
          </a:prstGeom>
        </p:spPr>
      </p:pic>
      <p:sp>
        <p:nvSpPr>
          <p:cNvPr id="11" name="TextBox 7"/>
          <p:cNvSpPr txBox="1"/>
          <p:nvPr/>
        </p:nvSpPr>
        <p:spPr>
          <a:xfrm>
            <a:off x="10344472" y="5477162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FF00"/>
                </a:solidFill>
              </a:rPr>
              <a:t>使用保护盖</a:t>
            </a:r>
            <a:endParaRPr lang="en-US" altLang="zh-CN" sz="2000" dirty="0" smtClean="0">
              <a:solidFill>
                <a:srgbClr val="FFFF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t="80639" b="14321"/>
          <a:stretch>
            <a:fillRect/>
          </a:stretch>
        </p:blipFill>
        <p:spPr>
          <a:xfrm>
            <a:off x="263352" y="5919435"/>
            <a:ext cx="6406182" cy="477614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/>
          <p:nvPr/>
        </p:nvSpPr>
        <p:spPr>
          <a:xfrm>
            <a:off x="335885" y="981194"/>
            <a:ext cx="654484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tx1"/>
                </a:solidFill>
              </a:rPr>
              <a:t>三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禁止黑体开启状态下从低温直接升至高温环境，该行为会导致黑体靶面出现脱膜损伤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 smtClean="0"/>
              <a:t>    </a:t>
            </a:r>
            <a:r>
              <a:rPr lang="zh-CN" altLang="en-US" sz="2000" dirty="0" smtClean="0"/>
              <a:t>需设置升温或降温温差较大时，应按照二操作先将黑体正常关机盖上保护盖（低温升高温时需进行烘烤），再进行环温设置。</a:t>
            </a:r>
            <a:endParaRPr lang="en-US" altLang="zh-CN" sz="2000" dirty="0" smtClean="0"/>
          </a:p>
          <a:p>
            <a:r>
              <a:rPr lang="zh-CN" altLang="en-US" sz="2000" dirty="0" smtClean="0"/>
              <a:t>（如：常见由低温升高温如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℃至</a:t>
            </a:r>
            <a:r>
              <a:rPr lang="en-US" altLang="zh-CN" sz="2000" dirty="0" smtClean="0"/>
              <a:t>35</a:t>
            </a:r>
            <a:r>
              <a:rPr lang="zh-CN" altLang="en-US" sz="2000" dirty="0" smtClean="0"/>
              <a:t>℃，需将黑体在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℃关机后，盖上保护盖，升至</a:t>
            </a:r>
            <a:r>
              <a:rPr lang="en-US" altLang="zh-CN" sz="2000" dirty="0" smtClean="0"/>
              <a:t>35</a:t>
            </a:r>
            <a:r>
              <a:rPr lang="zh-CN" altLang="en-US" sz="2000" dirty="0" smtClean="0"/>
              <a:t>℃烘烤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小时后开盖，开机。）</a:t>
            </a:r>
            <a:endParaRPr lang="en-US" altLang="zh-CN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9936410" y="7432281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accent1"/>
                </a:solidFill>
              </a:rPr>
              <a:t>黑体靶面脱膜损坏</a:t>
            </a:r>
            <a:endParaRPr lang="en-US" altLang="zh-CN" sz="2000" dirty="0" smtClean="0">
              <a:solidFill>
                <a:schemeClr val="accent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191726" y="1032054"/>
            <a:ext cx="7056784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四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黑体搬运禁止倒放，侧放，叠放等，移动仪器时务必保持向上直立姿势，方便的上拉手柄允许一只手搬运；</a:t>
            </a:r>
            <a:r>
              <a:rPr lang="zh-CN" altLang="en-US" sz="2000" dirty="0" smtClean="0">
                <a:solidFill>
                  <a:srgbClr val="FF0000"/>
                </a:solidFill>
              </a:rPr>
              <a:t>搬运过程中需盖好黑体盖</a:t>
            </a:r>
            <a:r>
              <a:rPr lang="zh-CN" altLang="en-US" sz="2000" dirty="0" smtClean="0"/>
              <a:t>，待黑体固定放置好后再取下黑体盖，防止转运过程中损伤靶面。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438" y="4083676"/>
            <a:ext cx="2351584" cy="2259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92170" y="4437507"/>
            <a:ext cx="2438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accent1"/>
                </a:solidFill>
              </a:rPr>
              <a:t>黑体靶面硬物磕伤</a:t>
            </a:r>
            <a:endParaRPr lang="en-US" altLang="zh-CN" sz="2000" dirty="0" smtClean="0">
              <a:solidFill>
                <a:schemeClr val="accent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224213" y="5023897"/>
            <a:ext cx="824819" cy="8184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7"/>
          <p:cNvSpPr txBox="1"/>
          <p:nvPr/>
        </p:nvSpPr>
        <p:spPr>
          <a:xfrm>
            <a:off x="119083" y="2734970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五</a:t>
            </a:r>
            <a:r>
              <a:rPr lang="en-US" altLang="zh-CN" sz="2000" dirty="0" smtClean="0"/>
              <a:t>.</a:t>
            </a:r>
            <a:r>
              <a:rPr lang="zh-CN" altLang="en-US" sz="2000" dirty="0" smtClean="0">
                <a:solidFill>
                  <a:srgbClr val="FF0000"/>
                </a:solidFill>
              </a:rPr>
              <a:t>禁止任何形式的直接触碰黑体靶面</a:t>
            </a:r>
            <a:r>
              <a:rPr lang="zh-CN" altLang="en-US" sz="2000" dirty="0" smtClean="0"/>
              <a:t>，高温下皮肤上的油脂和盐将会永久的损伤目标，切勿使用液体来清洗目标表面。</a:t>
            </a:r>
            <a:endParaRPr lang="en-US" altLang="zh-CN" sz="2000" dirty="0" smtClean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36" y="4077366"/>
            <a:ext cx="2419190" cy="2258297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767948" y="5373098"/>
            <a:ext cx="2088232" cy="7193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二、黑体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22" y="1484784"/>
            <a:ext cx="3395662" cy="4322771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 t="19839" r="29726" b="14884"/>
          <a:stretch>
            <a:fillRect/>
          </a:stretch>
        </p:blipFill>
        <p:spPr>
          <a:xfrm>
            <a:off x="7968208" y="1486694"/>
            <a:ext cx="3394800" cy="4336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4" t="3489" r="13381" b="4804"/>
          <a:stretch>
            <a:fillRect/>
          </a:stretch>
        </p:blipFill>
        <p:spPr>
          <a:xfrm>
            <a:off x="4367808" y="1486694"/>
            <a:ext cx="3394800" cy="4336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31504" y="586798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主显示屏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31904" y="586798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LCOS</a:t>
            </a:r>
            <a:r>
              <a:rPr lang="zh-CN" altLang="en-US" dirty="0" smtClean="0"/>
              <a:t>显示屏</a:t>
            </a:r>
            <a:endParaRPr lang="zh-CN" altLang="en-US" dirty="0"/>
          </a:p>
        </p:txBody>
      </p:sp>
      <p:sp>
        <p:nvSpPr>
          <p:cNvPr id="9" name="左箭头 8"/>
          <p:cNvSpPr/>
          <p:nvPr/>
        </p:nvSpPr>
        <p:spPr>
          <a:xfrm>
            <a:off x="10272464" y="1484784"/>
            <a:ext cx="978408" cy="484632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5868035"/>
            <a:ext cx="4554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激光瞄准点</a:t>
            </a:r>
            <a:endParaRPr lang="zh-CN" altLang="en-US" dirty="0" smtClean="0"/>
          </a:p>
          <a:p>
            <a:r>
              <a:rPr lang="zh-CN" altLang="en-US" dirty="0"/>
              <a:t>（使用时需使光标达到最清晰约</a:t>
            </a:r>
            <a:r>
              <a:rPr lang="en-US" altLang="zh-CN" dirty="0"/>
              <a:t>0.4m</a:t>
            </a:r>
            <a:r>
              <a:rPr lang="zh-CN" altLang="en-US" dirty="0"/>
              <a:t>左右）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二、点温枪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44"/>
          <a:stretch>
            <a:fillRect/>
          </a:stretch>
        </p:blipFill>
        <p:spPr>
          <a:xfrm>
            <a:off x="803552" y="1484785"/>
            <a:ext cx="1260000" cy="15730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" r="15925" b="25417"/>
          <a:stretch>
            <a:fillRect/>
          </a:stretch>
        </p:blipFill>
        <p:spPr>
          <a:xfrm>
            <a:off x="2675760" y="1484785"/>
            <a:ext cx="1260000" cy="15772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4" r="13889" b="17917"/>
          <a:stretch>
            <a:fillRect/>
          </a:stretch>
        </p:blipFill>
        <p:spPr>
          <a:xfrm>
            <a:off x="4547968" y="1488909"/>
            <a:ext cx="1260000" cy="15730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8" r="12385" b="23745"/>
          <a:stretch>
            <a:fillRect/>
          </a:stretch>
        </p:blipFill>
        <p:spPr>
          <a:xfrm>
            <a:off x="6420176" y="1499204"/>
            <a:ext cx="1260000" cy="15730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4" r="12488" b="19895"/>
          <a:stretch>
            <a:fillRect/>
          </a:stretch>
        </p:blipFill>
        <p:spPr>
          <a:xfrm>
            <a:off x="8220376" y="1495883"/>
            <a:ext cx="1260000" cy="15730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8194" r="27778" b="15000"/>
          <a:stretch>
            <a:fillRect/>
          </a:stretch>
        </p:blipFill>
        <p:spPr>
          <a:xfrm>
            <a:off x="10020576" y="1484784"/>
            <a:ext cx="1260000" cy="15730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4861" r="17592" b="10000"/>
          <a:stretch>
            <a:fillRect/>
          </a:stretch>
        </p:blipFill>
        <p:spPr>
          <a:xfrm>
            <a:off x="803552" y="4005064"/>
            <a:ext cx="1260000" cy="15730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6" t="2935" r="15668" b="5750"/>
          <a:stretch>
            <a:fillRect/>
          </a:stretch>
        </p:blipFill>
        <p:spPr>
          <a:xfrm>
            <a:off x="2675760" y="4005064"/>
            <a:ext cx="1260000" cy="15730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2" t="5416" r="15741" b="15000"/>
          <a:stretch>
            <a:fillRect/>
          </a:stretch>
        </p:blipFill>
        <p:spPr>
          <a:xfrm>
            <a:off x="4547968" y="4005064"/>
            <a:ext cx="1260000" cy="157307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8" t="1528" r="4444" b="18411"/>
          <a:stretch>
            <a:fillRect/>
          </a:stretch>
        </p:blipFill>
        <p:spPr>
          <a:xfrm>
            <a:off x="8184232" y="4016161"/>
            <a:ext cx="1260000" cy="157307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" r="11667" b="17778"/>
          <a:stretch>
            <a:fillRect/>
          </a:stretch>
        </p:blipFill>
        <p:spPr>
          <a:xfrm>
            <a:off x="9984432" y="4019907"/>
            <a:ext cx="1260000" cy="156933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t="4167" r="11168" b="14166"/>
          <a:stretch>
            <a:fillRect/>
          </a:stretch>
        </p:blipFill>
        <p:spPr>
          <a:xfrm>
            <a:off x="6384032" y="4016161"/>
            <a:ext cx="1260000" cy="15730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3552" y="321297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点击菜单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439816" y="321297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到发射率选项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445378" y="321297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点击菜单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675760" y="323876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点击下键</a:t>
            </a:r>
            <a:endParaRPr lang="zh-CN" altLang="en-US" dirty="0"/>
          </a:p>
        </p:txBody>
      </p:sp>
      <p:sp>
        <p:nvSpPr>
          <p:cNvPr id="21" name="下箭头 20"/>
          <p:cNvSpPr/>
          <p:nvPr/>
        </p:nvSpPr>
        <p:spPr>
          <a:xfrm rot="14103215">
            <a:off x="3033962" y="2871110"/>
            <a:ext cx="242316" cy="402344"/>
          </a:xfrm>
          <a:prstGeom prst="downArrow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223402" y="323876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点击菜单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840416" y="32129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通过上下左右</a:t>
            </a:r>
            <a:endParaRPr lang="zh-CN" altLang="en-US" dirty="0"/>
          </a:p>
        </p:txBody>
      </p:sp>
      <p:sp>
        <p:nvSpPr>
          <p:cNvPr id="24" name="十字箭头 23"/>
          <p:cNvSpPr/>
          <p:nvPr/>
        </p:nvSpPr>
        <p:spPr>
          <a:xfrm>
            <a:off x="10488488" y="2884294"/>
            <a:ext cx="341968" cy="400690"/>
          </a:xfrm>
          <a:prstGeom prst="quadArrow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3552" y="566124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输入</a:t>
            </a:r>
            <a:r>
              <a:rPr lang="zh-CN" altLang="en-US" dirty="0"/>
              <a:t>密码</a:t>
            </a:r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639616" y="5674732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点击确认</a:t>
            </a:r>
            <a:endParaRPr lang="zh-CN" altLang="en-US" dirty="0"/>
          </a:p>
        </p:txBody>
      </p:sp>
      <p:sp>
        <p:nvSpPr>
          <p:cNvPr id="28" name="十字箭头 27"/>
          <p:cNvSpPr/>
          <p:nvPr/>
        </p:nvSpPr>
        <p:spPr>
          <a:xfrm>
            <a:off x="5006984" y="5377798"/>
            <a:ext cx="341968" cy="400690"/>
          </a:xfrm>
          <a:prstGeom prst="quadArrow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39816" y="5691346"/>
            <a:ext cx="158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输入发射率值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384032" y="569286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点击确认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256240" y="568090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点击退出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0056440" y="570056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点击退出</a:t>
            </a:r>
            <a:endParaRPr lang="zh-CN" altLang="en-US" dirty="0"/>
          </a:p>
        </p:txBody>
      </p:sp>
      <p:sp>
        <p:nvSpPr>
          <p:cNvPr id="34" name="右箭头 33"/>
          <p:cNvSpPr/>
          <p:nvPr/>
        </p:nvSpPr>
        <p:spPr>
          <a:xfrm>
            <a:off x="2063552" y="2271323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>
            <a:off x="3935760" y="2271323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>
            <a:off x="5807968" y="2282422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7663132" y="2263392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9487203" y="2291967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2089479" y="4602696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3974226" y="4600823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箭头 40"/>
          <p:cNvSpPr/>
          <p:nvPr/>
        </p:nvSpPr>
        <p:spPr>
          <a:xfrm>
            <a:off x="5811381" y="4587997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7651139" y="4602696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右箭头 42"/>
          <p:cNvSpPr/>
          <p:nvPr/>
        </p:nvSpPr>
        <p:spPr>
          <a:xfrm>
            <a:off x="9415195" y="4602696"/>
            <a:ext cx="569237" cy="403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-24765" y="26098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二、点温枪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5960" y="839470"/>
            <a:ext cx="4716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发射率调节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502010"/>
            <a:ext cx="4608512" cy="4141415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484784"/>
            <a:ext cx="4608000" cy="4157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448" y="5672802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低温试验室（</a:t>
            </a:r>
            <a:r>
              <a:rPr lang="en-US" altLang="zh-CN" dirty="0" smtClean="0"/>
              <a:t>-10</a:t>
            </a:r>
            <a:r>
              <a:rPr lang="zh-CN" altLang="en-US" dirty="0" smtClean="0"/>
              <a:t>℃</a:t>
            </a:r>
            <a:r>
              <a:rPr lang="en-US" altLang="zh-CN" dirty="0" smtClean="0"/>
              <a:t>~60</a:t>
            </a:r>
            <a:r>
              <a:rPr lang="zh-CN" altLang="en-US" dirty="0"/>
              <a:t> </a:t>
            </a:r>
            <a:r>
              <a:rPr lang="zh-CN" altLang="en-US" dirty="0" smtClean="0"/>
              <a:t>℃）标准：</a:t>
            </a:r>
            <a:r>
              <a:rPr lang="en-US" altLang="zh-CN" dirty="0" smtClean="0"/>
              <a:t>GB/T  2423 </a:t>
            </a:r>
            <a:endParaRPr lang="en-US" altLang="zh-CN" dirty="0" smtClean="0"/>
          </a:p>
          <a:p>
            <a:r>
              <a:rPr lang="en-US" altLang="zh-CN" dirty="0" smtClean="0"/>
              <a:t> ADX-BHW-42A                                                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72064" y="5726816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高温老化房（常温</a:t>
            </a:r>
            <a:r>
              <a:rPr lang="en-US" altLang="zh-CN" dirty="0" smtClean="0"/>
              <a:t>+10</a:t>
            </a:r>
            <a:r>
              <a:rPr lang="zh-CN" altLang="en-US" dirty="0" smtClean="0"/>
              <a:t>℃</a:t>
            </a:r>
            <a:r>
              <a:rPr lang="en-US" altLang="zh-CN" dirty="0" smtClean="0"/>
              <a:t>~70</a:t>
            </a:r>
            <a:r>
              <a:rPr lang="zh-CN" altLang="en-US" dirty="0" smtClean="0"/>
              <a:t> ℃）标准：</a:t>
            </a:r>
            <a:r>
              <a:rPr lang="en-US" altLang="zh-CN" dirty="0" smtClean="0"/>
              <a:t>GB/T  2423             ADX-BIR-47A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247650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三、高低温房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5960" y="839470"/>
            <a:ext cx="4716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高低温房简介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37" y="2061091"/>
            <a:ext cx="3395662" cy="4527550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6" t="7987" r="8395" b="3944"/>
          <a:stretch>
            <a:fillRect/>
          </a:stretch>
        </p:blipFill>
        <p:spPr>
          <a:xfrm rot="16200000">
            <a:off x="5271135" y="1374140"/>
            <a:ext cx="4460240" cy="583438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247650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三、高低温房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1815" y="981075"/>
            <a:ext cx="7357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控制面板主要功能：电源、照明、插座开关</a:t>
            </a:r>
            <a:endParaRPr lang="zh-CN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60" y="1582192"/>
            <a:ext cx="1447800" cy="18468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1582192"/>
            <a:ext cx="1445812" cy="1861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1614984"/>
            <a:ext cx="1435189" cy="1905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614985"/>
            <a:ext cx="1442084" cy="18860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9" r="28526" b="55915"/>
          <a:stretch>
            <a:fillRect/>
          </a:stretch>
        </p:blipFill>
        <p:spPr>
          <a:xfrm>
            <a:off x="8616280" y="1611468"/>
            <a:ext cx="1477536" cy="18895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4" r="26821" b="47703"/>
          <a:stretch>
            <a:fillRect/>
          </a:stretch>
        </p:blipFill>
        <p:spPr>
          <a:xfrm>
            <a:off x="642365" y="4190960"/>
            <a:ext cx="1493195" cy="18539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4" t="19320" r="28182" b="50442"/>
          <a:stretch>
            <a:fillRect/>
          </a:stretch>
        </p:blipFill>
        <p:spPr>
          <a:xfrm>
            <a:off x="2621993" y="4190960"/>
            <a:ext cx="1431609" cy="19023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6" t="10076" r="10001" b="28410"/>
          <a:stretch>
            <a:fillRect/>
          </a:stretch>
        </p:blipFill>
        <p:spPr>
          <a:xfrm>
            <a:off x="4581844" y="4190960"/>
            <a:ext cx="1460541" cy="190233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2" t="10488" r="362" b="26098"/>
          <a:stretch>
            <a:fillRect/>
          </a:stretch>
        </p:blipFill>
        <p:spPr>
          <a:xfrm>
            <a:off x="6600056" y="4190960"/>
            <a:ext cx="1462300" cy="1902336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02089" y="3573016"/>
          <a:ext cx="1661033" cy="58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033"/>
              </a:tblGrid>
              <a:tr h="58674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第一步：开照明检查室内情况，是否满足使用。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588569" y="3487192"/>
          <a:ext cx="1707231" cy="58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7231"/>
              </a:tblGrid>
              <a:tr h="58674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第二步：打开低温房里面小房间空调，设置</a:t>
                      </a:r>
                      <a:r>
                        <a:rPr lang="en-US" altLang="zh-CN" sz="1100" u="none" strike="noStrike" dirty="0">
                          <a:effectLst/>
                        </a:rPr>
                        <a:t>17</a:t>
                      </a:r>
                      <a:r>
                        <a:rPr lang="zh-CN" altLang="en-US" sz="1100" u="none" strike="noStrike" dirty="0">
                          <a:effectLst/>
                        </a:rPr>
                        <a:t>度（注：高温房无此步骤）。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566028" y="3573016"/>
          <a:ext cx="1530564" cy="58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0564"/>
              </a:tblGrid>
              <a:tr h="58674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第三步：开启主电源，听压缩机是否有启动，界面是否正常。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575448" y="3542457"/>
          <a:ext cx="1854200" cy="490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200"/>
              </a:tblGrid>
              <a:tr h="490036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第四步：依次开启</a:t>
                      </a:r>
                      <a:r>
                        <a:rPr lang="en-US" altLang="zh-CN" sz="1100" u="none" strike="noStrike" dirty="0">
                          <a:effectLst/>
                        </a:rPr>
                        <a:t>220V</a:t>
                      </a:r>
                      <a:r>
                        <a:rPr lang="zh-CN" altLang="en-US" sz="1100" u="none" strike="noStrike" dirty="0">
                          <a:effectLst/>
                        </a:rPr>
                        <a:t>电源开关，给里面的开关供电。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8616280" y="3544739"/>
          <a:ext cx="1854200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200"/>
              </a:tblGrid>
              <a:tr h="44196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第五步：点击设置，设置工作环境温度，点击</a:t>
                      </a:r>
                      <a:r>
                        <a:rPr lang="en-US" altLang="zh-CN" sz="1100" u="none" strike="noStrike" dirty="0">
                          <a:effectLst/>
                        </a:rPr>
                        <a:t>ENT</a:t>
                      </a:r>
                      <a:r>
                        <a:rPr lang="zh-CN" altLang="en-US" sz="1100" u="none" strike="noStrike" dirty="0">
                          <a:effectLst/>
                        </a:rPr>
                        <a:t>确认。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92200" y="6212582"/>
          <a:ext cx="18542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200"/>
              </a:tblGrid>
              <a:tr h="60960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第七步：看设置的温度是否正确，在对话框里点击是（正确点是反之点否）。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590367" y="6141259"/>
          <a:ext cx="18542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200"/>
              </a:tblGrid>
              <a:tr h="60960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第八步：升降温过程中如无需在室内工作，关闭照明，做好节能工作。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00056" y="6131734"/>
          <a:ext cx="18542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200"/>
              </a:tblGrid>
              <a:tr h="60960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第九步：若在运行过程中出现异常报警，请立即点击停止，联系校温线相关负责人。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4583832" y="6114594"/>
          <a:ext cx="18542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200"/>
              </a:tblGrid>
              <a:tr h="60960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u="none" strike="noStrike" dirty="0">
                          <a:effectLst/>
                        </a:rPr>
                        <a:t>第八步：升降温过程中如无需在室内工作，关闭照明，做好节能工作。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8688288" y="4218810"/>
          <a:ext cx="1872208" cy="2202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208"/>
              </a:tblGrid>
              <a:tr h="18744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</a:rPr>
                        <a:t>注：低温房使用环境温度（</a:t>
                      </a:r>
                      <a:r>
                        <a:rPr lang="en-US" altLang="zh-CN" sz="1200" u="none" strike="noStrike" dirty="0">
                          <a:effectLst/>
                        </a:rPr>
                        <a:t>-10°~60°</a:t>
                      </a:r>
                      <a:r>
                        <a:rPr lang="zh-CN" altLang="en-US" sz="1200" u="none" strike="noStrike" dirty="0">
                          <a:effectLst/>
                        </a:rPr>
                        <a:t>，高于</a:t>
                      </a:r>
                      <a:r>
                        <a:rPr lang="en-US" altLang="zh-CN" sz="1200" u="none" strike="noStrike" dirty="0">
                          <a:effectLst/>
                        </a:rPr>
                        <a:t>30</a:t>
                      </a:r>
                      <a:r>
                        <a:rPr lang="zh-CN" altLang="en-US" sz="1200" u="none" strike="noStrike" dirty="0">
                          <a:effectLst/>
                        </a:rPr>
                        <a:t>度的尽量用高温房），高温房使用环境温度（常温</a:t>
                      </a:r>
                      <a:r>
                        <a:rPr lang="en-US" altLang="zh-CN" sz="1200" u="none" strike="noStrike" dirty="0">
                          <a:effectLst/>
                        </a:rPr>
                        <a:t>+10°~70°</a:t>
                      </a:r>
                      <a:r>
                        <a:rPr lang="zh-CN" altLang="en-US" sz="1200" u="none" strike="noStrike" dirty="0">
                          <a:effectLst/>
                        </a:rPr>
                        <a:t>）。使用高低温房严格按照操作流程，违规者若造成公司财产损失、人身安全，后果自负。使用过程中注意用电安全，保持室内干净整洁，使用完毕后记得关闭电源（勿忘记关闭小房间里面的空调）。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2143200" y="2513102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4075270" y="2539036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6096000" y="2521992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8112224" y="2513102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2143833" y="4863808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4085428" y="4863808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6096000" y="4924386"/>
            <a:ext cx="4964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0" y="247650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三、高低温房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51815" y="981075"/>
            <a:ext cx="7357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开启高低温房主要步骤：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695960" y="1845310"/>
            <a:ext cx="88252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低温房：使用结束后，需要先将低温房温度升至</a:t>
            </a:r>
            <a:r>
              <a:rPr lang="en-US" altLang="zh-CN"/>
              <a:t>30℃</a:t>
            </a:r>
            <a:r>
              <a:rPr lang="zh-CN" altLang="en-US"/>
              <a:t>，使室内环境保持高温</a:t>
            </a:r>
            <a:r>
              <a:rPr lang="en-US" altLang="zh-CN"/>
              <a:t>1</a:t>
            </a:r>
            <a:r>
              <a:rPr lang="zh-CN" altLang="en-US"/>
              <a:t>小时后才能关闭步入式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高温房：使用结束后，可直接关闭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注意事项：使用完成后，需要将标志位设置成停机状态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0" y="247650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三、高低温房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51815" y="981075"/>
            <a:ext cx="7357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关闭高低温房主要步骤：</a:t>
            </a:r>
            <a:endParaRPr lang="zh-CN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479425" y="1268730"/>
            <a:ext cx="90220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、使用黑体过程中需要按照黑体工作要求来使用，不可在超过黑体使用环境或温度范围违规使用黑体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、在温漂以及步入式中，设备需放在指定位置，不可随意放在地上或椅子上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、在使用步入式时，人走需关闭步入式内照明开关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、在使用点温枪时，需要在使用环境中保温半个小时，通电十分钟后使用，使用完后要及时断电放在指定位置。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0" y="247650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四、注意事项</a:t>
            </a:r>
            <a:endParaRPr lang="zh-CN" altLang="en-US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2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985"/>
            <a:ext cx="5225415" cy="6863080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4099" name="文本框 3"/>
          <p:cNvSpPr txBox="1"/>
          <p:nvPr/>
        </p:nvSpPr>
        <p:spPr>
          <a:xfrm>
            <a:off x="5225480" y="3476943"/>
            <a:ext cx="168910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 smtClean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THANK YOU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98" name="文本框 2"/>
          <p:cNvSpPr txBox="1"/>
          <p:nvPr/>
        </p:nvSpPr>
        <p:spPr>
          <a:xfrm>
            <a:off x="4871437" y="2708910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397.555905511811,&quot;width&quot;:4115.552755905512}"/>
</p:tagLst>
</file>

<file path=ppt/tags/tag2.xml><?xml version="1.0" encoding="utf-8"?>
<p:tagLst xmlns:p="http://schemas.openxmlformats.org/presentationml/2006/main">
  <p:tag name="KSO_WM_UNIT_PLACING_PICTURE_USER_VIEWPORT" val="{&quot;height&quot;:6627.393700787401,&quot;width&quot;:6123.516535433071}"/>
</p:tagLst>
</file>

<file path=ppt/tags/tag3.xml><?xml version="1.0" encoding="utf-8"?>
<p:tagLst xmlns:p="http://schemas.openxmlformats.org/presentationml/2006/main">
  <p:tag name="KSO_WM_UNIT_PLACING_PICTURE_USER_VIEWPORT" val="{&quot;height&quot;:10808,&quot;width&quot;:8229}"/>
</p:tagLst>
</file>

<file path=ppt/tags/tag4.xml><?xml version="1.0" encoding="utf-8"?>
<p:tagLst xmlns:p="http://schemas.openxmlformats.org/presentationml/2006/main">
  <p:tag name="KSO_WM_UNIT_PLACING_PICTURE_USER_VIEWPORT" val="{&quot;height&quot;:2128,&quot;width&quot;:2361}"/>
</p:tagLst>
</file>

<file path=ppt/tags/tag5.xml><?xml version="1.0" encoding="utf-8"?>
<p:tagLst xmlns:p="http://schemas.openxmlformats.org/presentationml/2006/main">
  <p:tag name="COMMONDATA" val="eyJoZGlkIjoiYzYyNDhiOWI0NjVhOGM2ODk4NTBlMWRkNDBmOWJmNzQifQ=="/>
</p:tagLst>
</file>

<file path=ppt/theme/theme1.xml><?xml version="1.0" encoding="utf-8"?>
<a:theme xmlns:a="http://schemas.openxmlformats.org/drawingml/2006/main" name="高德智感2022年2月制造部月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高德智感2022年2月制造部月报</Template>
  <TotalTime>0</TotalTime>
  <Words>2799</Words>
  <Application>WPS 演示</Application>
  <PresentationFormat>自定义</PresentationFormat>
  <Paragraphs>247</Paragraphs>
  <Slides>23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Arial Unicode MS</vt:lpstr>
      <vt:lpstr>Calibri</vt:lpstr>
      <vt:lpstr>高德智感2022年2月制造部月报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点温枪的观测点</vt:lpstr>
      <vt:lpstr>发射率的调节</vt:lpstr>
      <vt:lpstr>高低温房的简介</vt:lpstr>
      <vt:lpstr>控制面板功能介绍</vt:lpstr>
      <vt:lpstr>高低温房开启的步骤</vt:lpstr>
      <vt:lpstr>高低温房关闭的步骤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06853ax</cp:lastModifiedBy>
  <cp:revision>53</cp:revision>
  <dcterms:created xsi:type="dcterms:W3CDTF">2022-03-15T09:14:00Z</dcterms:created>
  <dcterms:modified xsi:type="dcterms:W3CDTF">2022-07-22T09:48:12Z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2052-11.1.0.11830</vt:lpwstr>
  </property>
  <property fmtid="{D5CDD505-2E9C-101B-9397-08002B2CF9AE}" pid="3" name="ICV">
    <vt:lpwstr>594F5B37EC1D48E19A5CE5537C2C16B2</vt:lpwstr>
  </property>
</Properties>
</file>