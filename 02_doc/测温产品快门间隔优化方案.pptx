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7" r:id="rId2"/>
    <p:sldId id="272" r:id="rId3"/>
    <p:sldId id="287" r:id="rId4"/>
    <p:sldId id="290" r:id="rId5"/>
    <p:sldId id="285" r:id="rId6"/>
    <p:sldId id="289" r:id="rId7"/>
    <p:sldId id="293" r:id="rId8"/>
    <p:sldId id="294" r:id="rId9"/>
    <p:sldId id="291" r:id="rId10"/>
    <p:sldId id="292" r:id="rId11"/>
    <p:sldId id="266" r:id="rId12"/>
  </p:sldIdLst>
  <p:sldSz cx="14400213" cy="8099425"/>
  <p:notesSz cx="6858000" cy="9144000"/>
  <p:custDataLst>
    <p:tags r:id="rId14"/>
  </p:custDataLst>
  <p:defaultTextStyle>
    <a:defPPr>
      <a:defRPr lang="zh-CN"/>
    </a:defPPr>
    <a:lvl1pPr marL="0" lvl="0" indent="0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600075" lvl="1" indent="-142875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1202055" lvl="2" indent="-287655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803400" lvl="3" indent="-431800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2405380" lvl="4" indent="-576580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-576580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-576580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-576580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-576580" algn="l" defTabSz="1202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300"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3" userDrawn="1">
          <p15:clr>
            <a:srgbClr val="A4A3A4"/>
          </p15:clr>
        </p15:guide>
        <p15:guide id="2" orient="horz" pos="3367" userDrawn="1">
          <p15:clr>
            <a:srgbClr val="A4A3A4"/>
          </p15:clr>
        </p15:guide>
        <p15:guide id="4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552D1"/>
    <a:srgbClr val="1D41D5"/>
    <a:srgbClr val="E6E6E6"/>
    <a:srgbClr val="CA0915"/>
    <a:srgbClr val="C4D82D"/>
    <a:srgbClr val="0098D8"/>
    <a:srgbClr val="00004F"/>
    <a:srgbClr val="A01323"/>
    <a:srgbClr val="59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3" d="100"/>
          <a:sy n="93" d="100"/>
        </p:scale>
        <p:origin x="588" y="102"/>
      </p:cViewPr>
      <p:guideLst>
        <p:guide orient="horz" pos="2553"/>
        <p:guide orient="horz" pos="3367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033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033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5CB3FF-CEDE-4870-BC25-F0CBFB6D686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等线" panose="02010600030101010101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等线" panose="02010600030101010101" charset="-122"/>
              </a:rPr>
              <a:t>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等线" panose="02010600030101010101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等线" panose="02010600030101010101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等线" panose="02010600030101010101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等线" panose="02010600030101010101" charset="-122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0332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  <a:t>‹#›</a:t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6275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 panose="02010600030101010101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 panose="02010600030101010101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 panose="02010600030101010101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 panose="02010600030101010101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 panose="0201060003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  <a:t>1</a:t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4643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0052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  <a:t>11</a:t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4683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3" name="图片 6" descr="未标题-1.png"/>
          <p:cNvPicPr>
            <a:picLocks noChangeAspect="1"/>
          </p:cNvPicPr>
          <p:nvPr userDrawn="1"/>
        </p:nvPicPr>
        <p:blipFill>
          <a:blip r:embed="rId2"/>
          <a:srcRect r="1054" b="2344"/>
          <a:stretch>
            <a:fillRect/>
          </a:stretch>
        </p:blipFill>
        <p:spPr>
          <a:xfrm>
            <a:off x="4608513" y="3032125"/>
            <a:ext cx="9791700" cy="5067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993" y="1529432"/>
            <a:ext cx="6840169" cy="173612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3993" y="3603034"/>
            <a:ext cx="6713097" cy="20698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1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04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07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09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13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370200-34DC-4444-97A5-774D5754E09E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5" descr="高德智感logo中英文常规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17475" y="7453313"/>
            <a:ext cx="1223963" cy="452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62" y="1"/>
            <a:ext cx="12241360" cy="665336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2013" y="953368"/>
            <a:ext cx="12818190" cy="6281744"/>
          </a:xfrm>
          <a:prstGeom prst="rect">
            <a:avLst/>
          </a:prstGeom>
        </p:spPr>
        <p:txBody>
          <a:bodyPr/>
          <a:lstStyle>
            <a:lvl1pPr>
              <a:buNone/>
              <a:defRPr sz="4400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B42F8D2-69EF-438D-82E9-6FFDBDCDF987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519" y="5204631"/>
            <a:ext cx="12240181" cy="1608636"/>
          </a:xfrm>
          <a:prstGeom prst="rect">
            <a:avLst/>
          </a:prstGeom>
        </p:spPr>
        <p:txBody>
          <a:bodyPr anchor="t"/>
          <a:lstStyle>
            <a:lvl1pPr algn="l">
              <a:defRPr sz="5245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7519" y="3432884"/>
            <a:ext cx="12240181" cy="17717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20">
                <a:solidFill>
                  <a:schemeClr val="tx1">
                    <a:tint val="75000"/>
                  </a:schemeClr>
                </a:solidFill>
              </a:defRPr>
            </a:lvl1pPr>
            <a:lvl2pPr marL="601345" indent="0">
              <a:buNone/>
              <a:defRPr sz="2340">
                <a:solidFill>
                  <a:schemeClr val="tx1">
                    <a:tint val="75000"/>
                  </a:schemeClr>
                </a:solidFill>
              </a:defRPr>
            </a:lvl2pPr>
            <a:lvl3pPr marL="1203325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3pPr>
            <a:lvl4pPr marL="180467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4pPr>
            <a:lvl5pPr marL="240665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5pPr>
            <a:lvl6pPr marL="300799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6pPr>
            <a:lvl7pPr marL="360997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7pPr>
            <a:lvl8pPr marL="421132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8pPr>
            <a:lvl9pPr marL="481330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D7F652-4C90-4D9B-8B04-69F8C894E702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20011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20108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D26426-25EF-47A2-98CC-47BB1C4FB05A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0011" y="1812997"/>
            <a:ext cx="6362595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0011" y="2568569"/>
            <a:ext cx="6362595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315110" y="1812997"/>
            <a:ext cx="6365094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315110" y="2568569"/>
            <a:ext cx="6365094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934C15-F77E-484C-B7C7-4BA075A37FD0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CD2CDE-0A21-4351-B68A-6FA9F5F148B4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CC465D7-A054-4071-A711-87657E8B0103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2599988" y="161925"/>
            <a:ext cx="4560888" cy="4302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www.guideir.cn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3" y="322478"/>
            <a:ext cx="4737571" cy="1372403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0084" y="322477"/>
            <a:ext cx="8050119" cy="6912635"/>
          </a:xfrm>
          <a:prstGeom prst="rect">
            <a:avLst/>
          </a:prstGeom>
        </p:spPr>
        <p:txBody>
          <a:bodyPr/>
          <a:lstStyle>
            <a:lvl1pPr>
              <a:defRPr sz="4180"/>
            </a:lvl1pPr>
            <a:lvl2pPr>
              <a:defRPr sz="3685"/>
            </a:lvl2pPr>
            <a:lvl3pPr>
              <a:defRPr sz="3190"/>
            </a:lvl3pPr>
            <a:lvl4pPr>
              <a:defRPr sz="2620"/>
            </a:lvl4pPr>
            <a:lvl5pPr>
              <a:defRPr sz="2620"/>
            </a:lvl5pPr>
            <a:lvl6pPr>
              <a:defRPr sz="2620"/>
            </a:lvl6pPr>
            <a:lvl7pPr>
              <a:defRPr sz="2620"/>
            </a:lvl7pPr>
            <a:lvl8pPr>
              <a:defRPr sz="2620"/>
            </a:lvl8pPr>
            <a:lvl9pPr>
              <a:defRPr sz="26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20013" y="1694881"/>
            <a:ext cx="4737571" cy="5540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25EB63-E1D5-4FD3-9124-FAEC43E8228D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2599988" y="161925"/>
            <a:ext cx="4560888" cy="4302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www.guideir.cn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2543" y="5669598"/>
            <a:ext cx="8640128" cy="669328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22543" y="723699"/>
            <a:ext cx="8640128" cy="48596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180"/>
            </a:lvl1pPr>
            <a:lvl2pPr marL="601345" indent="0">
              <a:buNone/>
              <a:defRPr sz="3685"/>
            </a:lvl2pPr>
            <a:lvl3pPr marL="1203325" indent="0">
              <a:buNone/>
              <a:defRPr sz="3190"/>
            </a:lvl3pPr>
            <a:lvl4pPr marL="1804670" indent="0">
              <a:buNone/>
              <a:defRPr sz="2620"/>
            </a:lvl4pPr>
            <a:lvl5pPr marL="2406650" indent="0">
              <a:buNone/>
              <a:defRPr sz="2620"/>
            </a:lvl5pPr>
            <a:lvl6pPr marL="3007995" indent="0">
              <a:buNone/>
              <a:defRPr sz="2620"/>
            </a:lvl6pPr>
            <a:lvl7pPr marL="3609975" indent="0">
              <a:buNone/>
              <a:defRPr sz="2620"/>
            </a:lvl7pPr>
            <a:lvl8pPr marL="4211320" indent="0">
              <a:buNone/>
              <a:defRPr sz="2620"/>
            </a:lvl8pPr>
            <a:lvl9pPr marL="4813300" indent="0">
              <a:buNone/>
              <a:defRPr sz="2620"/>
            </a:lvl9pPr>
          </a:lstStyle>
          <a:p>
            <a:pPr marL="0" marR="0" lvl="0" indent="0" algn="l" defTabSz="120205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18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22543" y="6338926"/>
            <a:ext cx="8640128" cy="950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C34137-CFD6-4EEC-952E-B838D202FAA1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2599988" y="161925"/>
            <a:ext cx="4560888" cy="4302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www.guideir.cn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1889866"/>
            <a:ext cx="12960192" cy="534524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17AD51-89D0-4380-A84C-B800C6D21595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2599988" y="161925"/>
            <a:ext cx="4560888" cy="43021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www.guideir.cn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0154" y="324354"/>
            <a:ext cx="3240048" cy="691076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324354"/>
            <a:ext cx="9480140" cy="69107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720725" y="7507288"/>
            <a:ext cx="3359150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454E043-3FCF-47FC-9C46-0F55C2D2A12F}" type="datetimeFigureOut">
              <a:rPr kumimoji="0" lang="zh-CN" altLang="en-US" sz="234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2025/3/14</a:t>
            </a:fld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19663" y="7507288"/>
            <a:ext cx="4560888" cy="430213"/>
          </a:xfrm>
          <a:prstGeom prst="rect">
            <a:avLst/>
          </a:prstGeom>
        </p:spPr>
        <p:txBody>
          <a:bodyPr/>
          <a:lstStyle>
            <a:lvl1pPr defTabSz="1203325" eaLnBrk="1" fontAlgn="auto" hangingPunct="1">
              <a:spcBef>
                <a:spcPts val="0"/>
              </a:spcBef>
              <a:spcAft>
                <a:spcPts val="0"/>
              </a:spcAft>
              <a:defRPr sz="2340">
                <a:latin typeface="+mn-lt"/>
                <a:ea typeface="+mn-ea"/>
              </a:defRPr>
            </a:lvl1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20338" y="7507288"/>
            <a:ext cx="3359150" cy="4302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4400213" cy="6651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34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 txBox="1"/>
          <p:nvPr/>
        </p:nvSpPr>
        <p:spPr>
          <a:xfrm>
            <a:off x="12682538" y="233363"/>
            <a:ext cx="1646238" cy="4318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www.guideir.com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1202055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0205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0205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0205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02055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defTabSz="120205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defTabSz="120205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defTabSz="120205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defTabSz="1202055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50850" indent="-450850" algn="l" defTabSz="12020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1pPr>
      <a:lvl2pPr marL="976630" indent="-374650" algn="l" defTabSz="12020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503680" indent="-300355" algn="l" defTabSz="12020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05025" indent="-300355" algn="l" defTabSz="12020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07005" indent="-300355" algn="l" defTabSz="120205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898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6pPr>
      <a:lvl7pPr marL="391096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7pPr>
      <a:lvl8pPr marL="451231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8pPr>
      <a:lvl9pPr marL="511429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20332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80467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40665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00799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60997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21132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81330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&#25506;&#27979;&#22120;&#24555;&#38376;&#38388;&#38548;&#23454;&#39564;&#25968;&#25454;.xls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-54610"/>
            <a:ext cx="14400213" cy="8099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838" y="5946775"/>
            <a:ext cx="2387600" cy="792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ext Box 15"/>
          <p:cNvSpPr txBox="1"/>
          <p:nvPr/>
        </p:nvSpPr>
        <p:spPr>
          <a:xfrm>
            <a:off x="10224442" y="7218064"/>
            <a:ext cx="30241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 Light" panose="020B0502040204020203" charset="-122"/>
              </a:rPr>
              <a:t>时间：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 Light" panose="020B0502040204020203" charset="-122"/>
              </a:rPr>
              <a:t>20250312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 Light" panose="020B0502040204020203" charset="-122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2541746" y="2681560"/>
            <a:ext cx="93154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1203325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noProof="0" dirty="0" smtClean="0">
                <a:solidFill>
                  <a:schemeClr val="bg1"/>
                </a:solidFill>
                <a:latin typeface="+mn-ea"/>
                <a:ea typeface="+mn-ea"/>
              </a:rPr>
              <a:t>测温产品快门间隔优化方案</a:t>
            </a:r>
            <a:endParaRPr kumimoji="0" lang="zh-CN" altLang="en-US" sz="3800" kern="1200" cap="none" spc="0" normalizeH="0" baseline="0" noProof="0" dirty="0" smtClean="0"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" name="Text Box 15"/>
          <p:cNvSpPr txBox="1"/>
          <p:nvPr/>
        </p:nvSpPr>
        <p:spPr>
          <a:xfrm>
            <a:off x="10224442" y="6080075"/>
            <a:ext cx="386969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 Light" panose="020B0502040204020203" charset="-122"/>
              </a:rPr>
              <a:t>测温产品部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 Light" panose="020B0502040204020203" charset="-122"/>
              </a:rPr>
              <a:t> 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 Light" panose="020B0502040204020203" charset="-122"/>
              </a:rPr>
              <a:t>图像逻辑组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 Light" panose="020B0502040204020203" charset="-122"/>
            </a:endParaRPr>
          </a:p>
        </p:txBody>
      </p:sp>
      <p:sp>
        <p:nvSpPr>
          <p:cNvPr id="7" name="Text Box 15"/>
          <p:cNvSpPr txBox="1"/>
          <p:nvPr/>
        </p:nvSpPr>
        <p:spPr>
          <a:xfrm>
            <a:off x="10224442" y="6597807"/>
            <a:ext cx="3024187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 Light" panose="020B0502040204020203" charset="-122"/>
              </a:rPr>
              <a:t>汇报人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 Light" panose="020B0502040204020203" charset="-122"/>
              </a:rPr>
              <a:t>：卢国栋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2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40"/>
                            </p:stCondLst>
                            <p:childTnLst>
                              <p:par>
                                <p:cTn id="2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文本框 20"/>
          <p:cNvSpPr txBox="1">
            <a:spLocks noChangeArrowheads="1"/>
          </p:cNvSpPr>
          <p:nvPr/>
        </p:nvSpPr>
        <p:spPr bwMode="auto">
          <a:xfrm>
            <a:off x="791394" y="1097384"/>
            <a:ext cx="51847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480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目   录</a:t>
            </a:r>
          </a:p>
        </p:txBody>
      </p:sp>
      <p:pic>
        <p:nvPicPr>
          <p:cNvPr id="1434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63" y="88900"/>
            <a:ext cx="1554162" cy="51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91394" y="2249512"/>
            <a:ext cx="129614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</a:rPr>
              <a:t>一、项目背景和问题定义</a:t>
            </a:r>
            <a:endParaRPr lang="en-US" altLang="zh-CN" sz="28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</a:rPr>
              <a:t>二、实验设计与方法</a:t>
            </a:r>
            <a:endParaRPr lang="en-US" altLang="zh-CN" sz="28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</a:rPr>
              <a:t>三、实验数据与分析</a:t>
            </a:r>
            <a:endParaRPr lang="en-US" altLang="zh-CN" sz="28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</a:rPr>
              <a:t>四、解决方案与优化建议</a:t>
            </a:r>
            <a:endParaRPr lang="en-US" altLang="zh-CN" sz="28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</a:rPr>
              <a:t>五、验证效果与风险控制</a:t>
            </a:r>
            <a:endParaRPr lang="en-US" altLang="zh-CN" sz="28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FF0000"/>
                </a:solidFill>
                <a:latin typeface="+mn-ea"/>
                <a:ea typeface="+mn-ea"/>
              </a:rPr>
              <a:t>六、下一步计划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文本框 20"/>
          <p:cNvSpPr txBox="1">
            <a:spLocks noGrp="1"/>
          </p:cNvSpPr>
          <p:nvPr>
            <p:ph type="title"/>
          </p:nvPr>
        </p:nvSpPr>
        <p:spPr>
          <a:xfrm>
            <a:off x="143193" y="88900"/>
            <a:ext cx="12960350" cy="521970"/>
          </a:xfrm>
          <a:noFill/>
          <a:ln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项目背景与问题定义</a:t>
            </a:r>
            <a:endParaRPr lang="zh-CN" altLang="en-US" sz="280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19455" y="2537460"/>
            <a:ext cx="10729595" cy="58604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endParaRPr lang="zh-CN" altLang="en-US" sz="1200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418" y="1241400"/>
            <a:ext cx="1281742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/>
              <a:t>客户反馈</a:t>
            </a:r>
            <a:endParaRPr lang="en-US" altLang="zh-CN" b="1" dirty="0" smtClean="0"/>
          </a:p>
          <a:p>
            <a:pPr marL="942975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当前测温产品设备快门补偿触发频繁（每</a:t>
            </a:r>
            <a:r>
              <a:rPr lang="en-US" altLang="zh-CN" dirty="0" smtClean="0"/>
              <a:t>30s/2min</a:t>
            </a:r>
            <a:r>
              <a:rPr lang="zh-CN" altLang="en-US" dirty="0" smtClean="0"/>
              <a:t>一次），影响用户体验；</a:t>
            </a:r>
            <a:endParaRPr lang="en-US" altLang="zh-CN" dirty="0" smtClean="0"/>
          </a:p>
          <a:p>
            <a:pPr marL="942975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</a:rPr>
              <a:t>需求：</a:t>
            </a:r>
            <a:r>
              <a:rPr lang="zh-CN" altLang="en-US" dirty="0" smtClean="0"/>
              <a:t>延长快门补偿间隔时间，减少图像画面冻结频率；</a:t>
            </a:r>
            <a:endParaRPr lang="en-US" altLang="zh-CN" dirty="0" smtClean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/>
              <a:t>技术矛盾</a:t>
            </a:r>
            <a:endParaRPr lang="en-US" altLang="zh-CN" b="1" dirty="0"/>
          </a:p>
          <a:p>
            <a:pPr marL="942975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快门补偿功能用于校准图像质量，长时间不触发可能导致图像异常（如：偏压、噪点等）；</a:t>
            </a:r>
            <a:endParaRPr lang="en-US" altLang="zh-CN" dirty="0" smtClean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/>
              <a:t>项目目标</a:t>
            </a:r>
            <a:endParaRPr lang="en-US" altLang="zh-CN" b="1" dirty="0" smtClean="0"/>
          </a:p>
          <a:p>
            <a:pPr marL="942975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找到各类探测器（</a:t>
            </a:r>
            <a:r>
              <a:rPr lang="en-US" altLang="zh-CN" dirty="0" smtClean="0"/>
              <a:t>Gst117W/Gst212W/Gst412C/Gst612C</a:t>
            </a:r>
            <a:r>
              <a:rPr lang="zh-CN" altLang="en-US" dirty="0" smtClean="0"/>
              <a:t>）不同温度下，快门补偿最长安全间隔时间，平衡用户体验与图像质量；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文本框 20"/>
          <p:cNvSpPr txBox="1">
            <a:spLocks noGrp="1"/>
          </p:cNvSpPr>
          <p:nvPr>
            <p:ph type="title"/>
          </p:nvPr>
        </p:nvSpPr>
        <p:spPr>
          <a:xfrm>
            <a:off x="143193" y="88900"/>
            <a:ext cx="12960350" cy="521970"/>
          </a:xfrm>
          <a:noFill/>
          <a:ln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实验设计与方法</a:t>
            </a:r>
            <a:endParaRPr lang="zh-CN" altLang="en-US" sz="280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791395" y="1525944"/>
            <a:ext cx="12817424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00075" lvl="1" indent="-142875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202055" lvl="2" indent="-287655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803400" lvl="3" indent="-431800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405380" lvl="4" indent="-576580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lvl="5" indent="-576580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lvl="6" indent="-576580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lvl="7" indent="-576580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lvl="8" indent="-576580" algn="l" defTabSz="1202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3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/>
              <a:t>实验环境</a:t>
            </a:r>
            <a:endParaRPr lang="en-US" altLang="zh-CN" b="1" dirty="0" smtClean="0"/>
          </a:p>
          <a:p>
            <a:pPr marL="9429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温循测试箱：分别设置</a:t>
            </a:r>
            <a:r>
              <a:rPr lang="en-US" altLang="zh-CN" dirty="0" smtClean="0"/>
              <a:t>0</a:t>
            </a:r>
            <a:r>
              <a:rPr lang="zh-CN" altLang="en-US" dirty="0" smtClean="0"/>
              <a:t>℃、</a:t>
            </a:r>
            <a:r>
              <a:rPr lang="en-US" altLang="zh-CN" dirty="0" smtClean="0"/>
              <a:t>20 </a:t>
            </a:r>
            <a:r>
              <a:rPr lang="zh-CN" altLang="en-US" dirty="0" smtClean="0"/>
              <a:t>℃ 、</a:t>
            </a:r>
            <a:r>
              <a:rPr lang="en-US" altLang="zh-CN" dirty="0" smtClean="0"/>
              <a:t>30</a:t>
            </a:r>
            <a:r>
              <a:rPr lang="en-US" altLang="zh-CN" dirty="0"/>
              <a:t> </a:t>
            </a:r>
            <a:r>
              <a:rPr lang="zh-CN" altLang="en-US" dirty="0" smtClean="0"/>
              <a:t>℃ 、</a:t>
            </a:r>
            <a:r>
              <a:rPr lang="en-US" altLang="zh-CN" dirty="0" smtClean="0"/>
              <a:t>40</a:t>
            </a:r>
            <a:r>
              <a:rPr lang="en-US" altLang="zh-CN" dirty="0"/>
              <a:t> </a:t>
            </a:r>
            <a:r>
              <a:rPr lang="zh-CN" altLang="en-US" dirty="0" smtClean="0"/>
              <a:t>℃ 和</a:t>
            </a:r>
            <a:r>
              <a:rPr lang="en-US" altLang="zh-CN" dirty="0" smtClean="0"/>
              <a:t>50</a:t>
            </a:r>
            <a:r>
              <a:rPr lang="en-US" altLang="zh-CN" dirty="0"/>
              <a:t> </a:t>
            </a:r>
            <a:r>
              <a:rPr lang="zh-CN" altLang="en-US" dirty="0" smtClean="0"/>
              <a:t>℃温度；</a:t>
            </a:r>
            <a:endParaRPr lang="en-US" altLang="zh-CN" dirty="0" smtClean="0"/>
          </a:p>
          <a:p>
            <a:pPr marL="9429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测试设备：</a:t>
            </a:r>
            <a:r>
              <a:rPr lang="en-US" altLang="zh-CN" dirty="0" smtClean="0"/>
              <a:t>ZC20B</a:t>
            </a:r>
            <a:r>
              <a:rPr lang="zh-CN" altLang="en-US" dirty="0" smtClean="0"/>
              <a:t>和</a:t>
            </a:r>
            <a:r>
              <a:rPr lang="en-US" altLang="zh-CN" dirty="0" smtClean="0"/>
              <a:t>ZC21A</a:t>
            </a:r>
            <a:r>
              <a:rPr lang="zh-CN" altLang="en-US" dirty="0" smtClean="0"/>
              <a:t>分别各</a:t>
            </a:r>
            <a:r>
              <a:rPr lang="en-US" altLang="zh-CN" dirty="0" smtClean="0"/>
              <a:t>4</a:t>
            </a:r>
            <a:r>
              <a:rPr lang="zh-CN" altLang="en-US" dirty="0" smtClean="0"/>
              <a:t>台，</a:t>
            </a:r>
            <a:r>
              <a:rPr lang="en-US" altLang="zh-CN" dirty="0" smtClean="0"/>
              <a:t>ZC16C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ZC16D</a:t>
            </a:r>
            <a:r>
              <a:rPr lang="zh-CN" altLang="en-US" dirty="0" smtClean="0"/>
              <a:t>分别个</a:t>
            </a:r>
            <a:r>
              <a:rPr lang="en-US" altLang="zh-CN" dirty="0" smtClean="0"/>
              <a:t>1</a:t>
            </a:r>
            <a:r>
              <a:rPr lang="zh-CN" altLang="en-US" dirty="0" smtClean="0"/>
              <a:t>台；</a:t>
            </a:r>
            <a:endParaRPr lang="en-US" altLang="zh-CN" dirty="0" smtClean="0"/>
          </a:p>
          <a:p>
            <a:pPr marL="9429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设备要求：关闭自动快门和温升快门，每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分钟做一次“低→高→低”切测温范围；</a:t>
            </a:r>
            <a:endParaRPr lang="en-US" altLang="zh-CN" dirty="0" smtClean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/>
              <a:t>测试条件</a:t>
            </a:r>
            <a:endParaRPr lang="en-US" altLang="zh-CN" b="1" dirty="0"/>
          </a:p>
          <a:p>
            <a:pPr marL="9429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设置温箱温度，将设备放入并保温</a:t>
            </a:r>
            <a:r>
              <a:rPr lang="en-US" altLang="zh-CN" dirty="0" smtClean="0"/>
              <a:t>1</a:t>
            </a:r>
            <a:r>
              <a:rPr lang="zh-CN" altLang="en-US" dirty="0" smtClean="0"/>
              <a:t>小时；</a:t>
            </a:r>
            <a:endParaRPr lang="en-US" altLang="zh-CN" dirty="0" smtClean="0"/>
          </a:p>
          <a:p>
            <a:pPr marL="9429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设备开机，开启自动拍照功能（每</a:t>
            </a:r>
            <a:r>
              <a:rPr lang="en-US" altLang="zh-CN" dirty="0" smtClean="0"/>
              <a:t>5s</a:t>
            </a:r>
            <a:r>
              <a:rPr lang="zh-CN" altLang="en-US" dirty="0"/>
              <a:t>拍照</a:t>
            </a:r>
            <a:r>
              <a:rPr lang="zh-CN" altLang="en-US" dirty="0" smtClean="0"/>
              <a:t>）；</a:t>
            </a:r>
            <a:endParaRPr lang="en-US" altLang="zh-CN" dirty="0" smtClean="0"/>
          </a:p>
          <a:p>
            <a:pPr marL="9429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设备持续在温箱中开机</a:t>
            </a:r>
            <a:r>
              <a:rPr lang="en-US" altLang="zh-CN" dirty="0" smtClean="0"/>
              <a:t>2h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/>
              <a:t>数据采集</a:t>
            </a:r>
            <a:endParaRPr lang="en-US" altLang="zh-CN" b="1" dirty="0" smtClean="0"/>
          </a:p>
          <a:p>
            <a:pPr marL="9429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获取到每个环温下，设备持续</a:t>
            </a:r>
            <a:r>
              <a:rPr lang="en-US" altLang="zh-CN" dirty="0" smtClean="0"/>
              <a:t>2h</a:t>
            </a:r>
            <a:r>
              <a:rPr lang="zh-CN" altLang="en-US" dirty="0" smtClean="0"/>
              <a:t>的拍照照片；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文本框 20"/>
          <p:cNvSpPr txBox="1">
            <a:spLocks noGrp="1"/>
          </p:cNvSpPr>
          <p:nvPr>
            <p:ph type="title"/>
          </p:nvPr>
        </p:nvSpPr>
        <p:spPr>
          <a:xfrm>
            <a:off x="71438" y="89535"/>
            <a:ext cx="12960350" cy="521970"/>
          </a:xfrm>
          <a:noFill/>
          <a:ln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实验数据与分析</a:t>
            </a:r>
            <a:endParaRPr lang="zh-CN" altLang="en-US" sz="280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658" y="953368"/>
            <a:ext cx="704850" cy="8477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30" y="2033488"/>
            <a:ext cx="14044630" cy="230425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1354" y="953368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实验数据</a:t>
            </a:r>
            <a:endParaRPr lang="zh-CN" altLang="en-U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1354" y="4689073"/>
            <a:ext cx="381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分析结果</a:t>
            </a:r>
            <a:endParaRPr lang="zh-CN" altLang="en-U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5370" y="5489872"/>
            <a:ext cx="131774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/>
              <a:t>综合上述数据，快门策略需做分档控制，根据开机时间进行动态调整；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/>
              <a:t>根据实验结果，取最小值，重新定义快门策略，并导入设备中进行多轮验证，输出优化方案。</a:t>
            </a:r>
            <a:endParaRPr lang="en-US" altLang="zh-CN" dirty="0" smtClean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90600" y="4651600"/>
          <a:ext cx="12419013" cy="147188"/>
        </p:xfrm>
        <a:graphic>
          <a:graphicData uri="http://schemas.openxmlformats.org/drawingml/2006/table">
            <a:tbl>
              <a:tblPr/>
              <a:tblGrid>
                <a:gridCol w="12419013"/>
              </a:tblGrid>
              <a:tr h="147188">
                <a:tc>
                  <a:txBody>
                    <a:bodyPr/>
                    <a:lstStyle/>
                    <a:p>
                      <a:pPr fontAlgn="t" latinLnBrk="0"/>
                      <a:endParaRPr lang="zh-CN" altLang="en-US" sz="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196" marR="55196" marT="27598" marB="275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990600" y="4651600"/>
          <a:ext cx="12419013" cy="147188"/>
        </p:xfrm>
        <a:graphic>
          <a:graphicData uri="http://schemas.openxmlformats.org/drawingml/2006/table">
            <a:tbl>
              <a:tblPr/>
              <a:tblGrid>
                <a:gridCol w="12419013"/>
              </a:tblGrid>
              <a:tr h="147188">
                <a:tc>
                  <a:txBody>
                    <a:bodyPr/>
                    <a:lstStyle/>
                    <a:p>
                      <a:pPr fontAlgn="t" latinLnBrk="0"/>
                      <a:endParaRPr lang="zh-CN" altLang="en-US" sz="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196" marR="55196" marT="27598" marB="275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990600" y="4651600"/>
          <a:ext cx="12419013" cy="147188"/>
        </p:xfrm>
        <a:graphic>
          <a:graphicData uri="http://schemas.openxmlformats.org/drawingml/2006/table">
            <a:tbl>
              <a:tblPr/>
              <a:tblGrid>
                <a:gridCol w="12419013"/>
              </a:tblGrid>
              <a:tr h="147188">
                <a:tc>
                  <a:txBody>
                    <a:bodyPr/>
                    <a:lstStyle/>
                    <a:p>
                      <a:pPr fontAlgn="t" latinLnBrk="0"/>
                      <a:endParaRPr lang="zh-CN" altLang="en-US" sz="6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5196" marR="55196" marT="27598" marB="2759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文本框 20"/>
          <p:cNvSpPr txBox="1">
            <a:spLocks noGrp="1"/>
          </p:cNvSpPr>
          <p:nvPr>
            <p:ph type="title"/>
          </p:nvPr>
        </p:nvSpPr>
        <p:spPr>
          <a:xfrm>
            <a:off x="143193" y="88900"/>
            <a:ext cx="12960350" cy="521970"/>
          </a:xfrm>
          <a:noFill/>
          <a:ln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解决方案与优化建议</a:t>
            </a:r>
            <a:r>
              <a:rPr lang="en-US" altLang="zh-CN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——Gst117W</a:t>
            </a:r>
            <a:endParaRPr lang="zh-CN" altLang="en-US" sz="280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5" y="809352"/>
            <a:ext cx="14300954" cy="729007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文本框 20"/>
          <p:cNvSpPr txBox="1">
            <a:spLocks noGrp="1"/>
          </p:cNvSpPr>
          <p:nvPr>
            <p:ph type="title"/>
          </p:nvPr>
        </p:nvSpPr>
        <p:spPr>
          <a:xfrm>
            <a:off x="143193" y="88900"/>
            <a:ext cx="12960350" cy="521970"/>
          </a:xfrm>
          <a:noFill/>
          <a:ln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解决方案与优化建议</a:t>
            </a:r>
            <a:r>
              <a:rPr lang="en-US" altLang="zh-CN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——Gst212W</a:t>
            </a:r>
            <a:endParaRPr lang="zh-CN" altLang="en-US" sz="280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5823"/>
            <a:ext cx="14400213" cy="73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71779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文本框 20"/>
          <p:cNvSpPr txBox="1">
            <a:spLocks noGrp="1"/>
          </p:cNvSpPr>
          <p:nvPr>
            <p:ph type="title"/>
          </p:nvPr>
        </p:nvSpPr>
        <p:spPr>
          <a:xfrm>
            <a:off x="143193" y="88900"/>
            <a:ext cx="12960350" cy="521970"/>
          </a:xfrm>
          <a:noFill/>
          <a:ln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解决方案与优化建议</a:t>
            </a:r>
            <a:r>
              <a:rPr lang="en-US" altLang="zh-CN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——Gst412C&amp;Gst612C</a:t>
            </a:r>
            <a:endParaRPr lang="zh-CN" altLang="en-US" sz="280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78" y="737344"/>
            <a:ext cx="12961440" cy="73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14839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文本框 20"/>
          <p:cNvSpPr txBox="1">
            <a:spLocks noGrp="1"/>
          </p:cNvSpPr>
          <p:nvPr>
            <p:ph type="title"/>
          </p:nvPr>
        </p:nvSpPr>
        <p:spPr>
          <a:xfrm>
            <a:off x="143193" y="88900"/>
            <a:ext cx="12960350" cy="521970"/>
          </a:xfrm>
          <a:noFill/>
          <a:ln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验证效果与风险控制</a:t>
            </a:r>
            <a:endParaRPr lang="zh-CN" altLang="en-US" sz="280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54" y="881360"/>
            <a:ext cx="5688632" cy="25974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138" y="881361"/>
            <a:ext cx="5699789" cy="25974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138" y="4409752"/>
            <a:ext cx="5615405" cy="21617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54" y="4397041"/>
            <a:ext cx="5688632" cy="21587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19486" y="3470821"/>
            <a:ext cx="331236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ZC20B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681848" y="3495535"/>
            <a:ext cx="331236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ZC21A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619486" y="6555764"/>
            <a:ext cx="331236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ZC16C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639656" y="6568475"/>
            <a:ext cx="331236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ZC16D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7098148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文本框 20"/>
          <p:cNvSpPr txBox="1">
            <a:spLocks noGrp="1"/>
          </p:cNvSpPr>
          <p:nvPr>
            <p:ph type="title"/>
          </p:nvPr>
        </p:nvSpPr>
        <p:spPr>
          <a:xfrm>
            <a:off x="143193" y="88900"/>
            <a:ext cx="12960350" cy="521970"/>
          </a:xfrm>
          <a:noFill/>
          <a:ln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下一步计划</a:t>
            </a:r>
            <a:endParaRPr lang="zh-CN" altLang="en-US" sz="280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7418" y="1241400"/>
            <a:ext cx="12313368" cy="1621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长期稳定性测试（持续一个月）；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正常导入项目中，跟进小批量设备，收集反馈数据，适当进行调整；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量产设备固件升级。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622938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400213" cy="8099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863402" y="809352"/>
            <a:ext cx="7197725" cy="132343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spAutoFit/>
          </a:bodyPr>
          <a:lstStyle/>
          <a:p>
            <a:pPr marL="0" marR="0" lvl="0" indent="0" algn="l" defTabSz="12033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kumimoji="0" lang="zh-CN" altLang="en-US" sz="8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9788" y="5705475"/>
            <a:ext cx="135366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武汉高德智感科技有限公司</a:t>
            </a:r>
          </a:p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Wuhan Guide Sensmart Tech Co.,Ltd.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9788" y="6713538"/>
            <a:ext cx="24003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 +86-27-81298783</a:t>
            </a:r>
          </a:p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 +86-27-81298345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79725" y="6713538"/>
            <a:ext cx="34559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  Mei@guide-infrared.com</a:t>
            </a:r>
          </a:p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 www.guideir.com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9788" y="6210300"/>
            <a:ext cx="135366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湖北省武汉市东湖开发区光谷大道黄龙山南路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号，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430205</a:t>
            </a:r>
          </a:p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No.6 Huanglongshan South Rd,Wuhan,430205,P.R.China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zYWEyZGRiNDFlYWMwMTdjOWNkNmRjMzZlMTg5MGUifQ=="/>
</p:tagLst>
</file>

<file path=ppt/theme/theme1.xml><?xml version="1.0" encoding="utf-8"?>
<a:theme xmlns:a="http://schemas.openxmlformats.org/drawingml/2006/main" name="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456</Words>
  <Application>Microsoft Office PowerPoint</Application>
  <PresentationFormat>自定义</PresentationFormat>
  <Paragraphs>58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微软雅黑 Light</vt:lpstr>
      <vt:lpstr>Arial</vt:lpstr>
      <vt:lpstr>Wingdings</vt:lpstr>
      <vt:lpstr>Office 主题</vt:lpstr>
      <vt:lpstr>PowerPoint 演示文稿</vt:lpstr>
      <vt:lpstr>PowerPoint 演示文稿</vt:lpstr>
      <vt:lpstr>一、项目背景与问题定义</vt:lpstr>
      <vt:lpstr>二、实验设计与方法</vt:lpstr>
      <vt:lpstr>三、实验数据与分析</vt:lpstr>
      <vt:lpstr>四、解决方案与优化建议——Gst117W</vt:lpstr>
      <vt:lpstr>四、解决方案与优化建议——Gst212W</vt:lpstr>
      <vt:lpstr>四、解决方案与优化建议——Gst412C&amp;Gst612C</vt:lpstr>
      <vt:lpstr>五、验证效果与风险控制</vt:lpstr>
      <vt:lpstr>六、下一步计划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卢国栋-2</cp:lastModifiedBy>
  <cp:revision>482</cp:revision>
  <dcterms:created xsi:type="dcterms:W3CDTF">2015-07-01T09:37:00Z</dcterms:created>
  <dcterms:modified xsi:type="dcterms:W3CDTF">2025-03-14T06:39:41Z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25D1A9757E9F4B99AEA25A479F7D1B95_12</vt:lpwstr>
  </property>
  <property fmtid="{D5CDD505-2E9C-101B-9397-08002B2CF9AE}" pid="3" name="KSOProductBuildVer">
    <vt:lpwstr>2052-12.1.0.16250</vt:lpwstr>
  </property>
</Properties>
</file>