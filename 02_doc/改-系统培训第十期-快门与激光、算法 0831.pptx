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olors1.xml" ContentType="application/vnd.ms-office.chartcolorstyle+xml"/>
  <Override PartName="/ppt/charts/colors2.xml" ContentType="application/vnd.ms-office.chartcolorstyle+xml"/>
  <Override PartName="/ppt/charts/style1.xml" ContentType="application/vnd.ms-office.chartstyle+xml"/>
  <Override PartName="/ppt/charts/style2.xml" ContentType="application/vnd.ms-office.chartstyle+xml"/>
  <Override PartName="/ppt/commentAuthors.xml" ContentType="application/vnd.openxmlformats-officedocument.presentationml.commentAuthors+xml"/>
  <Override PartName="/ppt/media/image69.webp" ContentType="image/webp"/>
  <Override PartName="/ppt/media/image73.webp" ContentType="image/webp"/>
  <Override PartName="/ppt/media/image76.webp" ContentType="image/webp"/>
  <Override PartName="/ppt/media/image78.webp" ContentType="image/webp"/>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75" r:id="rId3"/>
    <p:sldId id="299" r:id="rId5"/>
    <p:sldId id="300" r:id="rId6"/>
    <p:sldId id="392" r:id="rId7"/>
    <p:sldId id="393" r:id="rId8"/>
    <p:sldId id="394" r:id="rId9"/>
    <p:sldId id="388" r:id="rId10"/>
    <p:sldId id="395" r:id="rId11"/>
    <p:sldId id="390" r:id="rId12"/>
    <p:sldId id="396" r:id="rId13"/>
    <p:sldId id="397" r:id="rId14"/>
    <p:sldId id="402" r:id="rId15"/>
    <p:sldId id="446" r:id="rId16"/>
    <p:sldId id="416" r:id="rId17"/>
    <p:sldId id="415" r:id="rId18"/>
    <p:sldId id="418" r:id="rId19"/>
    <p:sldId id="404" r:id="rId20"/>
    <p:sldId id="490" r:id="rId21"/>
    <p:sldId id="403" r:id="rId22"/>
    <p:sldId id="487" r:id="rId23"/>
    <p:sldId id="410" r:id="rId24"/>
    <p:sldId id="423" r:id="rId25"/>
    <p:sldId id="421" r:id="rId26"/>
    <p:sldId id="422" r:id="rId27"/>
    <p:sldId id="518" r:id="rId28"/>
    <p:sldId id="519" r:id="rId29"/>
    <p:sldId id="520" r:id="rId30"/>
    <p:sldId id="521" r:id="rId31"/>
    <p:sldId id="522" r:id="rId32"/>
    <p:sldId id="523" r:id="rId33"/>
    <p:sldId id="524" r:id="rId34"/>
    <p:sldId id="525" r:id="rId35"/>
    <p:sldId id="526" r:id="rId36"/>
    <p:sldId id="527" r:id="rId37"/>
    <p:sldId id="528" r:id="rId38"/>
    <p:sldId id="529" r:id="rId39"/>
    <p:sldId id="530" r:id="rId40"/>
    <p:sldId id="531" r:id="rId41"/>
    <p:sldId id="532" r:id="rId42"/>
    <p:sldId id="533" r:id="rId43"/>
    <p:sldId id="534" r:id="rId44"/>
    <p:sldId id="535" r:id="rId45"/>
    <p:sldId id="536" r:id="rId46"/>
    <p:sldId id="387" r:id="rId47"/>
  </p:sldIdLst>
  <p:sldSz cx="12192000" cy="6858000"/>
  <p:notesSz cx="9144000" cy="6858000"/>
  <p:custDataLst>
    <p:tags r:id="rId5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张明龙" initials="张明龙"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475866"/>
    <a:srgbClr val="AA7B51"/>
    <a:srgbClr val="4CB7A3"/>
    <a:srgbClr val="EB6161"/>
    <a:srgbClr val="47B6A6"/>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636" autoAdjust="0"/>
    <p:restoredTop sz="88120" autoAdjust="0"/>
  </p:normalViewPr>
  <p:slideViewPr>
    <p:cSldViewPr snapToGrid="0">
      <p:cViewPr varScale="1">
        <p:scale>
          <a:sx n="66" d="100"/>
          <a:sy n="66" d="100"/>
        </p:scale>
        <p:origin x="672" y="60"/>
      </p:cViewPr>
      <p:guideLst/>
    </p:cSldViewPr>
  </p:slideViewPr>
  <p:notesTextViewPr>
    <p:cViewPr>
      <p:scale>
        <a:sx n="1" d="1"/>
        <a:sy n="1" d="1"/>
      </p:scale>
      <p:origin x="0" y="0"/>
    </p:cViewPr>
  </p:notesTextViewPr>
  <p:sorterViewPr>
    <p:cViewPr>
      <p:scale>
        <a:sx n="100" d="100"/>
        <a:sy n="100" d="100"/>
      </p:scale>
      <p:origin x="0" y="-16038"/>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2" Type="http://schemas.openxmlformats.org/officeDocument/2006/relationships/tags" Target="tags/tag136.xml"/><Relationship Id="rId51" Type="http://schemas.openxmlformats.org/officeDocument/2006/relationships/commentAuthors" Target="commentAuthors.xml"/><Relationship Id="rId50" Type="http://schemas.openxmlformats.org/officeDocument/2006/relationships/tableStyles" Target="tableStyles.xml"/><Relationship Id="rId5" Type="http://schemas.openxmlformats.org/officeDocument/2006/relationships/slide" Target="slides/slide2.xml"/><Relationship Id="rId49" Type="http://schemas.openxmlformats.org/officeDocument/2006/relationships/viewProps" Target="viewProps.xml"/><Relationship Id="rId48" Type="http://schemas.openxmlformats.org/officeDocument/2006/relationships/presProps" Target="presProps.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oleObject" Target="file:///G:\GD_Project\&#39044;&#30740;&#39033;&#30446;&#65288;ZP29A&#65289;\&#27979;&#35797;&#35780;&#23457;&#65288;&#27979;&#35797;&#32452;&#65289;\20221209&#27979;&#35797;&#27719;&#24635;\&#20184;&#33322;&#25968;&#25454;&#25972;&#29702;.xlsx" TargetMode="External"/></Relationships>
</file>

<file path=ppt/charts/_rels/chart2.xml.rels><?xml version="1.0" encoding="UTF-8" standalone="yes"?>
<Relationships xmlns="http://schemas.openxmlformats.org/package/2006/relationships"><Relationship Id="rId3" Type="http://schemas.microsoft.com/office/2011/relationships/chartColorStyle" Target="colors2.xml"/><Relationship Id="rId2" Type="http://schemas.microsoft.com/office/2011/relationships/chartStyle" Target="style2.xml"/><Relationship Id="rId1" Type="http://schemas.openxmlformats.org/officeDocument/2006/relationships/oleObject" Target="file:///G:\GD_Project\&#39044;&#30740;&#39033;&#30446;&#65288;ZP29A&#65289;\&#27979;&#35797;&#35780;&#23457;&#65288;&#27979;&#35797;&#32452;&#65289;\20221209&#27979;&#35797;&#27719;&#24635;\&#20184;&#33322;&#25968;&#25454;&#25972;&#29702;.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defTabSz="914400">
              <a:defRPr lang="zh-CN" sz="1400" b="0" i="0" u="none" strike="noStrike" kern="1200" spc="0" baseline="0">
                <a:solidFill>
                  <a:schemeClr val="tx1">
                    <a:lumMod val="65000"/>
                    <a:lumOff val="35000"/>
                  </a:schemeClr>
                </a:solidFill>
                <a:latin typeface="+mn-lt"/>
                <a:ea typeface="+mn-ea"/>
                <a:cs typeface="+mn-cs"/>
              </a:defRPr>
            </a:pPr>
            <a:r>
              <a:rPr lang="en-US" altLang="zh-CN"/>
              <a:t>RV1109 ARMV7 120*90</a:t>
            </a:r>
            <a:endParaRPr lang="en-US" altLang="zh-CN"/>
          </a:p>
        </c:rich>
      </c:tx>
      <c:layout/>
      <c:overlay val="0"/>
      <c:spPr>
        <a:noFill/>
        <a:ln>
          <a:noFill/>
        </a:ln>
        <a:effectLst/>
      </c:spPr>
    </c:title>
    <c:autoTitleDeleted val="0"/>
    <c:plotArea>
      <c:layout/>
      <c:lineChart>
        <c:grouping val="standard"/>
        <c:varyColors val="0"/>
        <c:ser>
          <c:idx val="0"/>
          <c:order val="0"/>
          <c:tx>
            <c:strRef>
              <c:f>[付航数据整理.xlsx]Sheet1!$D$11:$D$12</c:f>
              <c:strCache>
                <c:ptCount val="1"/>
                <c:pt idx="0">
                  <c:v>C</c:v>
                </c:pt>
              </c:strCache>
            </c:strRef>
          </c:tx>
          <c:spPr>
            <a:ln w="28575" cap="rnd">
              <a:solidFill>
                <a:schemeClr val="accent2"/>
              </a:solidFill>
              <a:round/>
            </a:ln>
            <a:effectLst/>
          </c:spPr>
          <c:marker>
            <c:symbol val="none"/>
          </c:marker>
          <c:dLbls>
            <c:delete val="1"/>
          </c:dLbls>
          <c:cat>
            <c:strRef>
              <c:f>[付航数据整理.xlsx]Sheet1!$C$13:$C$18</c:f>
              <c:strCache>
                <c:ptCount val="6"/>
                <c:pt idx="0">
                  <c:v>去竖纹(11)</c:v>
                </c:pt>
                <c:pt idx="1">
                  <c:v>去横纹(12)</c:v>
                </c:pt>
                <c:pt idx="2">
                  <c:v>空域滤波</c:v>
                </c:pt>
                <c:pt idx="3">
                  <c:v>图像增强</c:v>
                </c:pt>
                <c:pt idx="4">
                  <c:v>调光</c:v>
                </c:pt>
                <c:pt idx="5">
                  <c:v>缩放（1.5倍放大）</c:v>
                </c:pt>
              </c:strCache>
            </c:strRef>
          </c:cat>
          <c:val>
            <c:numRef>
              <c:f>[付航数据整理.xlsx]Sheet1!$D$13:$D$18</c:f>
              <c:numCache>
                <c:formatCode>General</c:formatCode>
                <c:ptCount val="6"/>
                <c:pt idx="0">
                  <c:v>13.48</c:v>
                </c:pt>
                <c:pt idx="1">
                  <c:v>23.217</c:v>
                </c:pt>
                <c:pt idx="2">
                  <c:v>10.361</c:v>
                </c:pt>
                <c:pt idx="3">
                  <c:v>2.962</c:v>
                </c:pt>
                <c:pt idx="4">
                  <c:v>1.004</c:v>
                </c:pt>
                <c:pt idx="5">
                  <c:v>3.579</c:v>
                </c:pt>
              </c:numCache>
            </c:numRef>
          </c:val>
          <c:smooth val="0"/>
        </c:ser>
        <c:ser>
          <c:idx val="1"/>
          <c:order val="1"/>
          <c:tx>
            <c:strRef>
              <c:f>[付航数据整理.xlsx]Sheet1!$E$11:$E$12</c:f>
              <c:strCache>
                <c:ptCount val="1"/>
                <c:pt idx="0">
                  <c:v>NEON</c:v>
                </c:pt>
              </c:strCache>
            </c:strRef>
          </c:tx>
          <c:spPr>
            <a:ln w="28575" cap="rnd">
              <a:solidFill>
                <a:schemeClr val="accent4"/>
              </a:solidFill>
              <a:round/>
            </a:ln>
            <a:effectLst/>
          </c:spPr>
          <c:marker>
            <c:symbol val="none"/>
          </c:marker>
          <c:dLbls>
            <c:delete val="1"/>
          </c:dLbls>
          <c:cat>
            <c:strRef>
              <c:f>[付航数据整理.xlsx]Sheet1!$C$13:$C$18</c:f>
              <c:strCache>
                <c:ptCount val="6"/>
                <c:pt idx="0">
                  <c:v>去竖纹(11)</c:v>
                </c:pt>
                <c:pt idx="1">
                  <c:v>去横纹(12)</c:v>
                </c:pt>
                <c:pt idx="2">
                  <c:v>空域滤波</c:v>
                </c:pt>
                <c:pt idx="3">
                  <c:v>图像增强</c:v>
                </c:pt>
                <c:pt idx="4">
                  <c:v>调光</c:v>
                </c:pt>
                <c:pt idx="5">
                  <c:v>缩放（1.5倍放大）</c:v>
                </c:pt>
              </c:strCache>
            </c:strRef>
          </c:cat>
          <c:val>
            <c:numRef>
              <c:f>[付航数据整理.xlsx]Sheet1!$E$13:$E$18</c:f>
              <c:numCache>
                <c:formatCode>General</c:formatCode>
                <c:ptCount val="6"/>
                <c:pt idx="0">
                  <c:v>5.277</c:v>
                </c:pt>
                <c:pt idx="1">
                  <c:v>16.302</c:v>
                </c:pt>
                <c:pt idx="2">
                  <c:v>3.474</c:v>
                </c:pt>
                <c:pt idx="3">
                  <c:v>2.7</c:v>
                </c:pt>
                <c:pt idx="4">
                  <c:v>0.737</c:v>
                </c:pt>
                <c:pt idx="5">
                  <c:v>1.968</c:v>
                </c:pt>
              </c:numCache>
            </c:numRef>
          </c:val>
          <c:smooth val="0"/>
        </c:ser>
        <c:dLbls>
          <c:showLegendKey val="0"/>
          <c:showVal val="0"/>
          <c:showCatName val="0"/>
          <c:showSerName val="0"/>
          <c:showPercent val="0"/>
          <c:showBubbleSize val="0"/>
        </c:dLbls>
        <c:marker val="0"/>
        <c:smooth val="0"/>
        <c:axId val="848085940"/>
        <c:axId val="571209335"/>
      </c:lineChart>
      <c:catAx>
        <c:axId val="848085940"/>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571209335"/>
        <c:crosses val="autoZero"/>
        <c:auto val="1"/>
        <c:lblAlgn val="ctr"/>
        <c:lblOffset val="100"/>
        <c:noMultiLvlLbl val="0"/>
      </c:catAx>
      <c:valAx>
        <c:axId val="57120933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848085940"/>
        <c:crosses val="autoZero"/>
        <c:crossBetween val="between"/>
      </c:valAx>
      <c:spPr>
        <a:noFill/>
        <a:ln>
          <a:noFill/>
        </a:ln>
        <a:effectLst/>
      </c:spPr>
    </c:plotArea>
    <c:legend>
      <c:legendPos val="b"/>
      <c:layout/>
      <c:overlay val="0"/>
      <c:spPr>
        <a:noFill/>
        <a:ln>
          <a:noFill/>
        </a:ln>
        <a:effectLst/>
      </c:spPr>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lang="zh-CN"/>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defTabSz="914400">
              <a:defRPr lang="zh-CN" sz="1400" b="0" i="0" u="none" strike="noStrike" kern="1200" spc="0" baseline="0">
                <a:solidFill>
                  <a:schemeClr val="tx1">
                    <a:lumMod val="65000"/>
                    <a:lumOff val="35000"/>
                  </a:schemeClr>
                </a:solidFill>
                <a:latin typeface="+mn-lt"/>
                <a:ea typeface="+mn-ea"/>
                <a:cs typeface="+mn-cs"/>
              </a:defRPr>
            </a:pPr>
            <a:r>
              <a:rPr lang="en-US" altLang="zh-CN"/>
              <a:t>AR9341 ARMV8 320*256</a:t>
            </a:r>
            <a:endParaRPr lang="en-US" altLang="zh-CN"/>
          </a:p>
        </c:rich>
      </c:tx>
      <c:layout>
        <c:manualLayout>
          <c:xMode val="edge"/>
          <c:yMode val="edge"/>
          <c:x val="0.290850587576945"/>
          <c:y val="0.037292817679558"/>
        </c:manualLayout>
      </c:layout>
      <c:overlay val="0"/>
      <c:spPr>
        <a:noFill/>
        <a:ln>
          <a:noFill/>
        </a:ln>
        <a:effectLst/>
      </c:spPr>
    </c:title>
    <c:autoTitleDeleted val="0"/>
    <c:plotArea>
      <c:layout/>
      <c:lineChart>
        <c:grouping val="standard"/>
        <c:varyColors val="0"/>
        <c:ser>
          <c:idx val="0"/>
          <c:order val="0"/>
          <c:tx>
            <c:strRef>
              <c:f>[付航数据整理.xlsx]Sheet1!$D$30:$D$31</c:f>
              <c:strCache>
                <c:ptCount val="1"/>
                <c:pt idx="0">
                  <c:v>C</c:v>
                </c:pt>
              </c:strCache>
            </c:strRef>
          </c:tx>
          <c:spPr>
            <a:ln w="28575" cap="rnd">
              <a:solidFill>
                <a:schemeClr val="accent2"/>
              </a:solidFill>
              <a:round/>
            </a:ln>
            <a:effectLst/>
          </c:spPr>
          <c:marker>
            <c:symbol val="none"/>
          </c:marker>
          <c:dLbls>
            <c:delete val="1"/>
          </c:dLbls>
          <c:cat>
            <c:strRef>
              <c:f>[付航数据整理.xlsx]Sheet1!$C$32:$C$37</c:f>
              <c:strCache>
                <c:ptCount val="6"/>
                <c:pt idx="0">
                  <c:v>去竖纹(11)</c:v>
                </c:pt>
                <c:pt idx="1">
                  <c:v>去横纹(12)</c:v>
                </c:pt>
                <c:pt idx="2">
                  <c:v>空域滤波</c:v>
                </c:pt>
                <c:pt idx="3">
                  <c:v>图像增强</c:v>
                </c:pt>
                <c:pt idx="4">
                  <c:v>调光</c:v>
                </c:pt>
                <c:pt idx="5">
                  <c:v>缩放（1.5倍放大）</c:v>
                </c:pt>
              </c:strCache>
            </c:strRef>
          </c:cat>
          <c:val>
            <c:numRef>
              <c:f>[付航数据整理.xlsx]Sheet1!$D$32:$D$37</c:f>
              <c:numCache>
                <c:formatCode>General</c:formatCode>
                <c:ptCount val="6"/>
                <c:pt idx="0">
                  <c:v>14.748</c:v>
                </c:pt>
                <c:pt idx="1">
                  <c:v>15.778</c:v>
                </c:pt>
                <c:pt idx="2">
                  <c:v>8.708</c:v>
                </c:pt>
                <c:pt idx="3">
                  <c:v>4.658</c:v>
                </c:pt>
                <c:pt idx="4">
                  <c:v>2.032</c:v>
                </c:pt>
                <c:pt idx="5">
                  <c:v>3.601</c:v>
                </c:pt>
              </c:numCache>
            </c:numRef>
          </c:val>
          <c:smooth val="0"/>
        </c:ser>
        <c:ser>
          <c:idx val="1"/>
          <c:order val="1"/>
          <c:tx>
            <c:strRef>
              <c:f>[付航数据整理.xlsx]Sheet1!$E$30:$E$31</c:f>
              <c:strCache>
                <c:ptCount val="1"/>
                <c:pt idx="0">
                  <c:v>NEON</c:v>
                </c:pt>
              </c:strCache>
            </c:strRef>
          </c:tx>
          <c:spPr>
            <a:ln w="28575" cap="rnd">
              <a:solidFill>
                <a:schemeClr val="accent4"/>
              </a:solidFill>
              <a:round/>
            </a:ln>
            <a:effectLst/>
          </c:spPr>
          <c:marker>
            <c:symbol val="none"/>
          </c:marker>
          <c:dLbls>
            <c:delete val="1"/>
          </c:dLbls>
          <c:cat>
            <c:strRef>
              <c:f>[付航数据整理.xlsx]Sheet1!$C$32:$C$37</c:f>
              <c:strCache>
                <c:ptCount val="6"/>
                <c:pt idx="0">
                  <c:v>去竖纹(11)</c:v>
                </c:pt>
                <c:pt idx="1">
                  <c:v>去横纹(12)</c:v>
                </c:pt>
                <c:pt idx="2">
                  <c:v>空域滤波</c:v>
                </c:pt>
                <c:pt idx="3">
                  <c:v>图像增强</c:v>
                </c:pt>
                <c:pt idx="4">
                  <c:v>调光</c:v>
                </c:pt>
                <c:pt idx="5">
                  <c:v>缩放（1.5倍放大）</c:v>
                </c:pt>
              </c:strCache>
            </c:strRef>
          </c:cat>
          <c:val>
            <c:numRef>
              <c:f>[付航数据整理.xlsx]Sheet1!$E$32:$E$37</c:f>
              <c:numCache>
                <c:formatCode>General</c:formatCode>
                <c:ptCount val="6"/>
                <c:pt idx="0">
                  <c:v>5.571</c:v>
                </c:pt>
                <c:pt idx="1">
                  <c:v>12.147</c:v>
                </c:pt>
                <c:pt idx="2">
                  <c:v>3.034</c:v>
                </c:pt>
                <c:pt idx="3">
                  <c:v>2.938</c:v>
                </c:pt>
                <c:pt idx="4">
                  <c:v>0.723</c:v>
                </c:pt>
                <c:pt idx="5">
                  <c:v>2.389</c:v>
                </c:pt>
              </c:numCache>
            </c:numRef>
          </c:val>
          <c:smooth val="0"/>
        </c:ser>
        <c:dLbls>
          <c:showLegendKey val="0"/>
          <c:showVal val="0"/>
          <c:showCatName val="0"/>
          <c:showSerName val="0"/>
          <c:showPercent val="0"/>
          <c:showBubbleSize val="0"/>
        </c:dLbls>
        <c:marker val="0"/>
        <c:smooth val="0"/>
        <c:axId val="872102180"/>
        <c:axId val="544924925"/>
      </c:lineChart>
      <c:catAx>
        <c:axId val="872102180"/>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544924925"/>
        <c:crosses val="autoZero"/>
        <c:auto val="1"/>
        <c:lblAlgn val="ctr"/>
        <c:lblOffset val="100"/>
        <c:noMultiLvlLbl val="0"/>
      </c:catAx>
      <c:valAx>
        <c:axId val="54492492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872102180"/>
        <c:crosses val="autoZero"/>
        <c:crossBetween val="between"/>
      </c:valAx>
      <c:spPr>
        <a:noFill/>
        <a:ln>
          <a:noFill/>
        </a:ln>
        <a:effectLst/>
      </c:spPr>
    </c:plotArea>
    <c:legend>
      <c:legendPos val="b"/>
      <c:layout/>
      <c:overlay val="0"/>
      <c:spPr>
        <a:noFill/>
        <a:ln>
          <a:noFill/>
        </a:ln>
        <a:effectLst/>
      </c:spPr>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lang="zh-CN"/>
      </a:pPr>
    </a:p>
  </c:txPr>
  <c:externalData r:id="rId1">
    <c:autoUpdate val="0"/>
  </c:externalData>
</c:chartSpace>
</file>

<file path=ppt/charts/colors1.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rawings/_rels/vmlDrawing1.vml.rels><?xml version="1.0" encoding="UTF-8" standalone="yes"?>
<Relationships xmlns="http://schemas.openxmlformats.org/package/2006/relationships"><Relationship Id="rId1" Type="http://schemas.openxmlformats.org/officeDocument/2006/relationships/image" Target="../media/image54.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EE2C2ABB-7ACD-4D1B-AFA3-CC3BA8DF66E3}"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914400" y="3300413"/>
            <a:ext cx="7315200" cy="2700338"/>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5CE75355-354A-4170-8A8D-810D26FAA578}"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44D69D-3C03-441F-8E5D-5A29298ED138}"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44D69D-3C03-441F-8E5D-5A29298ED138}"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9" name="矩形 8"/>
          <p:cNvSpPr/>
          <p:nvPr/>
        </p:nvSpPr>
        <p:spPr>
          <a:xfrm>
            <a:off x="0" y="0"/>
            <a:ext cx="12192000"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25"/>
          </a:p>
        </p:txBody>
      </p:sp>
      <p:sp>
        <p:nvSpPr>
          <p:cNvPr id="2" name="标题 1"/>
          <p:cNvSpPr>
            <a:spLocks noGrp="1"/>
          </p:cNvSpPr>
          <p:nvPr>
            <p:ph type="ctrTitle"/>
          </p:nvPr>
        </p:nvSpPr>
        <p:spPr>
          <a:xfrm>
            <a:off x="731504" y="1295012"/>
            <a:ext cx="5791257" cy="1470025"/>
          </a:xfrm>
          <a:prstGeom prst="rect">
            <a:avLst/>
          </a:prstGeom>
        </p:spPr>
        <p:txBody>
          <a:bodyPr/>
          <a:lstStyle>
            <a:lvl1pPr algn="l">
              <a:defRPr>
                <a:solidFill>
                  <a:schemeClr val="tx2"/>
                </a:solidFill>
              </a:defRPr>
            </a:lvl1pPr>
          </a:lstStyle>
          <a:p>
            <a:r>
              <a:rPr lang="zh-CN" altLang="en-US" smtClean="0"/>
              <a:t>单击此处编辑母版标题样式</a:t>
            </a:r>
            <a:endParaRPr lang="zh-CN" altLang="en-US" dirty="0"/>
          </a:p>
        </p:txBody>
      </p:sp>
      <p:sp>
        <p:nvSpPr>
          <p:cNvPr id="3" name="副标题 2"/>
          <p:cNvSpPr>
            <a:spLocks noGrp="1"/>
          </p:cNvSpPr>
          <p:nvPr>
            <p:ph type="subTitle" idx="1"/>
          </p:nvPr>
        </p:nvSpPr>
        <p:spPr>
          <a:xfrm>
            <a:off x="731504" y="3050786"/>
            <a:ext cx="5683671" cy="1752600"/>
          </a:xfrm>
          <a:prstGeom prst="rect">
            <a:avLst/>
          </a:prstGeom>
        </p:spPr>
        <p:txBody>
          <a:bodyPr/>
          <a:lstStyle>
            <a:lvl1pPr marL="0" indent="0" algn="l">
              <a:buNone/>
              <a:defRPr sz="2710">
                <a:solidFill>
                  <a:schemeClr val="tx1">
                    <a:lumMod val="50000"/>
                    <a:lumOff val="50000"/>
                  </a:schemeClr>
                </a:solidFill>
              </a:defRPr>
            </a:lvl1pPr>
            <a:lvl2pPr marL="509270" indent="0" algn="ctr">
              <a:buNone/>
              <a:defRPr>
                <a:solidFill>
                  <a:schemeClr val="tx1">
                    <a:tint val="75000"/>
                  </a:schemeClr>
                </a:solidFill>
              </a:defRPr>
            </a:lvl2pPr>
            <a:lvl3pPr marL="1018540" indent="0" algn="ctr">
              <a:buNone/>
              <a:defRPr>
                <a:solidFill>
                  <a:schemeClr val="tx1">
                    <a:tint val="75000"/>
                  </a:schemeClr>
                </a:solidFill>
              </a:defRPr>
            </a:lvl3pPr>
            <a:lvl4pPr marL="1528445" indent="0" algn="ctr">
              <a:buNone/>
              <a:defRPr>
                <a:solidFill>
                  <a:schemeClr val="tx1">
                    <a:tint val="75000"/>
                  </a:schemeClr>
                </a:solidFill>
              </a:defRPr>
            </a:lvl4pPr>
            <a:lvl5pPr marL="2037715" indent="0" algn="ctr">
              <a:buNone/>
              <a:defRPr>
                <a:solidFill>
                  <a:schemeClr val="tx1">
                    <a:tint val="75000"/>
                  </a:schemeClr>
                </a:solidFill>
              </a:defRPr>
            </a:lvl5pPr>
            <a:lvl6pPr marL="2546985" indent="0" algn="ctr">
              <a:buNone/>
              <a:defRPr>
                <a:solidFill>
                  <a:schemeClr val="tx1">
                    <a:tint val="75000"/>
                  </a:schemeClr>
                </a:solidFill>
              </a:defRPr>
            </a:lvl6pPr>
            <a:lvl7pPr marL="3056255" indent="0" algn="ctr">
              <a:buNone/>
              <a:defRPr>
                <a:solidFill>
                  <a:schemeClr val="tx1">
                    <a:tint val="75000"/>
                  </a:schemeClr>
                </a:solidFill>
              </a:defRPr>
            </a:lvl7pPr>
            <a:lvl8pPr marL="3566160" indent="0" algn="ctr">
              <a:buNone/>
              <a:defRPr>
                <a:solidFill>
                  <a:schemeClr val="tx1">
                    <a:tint val="75000"/>
                  </a:schemeClr>
                </a:solidFill>
              </a:defRPr>
            </a:lvl8pPr>
            <a:lvl9pPr marL="4075430" indent="0" algn="ctr">
              <a:buNone/>
              <a:defRPr>
                <a:solidFill>
                  <a:schemeClr val="tx1">
                    <a:tint val="75000"/>
                  </a:schemeClr>
                </a:solidFill>
              </a:defRPr>
            </a:lvl9pPr>
          </a:lstStyle>
          <a:p>
            <a:r>
              <a:rPr lang="zh-CN" altLang="en-US" smtClean="0"/>
              <a:t>单击此处编辑母版副标题样式</a:t>
            </a:r>
            <a:endParaRPr lang="zh-CN" altLang="en-US" dirty="0"/>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41117AC4-C4B6-4BB1-A699-26FD239F4236}" type="datetimeFigureOut">
              <a:rPr lang="zh-CN" altLang="en-US" smtClean="0"/>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6F2CBD76-B1E9-4B90-AB72-0B1A97848012}" type="slidenum">
              <a:rPr lang="zh-CN" altLang="en-US" smtClean="0"/>
            </a:fld>
            <a:endParaRPr lang="zh-CN" altLang="en-US"/>
          </a:p>
        </p:txBody>
      </p:sp>
      <p:pic>
        <p:nvPicPr>
          <p:cNvPr id="8" name="图片 7" descr="未标题-1.png"/>
          <p:cNvPicPr>
            <a:picLocks noChangeAspect="1"/>
          </p:cNvPicPr>
          <p:nvPr/>
        </p:nvPicPr>
        <p:blipFill>
          <a:blip r:embed="rId2" cstate="print"/>
          <a:srcRect r="1055" b="2344"/>
          <a:stretch>
            <a:fillRect/>
          </a:stretch>
        </p:blipFill>
        <p:spPr>
          <a:xfrm>
            <a:off x="3901229" y="2567640"/>
            <a:ext cx="8290771" cy="429036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26174" y="1"/>
            <a:ext cx="10364198" cy="563358"/>
          </a:xfrm>
          <a:prstGeom prst="rect">
            <a:avLst/>
          </a:prstGeom>
        </p:spPr>
        <p:txBody>
          <a:bodyPr anchor="ctr"/>
          <a:lstStyle>
            <a:lvl1pPr algn="l">
              <a:defRPr sz="2370">
                <a:solidFill>
                  <a:schemeClr val="accent6"/>
                </a:solidFill>
              </a:defRPr>
            </a:lvl1pPr>
          </a:lstStyle>
          <a:p>
            <a:r>
              <a:rPr lang="zh-CN" altLang="en-US" smtClean="0"/>
              <a:t>单击此处编辑母版标题样式</a:t>
            </a:r>
            <a:endParaRPr lang="zh-CN" altLang="en-US" dirty="0"/>
          </a:p>
        </p:txBody>
      </p:sp>
      <p:sp>
        <p:nvSpPr>
          <p:cNvPr id="3" name="内容占位符 2"/>
          <p:cNvSpPr>
            <a:spLocks noGrp="1"/>
          </p:cNvSpPr>
          <p:nvPr>
            <p:ph idx="1"/>
          </p:nvPr>
        </p:nvSpPr>
        <p:spPr>
          <a:xfrm>
            <a:off x="729827" y="807242"/>
            <a:ext cx="10852574" cy="5318921"/>
          </a:xfrm>
          <a:prstGeom prst="rect">
            <a:avLst/>
          </a:prstGeom>
        </p:spPr>
        <p:txBody>
          <a:bodyPr/>
          <a:lstStyle>
            <a:lvl1pPr>
              <a:buNone/>
              <a:defRPr sz="3725" b="0">
                <a:solidFill>
                  <a:schemeClr val="tx2"/>
                </a:solidFill>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dirty="0"/>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41117AC4-C4B6-4BB1-A699-26FD239F4236}" type="datetimeFigureOut">
              <a:rPr lang="zh-CN" altLang="en-US" smtClean="0"/>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6F2CBD76-B1E9-4B90-AB72-0B1A97848012}" type="slidenum">
              <a:rPr lang="zh-CN" altLang="en-US" smtClean="0"/>
            </a:fld>
            <a:endParaRPr lang="zh-CN" altLang="en-US"/>
          </a:p>
        </p:txBody>
      </p:sp>
      <p:pic>
        <p:nvPicPr>
          <p:cNvPr id="9" name="图片 8" descr="高德智感logo中英文常规.png"/>
          <p:cNvPicPr>
            <a:picLocks noChangeAspect="1"/>
          </p:cNvPicPr>
          <p:nvPr/>
        </p:nvPicPr>
        <p:blipFill>
          <a:blip r:embed="rId2" cstate="print"/>
          <a:stretch>
            <a:fillRect/>
          </a:stretch>
        </p:blipFill>
        <p:spPr>
          <a:xfrm>
            <a:off x="10851337" y="6310508"/>
            <a:ext cx="1036420" cy="383394"/>
          </a:xfrm>
          <a:prstGeom prst="rect">
            <a:avLst/>
          </a:prstGeom>
        </p:spPr>
      </p:pic>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8" name="矩形 7"/>
          <p:cNvSpPr/>
          <p:nvPr/>
        </p:nvSpPr>
        <p:spPr>
          <a:xfrm>
            <a:off x="0" y="0"/>
            <a:ext cx="12192000"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25"/>
          </a:p>
        </p:txBody>
      </p:sp>
      <p:sp>
        <p:nvSpPr>
          <p:cNvPr id="2" name="标题 1"/>
          <p:cNvSpPr>
            <a:spLocks noGrp="1"/>
          </p:cNvSpPr>
          <p:nvPr>
            <p:ph type="title"/>
          </p:nvPr>
        </p:nvSpPr>
        <p:spPr>
          <a:xfrm>
            <a:off x="963086" y="4406901"/>
            <a:ext cx="10363200" cy="1362075"/>
          </a:xfrm>
          <a:prstGeom prst="rect">
            <a:avLst/>
          </a:prstGeom>
        </p:spPr>
        <p:txBody>
          <a:bodyPr anchor="t"/>
          <a:lstStyle>
            <a:lvl1pPr algn="l">
              <a:defRPr sz="444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963086" y="2906715"/>
            <a:ext cx="10363200" cy="1500187"/>
          </a:xfrm>
          <a:prstGeom prst="rect">
            <a:avLst/>
          </a:prstGeom>
        </p:spPr>
        <p:txBody>
          <a:bodyPr anchor="b"/>
          <a:lstStyle>
            <a:lvl1pPr marL="0" indent="0">
              <a:buNone/>
              <a:defRPr sz="2220">
                <a:solidFill>
                  <a:schemeClr val="tx1">
                    <a:tint val="75000"/>
                  </a:schemeClr>
                </a:solidFill>
              </a:defRPr>
            </a:lvl1pPr>
            <a:lvl2pPr marL="509270" indent="0">
              <a:buNone/>
              <a:defRPr sz="1980">
                <a:solidFill>
                  <a:schemeClr val="tx1">
                    <a:tint val="75000"/>
                  </a:schemeClr>
                </a:solidFill>
              </a:defRPr>
            </a:lvl2pPr>
            <a:lvl3pPr marL="1018540" indent="0">
              <a:buNone/>
              <a:defRPr sz="1800">
                <a:solidFill>
                  <a:schemeClr val="tx1">
                    <a:tint val="75000"/>
                  </a:schemeClr>
                </a:solidFill>
              </a:defRPr>
            </a:lvl3pPr>
            <a:lvl4pPr marL="1528445" indent="0">
              <a:buNone/>
              <a:defRPr sz="1560">
                <a:solidFill>
                  <a:schemeClr val="tx1">
                    <a:tint val="75000"/>
                  </a:schemeClr>
                </a:solidFill>
              </a:defRPr>
            </a:lvl4pPr>
            <a:lvl5pPr marL="2037715" indent="0">
              <a:buNone/>
              <a:defRPr sz="1560">
                <a:solidFill>
                  <a:schemeClr val="tx1">
                    <a:tint val="75000"/>
                  </a:schemeClr>
                </a:solidFill>
              </a:defRPr>
            </a:lvl5pPr>
            <a:lvl6pPr marL="2546985" indent="0">
              <a:buNone/>
              <a:defRPr sz="1560">
                <a:solidFill>
                  <a:schemeClr val="tx1">
                    <a:tint val="75000"/>
                  </a:schemeClr>
                </a:solidFill>
              </a:defRPr>
            </a:lvl6pPr>
            <a:lvl7pPr marL="3056255" indent="0">
              <a:buNone/>
              <a:defRPr sz="1560">
                <a:solidFill>
                  <a:schemeClr val="tx1">
                    <a:tint val="75000"/>
                  </a:schemeClr>
                </a:solidFill>
              </a:defRPr>
            </a:lvl7pPr>
            <a:lvl8pPr marL="3566160" indent="0">
              <a:buNone/>
              <a:defRPr sz="1560">
                <a:solidFill>
                  <a:schemeClr val="tx1">
                    <a:tint val="75000"/>
                  </a:schemeClr>
                </a:solidFill>
              </a:defRPr>
            </a:lvl8pPr>
            <a:lvl9pPr marL="4075430" indent="0">
              <a:buNone/>
              <a:defRPr sz="156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41117AC4-C4B6-4BB1-A699-26FD239F4236}" type="datetimeFigureOut">
              <a:rPr lang="zh-CN" altLang="en-US" smtClean="0"/>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6F2CBD76-B1E9-4B90-AB72-0B1A97848012}"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09600" y="1600200"/>
            <a:ext cx="5384800" cy="4525963"/>
          </a:xfrm>
          <a:prstGeom prst="rect">
            <a:avLst/>
          </a:prstGeom>
        </p:spPr>
        <p:txBody>
          <a:bodyPr/>
          <a:lstStyle>
            <a:lvl1pPr>
              <a:defRPr sz="3120"/>
            </a:lvl1pPr>
            <a:lvl2pPr>
              <a:defRPr sz="2700"/>
            </a:lvl2pPr>
            <a:lvl3pPr>
              <a:defRPr sz="2220"/>
            </a:lvl3pPr>
            <a:lvl4pPr>
              <a:defRPr sz="1980"/>
            </a:lvl4pPr>
            <a:lvl5pPr>
              <a:defRPr sz="1980"/>
            </a:lvl5pPr>
            <a:lvl6pPr>
              <a:defRPr sz="1980"/>
            </a:lvl6pPr>
            <a:lvl7pPr>
              <a:defRPr sz="1980"/>
            </a:lvl7pPr>
            <a:lvl8pPr>
              <a:defRPr sz="1980"/>
            </a:lvl8pPr>
            <a:lvl9pPr>
              <a:defRPr sz="198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97600" y="1600200"/>
            <a:ext cx="5384800" cy="4525963"/>
          </a:xfrm>
          <a:prstGeom prst="rect">
            <a:avLst/>
          </a:prstGeom>
        </p:spPr>
        <p:txBody>
          <a:bodyPr/>
          <a:lstStyle>
            <a:lvl1pPr>
              <a:defRPr sz="3120"/>
            </a:lvl1pPr>
            <a:lvl2pPr>
              <a:defRPr sz="2700"/>
            </a:lvl2pPr>
            <a:lvl3pPr>
              <a:defRPr sz="2220"/>
            </a:lvl3pPr>
            <a:lvl4pPr>
              <a:defRPr sz="1980"/>
            </a:lvl4pPr>
            <a:lvl5pPr>
              <a:defRPr sz="1980"/>
            </a:lvl5pPr>
            <a:lvl6pPr>
              <a:defRPr sz="1980"/>
            </a:lvl6pPr>
            <a:lvl7pPr>
              <a:defRPr sz="1980"/>
            </a:lvl7pPr>
            <a:lvl8pPr>
              <a:defRPr sz="1980"/>
            </a:lvl8pPr>
            <a:lvl9pPr>
              <a:defRPr sz="198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a:xfrm>
            <a:off x="609600" y="6356351"/>
            <a:ext cx="2844800" cy="365125"/>
          </a:xfrm>
          <a:prstGeom prst="rect">
            <a:avLst/>
          </a:prstGeom>
        </p:spPr>
        <p:txBody>
          <a:bodyPr/>
          <a:lstStyle/>
          <a:p>
            <a:fld id="{41117AC4-C4B6-4BB1-A699-26FD239F4236}" type="datetimeFigureOut">
              <a:rPr lang="zh-CN" altLang="en-US" smtClean="0"/>
            </a:fld>
            <a:endParaRPr lang="zh-CN" altLang="en-US"/>
          </a:p>
        </p:txBody>
      </p:sp>
      <p:sp>
        <p:nvSpPr>
          <p:cNvPr id="6" name="页脚占位符 5"/>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737600" y="6356351"/>
            <a:ext cx="2844800" cy="365125"/>
          </a:xfrm>
          <a:prstGeom prst="rect">
            <a:avLst/>
          </a:prstGeom>
        </p:spPr>
        <p:txBody>
          <a:bodyPr/>
          <a:lstStyle/>
          <a:p>
            <a:fld id="{6F2CBD76-B1E9-4B90-AB72-0B1A97848012}"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09601" y="1535114"/>
            <a:ext cx="5386917" cy="639762"/>
          </a:xfrm>
          <a:prstGeom prst="rect">
            <a:avLst/>
          </a:prstGeom>
        </p:spPr>
        <p:txBody>
          <a:bodyPr anchor="b"/>
          <a:lstStyle>
            <a:lvl1pPr marL="0" indent="0">
              <a:buNone/>
              <a:defRPr sz="2700" b="1"/>
            </a:lvl1pPr>
            <a:lvl2pPr marL="509270" indent="0">
              <a:buNone/>
              <a:defRPr sz="2220" b="1"/>
            </a:lvl2pPr>
            <a:lvl3pPr marL="1018540" indent="0">
              <a:buNone/>
              <a:defRPr sz="1980" b="1"/>
            </a:lvl3pPr>
            <a:lvl4pPr marL="1528445" indent="0">
              <a:buNone/>
              <a:defRPr sz="1800" b="1"/>
            </a:lvl4pPr>
            <a:lvl5pPr marL="2037715" indent="0">
              <a:buNone/>
              <a:defRPr sz="1800" b="1"/>
            </a:lvl5pPr>
            <a:lvl6pPr marL="2546985" indent="0">
              <a:buNone/>
              <a:defRPr sz="1800" b="1"/>
            </a:lvl6pPr>
            <a:lvl7pPr marL="3056255" indent="0">
              <a:buNone/>
              <a:defRPr sz="1800" b="1"/>
            </a:lvl7pPr>
            <a:lvl8pPr marL="3566160" indent="0">
              <a:buNone/>
              <a:defRPr sz="1800" b="1"/>
            </a:lvl8pPr>
            <a:lvl9pPr marL="4075430" indent="0">
              <a:buNone/>
              <a:defRPr sz="18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609601" y="2174876"/>
            <a:ext cx="5386917" cy="3951288"/>
          </a:xfrm>
          <a:prstGeom prst="rect">
            <a:avLst/>
          </a:prstGeom>
        </p:spPr>
        <p:txBody>
          <a:bodyPr/>
          <a:lstStyle>
            <a:lvl1pPr>
              <a:defRPr sz="2700"/>
            </a:lvl1pPr>
            <a:lvl2pPr>
              <a:defRPr sz="2220"/>
            </a:lvl2pPr>
            <a:lvl3pPr>
              <a:defRPr sz="198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93368" y="1535114"/>
            <a:ext cx="5389033" cy="639762"/>
          </a:xfrm>
          <a:prstGeom prst="rect">
            <a:avLst/>
          </a:prstGeom>
        </p:spPr>
        <p:txBody>
          <a:bodyPr anchor="b"/>
          <a:lstStyle>
            <a:lvl1pPr marL="0" indent="0">
              <a:buNone/>
              <a:defRPr sz="2700" b="1"/>
            </a:lvl1pPr>
            <a:lvl2pPr marL="509270" indent="0">
              <a:buNone/>
              <a:defRPr sz="2220" b="1"/>
            </a:lvl2pPr>
            <a:lvl3pPr marL="1018540" indent="0">
              <a:buNone/>
              <a:defRPr sz="1980" b="1"/>
            </a:lvl3pPr>
            <a:lvl4pPr marL="1528445" indent="0">
              <a:buNone/>
              <a:defRPr sz="1800" b="1"/>
            </a:lvl4pPr>
            <a:lvl5pPr marL="2037715" indent="0">
              <a:buNone/>
              <a:defRPr sz="1800" b="1"/>
            </a:lvl5pPr>
            <a:lvl6pPr marL="2546985" indent="0">
              <a:buNone/>
              <a:defRPr sz="1800" b="1"/>
            </a:lvl6pPr>
            <a:lvl7pPr marL="3056255" indent="0">
              <a:buNone/>
              <a:defRPr sz="1800" b="1"/>
            </a:lvl7pPr>
            <a:lvl8pPr marL="3566160" indent="0">
              <a:buNone/>
              <a:defRPr sz="1800" b="1"/>
            </a:lvl8pPr>
            <a:lvl9pPr marL="4075430" indent="0">
              <a:buNone/>
              <a:defRPr sz="18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93368" y="2174876"/>
            <a:ext cx="5389033" cy="3951288"/>
          </a:xfrm>
          <a:prstGeom prst="rect">
            <a:avLst/>
          </a:prstGeom>
        </p:spPr>
        <p:txBody>
          <a:bodyPr/>
          <a:lstStyle>
            <a:lvl1pPr>
              <a:defRPr sz="2700"/>
            </a:lvl1pPr>
            <a:lvl2pPr>
              <a:defRPr sz="2220"/>
            </a:lvl2pPr>
            <a:lvl3pPr>
              <a:defRPr sz="198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a:xfrm>
            <a:off x="609600" y="6356351"/>
            <a:ext cx="2844800" cy="365125"/>
          </a:xfrm>
          <a:prstGeom prst="rect">
            <a:avLst/>
          </a:prstGeom>
        </p:spPr>
        <p:txBody>
          <a:bodyPr/>
          <a:lstStyle/>
          <a:p>
            <a:fld id="{41117AC4-C4B6-4BB1-A699-26FD239F4236}" type="datetimeFigureOut">
              <a:rPr lang="zh-CN" altLang="en-US" smtClean="0"/>
            </a:fld>
            <a:endParaRPr lang="zh-CN" altLang="en-US"/>
          </a:p>
        </p:txBody>
      </p:sp>
      <p:sp>
        <p:nvSpPr>
          <p:cNvPr id="8" name="页脚占位符 7"/>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8737600" y="6356351"/>
            <a:ext cx="2844800" cy="365125"/>
          </a:xfrm>
          <a:prstGeom prst="rect">
            <a:avLst/>
          </a:prstGeom>
        </p:spPr>
        <p:txBody>
          <a:bodyPr/>
          <a:lstStyle/>
          <a:p>
            <a:fld id="{6F2CBD76-B1E9-4B90-AB72-0B1A97848012}"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609600" y="6356351"/>
            <a:ext cx="2844800" cy="365125"/>
          </a:xfrm>
          <a:prstGeom prst="rect">
            <a:avLst/>
          </a:prstGeom>
        </p:spPr>
        <p:txBody>
          <a:bodyPr/>
          <a:lstStyle/>
          <a:p>
            <a:fld id="{41117AC4-C4B6-4BB1-A699-26FD239F4236}" type="datetimeFigureOut">
              <a:rPr lang="zh-CN" altLang="en-US" smtClean="0"/>
            </a:fld>
            <a:endParaRPr lang="zh-CN" altLang="en-US"/>
          </a:p>
        </p:txBody>
      </p:sp>
      <p:sp>
        <p:nvSpPr>
          <p:cNvPr id="4" name="页脚占位符 3"/>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737600" y="6356351"/>
            <a:ext cx="2844800" cy="365125"/>
          </a:xfrm>
          <a:prstGeom prst="rect">
            <a:avLst/>
          </a:prstGeom>
        </p:spPr>
        <p:txBody>
          <a:bodyPr/>
          <a:lstStyle/>
          <a:p>
            <a:fld id="{6F2CBD76-B1E9-4B90-AB72-0B1A97848012}"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00" y="6356351"/>
            <a:ext cx="2844800" cy="365125"/>
          </a:xfrm>
          <a:prstGeom prst="rect">
            <a:avLst/>
          </a:prstGeom>
        </p:spPr>
        <p:txBody>
          <a:bodyPr/>
          <a:lstStyle/>
          <a:p>
            <a:fld id="{41117AC4-C4B6-4BB1-A699-26FD239F4236}" type="datetimeFigureOut">
              <a:rPr lang="zh-CN" altLang="en-US" smtClean="0"/>
            </a:fld>
            <a:endParaRPr lang="zh-CN" altLang="en-US"/>
          </a:p>
        </p:txBody>
      </p:sp>
      <p:sp>
        <p:nvSpPr>
          <p:cNvPr id="3" name="页脚占位符 2"/>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737600" y="6356351"/>
            <a:ext cx="2844800" cy="365125"/>
          </a:xfrm>
          <a:prstGeom prst="rect">
            <a:avLst/>
          </a:prstGeom>
        </p:spPr>
        <p:txBody>
          <a:bodyPr/>
          <a:lstStyle/>
          <a:p>
            <a:fld id="{6F2CBD76-B1E9-4B90-AB72-0B1A97848012}"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2" y="273051"/>
            <a:ext cx="4011084" cy="1162050"/>
          </a:xfrm>
          <a:prstGeom prst="rect">
            <a:avLst/>
          </a:prstGeom>
        </p:spPr>
        <p:txBody>
          <a:bodyPr anchor="b"/>
          <a:lstStyle>
            <a:lvl1pPr algn="l">
              <a:defRPr sz="222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4766734" y="273050"/>
            <a:ext cx="6815667" cy="5853113"/>
          </a:xfrm>
          <a:prstGeom prst="rect">
            <a:avLst/>
          </a:prstGeom>
        </p:spPr>
        <p:txBody>
          <a:bodyPr/>
          <a:lstStyle>
            <a:lvl1pPr>
              <a:defRPr sz="3540"/>
            </a:lvl1pPr>
            <a:lvl2pPr>
              <a:defRPr sz="3120"/>
            </a:lvl2pPr>
            <a:lvl3pPr>
              <a:defRPr sz="2700"/>
            </a:lvl3pPr>
            <a:lvl4pPr>
              <a:defRPr sz="2220"/>
            </a:lvl4pPr>
            <a:lvl5pPr>
              <a:defRPr sz="2220"/>
            </a:lvl5pPr>
            <a:lvl6pPr>
              <a:defRPr sz="2220"/>
            </a:lvl6pPr>
            <a:lvl7pPr>
              <a:defRPr sz="2220"/>
            </a:lvl7pPr>
            <a:lvl8pPr>
              <a:defRPr sz="2220"/>
            </a:lvl8pPr>
            <a:lvl9pPr>
              <a:defRPr sz="222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609602" y="1435101"/>
            <a:ext cx="4011084" cy="4691064"/>
          </a:xfrm>
          <a:prstGeom prst="rect">
            <a:avLst/>
          </a:prstGeom>
        </p:spPr>
        <p:txBody>
          <a:bodyPr/>
          <a:lstStyle>
            <a:lvl1pPr marL="0" indent="0">
              <a:buNone/>
              <a:defRPr sz="1560"/>
            </a:lvl1pPr>
            <a:lvl2pPr marL="509270" indent="0">
              <a:buNone/>
              <a:defRPr sz="1320"/>
            </a:lvl2pPr>
            <a:lvl3pPr marL="1018540" indent="0">
              <a:buNone/>
              <a:defRPr sz="1140"/>
            </a:lvl3pPr>
            <a:lvl4pPr marL="1528445" indent="0">
              <a:buNone/>
              <a:defRPr sz="1020"/>
            </a:lvl4pPr>
            <a:lvl5pPr marL="2037715" indent="0">
              <a:buNone/>
              <a:defRPr sz="1020"/>
            </a:lvl5pPr>
            <a:lvl6pPr marL="2546985" indent="0">
              <a:buNone/>
              <a:defRPr sz="1020"/>
            </a:lvl6pPr>
            <a:lvl7pPr marL="3056255" indent="0">
              <a:buNone/>
              <a:defRPr sz="1020"/>
            </a:lvl7pPr>
            <a:lvl8pPr marL="3566160" indent="0">
              <a:buNone/>
              <a:defRPr sz="1020"/>
            </a:lvl8pPr>
            <a:lvl9pPr marL="4075430" indent="0">
              <a:buNone/>
              <a:defRPr sz="102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a:xfrm>
            <a:off x="609600" y="6356351"/>
            <a:ext cx="2844800" cy="365125"/>
          </a:xfrm>
          <a:prstGeom prst="rect">
            <a:avLst/>
          </a:prstGeom>
        </p:spPr>
        <p:txBody>
          <a:bodyPr/>
          <a:lstStyle/>
          <a:p>
            <a:fld id="{41117AC4-C4B6-4BB1-A699-26FD239F4236}" type="datetimeFigureOut">
              <a:rPr lang="zh-CN" altLang="en-US" smtClean="0"/>
            </a:fld>
            <a:endParaRPr lang="zh-CN" altLang="en-US"/>
          </a:p>
        </p:txBody>
      </p:sp>
      <p:sp>
        <p:nvSpPr>
          <p:cNvPr id="6" name="页脚占位符 5"/>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737600" y="6356351"/>
            <a:ext cx="2844800" cy="365125"/>
          </a:xfrm>
          <a:prstGeom prst="rect">
            <a:avLst/>
          </a:prstGeom>
        </p:spPr>
        <p:txBody>
          <a:bodyPr/>
          <a:lstStyle/>
          <a:p>
            <a:fld id="{6F2CBD76-B1E9-4B90-AB72-0B1A97848012}" type="slidenum">
              <a:rPr lang="zh-CN" altLang="en-US" smtClean="0"/>
            </a:fld>
            <a:endParaRPr lang="zh-CN" altLang="en-US"/>
          </a:p>
        </p:txBody>
      </p:sp>
      <p:sp>
        <p:nvSpPr>
          <p:cNvPr id="8" name="页脚占位符 4"/>
          <p:cNvSpPr txBox="1"/>
          <p:nvPr/>
        </p:nvSpPr>
        <p:spPr>
          <a:xfrm>
            <a:off x="10668440" y="136560"/>
            <a:ext cx="3860800" cy="365125"/>
          </a:xfrm>
          <a:prstGeom prst="rect">
            <a:avLst/>
          </a:prstGeom>
        </p:spPr>
        <p:txBody>
          <a:bodyPr/>
          <a:lstStyle>
            <a:defPPr>
              <a:defRPr lang="zh-CN"/>
            </a:defPPr>
            <a:lvl1pPr marL="0" algn="l" defTabSz="1203325" rtl="0" eaLnBrk="1" latinLnBrk="0" hangingPunct="1">
              <a:defRPr sz="1200" kern="1200">
                <a:solidFill>
                  <a:schemeClr val="bg1"/>
                </a:solidFill>
                <a:latin typeface="微软雅黑" panose="020B0503020204020204" pitchFamily="34" charset="-122"/>
                <a:ea typeface="微软雅黑" panose="020B0503020204020204" pitchFamily="34" charset="-122"/>
                <a:cs typeface="+mn-cs"/>
              </a:defRPr>
            </a:lvl1pPr>
            <a:lvl2pPr marL="601345" algn="l" defTabSz="1203325" rtl="0" eaLnBrk="1" latinLnBrk="0" hangingPunct="1">
              <a:defRPr sz="2340" kern="1200">
                <a:solidFill>
                  <a:schemeClr val="tx1"/>
                </a:solidFill>
                <a:latin typeface="+mn-lt"/>
                <a:ea typeface="+mn-ea"/>
                <a:cs typeface="+mn-cs"/>
              </a:defRPr>
            </a:lvl2pPr>
            <a:lvl3pPr marL="1203325" algn="l" defTabSz="1203325" rtl="0" eaLnBrk="1" latinLnBrk="0" hangingPunct="1">
              <a:defRPr sz="2340" kern="1200">
                <a:solidFill>
                  <a:schemeClr val="tx1"/>
                </a:solidFill>
                <a:latin typeface="+mn-lt"/>
                <a:ea typeface="+mn-ea"/>
                <a:cs typeface="+mn-cs"/>
              </a:defRPr>
            </a:lvl3pPr>
            <a:lvl4pPr marL="1804670" algn="l" defTabSz="1203325" rtl="0" eaLnBrk="1" latinLnBrk="0" hangingPunct="1">
              <a:defRPr sz="2340" kern="1200">
                <a:solidFill>
                  <a:schemeClr val="tx1"/>
                </a:solidFill>
                <a:latin typeface="+mn-lt"/>
                <a:ea typeface="+mn-ea"/>
                <a:cs typeface="+mn-cs"/>
              </a:defRPr>
            </a:lvl4pPr>
            <a:lvl5pPr marL="2406650" algn="l" defTabSz="1203325" rtl="0" eaLnBrk="1" latinLnBrk="0" hangingPunct="1">
              <a:defRPr sz="2340" kern="1200">
                <a:solidFill>
                  <a:schemeClr val="tx1"/>
                </a:solidFill>
                <a:latin typeface="+mn-lt"/>
                <a:ea typeface="+mn-ea"/>
                <a:cs typeface="+mn-cs"/>
              </a:defRPr>
            </a:lvl5pPr>
            <a:lvl6pPr marL="3007995" algn="l" defTabSz="1203325" rtl="0" eaLnBrk="1" latinLnBrk="0" hangingPunct="1">
              <a:defRPr sz="2340" kern="1200">
                <a:solidFill>
                  <a:schemeClr val="tx1"/>
                </a:solidFill>
                <a:latin typeface="+mn-lt"/>
                <a:ea typeface="+mn-ea"/>
                <a:cs typeface="+mn-cs"/>
              </a:defRPr>
            </a:lvl6pPr>
            <a:lvl7pPr marL="3609975" algn="l" defTabSz="1203325" rtl="0" eaLnBrk="1" latinLnBrk="0" hangingPunct="1">
              <a:defRPr sz="2340" kern="1200">
                <a:solidFill>
                  <a:schemeClr val="tx1"/>
                </a:solidFill>
                <a:latin typeface="+mn-lt"/>
                <a:ea typeface="+mn-ea"/>
                <a:cs typeface="+mn-cs"/>
              </a:defRPr>
            </a:lvl7pPr>
            <a:lvl8pPr marL="4211320" algn="l" defTabSz="1203325" rtl="0" eaLnBrk="1" latinLnBrk="0" hangingPunct="1">
              <a:defRPr sz="2340" kern="1200">
                <a:solidFill>
                  <a:schemeClr val="tx1"/>
                </a:solidFill>
                <a:latin typeface="+mn-lt"/>
                <a:ea typeface="+mn-ea"/>
                <a:cs typeface="+mn-cs"/>
              </a:defRPr>
            </a:lvl8pPr>
            <a:lvl9pPr marL="4813300" algn="l" defTabSz="1203325" rtl="0" eaLnBrk="1" latinLnBrk="0" hangingPunct="1">
              <a:defRPr sz="2340" kern="1200">
                <a:solidFill>
                  <a:schemeClr val="tx1"/>
                </a:solidFill>
                <a:latin typeface="+mn-lt"/>
                <a:ea typeface="+mn-ea"/>
                <a:cs typeface="+mn-cs"/>
              </a:defRPr>
            </a:lvl9pPr>
          </a:lstStyle>
          <a:p>
            <a:r>
              <a:rPr lang="en-US" altLang="zh-CN" sz="1015" dirty="0"/>
              <a:t>www.guideir.cn</a:t>
            </a:r>
            <a:endParaRPr lang="zh-CN" altLang="en-US" sz="1015"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8" y="4800600"/>
            <a:ext cx="7315200" cy="566738"/>
          </a:xfrm>
          <a:prstGeom prst="rect">
            <a:avLst/>
          </a:prstGeom>
        </p:spPr>
        <p:txBody>
          <a:bodyPr anchor="b"/>
          <a:lstStyle>
            <a:lvl1pPr algn="l">
              <a:defRPr sz="222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2389718" y="612776"/>
            <a:ext cx="7315200" cy="4114800"/>
          </a:xfrm>
          <a:prstGeom prst="rect">
            <a:avLst/>
          </a:prstGeom>
        </p:spPr>
        <p:txBody>
          <a:bodyPr/>
          <a:lstStyle>
            <a:lvl1pPr marL="0" indent="0">
              <a:buNone/>
              <a:defRPr sz="3540"/>
            </a:lvl1pPr>
            <a:lvl2pPr marL="509270" indent="0">
              <a:buNone/>
              <a:defRPr sz="3120"/>
            </a:lvl2pPr>
            <a:lvl3pPr marL="1018540" indent="0">
              <a:buNone/>
              <a:defRPr sz="2700"/>
            </a:lvl3pPr>
            <a:lvl4pPr marL="1528445" indent="0">
              <a:buNone/>
              <a:defRPr sz="2220"/>
            </a:lvl4pPr>
            <a:lvl5pPr marL="2037715" indent="0">
              <a:buNone/>
              <a:defRPr sz="2220"/>
            </a:lvl5pPr>
            <a:lvl6pPr marL="2546985" indent="0">
              <a:buNone/>
              <a:defRPr sz="2220"/>
            </a:lvl6pPr>
            <a:lvl7pPr marL="3056255" indent="0">
              <a:buNone/>
              <a:defRPr sz="2220"/>
            </a:lvl7pPr>
            <a:lvl8pPr marL="3566160" indent="0">
              <a:buNone/>
              <a:defRPr sz="2220"/>
            </a:lvl8pPr>
            <a:lvl9pPr marL="4075430" indent="0">
              <a:buNone/>
              <a:defRPr sz="2220"/>
            </a:lvl9pPr>
          </a:lstStyle>
          <a:p>
            <a:r>
              <a:rPr lang="zh-CN" altLang="en-US" smtClean="0"/>
              <a:t>单击图标添加图片</a:t>
            </a:r>
            <a:endParaRPr lang="zh-CN" altLang="en-US"/>
          </a:p>
        </p:txBody>
      </p:sp>
      <p:sp>
        <p:nvSpPr>
          <p:cNvPr id="4" name="文本占位符 3"/>
          <p:cNvSpPr>
            <a:spLocks noGrp="1"/>
          </p:cNvSpPr>
          <p:nvPr>
            <p:ph type="body" sz="half" idx="2"/>
          </p:nvPr>
        </p:nvSpPr>
        <p:spPr>
          <a:xfrm>
            <a:off x="2389718" y="5367339"/>
            <a:ext cx="7315200" cy="804862"/>
          </a:xfrm>
          <a:prstGeom prst="rect">
            <a:avLst/>
          </a:prstGeom>
        </p:spPr>
        <p:txBody>
          <a:bodyPr/>
          <a:lstStyle>
            <a:lvl1pPr marL="0" indent="0">
              <a:buNone/>
              <a:defRPr sz="1560"/>
            </a:lvl1pPr>
            <a:lvl2pPr marL="509270" indent="0">
              <a:buNone/>
              <a:defRPr sz="1320"/>
            </a:lvl2pPr>
            <a:lvl3pPr marL="1018540" indent="0">
              <a:buNone/>
              <a:defRPr sz="1140"/>
            </a:lvl3pPr>
            <a:lvl4pPr marL="1528445" indent="0">
              <a:buNone/>
              <a:defRPr sz="1020"/>
            </a:lvl4pPr>
            <a:lvl5pPr marL="2037715" indent="0">
              <a:buNone/>
              <a:defRPr sz="1020"/>
            </a:lvl5pPr>
            <a:lvl6pPr marL="2546985" indent="0">
              <a:buNone/>
              <a:defRPr sz="1020"/>
            </a:lvl6pPr>
            <a:lvl7pPr marL="3056255" indent="0">
              <a:buNone/>
              <a:defRPr sz="1020"/>
            </a:lvl7pPr>
            <a:lvl8pPr marL="3566160" indent="0">
              <a:buNone/>
              <a:defRPr sz="1020"/>
            </a:lvl8pPr>
            <a:lvl9pPr marL="4075430" indent="0">
              <a:buNone/>
              <a:defRPr sz="102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a:xfrm>
            <a:off x="609600" y="6356351"/>
            <a:ext cx="2844800" cy="365125"/>
          </a:xfrm>
          <a:prstGeom prst="rect">
            <a:avLst/>
          </a:prstGeom>
        </p:spPr>
        <p:txBody>
          <a:bodyPr/>
          <a:lstStyle/>
          <a:p>
            <a:fld id="{41117AC4-C4B6-4BB1-A699-26FD239F4236}" type="datetimeFigureOut">
              <a:rPr lang="zh-CN" altLang="en-US" smtClean="0"/>
            </a:fld>
            <a:endParaRPr lang="zh-CN" altLang="en-US"/>
          </a:p>
        </p:txBody>
      </p:sp>
      <p:sp>
        <p:nvSpPr>
          <p:cNvPr id="6" name="页脚占位符 5"/>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737600" y="6356351"/>
            <a:ext cx="2844800" cy="365125"/>
          </a:xfrm>
          <a:prstGeom prst="rect">
            <a:avLst/>
          </a:prstGeom>
        </p:spPr>
        <p:txBody>
          <a:bodyPr/>
          <a:lstStyle/>
          <a:p>
            <a:fld id="{6F2CBD76-B1E9-4B90-AB72-0B1A97848012}" type="slidenum">
              <a:rPr lang="zh-CN" altLang="en-US" smtClean="0"/>
            </a:fld>
            <a:endParaRPr lang="zh-CN" altLang="en-US"/>
          </a:p>
        </p:txBody>
      </p:sp>
      <p:sp>
        <p:nvSpPr>
          <p:cNvPr id="8" name="页脚占位符 4"/>
          <p:cNvSpPr txBox="1"/>
          <p:nvPr/>
        </p:nvSpPr>
        <p:spPr>
          <a:xfrm>
            <a:off x="10668440" y="136560"/>
            <a:ext cx="3860800" cy="365125"/>
          </a:xfrm>
          <a:prstGeom prst="rect">
            <a:avLst/>
          </a:prstGeom>
        </p:spPr>
        <p:txBody>
          <a:bodyPr/>
          <a:lstStyle>
            <a:defPPr>
              <a:defRPr lang="zh-CN"/>
            </a:defPPr>
            <a:lvl1pPr marL="0" algn="l" defTabSz="1203325" rtl="0" eaLnBrk="1" latinLnBrk="0" hangingPunct="1">
              <a:defRPr sz="1200" kern="1200">
                <a:solidFill>
                  <a:schemeClr val="bg1"/>
                </a:solidFill>
                <a:latin typeface="微软雅黑" panose="020B0503020204020204" pitchFamily="34" charset="-122"/>
                <a:ea typeface="微软雅黑" panose="020B0503020204020204" pitchFamily="34" charset="-122"/>
                <a:cs typeface="+mn-cs"/>
              </a:defRPr>
            </a:lvl1pPr>
            <a:lvl2pPr marL="601345" algn="l" defTabSz="1203325" rtl="0" eaLnBrk="1" latinLnBrk="0" hangingPunct="1">
              <a:defRPr sz="2340" kern="1200">
                <a:solidFill>
                  <a:schemeClr val="tx1"/>
                </a:solidFill>
                <a:latin typeface="+mn-lt"/>
                <a:ea typeface="+mn-ea"/>
                <a:cs typeface="+mn-cs"/>
              </a:defRPr>
            </a:lvl2pPr>
            <a:lvl3pPr marL="1203325" algn="l" defTabSz="1203325" rtl="0" eaLnBrk="1" latinLnBrk="0" hangingPunct="1">
              <a:defRPr sz="2340" kern="1200">
                <a:solidFill>
                  <a:schemeClr val="tx1"/>
                </a:solidFill>
                <a:latin typeface="+mn-lt"/>
                <a:ea typeface="+mn-ea"/>
                <a:cs typeface="+mn-cs"/>
              </a:defRPr>
            </a:lvl3pPr>
            <a:lvl4pPr marL="1804670" algn="l" defTabSz="1203325" rtl="0" eaLnBrk="1" latinLnBrk="0" hangingPunct="1">
              <a:defRPr sz="2340" kern="1200">
                <a:solidFill>
                  <a:schemeClr val="tx1"/>
                </a:solidFill>
                <a:latin typeface="+mn-lt"/>
                <a:ea typeface="+mn-ea"/>
                <a:cs typeface="+mn-cs"/>
              </a:defRPr>
            </a:lvl4pPr>
            <a:lvl5pPr marL="2406650" algn="l" defTabSz="1203325" rtl="0" eaLnBrk="1" latinLnBrk="0" hangingPunct="1">
              <a:defRPr sz="2340" kern="1200">
                <a:solidFill>
                  <a:schemeClr val="tx1"/>
                </a:solidFill>
                <a:latin typeface="+mn-lt"/>
                <a:ea typeface="+mn-ea"/>
                <a:cs typeface="+mn-cs"/>
              </a:defRPr>
            </a:lvl5pPr>
            <a:lvl6pPr marL="3007995" algn="l" defTabSz="1203325" rtl="0" eaLnBrk="1" latinLnBrk="0" hangingPunct="1">
              <a:defRPr sz="2340" kern="1200">
                <a:solidFill>
                  <a:schemeClr val="tx1"/>
                </a:solidFill>
                <a:latin typeface="+mn-lt"/>
                <a:ea typeface="+mn-ea"/>
                <a:cs typeface="+mn-cs"/>
              </a:defRPr>
            </a:lvl6pPr>
            <a:lvl7pPr marL="3609975" algn="l" defTabSz="1203325" rtl="0" eaLnBrk="1" latinLnBrk="0" hangingPunct="1">
              <a:defRPr sz="2340" kern="1200">
                <a:solidFill>
                  <a:schemeClr val="tx1"/>
                </a:solidFill>
                <a:latin typeface="+mn-lt"/>
                <a:ea typeface="+mn-ea"/>
                <a:cs typeface="+mn-cs"/>
              </a:defRPr>
            </a:lvl7pPr>
            <a:lvl8pPr marL="4211320" algn="l" defTabSz="1203325" rtl="0" eaLnBrk="1" latinLnBrk="0" hangingPunct="1">
              <a:defRPr sz="2340" kern="1200">
                <a:solidFill>
                  <a:schemeClr val="tx1"/>
                </a:solidFill>
                <a:latin typeface="+mn-lt"/>
                <a:ea typeface="+mn-ea"/>
                <a:cs typeface="+mn-cs"/>
              </a:defRPr>
            </a:lvl8pPr>
            <a:lvl9pPr marL="4813300" algn="l" defTabSz="1203325" rtl="0" eaLnBrk="1" latinLnBrk="0" hangingPunct="1">
              <a:defRPr sz="2340" kern="1200">
                <a:solidFill>
                  <a:schemeClr val="tx1"/>
                </a:solidFill>
                <a:latin typeface="+mn-lt"/>
                <a:ea typeface="+mn-ea"/>
                <a:cs typeface="+mn-cs"/>
              </a:defRPr>
            </a:lvl9pPr>
          </a:lstStyle>
          <a:p>
            <a:r>
              <a:rPr lang="en-US" altLang="zh-CN" sz="1015" dirty="0"/>
              <a:t>www.guideir.cn</a:t>
            </a:r>
            <a:endParaRPr lang="zh-CN" altLang="en-US" sz="1015"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9600" y="1600200"/>
            <a:ext cx="10972800" cy="4525963"/>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41117AC4-C4B6-4BB1-A699-26FD239F4236}" type="datetimeFigureOut">
              <a:rPr lang="zh-CN" altLang="en-US" smtClean="0"/>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6F2CBD76-B1E9-4B90-AB72-0B1A97848012}" type="slidenum">
              <a:rPr lang="zh-CN" altLang="en-US" smtClean="0"/>
            </a:fld>
            <a:endParaRPr lang="zh-CN" altLang="en-US"/>
          </a:p>
        </p:txBody>
      </p:sp>
      <p:sp>
        <p:nvSpPr>
          <p:cNvPr id="7" name="页脚占位符 4"/>
          <p:cNvSpPr txBox="1"/>
          <p:nvPr/>
        </p:nvSpPr>
        <p:spPr>
          <a:xfrm>
            <a:off x="10668440" y="136560"/>
            <a:ext cx="3860800" cy="365125"/>
          </a:xfrm>
          <a:prstGeom prst="rect">
            <a:avLst/>
          </a:prstGeom>
        </p:spPr>
        <p:txBody>
          <a:bodyPr/>
          <a:lstStyle>
            <a:defPPr>
              <a:defRPr lang="zh-CN"/>
            </a:defPPr>
            <a:lvl1pPr marL="0" algn="l" defTabSz="1203325" rtl="0" eaLnBrk="1" latinLnBrk="0" hangingPunct="1">
              <a:defRPr sz="1200" kern="1200">
                <a:solidFill>
                  <a:schemeClr val="bg1"/>
                </a:solidFill>
                <a:latin typeface="微软雅黑" panose="020B0503020204020204" pitchFamily="34" charset="-122"/>
                <a:ea typeface="微软雅黑" panose="020B0503020204020204" pitchFamily="34" charset="-122"/>
                <a:cs typeface="+mn-cs"/>
              </a:defRPr>
            </a:lvl1pPr>
            <a:lvl2pPr marL="601345" algn="l" defTabSz="1203325" rtl="0" eaLnBrk="1" latinLnBrk="0" hangingPunct="1">
              <a:defRPr sz="2340" kern="1200">
                <a:solidFill>
                  <a:schemeClr val="tx1"/>
                </a:solidFill>
                <a:latin typeface="+mn-lt"/>
                <a:ea typeface="+mn-ea"/>
                <a:cs typeface="+mn-cs"/>
              </a:defRPr>
            </a:lvl2pPr>
            <a:lvl3pPr marL="1203325" algn="l" defTabSz="1203325" rtl="0" eaLnBrk="1" latinLnBrk="0" hangingPunct="1">
              <a:defRPr sz="2340" kern="1200">
                <a:solidFill>
                  <a:schemeClr val="tx1"/>
                </a:solidFill>
                <a:latin typeface="+mn-lt"/>
                <a:ea typeface="+mn-ea"/>
                <a:cs typeface="+mn-cs"/>
              </a:defRPr>
            </a:lvl3pPr>
            <a:lvl4pPr marL="1804670" algn="l" defTabSz="1203325" rtl="0" eaLnBrk="1" latinLnBrk="0" hangingPunct="1">
              <a:defRPr sz="2340" kern="1200">
                <a:solidFill>
                  <a:schemeClr val="tx1"/>
                </a:solidFill>
                <a:latin typeface="+mn-lt"/>
                <a:ea typeface="+mn-ea"/>
                <a:cs typeface="+mn-cs"/>
              </a:defRPr>
            </a:lvl4pPr>
            <a:lvl5pPr marL="2406650" algn="l" defTabSz="1203325" rtl="0" eaLnBrk="1" latinLnBrk="0" hangingPunct="1">
              <a:defRPr sz="2340" kern="1200">
                <a:solidFill>
                  <a:schemeClr val="tx1"/>
                </a:solidFill>
                <a:latin typeface="+mn-lt"/>
                <a:ea typeface="+mn-ea"/>
                <a:cs typeface="+mn-cs"/>
              </a:defRPr>
            </a:lvl5pPr>
            <a:lvl6pPr marL="3007995" algn="l" defTabSz="1203325" rtl="0" eaLnBrk="1" latinLnBrk="0" hangingPunct="1">
              <a:defRPr sz="2340" kern="1200">
                <a:solidFill>
                  <a:schemeClr val="tx1"/>
                </a:solidFill>
                <a:latin typeface="+mn-lt"/>
                <a:ea typeface="+mn-ea"/>
                <a:cs typeface="+mn-cs"/>
              </a:defRPr>
            </a:lvl6pPr>
            <a:lvl7pPr marL="3609975" algn="l" defTabSz="1203325" rtl="0" eaLnBrk="1" latinLnBrk="0" hangingPunct="1">
              <a:defRPr sz="2340" kern="1200">
                <a:solidFill>
                  <a:schemeClr val="tx1"/>
                </a:solidFill>
                <a:latin typeface="+mn-lt"/>
                <a:ea typeface="+mn-ea"/>
                <a:cs typeface="+mn-cs"/>
              </a:defRPr>
            </a:lvl7pPr>
            <a:lvl8pPr marL="4211320" algn="l" defTabSz="1203325" rtl="0" eaLnBrk="1" latinLnBrk="0" hangingPunct="1">
              <a:defRPr sz="2340" kern="1200">
                <a:solidFill>
                  <a:schemeClr val="tx1"/>
                </a:solidFill>
                <a:latin typeface="+mn-lt"/>
                <a:ea typeface="+mn-ea"/>
                <a:cs typeface="+mn-cs"/>
              </a:defRPr>
            </a:lvl8pPr>
            <a:lvl9pPr marL="4813300" algn="l" defTabSz="1203325" rtl="0" eaLnBrk="1" latinLnBrk="0" hangingPunct="1">
              <a:defRPr sz="2340" kern="1200">
                <a:solidFill>
                  <a:schemeClr val="tx1"/>
                </a:solidFill>
                <a:latin typeface="+mn-lt"/>
                <a:ea typeface="+mn-ea"/>
                <a:cs typeface="+mn-cs"/>
              </a:defRPr>
            </a:lvl9pPr>
          </a:lstStyle>
          <a:p>
            <a:r>
              <a:rPr lang="en-US" altLang="zh-CN" sz="1015" dirty="0"/>
              <a:t>www.guideir.cn</a:t>
            </a:r>
            <a:endParaRPr lang="zh-CN" altLang="en-US" sz="1015"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6"/>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9600" y="274639"/>
            <a:ext cx="8026400" cy="5851526"/>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41117AC4-C4B6-4BB1-A699-26FD239F4236}" type="datetimeFigureOut">
              <a:rPr lang="zh-CN" altLang="en-US" smtClean="0"/>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6F2CBD76-B1E9-4B90-AB72-0B1A97848012}" type="slidenum">
              <a:rPr lang="zh-CN" altLang="en-US" smtClean="0"/>
            </a:fld>
            <a:endParaRPr lang="zh-CN" altLang="en-US"/>
          </a:p>
        </p:txBody>
      </p:sp>
      <p:sp>
        <p:nvSpPr>
          <p:cNvPr id="8" name="页脚占位符 4"/>
          <p:cNvSpPr txBox="1"/>
          <p:nvPr/>
        </p:nvSpPr>
        <p:spPr>
          <a:xfrm>
            <a:off x="10668440" y="136560"/>
            <a:ext cx="3860800" cy="365125"/>
          </a:xfrm>
          <a:prstGeom prst="rect">
            <a:avLst/>
          </a:prstGeom>
        </p:spPr>
        <p:txBody>
          <a:bodyPr/>
          <a:lstStyle>
            <a:defPPr>
              <a:defRPr lang="zh-CN"/>
            </a:defPPr>
            <a:lvl1pPr marL="0" algn="l" defTabSz="1203325" rtl="0" eaLnBrk="1" latinLnBrk="0" hangingPunct="1">
              <a:defRPr sz="1200" kern="1200">
                <a:solidFill>
                  <a:schemeClr val="bg1"/>
                </a:solidFill>
                <a:latin typeface="微软雅黑" panose="020B0503020204020204" pitchFamily="34" charset="-122"/>
                <a:ea typeface="微软雅黑" panose="020B0503020204020204" pitchFamily="34" charset="-122"/>
                <a:cs typeface="+mn-cs"/>
              </a:defRPr>
            </a:lvl1pPr>
            <a:lvl2pPr marL="601345" algn="l" defTabSz="1203325" rtl="0" eaLnBrk="1" latinLnBrk="0" hangingPunct="1">
              <a:defRPr sz="2340" kern="1200">
                <a:solidFill>
                  <a:schemeClr val="tx1"/>
                </a:solidFill>
                <a:latin typeface="+mn-lt"/>
                <a:ea typeface="+mn-ea"/>
                <a:cs typeface="+mn-cs"/>
              </a:defRPr>
            </a:lvl2pPr>
            <a:lvl3pPr marL="1203325" algn="l" defTabSz="1203325" rtl="0" eaLnBrk="1" latinLnBrk="0" hangingPunct="1">
              <a:defRPr sz="2340" kern="1200">
                <a:solidFill>
                  <a:schemeClr val="tx1"/>
                </a:solidFill>
                <a:latin typeface="+mn-lt"/>
                <a:ea typeface="+mn-ea"/>
                <a:cs typeface="+mn-cs"/>
              </a:defRPr>
            </a:lvl3pPr>
            <a:lvl4pPr marL="1804670" algn="l" defTabSz="1203325" rtl="0" eaLnBrk="1" latinLnBrk="0" hangingPunct="1">
              <a:defRPr sz="2340" kern="1200">
                <a:solidFill>
                  <a:schemeClr val="tx1"/>
                </a:solidFill>
                <a:latin typeface="+mn-lt"/>
                <a:ea typeface="+mn-ea"/>
                <a:cs typeface="+mn-cs"/>
              </a:defRPr>
            </a:lvl4pPr>
            <a:lvl5pPr marL="2406650" algn="l" defTabSz="1203325" rtl="0" eaLnBrk="1" latinLnBrk="0" hangingPunct="1">
              <a:defRPr sz="2340" kern="1200">
                <a:solidFill>
                  <a:schemeClr val="tx1"/>
                </a:solidFill>
                <a:latin typeface="+mn-lt"/>
                <a:ea typeface="+mn-ea"/>
                <a:cs typeface="+mn-cs"/>
              </a:defRPr>
            </a:lvl5pPr>
            <a:lvl6pPr marL="3007995" algn="l" defTabSz="1203325" rtl="0" eaLnBrk="1" latinLnBrk="0" hangingPunct="1">
              <a:defRPr sz="2340" kern="1200">
                <a:solidFill>
                  <a:schemeClr val="tx1"/>
                </a:solidFill>
                <a:latin typeface="+mn-lt"/>
                <a:ea typeface="+mn-ea"/>
                <a:cs typeface="+mn-cs"/>
              </a:defRPr>
            </a:lvl6pPr>
            <a:lvl7pPr marL="3609975" algn="l" defTabSz="1203325" rtl="0" eaLnBrk="1" latinLnBrk="0" hangingPunct="1">
              <a:defRPr sz="2340" kern="1200">
                <a:solidFill>
                  <a:schemeClr val="tx1"/>
                </a:solidFill>
                <a:latin typeface="+mn-lt"/>
                <a:ea typeface="+mn-ea"/>
                <a:cs typeface="+mn-cs"/>
              </a:defRPr>
            </a:lvl7pPr>
            <a:lvl8pPr marL="4211320" algn="l" defTabSz="1203325" rtl="0" eaLnBrk="1" latinLnBrk="0" hangingPunct="1">
              <a:defRPr sz="2340" kern="1200">
                <a:solidFill>
                  <a:schemeClr val="tx1"/>
                </a:solidFill>
                <a:latin typeface="+mn-lt"/>
                <a:ea typeface="+mn-ea"/>
                <a:cs typeface="+mn-cs"/>
              </a:defRPr>
            </a:lvl8pPr>
            <a:lvl9pPr marL="4813300" algn="l" defTabSz="1203325" rtl="0" eaLnBrk="1" latinLnBrk="0" hangingPunct="1">
              <a:defRPr sz="2340" kern="1200">
                <a:solidFill>
                  <a:schemeClr val="tx1"/>
                </a:solidFill>
                <a:latin typeface="+mn-lt"/>
                <a:ea typeface="+mn-ea"/>
                <a:cs typeface="+mn-cs"/>
              </a:defRPr>
            </a:lvl9pPr>
          </a:lstStyle>
          <a:p>
            <a:r>
              <a:rPr lang="en-US" altLang="zh-CN" sz="1015" dirty="0"/>
              <a:t>www.guideir.cn</a:t>
            </a:r>
            <a:endParaRPr lang="zh-CN" altLang="en-US" sz="1015"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矩形 3"/>
          <p:cNvSpPr/>
          <p:nvPr/>
        </p:nvSpPr>
        <p:spPr>
          <a:xfrm>
            <a:off x="672" y="0"/>
            <a:ext cx="12192000" cy="56335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25"/>
          </a:p>
        </p:txBody>
      </p:sp>
      <p:sp>
        <p:nvSpPr>
          <p:cNvPr id="5" name="页脚占位符 4"/>
          <p:cNvSpPr txBox="1"/>
          <p:nvPr/>
        </p:nvSpPr>
        <p:spPr>
          <a:xfrm>
            <a:off x="10737091" y="197531"/>
            <a:ext cx="1394530" cy="365827"/>
          </a:xfrm>
          <a:prstGeom prst="rect">
            <a:avLst/>
          </a:prstGeom>
        </p:spPr>
        <p:txBody>
          <a:bodyPr/>
          <a:lstStyle>
            <a:defPPr>
              <a:defRPr lang="zh-CN"/>
            </a:defPPr>
            <a:lvl1pPr marL="0" algn="l" defTabSz="1203325" rtl="0" eaLnBrk="1" latinLnBrk="0" hangingPunct="1">
              <a:defRPr sz="1200" kern="1200">
                <a:solidFill>
                  <a:schemeClr val="bg1"/>
                </a:solidFill>
                <a:latin typeface="微软雅黑" panose="020B0503020204020204" pitchFamily="34" charset="-122"/>
                <a:ea typeface="微软雅黑" panose="020B0503020204020204" pitchFamily="34" charset="-122"/>
                <a:cs typeface="+mn-cs"/>
              </a:defRPr>
            </a:lvl1pPr>
            <a:lvl2pPr marL="601345" algn="l" defTabSz="1203325" rtl="0" eaLnBrk="1" latinLnBrk="0" hangingPunct="1">
              <a:defRPr sz="2340" kern="1200">
                <a:solidFill>
                  <a:schemeClr val="tx1"/>
                </a:solidFill>
                <a:latin typeface="+mn-lt"/>
                <a:ea typeface="+mn-ea"/>
                <a:cs typeface="+mn-cs"/>
              </a:defRPr>
            </a:lvl2pPr>
            <a:lvl3pPr marL="1203325" algn="l" defTabSz="1203325" rtl="0" eaLnBrk="1" latinLnBrk="0" hangingPunct="1">
              <a:defRPr sz="2340" kern="1200">
                <a:solidFill>
                  <a:schemeClr val="tx1"/>
                </a:solidFill>
                <a:latin typeface="+mn-lt"/>
                <a:ea typeface="+mn-ea"/>
                <a:cs typeface="+mn-cs"/>
              </a:defRPr>
            </a:lvl3pPr>
            <a:lvl4pPr marL="1804670" algn="l" defTabSz="1203325" rtl="0" eaLnBrk="1" latinLnBrk="0" hangingPunct="1">
              <a:defRPr sz="2340" kern="1200">
                <a:solidFill>
                  <a:schemeClr val="tx1"/>
                </a:solidFill>
                <a:latin typeface="+mn-lt"/>
                <a:ea typeface="+mn-ea"/>
                <a:cs typeface="+mn-cs"/>
              </a:defRPr>
            </a:lvl4pPr>
            <a:lvl5pPr marL="2406650" algn="l" defTabSz="1203325" rtl="0" eaLnBrk="1" latinLnBrk="0" hangingPunct="1">
              <a:defRPr sz="2340" kern="1200">
                <a:solidFill>
                  <a:schemeClr val="tx1"/>
                </a:solidFill>
                <a:latin typeface="+mn-lt"/>
                <a:ea typeface="+mn-ea"/>
                <a:cs typeface="+mn-cs"/>
              </a:defRPr>
            </a:lvl5pPr>
            <a:lvl6pPr marL="3007995" algn="l" defTabSz="1203325" rtl="0" eaLnBrk="1" latinLnBrk="0" hangingPunct="1">
              <a:defRPr sz="2340" kern="1200">
                <a:solidFill>
                  <a:schemeClr val="tx1"/>
                </a:solidFill>
                <a:latin typeface="+mn-lt"/>
                <a:ea typeface="+mn-ea"/>
                <a:cs typeface="+mn-cs"/>
              </a:defRPr>
            </a:lvl6pPr>
            <a:lvl7pPr marL="3609975" algn="l" defTabSz="1203325" rtl="0" eaLnBrk="1" latinLnBrk="0" hangingPunct="1">
              <a:defRPr sz="2340" kern="1200">
                <a:solidFill>
                  <a:schemeClr val="tx1"/>
                </a:solidFill>
                <a:latin typeface="+mn-lt"/>
                <a:ea typeface="+mn-ea"/>
                <a:cs typeface="+mn-cs"/>
              </a:defRPr>
            </a:lvl7pPr>
            <a:lvl8pPr marL="4211320" algn="l" defTabSz="1203325" rtl="0" eaLnBrk="1" latinLnBrk="0" hangingPunct="1">
              <a:defRPr sz="2340" kern="1200">
                <a:solidFill>
                  <a:schemeClr val="tx1"/>
                </a:solidFill>
                <a:latin typeface="+mn-lt"/>
                <a:ea typeface="+mn-ea"/>
                <a:cs typeface="+mn-cs"/>
              </a:defRPr>
            </a:lvl8pPr>
            <a:lvl9pPr marL="4813300" algn="l" defTabSz="1203325" rtl="0" eaLnBrk="1" latinLnBrk="0" hangingPunct="1">
              <a:defRPr sz="2340" kern="1200">
                <a:solidFill>
                  <a:schemeClr val="tx1"/>
                </a:solidFill>
                <a:latin typeface="+mn-lt"/>
                <a:ea typeface="+mn-ea"/>
                <a:cs typeface="+mn-cs"/>
              </a:defRPr>
            </a:lvl9pPr>
          </a:lstStyle>
          <a:p>
            <a:r>
              <a:rPr lang="en-US" altLang="zh-CN" sz="1015" dirty="0" smtClean="0"/>
              <a:t>www.guideir.com</a:t>
            </a:r>
            <a:endParaRPr lang="zh-CN" altLang="en-US" sz="1015"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par>
    </p:tnLst>
  </p:timing>
  <p:txStyles>
    <p:titleStyle>
      <a:lvl1pPr algn="ctr" defTabSz="1018540" rtl="0" eaLnBrk="1" latinLnBrk="0" hangingPunct="1">
        <a:spcBef>
          <a:spcPct val="0"/>
        </a:spcBef>
        <a:buNone/>
        <a:defRPr sz="4920" kern="1200">
          <a:solidFill>
            <a:schemeClr val="tx1"/>
          </a:solidFill>
          <a:latin typeface="+mj-lt"/>
          <a:ea typeface="+mj-ea"/>
          <a:cs typeface="+mj-cs"/>
        </a:defRPr>
      </a:lvl1pPr>
    </p:titleStyle>
    <p:bodyStyle>
      <a:lvl1pPr marL="382270" indent="-382270" algn="l" defTabSz="1018540" rtl="0" eaLnBrk="1" latinLnBrk="0" hangingPunct="1">
        <a:spcBef>
          <a:spcPct val="20000"/>
        </a:spcBef>
        <a:buFont typeface="Arial" panose="020B0604020202020204" pitchFamily="34" charset="0"/>
        <a:buChar char="•"/>
        <a:defRPr sz="3540" kern="1200">
          <a:solidFill>
            <a:schemeClr val="tx1"/>
          </a:solidFill>
          <a:latin typeface="+mn-lt"/>
          <a:ea typeface="+mn-ea"/>
          <a:cs typeface="+mn-cs"/>
        </a:defRPr>
      </a:lvl1pPr>
      <a:lvl2pPr marL="828040" indent="-318135" algn="l" defTabSz="1018540" rtl="0" eaLnBrk="1" latinLnBrk="0" hangingPunct="1">
        <a:spcBef>
          <a:spcPct val="20000"/>
        </a:spcBef>
        <a:buFont typeface="Arial" panose="020B0604020202020204" pitchFamily="34" charset="0"/>
        <a:buChar char="–"/>
        <a:defRPr sz="3120" kern="1200">
          <a:solidFill>
            <a:schemeClr val="tx1"/>
          </a:solidFill>
          <a:latin typeface="+mn-lt"/>
          <a:ea typeface="+mn-ea"/>
          <a:cs typeface="+mn-cs"/>
        </a:defRPr>
      </a:lvl2pPr>
      <a:lvl3pPr marL="1273810" indent="-254635" algn="l" defTabSz="101854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3pPr>
      <a:lvl4pPr marL="1783080" indent="-254635" algn="l" defTabSz="1018540" rtl="0" eaLnBrk="1" latinLnBrk="0" hangingPunct="1">
        <a:spcBef>
          <a:spcPct val="20000"/>
        </a:spcBef>
        <a:buFont typeface="Arial" panose="020B0604020202020204" pitchFamily="34" charset="0"/>
        <a:buChar char="–"/>
        <a:defRPr sz="2220" kern="1200">
          <a:solidFill>
            <a:schemeClr val="tx1"/>
          </a:solidFill>
          <a:latin typeface="+mn-lt"/>
          <a:ea typeface="+mn-ea"/>
          <a:cs typeface="+mn-cs"/>
        </a:defRPr>
      </a:lvl4pPr>
      <a:lvl5pPr marL="2292350" indent="-254635" algn="l" defTabSz="1018540" rtl="0" eaLnBrk="1" latinLnBrk="0" hangingPunct="1">
        <a:spcBef>
          <a:spcPct val="20000"/>
        </a:spcBef>
        <a:buFont typeface="Arial" panose="020B0604020202020204" pitchFamily="34" charset="0"/>
        <a:buChar char="»"/>
        <a:defRPr sz="2220" kern="1200">
          <a:solidFill>
            <a:schemeClr val="tx1"/>
          </a:solidFill>
          <a:latin typeface="+mn-lt"/>
          <a:ea typeface="+mn-ea"/>
          <a:cs typeface="+mn-cs"/>
        </a:defRPr>
      </a:lvl5pPr>
      <a:lvl6pPr marL="2801620" indent="-254635" algn="l" defTabSz="1018540" rtl="0" eaLnBrk="1" latinLnBrk="0" hangingPunct="1">
        <a:spcBef>
          <a:spcPct val="20000"/>
        </a:spcBef>
        <a:buFont typeface="Arial" panose="020B0604020202020204" pitchFamily="34" charset="0"/>
        <a:buChar char="•"/>
        <a:defRPr sz="2220" kern="1200">
          <a:solidFill>
            <a:schemeClr val="tx1"/>
          </a:solidFill>
          <a:latin typeface="+mn-lt"/>
          <a:ea typeface="+mn-ea"/>
          <a:cs typeface="+mn-cs"/>
        </a:defRPr>
      </a:lvl6pPr>
      <a:lvl7pPr marL="3311525" indent="-254635" algn="l" defTabSz="1018540" rtl="0" eaLnBrk="1" latinLnBrk="0" hangingPunct="1">
        <a:spcBef>
          <a:spcPct val="20000"/>
        </a:spcBef>
        <a:buFont typeface="Arial" panose="020B0604020202020204" pitchFamily="34" charset="0"/>
        <a:buChar char="•"/>
        <a:defRPr sz="2220" kern="1200">
          <a:solidFill>
            <a:schemeClr val="tx1"/>
          </a:solidFill>
          <a:latin typeface="+mn-lt"/>
          <a:ea typeface="+mn-ea"/>
          <a:cs typeface="+mn-cs"/>
        </a:defRPr>
      </a:lvl7pPr>
      <a:lvl8pPr marL="3820795" indent="-254635" algn="l" defTabSz="1018540" rtl="0" eaLnBrk="1" latinLnBrk="0" hangingPunct="1">
        <a:spcBef>
          <a:spcPct val="20000"/>
        </a:spcBef>
        <a:buFont typeface="Arial" panose="020B0604020202020204" pitchFamily="34" charset="0"/>
        <a:buChar char="•"/>
        <a:defRPr sz="2220" kern="1200">
          <a:solidFill>
            <a:schemeClr val="tx1"/>
          </a:solidFill>
          <a:latin typeface="+mn-lt"/>
          <a:ea typeface="+mn-ea"/>
          <a:cs typeface="+mn-cs"/>
        </a:defRPr>
      </a:lvl8pPr>
      <a:lvl9pPr marL="4330065" indent="-254635" algn="l" defTabSz="1018540" rtl="0" eaLnBrk="1" latinLnBrk="0" hangingPunct="1">
        <a:spcBef>
          <a:spcPct val="20000"/>
        </a:spcBef>
        <a:buFont typeface="Arial" panose="020B0604020202020204" pitchFamily="34" charset="0"/>
        <a:buChar char="•"/>
        <a:defRPr sz="2220" kern="1200">
          <a:solidFill>
            <a:schemeClr val="tx1"/>
          </a:solidFill>
          <a:latin typeface="+mn-lt"/>
          <a:ea typeface="+mn-ea"/>
          <a:cs typeface="+mn-cs"/>
        </a:defRPr>
      </a:lvl9pPr>
    </p:bodyStyle>
    <p:otherStyle>
      <a:defPPr>
        <a:defRPr lang="zh-CN"/>
      </a:defPPr>
      <a:lvl1pPr marL="0" algn="l" defTabSz="1018540" rtl="0" eaLnBrk="1" latinLnBrk="0" hangingPunct="1">
        <a:defRPr sz="1980" kern="1200">
          <a:solidFill>
            <a:schemeClr val="tx1"/>
          </a:solidFill>
          <a:latin typeface="+mn-lt"/>
          <a:ea typeface="+mn-ea"/>
          <a:cs typeface="+mn-cs"/>
        </a:defRPr>
      </a:lvl1pPr>
      <a:lvl2pPr marL="509270" algn="l" defTabSz="1018540" rtl="0" eaLnBrk="1" latinLnBrk="0" hangingPunct="1">
        <a:defRPr sz="1980" kern="1200">
          <a:solidFill>
            <a:schemeClr val="tx1"/>
          </a:solidFill>
          <a:latin typeface="+mn-lt"/>
          <a:ea typeface="+mn-ea"/>
          <a:cs typeface="+mn-cs"/>
        </a:defRPr>
      </a:lvl2pPr>
      <a:lvl3pPr marL="1018540" algn="l" defTabSz="1018540" rtl="0" eaLnBrk="1" latinLnBrk="0" hangingPunct="1">
        <a:defRPr sz="1980" kern="1200">
          <a:solidFill>
            <a:schemeClr val="tx1"/>
          </a:solidFill>
          <a:latin typeface="+mn-lt"/>
          <a:ea typeface="+mn-ea"/>
          <a:cs typeface="+mn-cs"/>
        </a:defRPr>
      </a:lvl3pPr>
      <a:lvl4pPr marL="1528445" algn="l" defTabSz="1018540" rtl="0" eaLnBrk="1" latinLnBrk="0" hangingPunct="1">
        <a:defRPr sz="1980" kern="1200">
          <a:solidFill>
            <a:schemeClr val="tx1"/>
          </a:solidFill>
          <a:latin typeface="+mn-lt"/>
          <a:ea typeface="+mn-ea"/>
          <a:cs typeface="+mn-cs"/>
        </a:defRPr>
      </a:lvl4pPr>
      <a:lvl5pPr marL="2037715" algn="l" defTabSz="1018540" rtl="0" eaLnBrk="1" latinLnBrk="0" hangingPunct="1">
        <a:defRPr sz="1980" kern="1200">
          <a:solidFill>
            <a:schemeClr val="tx1"/>
          </a:solidFill>
          <a:latin typeface="+mn-lt"/>
          <a:ea typeface="+mn-ea"/>
          <a:cs typeface="+mn-cs"/>
        </a:defRPr>
      </a:lvl5pPr>
      <a:lvl6pPr marL="2546985" algn="l" defTabSz="1018540" rtl="0" eaLnBrk="1" latinLnBrk="0" hangingPunct="1">
        <a:defRPr sz="1980" kern="1200">
          <a:solidFill>
            <a:schemeClr val="tx1"/>
          </a:solidFill>
          <a:latin typeface="+mn-lt"/>
          <a:ea typeface="+mn-ea"/>
          <a:cs typeface="+mn-cs"/>
        </a:defRPr>
      </a:lvl6pPr>
      <a:lvl7pPr marL="3056255" algn="l" defTabSz="1018540" rtl="0" eaLnBrk="1" latinLnBrk="0" hangingPunct="1">
        <a:defRPr sz="1980" kern="1200">
          <a:solidFill>
            <a:schemeClr val="tx1"/>
          </a:solidFill>
          <a:latin typeface="+mn-lt"/>
          <a:ea typeface="+mn-ea"/>
          <a:cs typeface="+mn-cs"/>
        </a:defRPr>
      </a:lvl7pPr>
      <a:lvl8pPr marL="3566160" algn="l" defTabSz="1018540" rtl="0" eaLnBrk="1" latinLnBrk="0" hangingPunct="1">
        <a:defRPr sz="1980" kern="1200">
          <a:solidFill>
            <a:schemeClr val="tx1"/>
          </a:solidFill>
          <a:latin typeface="+mn-lt"/>
          <a:ea typeface="+mn-ea"/>
          <a:cs typeface="+mn-cs"/>
        </a:defRPr>
      </a:lvl8pPr>
      <a:lvl9pPr marL="4075430" algn="l" defTabSz="1018540" rtl="0" eaLnBrk="1" latinLnBrk="0" hangingPunct="1">
        <a:defRPr sz="19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tags" Target="../tags/tag3.xml"/><Relationship Id="rId4" Type="http://schemas.openxmlformats.org/officeDocument/2006/relationships/image" Target="../media/image6.png"/><Relationship Id="rId3" Type="http://schemas.openxmlformats.org/officeDocument/2006/relationships/tags" Target="../tags/tag2.xml"/><Relationship Id="rId2" Type="http://schemas.openxmlformats.org/officeDocument/2006/relationships/image" Target="../media/image5.png"/><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9" Type="http://schemas.openxmlformats.org/officeDocument/2006/relationships/tags" Target="../tags/tag10.xml"/><Relationship Id="rId8" Type="http://schemas.openxmlformats.org/officeDocument/2006/relationships/tags" Target="../tags/tag9.xml"/><Relationship Id="rId7" Type="http://schemas.openxmlformats.org/officeDocument/2006/relationships/image" Target="../media/image9.png"/><Relationship Id="rId6" Type="http://schemas.openxmlformats.org/officeDocument/2006/relationships/tags" Target="../tags/tag8.xml"/><Relationship Id="rId5" Type="http://schemas.openxmlformats.org/officeDocument/2006/relationships/tags" Target="../tags/tag7.xml"/><Relationship Id="rId4" Type="http://schemas.openxmlformats.org/officeDocument/2006/relationships/image" Target="../media/image8.png"/><Relationship Id="rId3" Type="http://schemas.openxmlformats.org/officeDocument/2006/relationships/tags" Target="../tags/tag6.xml"/><Relationship Id="rId2" Type="http://schemas.openxmlformats.org/officeDocument/2006/relationships/tags" Target="../tags/tag5.xml"/><Relationship Id="rId15" Type="http://schemas.openxmlformats.org/officeDocument/2006/relationships/slideLayout" Target="../slideLayouts/slideLayout2.xml"/><Relationship Id="rId14" Type="http://schemas.openxmlformats.org/officeDocument/2006/relationships/image" Target="../media/image11.png"/><Relationship Id="rId13" Type="http://schemas.openxmlformats.org/officeDocument/2006/relationships/tags" Target="../tags/tag13.xml"/><Relationship Id="rId12" Type="http://schemas.openxmlformats.org/officeDocument/2006/relationships/image" Target="../media/image10.png"/><Relationship Id="rId11" Type="http://schemas.openxmlformats.org/officeDocument/2006/relationships/tags" Target="../tags/tag12.xml"/><Relationship Id="rId10" Type="http://schemas.openxmlformats.org/officeDocument/2006/relationships/tags" Target="../tags/tag11.xml"/><Relationship Id="rId1" Type="http://schemas.openxmlformats.org/officeDocument/2006/relationships/tags" Target="../tags/tag4.xml"/></Relationships>
</file>

<file path=ppt/slides/_rels/slide5.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15.xml"/><Relationship Id="rId4" Type="http://schemas.openxmlformats.org/officeDocument/2006/relationships/tags" Target="../tags/tag14.xml"/><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image" Target="../media/image12.png"/></Relationships>
</file>

<file path=ppt/slides/_rels/slide6.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image" Target="../media/image15.png"/><Relationship Id="rId1" Type="http://schemas.openxmlformats.org/officeDocument/2006/relationships/tags" Target="../tags/tag1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9.xml"/><Relationship Id="rId1" Type="http://schemas.openxmlformats.org/officeDocument/2006/relationships/image" Target="../media/image17.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9.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22.png"/><Relationship Id="rId7" Type="http://schemas.openxmlformats.org/officeDocument/2006/relationships/image" Target="../media/image21.png"/><Relationship Id="rId6" Type="http://schemas.openxmlformats.org/officeDocument/2006/relationships/tags" Target="../tags/tag23.xml"/><Relationship Id="rId5" Type="http://schemas.openxmlformats.org/officeDocument/2006/relationships/image" Target="../media/image20.png"/><Relationship Id="rId4" Type="http://schemas.openxmlformats.org/officeDocument/2006/relationships/image" Target="../media/image19.png"/><Relationship Id="rId3" Type="http://schemas.openxmlformats.org/officeDocument/2006/relationships/tags" Target="../tags/tag22.xml"/><Relationship Id="rId2" Type="http://schemas.openxmlformats.org/officeDocument/2006/relationships/tags" Target="../tags/tag21.xml"/><Relationship Id="rId1" Type="http://schemas.openxmlformats.org/officeDocument/2006/relationships/tags" Target="../tags/tag20.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4.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3.png"/><Relationship Id="rId1" Type="http://schemas.openxmlformats.org/officeDocument/2006/relationships/tags" Target="../tags/tag25.xml"/></Relationships>
</file>

<file path=ppt/slides/_rels/slide12.xml.rels><?xml version="1.0" encoding="UTF-8" standalone="yes"?>
<Relationships xmlns="http://schemas.openxmlformats.org/package/2006/relationships"><Relationship Id="rId9" Type="http://schemas.openxmlformats.org/officeDocument/2006/relationships/image" Target="../media/image27.png"/><Relationship Id="rId8" Type="http://schemas.openxmlformats.org/officeDocument/2006/relationships/tags" Target="../tags/tag30.xml"/><Relationship Id="rId7" Type="http://schemas.openxmlformats.org/officeDocument/2006/relationships/image" Target="../media/image26.png"/><Relationship Id="rId6" Type="http://schemas.openxmlformats.org/officeDocument/2006/relationships/tags" Target="../tags/tag29.xml"/><Relationship Id="rId5" Type="http://schemas.openxmlformats.org/officeDocument/2006/relationships/image" Target="../media/image25.png"/><Relationship Id="rId4" Type="http://schemas.openxmlformats.org/officeDocument/2006/relationships/tags" Target="../tags/tag28.xml"/><Relationship Id="rId3" Type="http://schemas.openxmlformats.org/officeDocument/2006/relationships/image" Target="../media/image24.png"/><Relationship Id="rId2" Type="http://schemas.openxmlformats.org/officeDocument/2006/relationships/tags" Target="../tags/tag27.xml"/><Relationship Id="rId10" Type="http://schemas.openxmlformats.org/officeDocument/2006/relationships/slideLayout" Target="../slideLayouts/slideLayout2.xml"/><Relationship Id="rId1" Type="http://schemas.openxmlformats.org/officeDocument/2006/relationships/tags" Target="../tags/tag26.xml"/></Relationships>
</file>

<file path=ppt/slides/_rels/slide13.xml.rels><?xml version="1.0" encoding="UTF-8" standalone="yes"?>
<Relationships xmlns="http://schemas.openxmlformats.org/package/2006/relationships"><Relationship Id="rId9" Type="http://schemas.openxmlformats.org/officeDocument/2006/relationships/tags" Target="../tags/tag37.xml"/><Relationship Id="rId8" Type="http://schemas.openxmlformats.org/officeDocument/2006/relationships/tags" Target="../tags/tag36.xml"/><Relationship Id="rId7" Type="http://schemas.openxmlformats.org/officeDocument/2006/relationships/image" Target="../media/image29.png"/><Relationship Id="rId6" Type="http://schemas.openxmlformats.org/officeDocument/2006/relationships/tags" Target="../tags/tag35.xml"/><Relationship Id="rId5" Type="http://schemas.openxmlformats.org/officeDocument/2006/relationships/tags" Target="../tags/tag34.xml"/><Relationship Id="rId4" Type="http://schemas.openxmlformats.org/officeDocument/2006/relationships/tags" Target="../tags/tag33.xml"/><Relationship Id="rId3" Type="http://schemas.openxmlformats.org/officeDocument/2006/relationships/tags" Target="../tags/tag32.xml"/><Relationship Id="rId2" Type="http://schemas.openxmlformats.org/officeDocument/2006/relationships/image" Target="../media/image28.png"/><Relationship Id="rId13" Type="http://schemas.openxmlformats.org/officeDocument/2006/relationships/slideLayout" Target="../slideLayouts/slideLayout2.xml"/><Relationship Id="rId12" Type="http://schemas.openxmlformats.org/officeDocument/2006/relationships/image" Target="../media/image14.png"/><Relationship Id="rId11" Type="http://schemas.openxmlformats.org/officeDocument/2006/relationships/tags" Target="../tags/tag38.xml"/><Relationship Id="rId10" Type="http://schemas.openxmlformats.org/officeDocument/2006/relationships/image" Target="../media/image30.png"/><Relationship Id="rId1" Type="http://schemas.openxmlformats.org/officeDocument/2006/relationships/tags" Target="../tags/tag31.xml"/></Relationships>
</file>

<file path=ppt/slides/_rels/slide14.xml.rels><?xml version="1.0" encoding="UTF-8" standalone="yes"?>
<Relationships xmlns="http://schemas.openxmlformats.org/package/2006/relationships"><Relationship Id="rId9" Type="http://schemas.openxmlformats.org/officeDocument/2006/relationships/tags" Target="../tags/tag45.xml"/><Relationship Id="rId8" Type="http://schemas.openxmlformats.org/officeDocument/2006/relationships/tags" Target="../tags/tag44.xml"/><Relationship Id="rId7" Type="http://schemas.openxmlformats.org/officeDocument/2006/relationships/tags" Target="../tags/tag43.xml"/><Relationship Id="rId6" Type="http://schemas.openxmlformats.org/officeDocument/2006/relationships/tags" Target="../tags/tag42.xml"/><Relationship Id="rId5" Type="http://schemas.openxmlformats.org/officeDocument/2006/relationships/tags" Target="../tags/tag41.xml"/><Relationship Id="rId4" Type="http://schemas.openxmlformats.org/officeDocument/2006/relationships/image" Target="../media/image32.png"/><Relationship Id="rId3" Type="http://schemas.openxmlformats.org/officeDocument/2006/relationships/tags" Target="../tags/tag40.xml"/><Relationship Id="rId2" Type="http://schemas.openxmlformats.org/officeDocument/2006/relationships/image" Target="../media/image31.png"/><Relationship Id="rId12" Type="http://schemas.openxmlformats.org/officeDocument/2006/relationships/slideLayout" Target="../slideLayouts/slideLayout2.xml"/><Relationship Id="rId11" Type="http://schemas.openxmlformats.org/officeDocument/2006/relationships/image" Target="../media/image33.png"/><Relationship Id="rId10" Type="http://schemas.openxmlformats.org/officeDocument/2006/relationships/tags" Target="../tags/tag46.xml"/><Relationship Id="rId1" Type="http://schemas.openxmlformats.org/officeDocument/2006/relationships/tags" Target="../tags/tag39.xml"/></Relationships>
</file>

<file path=ppt/slides/_rels/slide15.xml.rels><?xml version="1.0" encoding="UTF-8" standalone="yes"?>
<Relationships xmlns="http://schemas.openxmlformats.org/package/2006/relationships"><Relationship Id="rId9" Type="http://schemas.openxmlformats.org/officeDocument/2006/relationships/tags" Target="../tags/tag51.xml"/><Relationship Id="rId8" Type="http://schemas.openxmlformats.org/officeDocument/2006/relationships/image" Target="../media/image37.png"/><Relationship Id="rId7" Type="http://schemas.openxmlformats.org/officeDocument/2006/relationships/tags" Target="../tags/tag50.xml"/><Relationship Id="rId6" Type="http://schemas.openxmlformats.org/officeDocument/2006/relationships/image" Target="../media/image36.png"/><Relationship Id="rId5" Type="http://schemas.openxmlformats.org/officeDocument/2006/relationships/tags" Target="../tags/tag49.xml"/><Relationship Id="rId4" Type="http://schemas.openxmlformats.org/officeDocument/2006/relationships/image" Target="../media/image35.png"/><Relationship Id="rId3" Type="http://schemas.openxmlformats.org/officeDocument/2006/relationships/tags" Target="../tags/tag48.xml"/><Relationship Id="rId2" Type="http://schemas.openxmlformats.org/officeDocument/2006/relationships/image" Target="../media/image34.png"/><Relationship Id="rId12" Type="http://schemas.openxmlformats.org/officeDocument/2006/relationships/slideLayout" Target="../slideLayouts/slideLayout2.xml"/><Relationship Id="rId11" Type="http://schemas.openxmlformats.org/officeDocument/2006/relationships/image" Target="../media/image38.png"/><Relationship Id="rId10" Type="http://schemas.openxmlformats.org/officeDocument/2006/relationships/tags" Target="../tags/tag52.xml"/><Relationship Id="rId1" Type="http://schemas.openxmlformats.org/officeDocument/2006/relationships/tags" Target="../tags/tag47.xml"/></Relationships>
</file>

<file path=ppt/slides/_rels/slide16.xml.rels><?xml version="1.0" encoding="UTF-8" standalone="yes"?>
<Relationships xmlns="http://schemas.openxmlformats.org/package/2006/relationships"><Relationship Id="rId9" Type="http://schemas.openxmlformats.org/officeDocument/2006/relationships/image" Target="../media/image42.png"/><Relationship Id="rId8" Type="http://schemas.openxmlformats.org/officeDocument/2006/relationships/tags" Target="../tags/tag57.xml"/><Relationship Id="rId7" Type="http://schemas.openxmlformats.org/officeDocument/2006/relationships/image" Target="../media/image41.png"/><Relationship Id="rId6" Type="http://schemas.openxmlformats.org/officeDocument/2006/relationships/tags" Target="../tags/tag56.xml"/><Relationship Id="rId5" Type="http://schemas.openxmlformats.org/officeDocument/2006/relationships/image" Target="../media/image40.png"/><Relationship Id="rId4" Type="http://schemas.openxmlformats.org/officeDocument/2006/relationships/tags" Target="../tags/tag55.xml"/><Relationship Id="rId3" Type="http://schemas.openxmlformats.org/officeDocument/2006/relationships/tags" Target="../tags/tag54.xml"/><Relationship Id="rId2" Type="http://schemas.openxmlformats.org/officeDocument/2006/relationships/image" Target="../media/image39.png"/><Relationship Id="rId15" Type="http://schemas.openxmlformats.org/officeDocument/2006/relationships/slideLayout" Target="../slideLayouts/slideLayout2.xml"/><Relationship Id="rId14" Type="http://schemas.openxmlformats.org/officeDocument/2006/relationships/image" Target="../media/image43.png"/><Relationship Id="rId13" Type="http://schemas.openxmlformats.org/officeDocument/2006/relationships/tags" Target="../tags/tag61.xml"/><Relationship Id="rId12" Type="http://schemas.openxmlformats.org/officeDocument/2006/relationships/tags" Target="../tags/tag60.xml"/><Relationship Id="rId11" Type="http://schemas.openxmlformats.org/officeDocument/2006/relationships/tags" Target="../tags/tag59.xml"/><Relationship Id="rId10" Type="http://schemas.openxmlformats.org/officeDocument/2006/relationships/tags" Target="../tags/tag58.xml"/><Relationship Id="rId1" Type="http://schemas.openxmlformats.org/officeDocument/2006/relationships/tags" Target="../tags/tag53.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2.xml"/></Relationships>
</file>

<file path=ppt/slides/_rels/slide18.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67.xml"/><Relationship Id="rId4" Type="http://schemas.openxmlformats.org/officeDocument/2006/relationships/tags" Target="../tags/tag66.xml"/><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tags" Target="../tags/tag63.xml"/></Relationships>
</file>

<file path=ppt/slides/_rels/slide19.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70.xml"/><Relationship Id="rId4" Type="http://schemas.openxmlformats.org/officeDocument/2006/relationships/image" Target="../media/image45.png"/><Relationship Id="rId3" Type="http://schemas.openxmlformats.org/officeDocument/2006/relationships/tags" Target="../tags/tag69.xml"/><Relationship Id="rId2" Type="http://schemas.openxmlformats.org/officeDocument/2006/relationships/image" Target="../media/image44.png"/><Relationship Id="rId1" Type="http://schemas.openxmlformats.org/officeDocument/2006/relationships/tags" Target="../tags/tag68.xml"/></Relationships>
</file>

<file path=ppt/slides/_rels/slide20.xml.rels><?xml version="1.0" encoding="UTF-8" standalone="yes"?>
<Relationships xmlns="http://schemas.openxmlformats.org/package/2006/relationships"><Relationship Id="rId9" Type="http://schemas.openxmlformats.org/officeDocument/2006/relationships/tags" Target="../tags/tag75.xml"/><Relationship Id="rId8" Type="http://schemas.openxmlformats.org/officeDocument/2006/relationships/image" Target="../media/image49.png"/><Relationship Id="rId7" Type="http://schemas.openxmlformats.org/officeDocument/2006/relationships/tags" Target="../tags/tag74.xml"/><Relationship Id="rId6" Type="http://schemas.openxmlformats.org/officeDocument/2006/relationships/image" Target="../media/image48.png"/><Relationship Id="rId5" Type="http://schemas.openxmlformats.org/officeDocument/2006/relationships/tags" Target="../tags/tag73.xml"/><Relationship Id="rId4" Type="http://schemas.openxmlformats.org/officeDocument/2006/relationships/image" Target="../media/image47.png"/><Relationship Id="rId3" Type="http://schemas.openxmlformats.org/officeDocument/2006/relationships/tags" Target="../tags/tag72.xml"/><Relationship Id="rId2" Type="http://schemas.openxmlformats.org/officeDocument/2006/relationships/image" Target="../media/image46.png"/><Relationship Id="rId11" Type="http://schemas.openxmlformats.org/officeDocument/2006/relationships/slideLayout" Target="../slideLayouts/slideLayout2.xml"/><Relationship Id="rId10" Type="http://schemas.openxmlformats.org/officeDocument/2006/relationships/image" Target="../media/image50.png"/><Relationship Id="rId1" Type="http://schemas.openxmlformats.org/officeDocument/2006/relationships/tags" Target="../tags/tag71.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1.png"/><Relationship Id="rId1" Type="http://schemas.openxmlformats.org/officeDocument/2006/relationships/tags" Target="../tags/tag76.xml"/></Relationships>
</file>

<file path=ppt/slides/_rels/slide2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2.png"/><Relationship Id="rId2" Type="http://schemas.openxmlformats.org/officeDocument/2006/relationships/tags" Target="../tags/tag78.xml"/><Relationship Id="rId1" Type="http://schemas.openxmlformats.org/officeDocument/2006/relationships/tags" Target="../tags/tag77.xml"/></Relationships>
</file>

<file path=ppt/slides/_rels/slide2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3.png"/><Relationship Id="rId2" Type="http://schemas.openxmlformats.org/officeDocument/2006/relationships/tags" Target="../tags/tag80.xml"/><Relationship Id="rId1" Type="http://schemas.openxmlformats.org/officeDocument/2006/relationships/tags" Target="../tags/tag79.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1.xml"/></Relationships>
</file>

<file path=ppt/slides/_rels/slide25.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slideLayout" Target="../slideLayouts/slideLayout7.xml"/><Relationship Id="rId3" Type="http://schemas.openxmlformats.org/officeDocument/2006/relationships/image" Target="../media/image54.emf"/><Relationship Id="rId2" Type="http://schemas.openxmlformats.org/officeDocument/2006/relationships/oleObject" Target="../embeddings/oleObject1.bin"/><Relationship Id="rId1" Type="http://schemas.openxmlformats.org/officeDocument/2006/relationships/tags" Target="../tags/tag82.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6.png"/><Relationship Id="rId1" Type="http://schemas.openxmlformats.org/officeDocument/2006/relationships/image" Target="../media/image55.png"/></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83.xml"/><Relationship Id="rId1" Type="http://schemas.openxmlformats.org/officeDocument/2006/relationships/image" Target="../media/image57.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8.pn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84.xml"/><Relationship Id="rId1" Type="http://schemas.openxmlformats.org/officeDocument/2006/relationships/image" Target="../media/image59.png"/></Relationships>
</file>

<file path=ppt/slides/_rels/slide30.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85.xml"/><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image" Target="../media/image60.png"/></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6.xml"/><Relationship Id="rId1" Type="http://schemas.openxmlformats.org/officeDocument/2006/relationships/image" Target="../media/image63.png"/></Relationships>
</file>

<file path=ppt/slides/_rels/slide32.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67.png"/><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image" Target="../media/image64.png"/></Relationships>
</file>

<file path=ppt/slides/_rels/slide33.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90.xml"/><Relationship Id="rId4" Type="http://schemas.openxmlformats.org/officeDocument/2006/relationships/image" Target="../media/image68.jpeg"/><Relationship Id="rId3" Type="http://schemas.openxmlformats.org/officeDocument/2006/relationships/tags" Target="../tags/tag89.xml"/><Relationship Id="rId2" Type="http://schemas.openxmlformats.org/officeDocument/2006/relationships/tags" Target="../tags/tag88.xml"/><Relationship Id="rId1" Type="http://schemas.openxmlformats.org/officeDocument/2006/relationships/tags" Target="../tags/tag87.xml"/></Relationships>
</file>

<file path=ppt/slides/_rels/slide34.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69.webp"/><Relationship Id="rId4" Type="http://schemas.openxmlformats.org/officeDocument/2006/relationships/tags" Target="../tags/tag94.xml"/><Relationship Id="rId3" Type="http://schemas.openxmlformats.org/officeDocument/2006/relationships/tags" Target="../tags/tag93.xml"/><Relationship Id="rId2" Type="http://schemas.openxmlformats.org/officeDocument/2006/relationships/tags" Target="../tags/tag92.xml"/><Relationship Id="rId1" Type="http://schemas.openxmlformats.org/officeDocument/2006/relationships/tags" Target="../tags/tag91.xml"/></Relationships>
</file>

<file path=ppt/slides/_rels/slide35.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97.xml"/><Relationship Id="rId4" Type="http://schemas.openxmlformats.org/officeDocument/2006/relationships/image" Target="../media/image71.png"/><Relationship Id="rId3" Type="http://schemas.openxmlformats.org/officeDocument/2006/relationships/tags" Target="../tags/tag96.xml"/><Relationship Id="rId2" Type="http://schemas.openxmlformats.org/officeDocument/2006/relationships/image" Target="../media/image70.png"/><Relationship Id="rId1" Type="http://schemas.openxmlformats.org/officeDocument/2006/relationships/tags" Target="../tags/tag95.xml"/></Relationships>
</file>

<file path=ppt/slides/_rels/slide3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00.xml"/><Relationship Id="rId3" Type="http://schemas.openxmlformats.org/officeDocument/2006/relationships/image" Target="../media/image72.png"/><Relationship Id="rId2" Type="http://schemas.openxmlformats.org/officeDocument/2006/relationships/tags" Target="../tags/tag99.xml"/><Relationship Id="rId1" Type="http://schemas.openxmlformats.org/officeDocument/2006/relationships/tags" Target="../tags/tag98.xml"/></Relationships>
</file>

<file path=ppt/slides/_rels/slide37.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107.xml"/><Relationship Id="rId7" Type="http://schemas.openxmlformats.org/officeDocument/2006/relationships/tags" Target="../tags/tag106.xml"/><Relationship Id="rId6" Type="http://schemas.openxmlformats.org/officeDocument/2006/relationships/image" Target="../media/image73.webp"/><Relationship Id="rId5" Type="http://schemas.openxmlformats.org/officeDocument/2006/relationships/tags" Target="../tags/tag105.xml"/><Relationship Id="rId4" Type="http://schemas.openxmlformats.org/officeDocument/2006/relationships/tags" Target="../tags/tag104.xml"/><Relationship Id="rId3" Type="http://schemas.openxmlformats.org/officeDocument/2006/relationships/tags" Target="../tags/tag103.xml"/><Relationship Id="rId2" Type="http://schemas.openxmlformats.org/officeDocument/2006/relationships/tags" Target="../tags/tag102.xml"/><Relationship Id="rId1" Type="http://schemas.openxmlformats.org/officeDocument/2006/relationships/tags" Target="../tags/tag101.xml"/></Relationships>
</file>

<file path=ppt/slides/_rels/slide38.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tags" Target="../tags/tag112.xml"/><Relationship Id="rId6" Type="http://schemas.openxmlformats.org/officeDocument/2006/relationships/image" Target="../media/image75.png"/><Relationship Id="rId5" Type="http://schemas.openxmlformats.org/officeDocument/2006/relationships/tags" Target="../tags/tag111.xml"/><Relationship Id="rId4" Type="http://schemas.openxmlformats.org/officeDocument/2006/relationships/image" Target="../media/image74.jpeg"/><Relationship Id="rId3" Type="http://schemas.openxmlformats.org/officeDocument/2006/relationships/tags" Target="../tags/tag110.xml"/><Relationship Id="rId2" Type="http://schemas.openxmlformats.org/officeDocument/2006/relationships/tags" Target="../tags/tag109.xml"/><Relationship Id="rId1" Type="http://schemas.openxmlformats.org/officeDocument/2006/relationships/tags" Target="../tags/tag108.xml"/></Relationships>
</file>

<file path=ppt/slides/_rels/slide39.xml.rels><?xml version="1.0" encoding="UTF-8" standalone="yes"?>
<Relationships xmlns="http://schemas.openxmlformats.org/package/2006/relationships"><Relationship Id="rId9" Type="http://schemas.openxmlformats.org/officeDocument/2006/relationships/tags" Target="../tags/tag117.xml"/><Relationship Id="rId8" Type="http://schemas.openxmlformats.org/officeDocument/2006/relationships/image" Target="../media/image79.jpeg"/><Relationship Id="rId7" Type="http://schemas.openxmlformats.org/officeDocument/2006/relationships/tags" Target="../tags/tag116.xml"/><Relationship Id="rId6" Type="http://schemas.openxmlformats.org/officeDocument/2006/relationships/image" Target="../media/image78.webp"/><Relationship Id="rId5" Type="http://schemas.openxmlformats.org/officeDocument/2006/relationships/tags" Target="../tags/tag115.xml"/><Relationship Id="rId4" Type="http://schemas.openxmlformats.org/officeDocument/2006/relationships/image" Target="../media/image77.jpeg"/><Relationship Id="rId3" Type="http://schemas.openxmlformats.org/officeDocument/2006/relationships/tags" Target="../tags/tag114.xml"/><Relationship Id="rId2" Type="http://schemas.openxmlformats.org/officeDocument/2006/relationships/image" Target="../media/image76.webp"/><Relationship Id="rId12" Type="http://schemas.openxmlformats.org/officeDocument/2006/relationships/slideLayout" Target="../slideLayouts/slideLayout2.xml"/><Relationship Id="rId11" Type="http://schemas.openxmlformats.org/officeDocument/2006/relationships/tags" Target="../tags/tag119.xml"/><Relationship Id="rId10" Type="http://schemas.openxmlformats.org/officeDocument/2006/relationships/tags" Target="../tags/tag118.xml"/><Relationship Id="rId1" Type="http://schemas.openxmlformats.org/officeDocument/2006/relationships/tags" Target="../tags/tag113.xml"/></Relationships>
</file>

<file path=ppt/slides/_rels/slide40.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123.xml"/><Relationship Id="rId4" Type="http://schemas.openxmlformats.org/officeDocument/2006/relationships/tags" Target="../tags/tag122.xml"/><Relationship Id="rId3" Type="http://schemas.openxmlformats.org/officeDocument/2006/relationships/tags" Target="../tags/tag121.xml"/><Relationship Id="rId2" Type="http://schemas.openxmlformats.org/officeDocument/2006/relationships/image" Target="../media/image80.png"/><Relationship Id="rId1" Type="http://schemas.openxmlformats.org/officeDocument/2006/relationships/tags" Target="../tags/tag120.xml"/></Relationships>
</file>

<file path=ppt/slides/_rels/slide41.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tags" Target="../tags/tag128.xml"/><Relationship Id="rId6" Type="http://schemas.openxmlformats.org/officeDocument/2006/relationships/tags" Target="../tags/tag127.xml"/><Relationship Id="rId5" Type="http://schemas.openxmlformats.org/officeDocument/2006/relationships/tags" Target="../tags/tag126.xml"/><Relationship Id="rId4" Type="http://schemas.openxmlformats.org/officeDocument/2006/relationships/tags" Target="../tags/tag125.xml"/><Relationship Id="rId3" Type="http://schemas.openxmlformats.org/officeDocument/2006/relationships/tags" Target="../tags/tag124.xml"/><Relationship Id="rId2" Type="http://schemas.openxmlformats.org/officeDocument/2006/relationships/chart" Target="../charts/chart2.xml"/><Relationship Id="rId1" Type="http://schemas.openxmlformats.org/officeDocument/2006/relationships/chart" Target="../charts/chart1.xml"/></Relationships>
</file>

<file path=ppt/slides/_rels/slide4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132.xml"/><Relationship Id="rId4" Type="http://schemas.openxmlformats.org/officeDocument/2006/relationships/tags" Target="../tags/tag131.xml"/><Relationship Id="rId3" Type="http://schemas.openxmlformats.org/officeDocument/2006/relationships/image" Target="../media/image81.jpeg"/><Relationship Id="rId2" Type="http://schemas.openxmlformats.org/officeDocument/2006/relationships/tags" Target="../tags/tag130.xml"/><Relationship Id="rId1" Type="http://schemas.openxmlformats.org/officeDocument/2006/relationships/tags" Target="../tags/tag129.xml"/></Relationships>
</file>

<file path=ppt/slides/_rels/slide4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35.xml"/><Relationship Id="rId2" Type="http://schemas.openxmlformats.org/officeDocument/2006/relationships/tags" Target="../tags/tag134.xml"/><Relationship Id="rId1" Type="http://schemas.openxmlformats.org/officeDocument/2006/relationships/tags" Target="../tags/tag133.xml"/></Relationships>
</file>

<file path=ppt/slides/_rels/slide44.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xml"/><Relationship Id="rId2" Type="http://schemas.openxmlformats.org/officeDocument/2006/relationships/image" Target="../media/image82.png"/><Relationship Id="rId1"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523" y="-9230"/>
            <a:ext cx="12190955" cy="6857412"/>
          </a:xfrm>
          <a:prstGeom prst="rect">
            <a:avLst/>
          </a:prstGeom>
        </p:spPr>
      </p:pic>
      <p:sp>
        <p:nvSpPr>
          <p:cNvPr id="6" name="标题 1"/>
          <p:cNvSpPr>
            <a:spLocks noGrp="1"/>
          </p:cNvSpPr>
          <p:nvPr>
            <p:ph type="ctrTitle"/>
          </p:nvPr>
        </p:nvSpPr>
        <p:spPr>
          <a:xfrm>
            <a:off x="846455" y="1219835"/>
            <a:ext cx="8823960" cy="1962150"/>
          </a:xfrm>
        </p:spPr>
        <p:txBody>
          <a:bodyPr/>
          <a:lstStyle/>
          <a:p>
            <a:r>
              <a:rPr lang="zh-CN" altLang="en-US" dirty="0" smtClean="0">
                <a:solidFill>
                  <a:schemeClr val="bg1"/>
                </a:solidFill>
              </a:rPr>
              <a:t>快门</a:t>
            </a:r>
            <a:r>
              <a:rPr lang="en-US" altLang="zh-CN" dirty="0" smtClean="0">
                <a:solidFill>
                  <a:schemeClr val="bg1"/>
                </a:solidFill>
              </a:rPr>
              <a:t>/</a:t>
            </a:r>
            <a:r>
              <a:rPr lang="zh-CN" altLang="en-US" dirty="0" smtClean="0">
                <a:solidFill>
                  <a:schemeClr val="bg1"/>
                </a:solidFill>
              </a:rPr>
              <a:t>激光技术及算法知识分享</a:t>
            </a:r>
            <a:endParaRPr lang="zh-CN" altLang="en-US" dirty="0">
              <a:solidFill>
                <a:schemeClr val="bg1"/>
              </a:solidFill>
            </a:endParaRP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72" y="5481984"/>
            <a:ext cx="2387004" cy="792088"/>
          </a:xfrm>
          <a:prstGeom prst="rect">
            <a:avLst/>
          </a:prstGeom>
        </p:spPr>
      </p:pic>
      <p:sp>
        <p:nvSpPr>
          <p:cNvPr id="2" name="副标题 1"/>
          <p:cNvSpPr/>
          <p:nvPr>
            <p:ph type="subTitle" idx="1"/>
          </p:nvPr>
        </p:nvSpPr>
        <p:spPr>
          <a:xfrm>
            <a:off x="731520" y="3050540"/>
            <a:ext cx="5683885" cy="1988185"/>
          </a:xfrm>
        </p:spPr>
        <p:txBody>
          <a:bodyPr/>
          <a:p>
            <a:r>
              <a:rPr lang="zh-CN" altLang="en-US" dirty="0" smtClean="0">
                <a:solidFill>
                  <a:schemeClr val="bg1"/>
                </a:solidFill>
                <a:sym typeface="+mn-ea"/>
              </a:rPr>
              <a:t>硬   件：徐振威 </a:t>
            </a:r>
            <a:endParaRPr lang="zh-CN" altLang="en-US" dirty="0" smtClean="0">
              <a:solidFill>
                <a:schemeClr val="bg1"/>
              </a:solidFill>
              <a:sym typeface="+mn-ea"/>
            </a:endParaRPr>
          </a:p>
          <a:p>
            <a:r>
              <a:rPr lang="zh-CN" altLang="en-US" dirty="0" smtClean="0">
                <a:solidFill>
                  <a:schemeClr val="bg1"/>
                </a:solidFill>
                <a:sym typeface="+mn-ea"/>
              </a:rPr>
              <a:t>结</a:t>
            </a:r>
            <a:r>
              <a:rPr lang="en-US" altLang="zh-CN" dirty="0" smtClean="0">
                <a:solidFill>
                  <a:schemeClr val="bg1"/>
                </a:solidFill>
                <a:sym typeface="+mn-ea"/>
              </a:rPr>
              <a:t>   </a:t>
            </a:r>
            <a:r>
              <a:rPr lang="zh-CN" altLang="en-US" dirty="0" smtClean="0">
                <a:solidFill>
                  <a:schemeClr val="bg1"/>
                </a:solidFill>
                <a:sym typeface="+mn-ea"/>
              </a:rPr>
              <a:t>构：陈亚娟 </a:t>
            </a:r>
            <a:endParaRPr lang="zh-CN" altLang="en-US" dirty="0" smtClean="0">
              <a:solidFill>
                <a:schemeClr val="bg1"/>
              </a:solidFill>
              <a:sym typeface="+mn-ea"/>
            </a:endParaRPr>
          </a:p>
          <a:p>
            <a:r>
              <a:rPr lang="zh-CN" altLang="en-US" dirty="0">
                <a:solidFill>
                  <a:schemeClr val="bg1"/>
                </a:solidFill>
                <a:sym typeface="+mn-ea"/>
              </a:rPr>
              <a:t>测</a:t>
            </a:r>
            <a:r>
              <a:rPr lang="en-US" altLang="zh-CN" dirty="0">
                <a:solidFill>
                  <a:schemeClr val="bg1"/>
                </a:solidFill>
                <a:sym typeface="+mn-ea"/>
              </a:rPr>
              <a:t>   </a:t>
            </a:r>
            <a:r>
              <a:rPr lang="zh-CN" altLang="en-US" dirty="0">
                <a:solidFill>
                  <a:schemeClr val="bg1"/>
                </a:solidFill>
                <a:sym typeface="+mn-ea"/>
              </a:rPr>
              <a:t>试</a:t>
            </a:r>
            <a:r>
              <a:rPr lang="zh-CN" altLang="en-US" dirty="0" smtClean="0">
                <a:solidFill>
                  <a:schemeClr val="bg1"/>
                </a:solidFill>
                <a:sym typeface="+mn-ea"/>
              </a:rPr>
              <a:t>：</a:t>
            </a:r>
            <a:r>
              <a:rPr lang="zh-CN" dirty="0" smtClean="0">
                <a:solidFill>
                  <a:schemeClr val="bg1"/>
                </a:solidFill>
                <a:sym typeface="+mn-ea"/>
              </a:rPr>
              <a:t>杨</a:t>
            </a:r>
            <a:r>
              <a:rPr lang="en-US" altLang="zh-CN" dirty="0" smtClean="0">
                <a:solidFill>
                  <a:schemeClr val="bg1"/>
                </a:solidFill>
                <a:sym typeface="+mn-ea"/>
              </a:rPr>
              <a:t>    </a:t>
            </a:r>
            <a:r>
              <a:rPr lang="zh-CN" dirty="0" smtClean="0">
                <a:solidFill>
                  <a:schemeClr val="bg1"/>
                </a:solidFill>
                <a:sym typeface="+mn-ea"/>
              </a:rPr>
              <a:t>勇</a:t>
            </a:r>
            <a:endParaRPr lang="en-US" altLang="zh-CN" dirty="0" smtClean="0">
              <a:solidFill>
                <a:schemeClr val="bg1"/>
              </a:solidFill>
            </a:endParaRPr>
          </a:p>
          <a:p>
            <a:r>
              <a:rPr lang="zh-CN" dirty="0" smtClean="0">
                <a:solidFill>
                  <a:schemeClr val="bg1"/>
                </a:solidFill>
                <a:sym typeface="+mn-ea"/>
              </a:rPr>
              <a:t>嵌入式</a:t>
            </a:r>
            <a:r>
              <a:rPr lang="zh-CN" altLang="en-US" dirty="0" smtClean="0">
                <a:solidFill>
                  <a:schemeClr val="bg1"/>
                </a:solidFill>
                <a:sym typeface="+mn-ea"/>
              </a:rPr>
              <a:t>：</a:t>
            </a:r>
            <a:r>
              <a:rPr lang="zh-CN" dirty="0" smtClean="0">
                <a:solidFill>
                  <a:schemeClr val="bg1"/>
                </a:solidFill>
                <a:sym typeface="+mn-ea"/>
              </a:rPr>
              <a:t>付</a:t>
            </a:r>
            <a:r>
              <a:rPr lang="en-US" altLang="zh-CN" dirty="0" smtClean="0">
                <a:solidFill>
                  <a:schemeClr val="bg1"/>
                </a:solidFill>
                <a:sym typeface="+mn-ea"/>
              </a:rPr>
              <a:t>   </a:t>
            </a:r>
            <a:r>
              <a:rPr lang="zh-CN" dirty="0" smtClean="0">
                <a:solidFill>
                  <a:schemeClr val="bg1"/>
                </a:solidFill>
                <a:sym typeface="+mn-ea"/>
              </a:rPr>
              <a:t>航</a:t>
            </a:r>
            <a:endParaRPr 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副标题 33"/>
          <p:cNvSpPr>
            <a:spLocks noGrp="1"/>
          </p:cNvSpPr>
          <p:nvPr>
            <p:ph type="subTitle" idx="1"/>
          </p:nvPr>
        </p:nvSpPr>
        <p:spPr>
          <a:xfrm>
            <a:off x="974725" y="2081530"/>
            <a:ext cx="4093210" cy="642620"/>
          </a:xfrm>
        </p:spPr>
        <p:txBody>
          <a:bodyPr/>
          <a:lstStyle/>
          <a:p>
            <a:pPr indent="360680" algn="l">
              <a:lnSpc>
                <a:spcPct val="150000"/>
              </a:lnSpc>
              <a:buClr>
                <a:schemeClr val="tx2"/>
              </a:buClr>
              <a:buSzPct val="100000"/>
            </a:pPr>
            <a:r>
              <a:rPr lang="zh-CN" altLang="en-US" sz="2370" b="1" dirty="0" smtClean="0">
                <a:solidFill>
                  <a:schemeClr val="tx2"/>
                </a:solidFill>
                <a:latin typeface="+mn-ea"/>
              </a:rPr>
              <a:t>（一）激光选型及应用</a:t>
            </a:r>
            <a:endParaRPr lang="en-US" altLang="zh-CN" sz="2370" b="1" dirty="0" smtClean="0">
              <a:solidFill>
                <a:schemeClr val="tx2"/>
              </a:solidFill>
              <a:latin typeface="+mn-ea"/>
            </a:endParaRPr>
          </a:p>
          <a:p>
            <a:pPr indent="360680" algn="l">
              <a:lnSpc>
                <a:spcPct val="150000"/>
              </a:lnSpc>
              <a:buClr>
                <a:schemeClr val="tx2"/>
              </a:buClr>
              <a:buSzPct val="100000"/>
            </a:pPr>
            <a:endParaRPr lang="en-US" altLang="zh-CN" sz="2370" b="1" dirty="0">
              <a:solidFill>
                <a:schemeClr val="tx2"/>
              </a:solidFill>
              <a:latin typeface="+mn-ea"/>
            </a:endParaRPr>
          </a:p>
        </p:txBody>
      </p:sp>
      <p:cxnSp>
        <p:nvCxnSpPr>
          <p:cNvPr id="5" name="直接连接符 4"/>
          <p:cNvCxnSpPr>
            <a:cxnSpLocks noChangeShapeType="1"/>
          </p:cNvCxnSpPr>
          <p:nvPr/>
        </p:nvCxnSpPr>
        <p:spPr bwMode="auto">
          <a:xfrm>
            <a:off x="1126733" y="2459195"/>
            <a:ext cx="573" cy="3117693"/>
          </a:xfrm>
          <a:prstGeom prst="line">
            <a:avLst/>
          </a:prstGeom>
          <a:noFill/>
          <a:ln w="3175">
            <a:solidFill>
              <a:schemeClr val="tx1">
                <a:lumMod val="50000"/>
                <a:lumOff val="50000"/>
              </a:schemeClr>
            </a:solidFill>
            <a:round/>
          </a:ln>
        </p:spPr>
      </p:cxnSp>
      <p:sp>
        <p:nvSpPr>
          <p:cNvPr id="6" name="椭圆 5"/>
          <p:cNvSpPr>
            <a:spLocks noChangeArrowheads="1"/>
          </p:cNvSpPr>
          <p:nvPr/>
        </p:nvSpPr>
        <p:spPr bwMode="auto">
          <a:xfrm>
            <a:off x="1035855" y="2763810"/>
            <a:ext cx="182902" cy="183123"/>
          </a:xfrm>
          <a:prstGeom prst="ellipse">
            <a:avLst/>
          </a:prstGeom>
          <a:solidFill>
            <a:schemeClr val="tx2"/>
          </a:solidFill>
          <a:ln w="9525">
            <a:noFill/>
            <a:round/>
          </a:ln>
        </p:spPr>
        <p:txBody>
          <a:bodyPr anchor="ctr"/>
          <a:lstStyle/>
          <a:p>
            <a:pPr algn="ctr" eaLnBrk="1" hangingPunct="1">
              <a:buFont typeface="Arial" panose="020B0604020202020204" pitchFamily="34" charset="0"/>
              <a:buNone/>
            </a:pPr>
            <a:endParaRPr lang="zh-CN" altLang="en-US" sz="1525">
              <a:solidFill>
                <a:srgbClr val="FFFFFF"/>
              </a:solidFill>
            </a:endParaRPr>
          </a:p>
        </p:txBody>
      </p:sp>
      <p:sp>
        <p:nvSpPr>
          <p:cNvPr id="7" name="椭圆 6"/>
          <p:cNvSpPr>
            <a:spLocks noChangeArrowheads="1"/>
          </p:cNvSpPr>
          <p:nvPr/>
        </p:nvSpPr>
        <p:spPr bwMode="auto">
          <a:xfrm>
            <a:off x="1035855" y="3268707"/>
            <a:ext cx="182902" cy="183123"/>
          </a:xfrm>
          <a:prstGeom prst="ellipse">
            <a:avLst/>
          </a:prstGeom>
          <a:solidFill>
            <a:schemeClr val="tx2"/>
          </a:solidFill>
          <a:ln w="9525">
            <a:noFill/>
            <a:round/>
          </a:ln>
        </p:spPr>
        <p:txBody>
          <a:bodyPr anchor="ctr"/>
          <a:lstStyle/>
          <a:p>
            <a:pPr algn="ctr"/>
            <a:endParaRPr lang="zh-CN" altLang="en-US" sz="1525">
              <a:solidFill>
                <a:srgbClr val="FFFFFF"/>
              </a:solidFill>
            </a:endParaRPr>
          </a:p>
        </p:txBody>
      </p:sp>
      <p:sp>
        <p:nvSpPr>
          <p:cNvPr id="8" name="椭圆 7"/>
          <p:cNvSpPr>
            <a:spLocks noChangeArrowheads="1"/>
          </p:cNvSpPr>
          <p:nvPr/>
        </p:nvSpPr>
        <p:spPr bwMode="auto">
          <a:xfrm>
            <a:off x="1035855" y="3802179"/>
            <a:ext cx="182902" cy="183123"/>
          </a:xfrm>
          <a:prstGeom prst="ellipse">
            <a:avLst/>
          </a:prstGeom>
          <a:solidFill>
            <a:schemeClr val="tx2"/>
          </a:solidFill>
          <a:ln w="9525">
            <a:noFill/>
            <a:round/>
          </a:ln>
        </p:spPr>
        <p:txBody>
          <a:bodyPr anchor="ctr"/>
          <a:lstStyle/>
          <a:p>
            <a:pPr algn="ctr">
              <a:buFont typeface="Arial" panose="020B0604020202020204" pitchFamily="34" charset="0"/>
              <a:buNone/>
            </a:pPr>
            <a:endParaRPr lang="zh-CN" altLang="en-US" sz="1525">
              <a:solidFill>
                <a:srgbClr val="FFFFFF"/>
              </a:solidFill>
            </a:endParaRPr>
          </a:p>
        </p:txBody>
      </p:sp>
      <p:sp>
        <p:nvSpPr>
          <p:cNvPr id="9" name="椭圆 8"/>
          <p:cNvSpPr>
            <a:spLocks noChangeArrowheads="1"/>
          </p:cNvSpPr>
          <p:nvPr/>
        </p:nvSpPr>
        <p:spPr bwMode="auto">
          <a:xfrm>
            <a:off x="1035855" y="4268977"/>
            <a:ext cx="182902" cy="183123"/>
          </a:xfrm>
          <a:prstGeom prst="ellipse">
            <a:avLst/>
          </a:prstGeom>
          <a:solidFill>
            <a:schemeClr val="tx2"/>
          </a:solidFill>
          <a:ln w="9525">
            <a:noFill/>
            <a:round/>
          </a:ln>
        </p:spPr>
        <p:txBody>
          <a:bodyPr anchor="ctr"/>
          <a:lstStyle/>
          <a:p>
            <a:pPr algn="ctr"/>
            <a:endParaRPr lang="zh-CN" altLang="en-US" sz="1525">
              <a:solidFill>
                <a:srgbClr val="FFFFFF"/>
              </a:solidFill>
            </a:endParaRPr>
          </a:p>
        </p:txBody>
      </p:sp>
      <p:sp>
        <p:nvSpPr>
          <p:cNvPr id="10" name="文本框 20"/>
          <p:cNvSpPr txBox="1">
            <a:spLocks noChangeArrowheads="1"/>
          </p:cNvSpPr>
          <p:nvPr/>
        </p:nvSpPr>
        <p:spPr bwMode="auto">
          <a:xfrm>
            <a:off x="791986" y="929344"/>
            <a:ext cx="3489266" cy="1029970"/>
          </a:xfrm>
          <a:prstGeom prst="rect">
            <a:avLst/>
          </a:prstGeom>
          <a:noFill/>
          <a:ln w="9525">
            <a:noFill/>
            <a:miter lim="800000"/>
          </a:ln>
        </p:spPr>
        <p:txBody>
          <a:bodyPr>
            <a:spAutoFit/>
          </a:bodyPr>
          <a:lstStyle/>
          <a:p>
            <a:pPr eaLnBrk="1" hangingPunct="1">
              <a:buFont typeface="Arial" panose="020B0604020202020204" pitchFamily="34" charset="0"/>
              <a:buNone/>
            </a:pPr>
            <a:r>
              <a:rPr lang="zh-CN" altLang="en-US" sz="6095" dirty="0" smtClean="0">
                <a:solidFill>
                  <a:schemeClr val="tx2"/>
                </a:solidFill>
                <a:latin typeface="Impact" panose="020B0806030902050204" pitchFamily="34" charset="0"/>
                <a:ea typeface="张海山锐谐体" pitchFamily="2" charset="-122"/>
              </a:rPr>
              <a:t>目           录</a:t>
            </a:r>
            <a:endParaRPr lang="zh-CN" altLang="en-US" sz="6095" dirty="0">
              <a:solidFill>
                <a:schemeClr val="tx2"/>
              </a:solidFill>
              <a:latin typeface="Impact" panose="020B0806030902050204" pitchFamily="34" charset="0"/>
              <a:ea typeface="张海山锐谐体" pitchFamily="2" charset="-122"/>
            </a:endParaRPr>
          </a:p>
        </p:txBody>
      </p:sp>
      <p:sp>
        <p:nvSpPr>
          <p:cNvPr id="2" name="副标题 33"/>
          <p:cNvSpPr>
            <a:spLocks noGrp="1"/>
          </p:cNvSpPr>
          <p:nvPr/>
        </p:nvSpPr>
        <p:spPr>
          <a:xfrm>
            <a:off x="974725" y="4081780"/>
            <a:ext cx="4093210" cy="661670"/>
          </a:xfrm>
          <a:prstGeom prst="rect">
            <a:avLst/>
          </a:prstGeom>
        </p:spPr>
        <p:txBody>
          <a:bodyPr/>
          <a:lstStyle>
            <a:lvl1pPr marL="0" indent="0" algn="l" defTabSz="1018540" rtl="0" eaLnBrk="1" latinLnBrk="0" hangingPunct="1">
              <a:spcBef>
                <a:spcPct val="20000"/>
              </a:spcBef>
              <a:buFont typeface="Arial" panose="020B0604020202020204" pitchFamily="34" charset="0"/>
              <a:buNone/>
              <a:defRPr sz="2710" kern="1200">
                <a:solidFill>
                  <a:schemeClr val="tx1">
                    <a:lumMod val="50000"/>
                    <a:lumOff val="50000"/>
                  </a:schemeClr>
                </a:solidFill>
                <a:latin typeface="+mn-lt"/>
                <a:ea typeface="+mn-ea"/>
                <a:cs typeface="+mn-cs"/>
              </a:defRPr>
            </a:lvl1pPr>
            <a:lvl2pPr marL="509270" indent="0" algn="ctr" defTabSz="1018540" rtl="0" eaLnBrk="1" latinLnBrk="0" hangingPunct="1">
              <a:spcBef>
                <a:spcPct val="20000"/>
              </a:spcBef>
              <a:buFont typeface="Arial" panose="020B0604020202020204" pitchFamily="34" charset="0"/>
              <a:buNone/>
              <a:defRPr sz="3120" kern="1200">
                <a:solidFill>
                  <a:schemeClr val="tx1">
                    <a:tint val="75000"/>
                  </a:schemeClr>
                </a:solidFill>
                <a:latin typeface="+mn-lt"/>
                <a:ea typeface="+mn-ea"/>
                <a:cs typeface="+mn-cs"/>
              </a:defRPr>
            </a:lvl2pPr>
            <a:lvl3pPr marL="1018540" indent="0" algn="ctr" defTabSz="1018540" rtl="0" eaLnBrk="1" latinLnBrk="0" hangingPunct="1">
              <a:spcBef>
                <a:spcPct val="20000"/>
              </a:spcBef>
              <a:buFont typeface="Arial" panose="020B0604020202020204" pitchFamily="34" charset="0"/>
              <a:buNone/>
              <a:defRPr sz="2700" kern="1200">
                <a:solidFill>
                  <a:schemeClr val="tx1">
                    <a:tint val="75000"/>
                  </a:schemeClr>
                </a:solidFill>
                <a:latin typeface="+mn-lt"/>
                <a:ea typeface="+mn-ea"/>
                <a:cs typeface="+mn-cs"/>
              </a:defRPr>
            </a:lvl3pPr>
            <a:lvl4pPr marL="1528445" indent="0" algn="ctr" defTabSz="1018540" rtl="0" eaLnBrk="1" latinLnBrk="0" hangingPunct="1">
              <a:spcBef>
                <a:spcPct val="20000"/>
              </a:spcBef>
              <a:buFont typeface="Arial" panose="020B0604020202020204" pitchFamily="34" charset="0"/>
              <a:buNone/>
              <a:defRPr sz="2220" kern="1200">
                <a:solidFill>
                  <a:schemeClr val="tx1">
                    <a:tint val="75000"/>
                  </a:schemeClr>
                </a:solidFill>
                <a:latin typeface="+mn-lt"/>
                <a:ea typeface="+mn-ea"/>
                <a:cs typeface="+mn-cs"/>
              </a:defRPr>
            </a:lvl4pPr>
            <a:lvl5pPr marL="2037715" indent="0" algn="ctr" defTabSz="1018540" rtl="0" eaLnBrk="1" latinLnBrk="0" hangingPunct="1">
              <a:spcBef>
                <a:spcPct val="20000"/>
              </a:spcBef>
              <a:buFont typeface="Arial" panose="020B0604020202020204" pitchFamily="34" charset="0"/>
              <a:buNone/>
              <a:defRPr sz="2220" kern="1200">
                <a:solidFill>
                  <a:schemeClr val="tx1">
                    <a:tint val="75000"/>
                  </a:schemeClr>
                </a:solidFill>
                <a:latin typeface="+mn-lt"/>
                <a:ea typeface="+mn-ea"/>
                <a:cs typeface="+mn-cs"/>
              </a:defRPr>
            </a:lvl5pPr>
            <a:lvl6pPr marL="2546985" indent="0" algn="ctr" defTabSz="1018540" rtl="0" eaLnBrk="1" latinLnBrk="0" hangingPunct="1">
              <a:spcBef>
                <a:spcPct val="20000"/>
              </a:spcBef>
              <a:buFont typeface="Arial" panose="020B0604020202020204" pitchFamily="34" charset="0"/>
              <a:buNone/>
              <a:defRPr sz="2220" kern="1200">
                <a:solidFill>
                  <a:schemeClr val="tx1">
                    <a:tint val="75000"/>
                  </a:schemeClr>
                </a:solidFill>
                <a:latin typeface="+mn-lt"/>
                <a:ea typeface="+mn-ea"/>
                <a:cs typeface="+mn-cs"/>
              </a:defRPr>
            </a:lvl6pPr>
            <a:lvl7pPr marL="3056255" indent="0" algn="ctr" defTabSz="1018540" rtl="0" eaLnBrk="1" latinLnBrk="0" hangingPunct="1">
              <a:spcBef>
                <a:spcPct val="20000"/>
              </a:spcBef>
              <a:buFont typeface="Arial" panose="020B0604020202020204" pitchFamily="34" charset="0"/>
              <a:buNone/>
              <a:defRPr sz="2220" kern="1200">
                <a:solidFill>
                  <a:schemeClr val="tx1">
                    <a:tint val="75000"/>
                  </a:schemeClr>
                </a:solidFill>
                <a:latin typeface="+mn-lt"/>
                <a:ea typeface="+mn-ea"/>
                <a:cs typeface="+mn-cs"/>
              </a:defRPr>
            </a:lvl7pPr>
            <a:lvl8pPr marL="3566160" indent="0" algn="ctr" defTabSz="1018540" rtl="0" eaLnBrk="1" latinLnBrk="0" hangingPunct="1">
              <a:spcBef>
                <a:spcPct val="20000"/>
              </a:spcBef>
              <a:buFont typeface="Arial" panose="020B0604020202020204" pitchFamily="34" charset="0"/>
              <a:buNone/>
              <a:defRPr sz="2220" kern="1200">
                <a:solidFill>
                  <a:schemeClr val="tx1">
                    <a:tint val="75000"/>
                  </a:schemeClr>
                </a:solidFill>
                <a:latin typeface="+mn-lt"/>
                <a:ea typeface="+mn-ea"/>
                <a:cs typeface="+mn-cs"/>
              </a:defRPr>
            </a:lvl8pPr>
            <a:lvl9pPr marL="4075430" indent="0" algn="ctr" defTabSz="1018540" rtl="0" eaLnBrk="1" latinLnBrk="0" hangingPunct="1">
              <a:spcBef>
                <a:spcPct val="20000"/>
              </a:spcBef>
              <a:buFont typeface="Arial" panose="020B0604020202020204" pitchFamily="34" charset="0"/>
              <a:buNone/>
              <a:defRPr sz="2220" kern="1200">
                <a:solidFill>
                  <a:schemeClr val="tx1">
                    <a:tint val="75000"/>
                  </a:schemeClr>
                </a:solidFill>
                <a:latin typeface="+mn-lt"/>
                <a:ea typeface="+mn-ea"/>
                <a:cs typeface="+mn-cs"/>
              </a:defRPr>
            </a:lvl9pPr>
          </a:lstStyle>
          <a:p>
            <a:pPr indent="360680">
              <a:lnSpc>
                <a:spcPct val="150000"/>
              </a:lnSpc>
              <a:buClr>
                <a:schemeClr val="tx2"/>
              </a:buClr>
              <a:buSzPct val="100000"/>
            </a:pPr>
            <a:r>
              <a:rPr lang="zh-CN" altLang="en-US" sz="2370" b="1" dirty="0" smtClean="0">
                <a:solidFill>
                  <a:schemeClr val="tx2"/>
                </a:solidFill>
                <a:latin typeface="+mn-ea"/>
              </a:rPr>
              <a:t>（五</a:t>
            </a:r>
            <a:r>
              <a:rPr lang="zh-CN" altLang="en-US" sz="2370" b="1" dirty="0">
                <a:solidFill>
                  <a:schemeClr val="tx2"/>
                </a:solidFill>
                <a:latin typeface="+mn-ea"/>
              </a:rPr>
              <a:t>）</a:t>
            </a:r>
            <a:r>
              <a:rPr lang="zh-CN" altLang="en-US" sz="2370" b="1" dirty="0">
                <a:solidFill>
                  <a:schemeClr val="tx2"/>
                </a:solidFill>
                <a:latin typeface="+mn-ea"/>
                <a:sym typeface="+mn-ea"/>
              </a:rPr>
              <a:t>激光测距测试方案</a:t>
            </a:r>
            <a:endParaRPr lang="zh-CN" altLang="en-US" sz="2370" b="1" dirty="0" smtClean="0">
              <a:solidFill>
                <a:schemeClr val="bg1"/>
              </a:solidFill>
              <a:latin typeface="+mn-ea"/>
              <a:sym typeface="+mn-ea"/>
            </a:endParaRPr>
          </a:p>
          <a:p>
            <a:pPr indent="360680">
              <a:lnSpc>
                <a:spcPct val="150000"/>
              </a:lnSpc>
              <a:buClr>
                <a:schemeClr val="tx2"/>
              </a:buClr>
              <a:buSzPct val="100000"/>
            </a:pPr>
            <a:endParaRPr lang="zh-CN" altLang="en-US" sz="2370" b="1" dirty="0">
              <a:solidFill>
                <a:schemeClr val="tx2"/>
              </a:solidFill>
              <a:latin typeface="+mn-ea"/>
            </a:endParaRPr>
          </a:p>
        </p:txBody>
      </p:sp>
      <p:sp>
        <p:nvSpPr>
          <p:cNvPr id="3" name="副标题 33"/>
          <p:cNvSpPr>
            <a:spLocks noGrp="1"/>
          </p:cNvSpPr>
          <p:nvPr/>
        </p:nvSpPr>
        <p:spPr>
          <a:xfrm>
            <a:off x="974725" y="3127049"/>
            <a:ext cx="6040120" cy="689610"/>
          </a:xfrm>
          <a:prstGeom prst="rect">
            <a:avLst/>
          </a:prstGeom>
        </p:spPr>
        <p:txBody>
          <a:bodyPr/>
          <a:lstStyle>
            <a:lvl1pPr marL="0" indent="0" algn="l" defTabSz="1018540" rtl="0" eaLnBrk="1" latinLnBrk="0" hangingPunct="1">
              <a:spcBef>
                <a:spcPct val="20000"/>
              </a:spcBef>
              <a:buFont typeface="Arial" panose="020B0604020202020204" pitchFamily="34" charset="0"/>
              <a:buNone/>
              <a:defRPr sz="2710" kern="1200">
                <a:solidFill>
                  <a:schemeClr val="tx1">
                    <a:lumMod val="50000"/>
                    <a:lumOff val="50000"/>
                  </a:schemeClr>
                </a:solidFill>
                <a:latin typeface="+mn-lt"/>
                <a:ea typeface="+mn-ea"/>
                <a:cs typeface="+mn-cs"/>
              </a:defRPr>
            </a:lvl1pPr>
            <a:lvl2pPr marL="509270" indent="0" algn="ctr" defTabSz="1018540" rtl="0" eaLnBrk="1" latinLnBrk="0" hangingPunct="1">
              <a:spcBef>
                <a:spcPct val="20000"/>
              </a:spcBef>
              <a:buFont typeface="Arial" panose="020B0604020202020204" pitchFamily="34" charset="0"/>
              <a:buNone/>
              <a:defRPr sz="3120" kern="1200">
                <a:solidFill>
                  <a:schemeClr val="tx1">
                    <a:tint val="75000"/>
                  </a:schemeClr>
                </a:solidFill>
                <a:latin typeface="+mn-lt"/>
                <a:ea typeface="+mn-ea"/>
                <a:cs typeface="+mn-cs"/>
              </a:defRPr>
            </a:lvl2pPr>
            <a:lvl3pPr marL="1018540" indent="0" algn="ctr" defTabSz="1018540" rtl="0" eaLnBrk="1" latinLnBrk="0" hangingPunct="1">
              <a:spcBef>
                <a:spcPct val="20000"/>
              </a:spcBef>
              <a:buFont typeface="Arial" panose="020B0604020202020204" pitchFamily="34" charset="0"/>
              <a:buNone/>
              <a:defRPr sz="2700" kern="1200">
                <a:solidFill>
                  <a:schemeClr val="tx1">
                    <a:tint val="75000"/>
                  </a:schemeClr>
                </a:solidFill>
                <a:latin typeface="+mn-lt"/>
                <a:ea typeface="+mn-ea"/>
                <a:cs typeface="+mn-cs"/>
              </a:defRPr>
            </a:lvl3pPr>
            <a:lvl4pPr marL="1528445" indent="0" algn="ctr" defTabSz="1018540" rtl="0" eaLnBrk="1" latinLnBrk="0" hangingPunct="1">
              <a:spcBef>
                <a:spcPct val="20000"/>
              </a:spcBef>
              <a:buFont typeface="Arial" panose="020B0604020202020204" pitchFamily="34" charset="0"/>
              <a:buNone/>
              <a:defRPr sz="2220" kern="1200">
                <a:solidFill>
                  <a:schemeClr val="tx1">
                    <a:tint val="75000"/>
                  </a:schemeClr>
                </a:solidFill>
                <a:latin typeface="+mn-lt"/>
                <a:ea typeface="+mn-ea"/>
                <a:cs typeface="+mn-cs"/>
              </a:defRPr>
            </a:lvl4pPr>
            <a:lvl5pPr marL="2037715" indent="0" algn="ctr" defTabSz="1018540" rtl="0" eaLnBrk="1" latinLnBrk="0" hangingPunct="1">
              <a:spcBef>
                <a:spcPct val="20000"/>
              </a:spcBef>
              <a:buFont typeface="Arial" panose="020B0604020202020204" pitchFamily="34" charset="0"/>
              <a:buNone/>
              <a:defRPr sz="2220" kern="1200">
                <a:solidFill>
                  <a:schemeClr val="tx1">
                    <a:tint val="75000"/>
                  </a:schemeClr>
                </a:solidFill>
                <a:latin typeface="+mn-lt"/>
                <a:ea typeface="+mn-ea"/>
                <a:cs typeface="+mn-cs"/>
              </a:defRPr>
            </a:lvl5pPr>
            <a:lvl6pPr marL="2546985" indent="0" algn="ctr" defTabSz="1018540" rtl="0" eaLnBrk="1" latinLnBrk="0" hangingPunct="1">
              <a:spcBef>
                <a:spcPct val="20000"/>
              </a:spcBef>
              <a:buFont typeface="Arial" panose="020B0604020202020204" pitchFamily="34" charset="0"/>
              <a:buNone/>
              <a:defRPr sz="2220" kern="1200">
                <a:solidFill>
                  <a:schemeClr val="tx1">
                    <a:tint val="75000"/>
                  </a:schemeClr>
                </a:solidFill>
                <a:latin typeface="+mn-lt"/>
                <a:ea typeface="+mn-ea"/>
                <a:cs typeface="+mn-cs"/>
              </a:defRPr>
            </a:lvl6pPr>
            <a:lvl7pPr marL="3056255" indent="0" algn="ctr" defTabSz="1018540" rtl="0" eaLnBrk="1" latinLnBrk="0" hangingPunct="1">
              <a:spcBef>
                <a:spcPct val="20000"/>
              </a:spcBef>
              <a:buFont typeface="Arial" panose="020B0604020202020204" pitchFamily="34" charset="0"/>
              <a:buNone/>
              <a:defRPr sz="2220" kern="1200">
                <a:solidFill>
                  <a:schemeClr val="tx1">
                    <a:tint val="75000"/>
                  </a:schemeClr>
                </a:solidFill>
                <a:latin typeface="+mn-lt"/>
                <a:ea typeface="+mn-ea"/>
                <a:cs typeface="+mn-cs"/>
              </a:defRPr>
            </a:lvl7pPr>
            <a:lvl8pPr marL="3566160" indent="0" algn="ctr" defTabSz="1018540" rtl="0" eaLnBrk="1" latinLnBrk="0" hangingPunct="1">
              <a:spcBef>
                <a:spcPct val="20000"/>
              </a:spcBef>
              <a:buFont typeface="Arial" panose="020B0604020202020204" pitchFamily="34" charset="0"/>
              <a:buNone/>
              <a:defRPr sz="2220" kern="1200">
                <a:solidFill>
                  <a:schemeClr val="tx1">
                    <a:tint val="75000"/>
                  </a:schemeClr>
                </a:solidFill>
                <a:latin typeface="+mn-lt"/>
                <a:ea typeface="+mn-ea"/>
                <a:cs typeface="+mn-cs"/>
              </a:defRPr>
            </a:lvl8pPr>
            <a:lvl9pPr marL="4075430" indent="0" algn="ctr" defTabSz="1018540" rtl="0" eaLnBrk="1" latinLnBrk="0" hangingPunct="1">
              <a:spcBef>
                <a:spcPct val="20000"/>
              </a:spcBef>
              <a:buFont typeface="Arial" panose="020B0604020202020204" pitchFamily="34" charset="0"/>
              <a:buNone/>
              <a:defRPr sz="2220" kern="1200">
                <a:solidFill>
                  <a:schemeClr val="tx1">
                    <a:tint val="75000"/>
                  </a:schemeClr>
                </a:solidFill>
                <a:latin typeface="+mn-lt"/>
                <a:ea typeface="+mn-ea"/>
                <a:cs typeface="+mn-cs"/>
              </a:defRPr>
            </a:lvl9pPr>
          </a:lstStyle>
          <a:p>
            <a:pPr indent="360680">
              <a:lnSpc>
                <a:spcPct val="150000"/>
              </a:lnSpc>
              <a:buClr>
                <a:schemeClr val="tx2"/>
              </a:buClr>
              <a:buSzPct val="100000"/>
            </a:pPr>
            <a:r>
              <a:rPr lang="zh-CN" altLang="en-US" sz="2370" b="1" dirty="0" smtClean="0">
                <a:solidFill>
                  <a:schemeClr val="tx2"/>
                </a:solidFill>
                <a:latin typeface="+mn-ea"/>
              </a:rPr>
              <a:t>（三）激光结构设计</a:t>
            </a:r>
            <a:endParaRPr lang="en-US" altLang="zh-CN" sz="2370" b="1" dirty="0">
              <a:solidFill>
                <a:schemeClr val="tx2"/>
              </a:solidFill>
              <a:latin typeface="+mn-ea"/>
            </a:endParaRPr>
          </a:p>
          <a:p>
            <a:pPr indent="360680" algn="l">
              <a:lnSpc>
                <a:spcPct val="150000"/>
              </a:lnSpc>
              <a:buClr>
                <a:schemeClr val="tx2"/>
              </a:buClr>
              <a:buSzPct val="100000"/>
            </a:pPr>
            <a:endParaRPr lang="en-US" altLang="zh-CN" sz="2370" b="1" dirty="0">
              <a:solidFill>
                <a:schemeClr val="tx2"/>
              </a:solidFill>
              <a:latin typeface="+mn-ea"/>
            </a:endParaRPr>
          </a:p>
        </p:txBody>
      </p:sp>
      <p:sp>
        <p:nvSpPr>
          <p:cNvPr id="4" name="副标题 33"/>
          <p:cNvSpPr>
            <a:spLocks noGrp="1"/>
          </p:cNvSpPr>
          <p:nvPr/>
        </p:nvSpPr>
        <p:spPr>
          <a:xfrm>
            <a:off x="995680" y="3609073"/>
            <a:ext cx="6131560" cy="669925"/>
          </a:xfrm>
          <a:prstGeom prst="rect">
            <a:avLst/>
          </a:prstGeom>
        </p:spPr>
        <p:txBody>
          <a:bodyPr/>
          <a:lstStyle>
            <a:lvl1pPr marL="0" indent="0" algn="l" defTabSz="1018540" rtl="0" eaLnBrk="1" latinLnBrk="0" hangingPunct="1">
              <a:spcBef>
                <a:spcPct val="20000"/>
              </a:spcBef>
              <a:buFont typeface="Arial" panose="020B0604020202020204" pitchFamily="34" charset="0"/>
              <a:buNone/>
              <a:defRPr sz="2710" kern="1200">
                <a:solidFill>
                  <a:schemeClr val="tx1">
                    <a:lumMod val="50000"/>
                    <a:lumOff val="50000"/>
                  </a:schemeClr>
                </a:solidFill>
                <a:latin typeface="+mn-lt"/>
                <a:ea typeface="+mn-ea"/>
                <a:cs typeface="+mn-cs"/>
              </a:defRPr>
            </a:lvl1pPr>
            <a:lvl2pPr marL="509270" indent="0" algn="ctr" defTabSz="1018540" rtl="0" eaLnBrk="1" latinLnBrk="0" hangingPunct="1">
              <a:spcBef>
                <a:spcPct val="20000"/>
              </a:spcBef>
              <a:buFont typeface="Arial" panose="020B0604020202020204" pitchFamily="34" charset="0"/>
              <a:buNone/>
              <a:defRPr sz="3120" kern="1200">
                <a:solidFill>
                  <a:schemeClr val="tx1">
                    <a:tint val="75000"/>
                  </a:schemeClr>
                </a:solidFill>
                <a:latin typeface="+mn-lt"/>
                <a:ea typeface="+mn-ea"/>
                <a:cs typeface="+mn-cs"/>
              </a:defRPr>
            </a:lvl2pPr>
            <a:lvl3pPr marL="1018540" indent="0" algn="ctr" defTabSz="1018540" rtl="0" eaLnBrk="1" latinLnBrk="0" hangingPunct="1">
              <a:spcBef>
                <a:spcPct val="20000"/>
              </a:spcBef>
              <a:buFont typeface="Arial" panose="020B0604020202020204" pitchFamily="34" charset="0"/>
              <a:buNone/>
              <a:defRPr sz="2700" kern="1200">
                <a:solidFill>
                  <a:schemeClr val="tx1">
                    <a:tint val="75000"/>
                  </a:schemeClr>
                </a:solidFill>
                <a:latin typeface="+mn-lt"/>
                <a:ea typeface="+mn-ea"/>
                <a:cs typeface="+mn-cs"/>
              </a:defRPr>
            </a:lvl3pPr>
            <a:lvl4pPr marL="1528445" indent="0" algn="ctr" defTabSz="1018540" rtl="0" eaLnBrk="1" latinLnBrk="0" hangingPunct="1">
              <a:spcBef>
                <a:spcPct val="20000"/>
              </a:spcBef>
              <a:buFont typeface="Arial" panose="020B0604020202020204" pitchFamily="34" charset="0"/>
              <a:buNone/>
              <a:defRPr sz="2220" kern="1200">
                <a:solidFill>
                  <a:schemeClr val="tx1">
                    <a:tint val="75000"/>
                  </a:schemeClr>
                </a:solidFill>
                <a:latin typeface="+mn-lt"/>
                <a:ea typeface="+mn-ea"/>
                <a:cs typeface="+mn-cs"/>
              </a:defRPr>
            </a:lvl4pPr>
            <a:lvl5pPr marL="2037715" indent="0" algn="ctr" defTabSz="1018540" rtl="0" eaLnBrk="1" latinLnBrk="0" hangingPunct="1">
              <a:spcBef>
                <a:spcPct val="20000"/>
              </a:spcBef>
              <a:buFont typeface="Arial" panose="020B0604020202020204" pitchFamily="34" charset="0"/>
              <a:buNone/>
              <a:defRPr sz="2220" kern="1200">
                <a:solidFill>
                  <a:schemeClr val="tx1">
                    <a:tint val="75000"/>
                  </a:schemeClr>
                </a:solidFill>
                <a:latin typeface="+mn-lt"/>
                <a:ea typeface="+mn-ea"/>
                <a:cs typeface="+mn-cs"/>
              </a:defRPr>
            </a:lvl5pPr>
            <a:lvl6pPr marL="2546985" indent="0" algn="ctr" defTabSz="1018540" rtl="0" eaLnBrk="1" latinLnBrk="0" hangingPunct="1">
              <a:spcBef>
                <a:spcPct val="20000"/>
              </a:spcBef>
              <a:buFont typeface="Arial" panose="020B0604020202020204" pitchFamily="34" charset="0"/>
              <a:buNone/>
              <a:defRPr sz="2220" kern="1200">
                <a:solidFill>
                  <a:schemeClr val="tx1">
                    <a:tint val="75000"/>
                  </a:schemeClr>
                </a:solidFill>
                <a:latin typeface="+mn-lt"/>
                <a:ea typeface="+mn-ea"/>
                <a:cs typeface="+mn-cs"/>
              </a:defRPr>
            </a:lvl6pPr>
            <a:lvl7pPr marL="3056255" indent="0" algn="ctr" defTabSz="1018540" rtl="0" eaLnBrk="1" latinLnBrk="0" hangingPunct="1">
              <a:spcBef>
                <a:spcPct val="20000"/>
              </a:spcBef>
              <a:buFont typeface="Arial" panose="020B0604020202020204" pitchFamily="34" charset="0"/>
              <a:buNone/>
              <a:defRPr sz="2220" kern="1200">
                <a:solidFill>
                  <a:schemeClr val="tx1">
                    <a:tint val="75000"/>
                  </a:schemeClr>
                </a:solidFill>
                <a:latin typeface="+mn-lt"/>
                <a:ea typeface="+mn-ea"/>
                <a:cs typeface="+mn-cs"/>
              </a:defRPr>
            </a:lvl7pPr>
            <a:lvl8pPr marL="3566160" indent="0" algn="ctr" defTabSz="1018540" rtl="0" eaLnBrk="1" latinLnBrk="0" hangingPunct="1">
              <a:spcBef>
                <a:spcPct val="20000"/>
              </a:spcBef>
              <a:buFont typeface="Arial" panose="020B0604020202020204" pitchFamily="34" charset="0"/>
              <a:buNone/>
              <a:defRPr sz="2220" kern="1200">
                <a:solidFill>
                  <a:schemeClr val="tx1">
                    <a:tint val="75000"/>
                  </a:schemeClr>
                </a:solidFill>
                <a:latin typeface="+mn-lt"/>
                <a:ea typeface="+mn-ea"/>
                <a:cs typeface="+mn-cs"/>
              </a:defRPr>
            </a:lvl8pPr>
            <a:lvl9pPr marL="4075430" indent="0" algn="ctr" defTabSz="1018540" rtl="0" eaLnBrk="1" latinLnBrk="0" hangingPunct="1">
              <a:spcBef>
                <a:spcPct val="20000"/>
              </a:spcBef>
              <a:buFont typeface="Arial" panose="020B0604020202020204" pitchFamily="34" charset="0"/>
              <a:buNone/>
              <a:defRPr sz="2220" kern="1200">
                <a:solidFill>
                  <a:schemeClr val="tx1">
                    <a:tint val="75000"/>
                  </a:schemeClr>
                </a:solidFill>
                <a:latin typeface="+mn-lt"/>
                <a:ea typeface="+mn-ea"/>
                <a:cs typeface="+mn-cs"/>
              </a:defRPr>
            </a:lvl9pPr>
          </a:lstStyle>
          <a:p>
            <a:pPr indent="360680">
              <a:lnSpc>
                <a:spcPct val="150000"/>
              </a:lnSpc>
              <a:buClr>
                <a:schemeClr val="tx2"/>
              </a:buClr>
              <a:buSzPct val="100000"/>
            </a:pPr>
            <a:r>
              <a:rPr lang="zh-CN" altLang="en-US" sz="2370" b="1" dirty="0" smtClean="0">
                <a:solidFill>
                  <a:schemeClr val="tx2"/>
                </a:solidFill>
                <a:latin typeface="+mn-ea"/>
              </a:rPr>
              <a:t>（四</a:t>
            </a:r>
            <a:r>
              <a:rPr lang="zh-CN" altLang="en-US" sz="2370" b="1" dirty="0">
                <a:solidFill>
                  <a:schemeClr val="tx2"/>
                </a:solidFill>
                <a:latin typeface="+mn-ea"/>
              </a:rPr>
              <a:t>）快门选型及结构设计</a:t>
            </a:r>
            <a:endParaRPr lang="en-US" altLang="zh-CN" sz="2370" b="1" dirty="0">
              <a:solidFill>
                <a:schemeClr val="tx2"/>
              </a:solidFill>
              <a:latin typeface="+mn-ea"/>
            </a:endParaRPr>
          </a:p>
        </p:txBody>
      </p:sp>
      <p:sp>
        <p:nvSpPr>
          <p:cNvPr id="12" name="椭圆 11"/>
          <p:cNvSpPr>
            <a:spLocks noChangeArrowheads="1"/>
          </p:cNvSpPr>
          <p:nvPr/>
        </p:nvSpPr>
        <p:spPr bwMode="auto">
          <a:xfrm>
            <a:off x="1027997" y="4720872"/>
            <a:ext cx="182902" cy="183123"/>
          </a:xfrm>
          <a:prstGeom prst="ellipse">
            <a:avLst/>
          </a:prstGeom>
          <a:solidFill>
            <a:schemeClr val="tx2"/>
          </a:solidFill>
          <a:ln w="9525">
            <a:noFill/>
            <a:round/>
          </a:ln>
        </p:spPr>
        <p:txBody>
          <a:bodyPr anchor="ctr"/>
          <a:lstStyle/>
          <a:p>
            <a:pPr algn="ctr"/>
            <a:endParaRPr lang="zh-CN" altLang="en-US" sz="1525">
              <a:solidFill>
                <a:srgbClr val="FFFFFF"/>
              </a:solidFill>
            </a:endParaRPr>
          </a:p>
        </p:txBody>
      </p:sp>
      <p:sp>
        <p:nvSpPr>
          <p:cNvPr id="13" name="副标题 33"/>
          <p:cNvSpPr>
            <a:spLocks noGrp="1"/>
          </p:cNvSpPr>
          <p:nvPr/>
        </p:nvSpPr>
        <p:spPr>
          <a:xfrm>
            <a:off x="995680" y="4598670"/>
            <a:ext cx="6442710" cy="661670"/>
          </a:xfrm>
          <a:prstGeom prst="rect">
            <a:avLst/>
          </a:prstGeom>
        </p:spPr>
        <p:txBody>
          <a:bodyPr/>
          <a:lstStyle>
            <a:lvl1pPr marL="0" indent="0" algn="l" defTabSz="1018540" rtl="0" eaLnBrk="1" latinLnBrk="0" hangingPunct="1">
              <a:spcBef>
                <a:spcPct val="20000"/>
              </a:spcBef>
              <a:buFont typeface="Arial" panose="020B0604020202020204" pitchFamily="34" charset="0"/>
              <a:buNone/>
              <a:defRPr sz="2710" kern="1200">
                <a:solidFill>
                  <a:schemeClr val="tx1">
                    <a:lumMod val="50000"/>
                    <a:lumOff val="50000"/>
                  </a:schemeClr>
                </a:solidFill>
                <a:latin typeface="+mn-lt"/>
                <a:ea typeface="+mn-ea"/>
                <a:cs typeface="+mn-cs"/>
              </a:defRPr>
            </a:lvl1pPr>
            <a:lvl2pPr marL="509270" indent="0" algn="ctr" defTabSz="1018540" rtl="0" eaLnBrk="1" latinLnBrk="0" hangingPunct="1">
              <a:spcBef>
                <a:spcPct val="20000"/>
              </a:spcBef>
              <a:buFont typeface="Arial" panose="020B0604020202020204" pitchFamily="34" charset="0"/>
              <a:buNone/>
              <a:defRPr sz="3120" kern="1200">
                <a:solidFill>
                  <a:schemeClr val="tx1">
                    <a:tint val="75000"/>
                  </a:schemeClr>
                </a:solidFill>
                <a:latin typeface="+mn-lt"/>
                <a:ea typeface="+mn-ea"/>
                <a:cs typeface="+mn-cs"/>
              </a:defRPr>
            </a:lvl2pPr>
            <a:lvl3pPr marL="1018540" indent="0" algn="ctr" defTabSz="1018540" rtl="0" eaLnBrk="1" latinLnBrk="0" hangingPunct="1">
              <a:spcBef>
                <a:spcPct val="20000"/>
              </a:spcBef>
              <a:buFont typeface="Arial" panose="020B0604020202020204" pitchFamily="34" charset="0"/>
              <a:buNone/>
              <a:defRPr sz="2700" kern="1200">
                <a:solidFill>
                  <a:schemeClr val="tx1">
                    <a:tint val="75000"/>
                  </a:schemeClr>
                </a:solidFill>
                <a:latin typeface="+mn-lt"/>
                <a:ea typeface="+mn-ea"/>
                <a:cs typeface="+mn-cs"/>
              </a:defRPr>
            </a:lvl3pPr>
            <a:lvl4pPr marL="1528445" indent="0" algn="ctr" defTabSz="1018540" rtl="0" eaLnBrk="1" latinLnBrk="0" hangingPunct="1">
              <a:spcBef>
                <a:spcPct val="20000"/>
              </a:spcBef>
              <a:buFont typeface="Arial" panose="020B0604020202020204" pitchFamily="34" charset="0"/>
              <a:buNone/>
              <a:defRPr sz="2220" kern="1200">
                <a:solidFill>
                  <a:schemeClr val="tx1">
                    <a:tint val="75000"/>
                  </a:schemeClr>
                </a:solidFill>
                <a:latin typeface="+mn-lt"/>
                <a:ea typeface="+mn-ea"/>
                <a:cs typeface="+mn-cs"/>
              </a:defRPr>
            </a:lvl4pPr>
            <a:lvl5pPr marL="2037715" indent="0" algn="ctr" defTabSz="1018540" rtl="0" eaLnBrk="1" latinLnBrk="0" hangingPunct="1">
              <a:spcBef>
                <a:spcPct val="20000"/>
              </a:spcBef>
              <a:buFont typeface="Arial" panose="020B0604020202020204" pitchFamily="34" charset="0"/>
              <a:buNone/>
              <a:defRPr sz="2220" kern="1200">
                <a:solidFill>
                  <a:schemeClr val="tx1">
                    <a:tint val="75000"/>
                  </a:schemeClr>
                </a:solidFill>
                <a:latin typeface="+mn-lt"/>
                <a:ea typeface="+mn-ea"/>
                <a:cs typeface="+mn-cs"/>
              </a:defRPr>
            </a:lvl5pPr>
            <a:lvl6pPr marL="2546985" indent="0" algn="ctr" defTabSz="1018540" rtl="0" eaLnBrk="1" latinLnBrk="0" hangingPunct="1">
              <a:spcBef>
                <a:spcPct val="20000"/>
              </a:spcBef>
              <a:buFont typeface="Arial" panose="020B0604020202020204" pitchFamily="34" charset="0"/>
              <a:buNone/>
              <a:defRPr sz="2220" kern="1200">
                <a:solidFill>
                  <a:schemeClr val="tx1">
                    <a:tint val="75000"/>
                  </a:schemeClr>
                </a:solidFill>
                <a:latin typeface="+mn-lt"/>
                <a:ea typeface="+mn-ea"/>
                <a:cs typeface="+mn-cs"/>
              </a:defRPr>
            </a:lvl6pPr>
            <a:lvl7pPr marL="3056255" indent="0" algn="ctr" defTabSz="1018540" rtl="0" eaLnBrk="1" latinLnBrk="0" hangingPunct="1">
              <a:spcBef>
                <a:spcPct val="20000"/>
              </a:spcBef>
              <a:buFont typeface="Arial" panose="020B0604020202020204" pitchFamily="34" charset="0"/>
              <a:buNone/>
              <a:defRPr sz="2220" kern="1200">
                <a:solidFill>
                  <a:schemeClr val="tx1">
                    <a:tint val="75000"/>
                  </a:schemeClr>
                </a:solidFill>
                <a:latin typeface="+mn-lt"/>
                <a:ea typeface="+mn-ea"/>
                <a:cs typeface="+mn-cs"/>
              </a:defRPr>
            </a:lvl7pPr>
            <a:lvl8pPr marL="3566160" indent="0" algn="ctr" defTabSz="1018540" rtl="0" eaLnBrk="1" latinLnBrk="0" hangingPunct="1">
              <a:spcBef>
                <a:spcPct val="20000"/>
              </a:spcBef>
              <a:buFont typeface="Arial" panose="020B0604020202020204" pitchFamily="34" charset="0"/>
              <a:buNone/>
              <a:defRPr sz="2220" kern="1200">
                <a:solidFill>
                  <a:schemeClr val="tx1">
                    <a:tint val="75000"/>
                  </a:schemeClr>
                </a:solidFill>
                <a:latin typeface="+mn-lt"/>
                <a:ea typeface="+mn-ea"/>
                <a:cs typeface="+mn-cs"/>
              </a:defRPr>
            </a:lvl8pPr>
            <a:lvl9pPr marL="4075430" indent="0" algn="ctr" defTabSz="1018540" rtl="0" eaLnBrk="1" latinLnBrk="0" hangingPunct="1">
              <a:spcBef>
                <a:spcPct val="20000"/>
              </a:spcBef>
              <a:buFont typeface="Arial" panose="020B0604020202020204" pitchFamily="34" charset="0"/>
              <a:buNone/>
              <a:defRPr sz="2220" kern="1200">
                <a:solidFill>
                  <a:schemeClr val="tx1">
                    <a:tint val="75000"/>
                  </a:schemeClr>
                </a:solidFill>
                <a:latin typeface="+mn-lt"/>
                <a:ea typeface="+mn-ea"/>
                <a:cs typeface="+mn-cs"/>
              </a:defRPr>
            </a:lvl9pPr>
          </a:lstStyle>
          <a:p>
            <a:pPr indent="360680" algn="l">
              <a:lnSpc>
                <a:spcPct val="150000"/>
              </a:lnSpc>
              <a:buClr>
                <a:schemeClr val="tx2"/>
              </a:buClr>
              <a:buSzPct val="100000"/>
            </a:pPr>
            <a:r>
              <a:rPr lang="zh-CN" altLang="en-US" sz="2370" b="1" dirty="0" smtClean="0">
                <a:solidFill>
                  <a:schemeClr val="tx2"/>
                </a:solidFill>
                <a:latin typeface="+mn-ea"/>
              </a:rPr>
              <a:t>（六）</a:t>
            </a:r>
            <a:r>
              <a:rPr lang="zh-CN" altLang="en-US" sz="2370" b="1" dirty="0">
                <a:solidFill>
                  <a:srgbClr val="C00000"/>
                </a:solidFill>
                <a:latin typeface="+mn-ea"/>
                <a:sym typeface="+mn-ea"/>
              </a:rPr>
              <a:t>快门测试方案</a:t>
            </a:r>
            <a:endParaRPr lang="zh-CN" altLang="en-US" sz="2370" b="1" dirty="0">
              <a:solidFill>
                <a:srgbClr val="C00000"/>
              </a:solidFill>
              <a:latin typeface="+mn-ea"/>
              <a:sym typeface="+mn-ea"/>
            </a:endParaRPr>
          </a:p>
          <a:p>
            <a:pPr indent="360680" algn="l">
              <a:lnSpc>
                <a:spcPct val="150000"/>
              </a:lnSpc>
              <a:buClr>
                <a:schemeClr val="tx2"/>
              </a:buClr>
              <a:buSzPct val="100000"/>
            </a:pPr>
            <a:r>
              <a:rPr lang="zh-CN" altLang="en-US" sz="2370" b="1" dirty="0" smtClean="0">
                <a:solidFill>
                  <a:schemeClr val="tx2"/>
                </a:solidFill>
                <a:latin typeface="+mn-ea"/>
                <a:sym typeface="+mn-ea"/>
              </a:rPr>
              <a:t>（七）</a:t>
            </a:r>
            <a:r>
              <a:rPr lang="zh-CN" altLang="en-US" sz="2370" b="1" dirty="0">
                <a:solidFill>
                  <a:srgbClr val="C00000"/>
                </a:solidFill>
                <a:latin typeface="+mn-ea"/>
                <a:sym typeface="+mn-ea"/>
              </a:rPr>
              <a:t>嵌入式平台图像算法加速与优化</a:t>
            </a:r>
            <a:endParaRPr lang="zh-CN" altLang="en-US" sz="2370" b="1" dirty="0">
              <a:solidFill>
                <a:srgbClr val="C00000"/>
              </a:solidFill>
              <a:latin typeface="+mn-ea"/>
              <a:sym typeface="+mn-ea"/>
            </a:endParaRPr>
          </a:p>
          <a:p>
            <a:pPr indent="360680" algn="l">
              <a:lnSpc>
                <a:spcPct val="150000"/>
              </a:lnSpc>
              <a:buClr>
                <a:schemeClr val="tx2"/>
              </a:buClr>
              <a:buSzPct val="100000"/>
            </a:pPr>
            <a:endParaRPr lang="zh-CN" altLang="en-US" sz="2370" b="1" dirty="0">
              <a:solidFill>
                <a:srgbClr val="C00000"/>
              </a:solidFill>
              <a:latin typeface="+mn-ea"/>
              <a:sym typeface="+mn-ea"/>
            </a:endParaRPr>
          </a:p>
        </p:txBody>
      </p:sp>
      <p:sp>
        <p:nvSpPr>
          <p:cNvPr id="14" name="副标题 33"/>
          <p:cNvSpPr>
            <a:spLocks noGrp="1"/>
          </p:cNvSpPr>
          <p:nvPr/>
        </p:nvSpPr>
        <p:spPr>
          <a:xfrm>
            <a:off x="974725" y="2616687"/>
            <a:ext cx="6040120" cy="689610"/>
          </a:xfrm>
          <a:prstGeom prst="rect">
            <a:avLst/>
          </a:prstGeom>
        </p:spPr>
        <p:txBody>
          <a:bodyPr/>
          <a:lstStyle>
            <a:lvl1pPr marL="0" indent="0" algn="l" defTabSz="1018540" rtl="0" eaLnBrk="1" latinLnBrk="0" hangingPunct="1">
              <a:spcBef>
                <a:spcPct val="20000"/>
              </a:spcBef>
              <a:buFont typeface="Arial" panose="020B0604020202020204" pitchFamily="34" charset="0"/>
              <a:buNone/>
              <a:defRPr sz="2710" kern="1200">
                <a:solidFill>
                  <a:schemeClr val="tx1">
                    <a:lumMod val="50000"/>
                    <a:lumOff val="50000"/>
                  </a:schemeClr>
                </a:solidFill>
                <a:latin typeface="+mn-lt"/>
                <a:ea typeface="+mn-ea"/>
                <a:cs typeface="+mn-cs"/>
              </a:defRPr>
            </a:lvl1pPr>
            <a:lvl2pPr marL="509270" indent="0" algn="ctr" defTabSz="1018540" rtl="0" eaLnBrk="1" latinLnBrk="0" hangingPunct="1">
              <a:spcBef>
                <a:spcPct val="20000"/>
              </a:spcBef>
              <a:buFont typeface="Arial" panose="020B0604020202020204" pitchFamily="34" charset="0"/>
              <a:buNone/>
              <a:defRPr sz="3120" kern="1200">
                <a:solidFill>
                  <a:schemeClr val="tx1">
                    <a:tint val="75000"/>
                  </a:schemeClr>
                </a:solidFill>
                <a:latin typeface="+mn-lt"/>
                <a:ea typeface="+mn-ea"/>
                <a:cs typeface="+mn-cs"/>
              </a:defRPr>
            </a:lvl2pPr>
            <a:lvl3pPr marL="1018540" indent="0" algn="ctr" defTabSz="1018540" rtl="0" eaLnBrk="1" latinLnBrk="0" hangingPunct="1">
              <a:spcBef>
                <a:spcPct val="20000"/>
              </a:spcBef>
              <a:buFont typeface="Arial" panose="020B0604020202020204" pitchFamily="34" charset="0"/>
              <a:buNone/>
              <a:defRPr sz="2700" kern="1200">
                <a:solidFill>
                  <a:schemeClr val="tx1">
                    <a:tint val="75000"/>
                  </a:schemeClr>
                </a:solidFill>
                <a:latin typeface="+mn-lt"/>
                <a:ea typeface="+mn-ea"/>
                <a:cs typeface="+mn-cs"/>
              </a:defRPr>
            </a:lvl3pPr>
            <a:lvl4pPr marL="1528445" indent="0" algn="ctr" defTabSz="1018540" rtl="0" eaLnBrk="1" latinLnBrk="0" hangingPunct="1">
              <a:spcBef>
                <a:spcPct val="20000"/>
              </a:spcBef>
              <a:buFont typeface="Arial" panose="020B0604020202020204" pitchFamily="34" charset="0"/>
              <a:buNone/>
              <a:defRPr sz="2220" kern="1200">
                <a:solidFill>
                  <a:schemeClr val="tx1">
                    <a:tint val="75000"/>
                  </a:schemeClr>
                </a:solidFill>
                <a:latin typeface="+mn-lt"/>
                <a:ea typeface="+mn-ea"/>
                <a:cs typeface="+mn-cs"/>
              </a:defRPr>
            </a:lvl4pPr>
            <a:lvl5pPr marL="2037715" indent="0" algn="ctr" defTabSz="1018540" rtl="0" eaLnBrk="1" latinLnBrk="0" hangingPunct="1">
              <a:spcBef>
                <a:spcPct val="20000"/>
              </a:spcBef>
              <a:buFont typeface="Arial" panose="020B0604020202020204" pitchFamily="34" charset="0"/>
              <a:buNone/>
              <a:defRPr sz="2220" kern="1200">
                <a:solidFill>
                  <a:schemeClr val="tx1">
                    <a:tint val="75000"/>
                  </a:schemeClr>
                </a:solidFill>
                <a:latin typeface="+mn-lt"/>
                <a:ea typeface="+mn-ea"/>
                <a:cs typeface="+mn-cs"/>
              </a:defRPr>
            </a:lvl5pPr>
            <a:lvl6pPr marL="2546985" indent="0" algn="ctr" defTabSz="1018540" rtl="0" eaLnBrk="1" latinLnBrk="0" hangingPunct="1">
              <a:spcBef>
                <a:spcPct val="20000"/>
              </a:spcBef>
              <a:buFont typeface="Arial" panose="020B0604020202020204" pitchFamily="34" charset="0"/>
              <a:buNone/>
              <a:defRPr sz="2220" kern="1200">
                <a:solidFill>
                  <a:schemeClr val="tx1">
                    <a:tint val="75000"/>
                  </a:schemeClr>
                </a:solidFill>
                <a:latin typeface="+mn-lt"/>
                <a:ea typeface="+mn-ea"/>
                <a:cs typeface="+mn-cs"/>
              </a:defRPr>
            </a:lvl6pPr>
            <a:lvl7pPr marL="3056255" indent="0" algn="ctr" defTabSz="1018540" rtl="0" eaLnBrk="1" latinLnBrk="0" hangingPunct="1">
              <a:spcBef>
                <a:spcPct val="20000"/>
              </a:spcBef>
              <a:buFont typeface="Arial" panose="020B0604020202020204" pitchFamily="34" charset="0"/>
              <a:buNone/>
              <a:defRPr sz="2220" kern="1200">
                <a:solidFill>
                  <a:schemeClr val="tx1">
                    <a:tint val="75000"/>
                  </a:schemeClr>
                </a:solidFill>
                <a:latin typeface="+mn-lt"/>
                <a:ea typeface="+mn-ea"/>
                <a:cs typeface="+mn-cs"/>
              </a:defRPr>
            </a:lvl7pPr>
            <a:lvl8pPr marL="3566160" indent="0" algn="ctr" defTabSz="1018540" rtl="0" eaLnBrk="1" latinLnBrk="0" hangingPunct="1">
              <a:spcBef>
                <a:spcPct val="20000"/>
              </a:spcBef>
              <a:buFont typeface="Arial" panose="020B0604020202020204" pitchFamily="34" charset="0"/>
              <a:buNone/>
              <a:defRPr sz="2220" kern="1200">
                <a:solidFill>
                  <a:schemeClr val="tx1">
                    <a:tint val="75000"/>
                  </a:schemeClr>
                </a:solidFill>
                <a:latin typeface="+mn-lt"/>
                <a:ea typeface="+mn-ea"/>
                <a:cs typeface="+mn-cs"/>
              </a:defRPr>
            </a:lvl8pPr>
            <a:lvl9pPr marL="4075430" indent="0" algn="ctr" defTabSz="1018540" rtl="0" eaLnBrk="1" latinLnBrk="0" hangingPunct="1">
              <a:spcBef>
                <a:spcPct val="20000"/>
              </a:spcBef>
              <a:buFont typeface="Arial" panose="020B0604020202020204" pitchFamily="34" charset="0"/>
              <a:buNone/>
              <a:defRPr sz="2220" kern="1200">
                <a:solidFill>
                  <a:schemeClr val="tx1">
                    <a:tint val="75000"/>
                  </a:schemeClr>
                </a:solidFill>
                <a:latin typeface="+mn-lt"/>
                <a:ea typeface="+mn-ea"/>
                <a:cs typeface="+mn-cs"/>
              </a:defRPr>
            </a:lvl9pPr>
          </a:lstStyle>
          <a:p>
            <a:pPr indent="360680">
              <a:lnSpc>
                <a:spcPct val="150000"/>
              </a:lnSpc>
              <a:buClr>
                <a:schemeClr val="tx2"/>
              </a:buClr>
              <a:buSzPct val="100000"/>
            </a:pPr>
            <a:r>
              <a:rPr lang="zh-CN" altLang="en-US" sz="2370" b="1" dirty="0">
                <a:solidFill>
                  <a:schemeClr val="tx2"/>
                </a:solidFill>
                <a:latin typeface="+mn-ea"/>
              </a:rPr>
              <a:t>（二）快门选型及应用</a:t>
            </a:r>
            <a:endParaRPr lang="en-US" altLang="zh-CN" sz="2370" b="1" dirty="0">
              <a:solidFill>
                <a:schemeClr val="tx2"/>
              </a:solidFill>
              <a:latin typeface="+mn-ea"/>
            </a:endParaRPr>
          </a:p>
        </p:txBody>
      </p:sp>
      <p:sp>
        <p:nvSpPr>
          <p:cNvPr id="16" name="椭圆 15"/>
          <p:cNvSpPr>
            <a:spLocks noChangeArrowheads="1"/>
          </p:cNvSpPr>
          <p:nvPr/>
        </p:nvSpPr>
        <p:spPr bwMode="auto">
          <a:xfrm>
            <a:off x="1027997" y="5200887"/>
            <a:ext cx="182902" cy="183123"/>
          </a:xfrm>
          <a:prstGeom prst="ellipse">
            <a:avLst/>
          </a:prstGeom>
          <a:solidFill>
            <a:schemeClr val="tx2"/>
          </a:solidFill>
          <a:ln w="9525">
            <a:noFill/>
            <a:round/>
          </a:ln>
        </p:spPr>
        <p:txBody>
          <a:bodyPr anchor="ctr"/>
          <a:lstStyle/>
          <a:p>
            <a:pPr algn="ctr"/>
            <a:endParaRPr lang="zh-CN" altLang="en-US" sz="1525">
              <a:solidFill>
                <a:srgbClr val="FFFFFF"/>
              </a:solidFill>
            </a:endParaRPr>
          </a:p>
        </p:txBody>
      </p:sp>
    </p:spTree>
  </p:cSld>
  <p:clrMapOvr>
    <a:masterClrMapping/>
  </p:clrMapOvr>
  <p:transition advClick="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ppt_x"/>
                                          </p:val>
                                        </p:tav>
                                        <p:tav tm="100000">
                                          <p:val>
                                            <p:strVal val="#ppt_x"/>
                                          </p:val>
                                        </p:tav>
                                      </p:tavLst>
                                    </p:anim>
                                    <p:anim calcmode="lin" valueType="num">
                                      <p:cBhvr additive="base">
                                        <p:cTn id="13" dur="500" fill="hold"/>
                                        <p:tgtEl>
                                          <p:spTgt spid="6"/>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ppt_x"/>
                                          </p:val>
                                        </p:tav>
                                        <p:tav tm="100000">
                                          <p:val>
                                            <p:strVal val="#ppt_x"/>
                                          </p:val>
                                        </p:tav>
                                      </p:tavLst>
                                    </p:anim>
                                    <p:anim calcmode="lin" valueType="num">
                                      <p:cBhvr additive="base">
                                        <p:cTn id="18" dur="500" fill="hold"/>
                                        <p:tgtEl>
                                          <p:spTgt spid="7"/>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additive="base">
                                        <p:cTn id="22" dur="500" fill="hold"/>
                                        <p:tgtEl>
                                          <p:spTgt spid="8"/>
                                        </p:tgtEl>
                                        <p:attrNameLst>
                                          <p:attrName>ppt_x</p:attrName>
                                        </p:attrNameLst>
                                      </p:cBhvr>
                                      <p:tavLst>
                                        <p:tav tm="0">
                                          <p:val>
                                            <p:strVal val="#ppt_x"/>
                                          </p:val>
                                        </p:tav>
                                        <p:tav tm="100000">
                                          <p:val>
                                            <p:strVal val="#ppt_x"/>
                                          </p:val>
                                        </p:tav>
                                      </p:tavLst>
                                    </p:anim>
                                    <p:anim calcmode="lin" valueType="num">
                                      <p:cBhvr additive="base">
                                        <p:cTn id="23" dur="500" fill="hold"/>
                                        <p:tgtEl>
                                          <p:spTgt spid="8"/>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 presetClass="entr" presetSubtype="4" fill="hold" grpId="0" nodeType="after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500" fill="hold"/>
                                        <p:tgtEl>
                                          <p:spTgt spid="9"/>
                                        </p:tgtEl>
                                        <p:attrNameLst>
                                          <p:attrName>ppt_x</p:attrName>
                                        </p:attrNameLst>
                                      </p:cBhvr>
                                      <p:tavLst>
                                        <p:tav tm="0">
                                          <p:val>
                                            <p:strVal val="#ppt_x"/>
                                          </p:val>
                                        </p:tav>
                                        <p:tav tm="100000">
                                          <p:val>
                                            <p:strVal val="#ppt_x"/>
                                          </p:val>
                                        </p:tav>
                                      </p:tavLst>
                                    </p:anim>
                                    <p:anim calcmode="lin" valueType="num">
                                      <p:cBhvr additive="base">
                                        <p:cTn id="28" dur="500" fill="hold"/>
                                        <p:tgtEl>
                                          <p:spTgt spid="9"/>
                                        </p:tgtEl>
                                        <p:attrNameLst>
                                          <p:attrName>ppt_y</p:attrName>
                                        </p:attrNameLst>
                                      </p:cBhvr>
                                      <p:tavLst>
                                        <p:tav tm="0">
                                          <p:val>
                                            <p:strVal val="1+#ppt_h/2"/>
                                          </p:val>
                                        </p:tav>
                                        <p:tav tm="100000">
                                          <p:val>
                                            <p:strVal val="#ppt_y"/>
                                          </p:val>
                                        </p:tav>
                                      </p:tavLst>
                                    </p:anim>
                                  </p:childTnLst>
                                </p:cTn>
                              </p:par>
                            </p:childTnLst>
                          </p:cTn>
                        </p:par>
                        <p:par>
                          <p:cTn id="29" fill="hold">
                            <p:stCondLst>
                              <p:cond delay="2500"/>
                            </p:stCondLst>
                            <p:childTnLst>
                              <p:par>
                                <p:cTn id="30" presetID="2" presetClass="entr" presetSubtype="4" fill="hold" grpId="0" nodeType="afterEffect">
                                  <p:stCondLst>
                                    <p:cond delay="0"/>
                                  </p:stCondLst>
                                  <p:childTnLst>
                                    <p:set>
                                      <p:cBhvr>
                                        <p:cTn id="31" dur="1" fill="hold">
                                          <p:stCondLst>
                                            <p:cond delay="0"/>
                                          </p:stCondLst>
                                        </p:cTn>
                                        <p:tgtEl>
                                          <p:spTgt spid="12"/>
                                        </p:tgtEl>
                                        <p:attrNameLst>
                                          <p:attrName>style.visibility</p:attrName>
                                        </p:attrNameLst>
                                      </p:cBhvr>
                                      <p:to>
                                        <p:strVal val="visible"/>
                                      </p:to>
                                    </p:set>
                                    <p:anim calcmode="lin" valueType="num">
                                      <p:cBhvr additive="base">
                                        <p:cTn id="32" dur="500" fill="hold"/>
                                        <p:tgtEl>
                                          <p:spTgt spid="12"/>
                                        </p:tgtEl>
                                        <p:attrNameLst>
                                          <p:attrName>ppt_x</p:attrName>
                                        </p:attrNameLst>
                                      </p:cBhvr>
                                      <p:tavLst>
                                        <p:tav tm="0">
                                          <p:val>
                                            <p:strVal val="#ppt_x"/>
                                          </p:val>
                                        </p:tav>
                                        <p:tav tm="100000">
                                          <p:val>
                                            <p:strVal val="#ppt_x"/>
                                          </p:val>
                                        </p:tav>
                                      </p:tavLst>
                                    </p:anim>
                                    <p:anim calcmode="lin" valueType="num">
                                      <p:cBhvr additive="base">
                                        <p:cTn id="33" dur="500" fill="hold"/>
                                        <p:tgtEl>
                                          <p:spTgt spid="12"/>
                                        </p:tgtEl>
                                        <p:attrNameLst>
                                          <p:attrName>ppt_y</p:attrName>
                                        </p:attrNameLst>
                                      </p:cBhvr>
                                      <p:tavLst>
                                        <p:tav tm="0">
                                          <p:val>
                                            <p:strVal val="1+#ppt_h/2"/>
                                          </p:val>
                                        </p:tav>
                                        <p:tav tm="100000">
                                          <p:val>
                                            <p:strVal val="#ppt_y"/>
                                          </p:val>
                                        </p:tav>
                                      </p:tavLst>
                                    </p:anim>
                                  </p:childTnLst>
                                </p:cTn>
                              </p:par>
                            </p:childTnLst>
                          </p:cTn>
                        </p:par>
                        <p:par>
                          <p:cTn id="34" fill="hold">
                            <p:stCondLst>
                              <p:cond delay="3000"/>
                            </p:stCondLst>
                            <p:childTnLst>
                              <p:par>
                                <p:cTn id="35" presetID="2" presetClass="entr" presetSubtype="4" fill="hold" grpId="0" nodeType="afterEffect">
                                  <p:stCondLst>
                                    <p:cond delay="0"/>
                                  </p:stCondLst>
                                  <p:childTnLst>
                                    <p:set>
                                      <p:cBhvr>
                                        <p:cTn id="36" dur="1" fill="hold">
                                          <p:stCondLst>
                                            <p:cond delay="0"/>
                                          </p:stCondLst>
                                        </p:cTn>
                                        <p:tgtEl>
                                          <p:spTgt spid="16"/>
                                        </p:tgtEl>
                                        <p:attrNameLst>
                                          <p:attrName>style.visibility</p:attrName>
                                        </p:attrNameLst>
                                      </p:cBhvr>
                                      <p:to>
                                        <p:strVal val="visible"/>
                                      </p:to>
                                    </p:set>
                                    <p:anim calcmode="lin" valueType="num">
                                      <p:cBhvr additive="base">
                                        <p:cTn id="37" dur="500" fill="hold"/>
                                        <p:tgtEl>
                                          <p:spTgt spid="16"/>
                                        </p:tgtEl>
                                        <p:attrNameLst>
                                          <p:attrName>ppt_x</p:attrName>
                                        </p:attrNameLst>
                                      </p:cBhvr>
                                      <p:tavLst>
                                        <p:tav tm="0">
                                          <p:val>
                                            <p:strVal val="#ppt_x"/>
                                          </p:val>
                                        </p:tav>
                                        <p:tav tm="100000">
                                          <p:val>
                                            <p:strVal val="#ppt_x"/>
                                          </p:val>
                                        </p:tav>
                                      </p:tavLst>
                                    </p:anim>
                                    <p:anim calcmode="lin" valueType="num">
                                      <p:cBhvr additive="base">
                                        <p:cTn id="38" dur="500" fill="hold"/>
                                        <p:tgtEl>
                                          <p:spTgt spid="16"/>
                                        </p:tgtEl>
                                        <p:attrNameLst>
                                          <p:attrName>ppt_y</p:attrName>
                                        </p:attrNameLst>
                                      </p:cBhvr>
                                      <p:tavLst>
                                        <p:tav tm="0">
                                          <p:val>
                                            <p:strVal val="1+#ppt_h/2"/>
                                          </p:val>
                                        </p:tav>
                                        <p:tav tm="100000">
                                          <p:val>
                                            <p:strVal val="#ppt_y"/>
                                          </p:val>
                                        </p:tav>
                                      </p:tavLst>
                                    </p:anim>
                                  </p:childTnLst>
                                </p:cTn>
                              </p:par>
                            </p:childTnLst>
                          </p:cTn>
                        </p:par>
                        <p:par>
                          <p:cTn id="39" fill="hold">
                            <p:stCondLst>
                              <p:cond delay="3500"/>
                            </p:stCondLst>
                            <p:childTnLst>
                              <p:par>
                                <p:cTn id="40" presetID="3" presetClass="entr" presetSubtype="10" fill="hold" grpId="0" nodeType="afterEffect">
                                  <p:stCondLst>
                                    <p:cond delay="0"/>
                                  </p:stCondLst>
                                  <p:childTnLst>
                                    <p:set>
                                      <p:cBhvr>
                                        <p:cTn id="41" dur="1" fill="hold">
                                          <p:stCondLst>
                                            <p:cond delay="0"/>
                                          </p:stCondLst>
                                        </p:cTn>
                                        <p:tgtEl>
                                          <p:spTgt spid="34">
                                            <p:txEl>
                                              <p:pRg st="0" end="0"/>
                                            </p:txEl>
                                          </p:spTgt>
                                        </p:tgtEl>
                                        <p:attrNameLst>
                                          <p:attrName>style.visibility</p:attrName>
                                        </p:attrNameLst>
                                      </p:cBhvr>
                                      <p:to>
                                        <p:strVal val="visible"/>
                                      </p:to>
                                    </p:set>
                                    <p:animEffect transition="in" filter="blinds(horizontal)">
                                      <p:cBhvr>
                                        <p:cTn id="42" dur="500"/>
                                        <p:tgtEl>
                                          <p:spTgt spid="34">
                                            <p:txEl>
                                              <p:pRg st="0" end="0"/>
                                            </p:txEl>
                                          </p:spTgt>
                                        </p:tgtEl>
                                      </p:cBhvr>
                                    </p:animEffect>
                                  </p:childTnLst>
                                </p:cTn>
                              </p:par>
                            </p:childTnLst>
                          </p:cTn>
                        </p:par>
                        <p:par>
                          <p:cTn id="43" fill="hold">
                            <p:stCondLst>
                              <p:cond delay="4000"/>
                            </p:stCondLst>
                            <p:childTnLst>
                              <p:par>
                                <p:cTn id="44" presetID="3" presetClass="entr" presetSubtype="10" fill="hold" grpId="0" nodeType="afterEffect">
                                  <p:stCondLst>
                                    <p:cond delay="0"/>
                                  </p:stCondLst>
                                  <p:childTnLst>
                                    <p:set>
                                      <p:cBhvr>
                                        <p:cTn id="45" dur="1" fill="hold">
                                          <p:stCondLst>
                                            <p:cond delay="0"/>
                                          </p:stCondLst>
                                        </p:cTn>
                                        <p:tgtEl>
                                          <p:spTgt spid="14"/>
                                        </p:tgtEl>
                                        <p:attrNameLst>
                                          <p:attrName>style.visibility</p:attrName>
                                        </p:attrNameLst>
                                      </p:cBhvr>
                                      <p:to>
                                        <p:strVal val="visible"/>
                                      </p:to>
                                    </p:set>
                                    <p:animEffect transition="in" filter="blinds(horizontal)">
                                      <p:cBhvr>
                                        <p:cTn id="46" dur="500"/>
                                        <p:tgtEl>
                                          <p:spTgt spid="14"/>
                                        </p:tgtEl>
                                      </p:cBhvr>
                                    </p:animEffect>
                                  </p:childTnLst>
                                </p:cTn>
                              </p:par>
                            </p:childTnLst>
                          </p:cTn>
                        </p:par>
                        <p:par>
                          <p:cTn id="47" fill="hold">
                            <p:stCondLst>
                              <p:cond delay="4500"/>
                            </p:stCondLst>
                            <p:childTnLst>
                              <p:par>
                                <p:cTn id="48" presetID="3" presetClass="entr" presetSubtype="10" fill="hold" grpId="0" nodeType="afterEffect">
                                  <p:stCondLst>
                                    <p:cond delay="0"/>
                                  </p:stCondLst>
                                  <p:childTnLst>
                                    <p:set>
                                      <p:cBhvr>
                                        <p:cTn id="49" dur="1" fill="hold">
                                          <p:stCondLst>
                                            <p:cond delay="0"/>
                                          </p:stCondLst>
                                        </p:cTn>
                                        <p:tgtEl>
                                          <p:spTgt spid="3"/>
                                        </p:tgtEl>
                                        <p:attrNameLst>
                                          <p:attrName>style.visibility</p:attrName>
                                        </p:attrNameLst>
                                      </p:cBhvr>
                                      <p:to>
                                        <p:strVal val="visible"/>
                                      </p:to>
                                    </p:set>
                                    <p:animEffect transition="in" filter="blinds(horizontal)">
                                      <p:cBhvr>
                                        <p:cTn id="50" dur="500"/>
                                        <p:tgtEl>
                                          <p:spTgt spid="3"/>
                                        </p:tgtEl>
                                      </p:cBhvr>
                                    </p:animEffect>
                                  </p:childTnLst>
                                </p:cTn>
                              </p:par>
                            </p:childTnLst>
                          </p:cTn>
                        </p:par>
                        <p:par>
                          <p:cTn id="51" fill="hold">
                            <p:stCondLst>
                              <p:cond delay="5000"/>
                            </p:stCondLst>
                            <p:childTnLst>
                              <p:par>
                                <p:cTn id="52" presetID="3" presetClass="entr" presetSubtype="10" fill="hold" grpId="0" nodeType="afterEffect">
                                  <p:stCondLst>
                                    <p:cond delay="0"/>
                                  </p:stCondLst>
                                  <p:childTnLst>
                                    <p:set>
                                      <p:cBhvr>
                                        <p:cTn id="53" dur="1" fill="hold">
                                          <p:stCondLst>
                                            <p:cond delay="0"/>
                                          </p:stCondLst>
                                        </p:cTn>
                                        <p:tgtEl>
                                          <p:spTgt spid="4"/>
                                        </p:tgtEl>
                                        <p:attrNameLst>
                                          <p:attrName>style.visibility</p:attrName>
                                        </p:attrNameLst>
                                      </p:cBhvr>
                                      <p:to>
                                        <p:strVal val="visible"/>
                                      </p:to>
                                    </p:set>
                                    <p:animEffect transition="in" filter="blinds(horizontal)">
                                      <p:cBhvr>
                                        <p:cTn id="54" dur="500"/>
                                        <p:tgtEl>
                                          <p:spTgt spid="4"/>
                                        </p:tgtEl>
                                      </p:cBhvr>
                                    </p:animEffect>
                                  </p:childTnLst>
                                </p:cTn>
                              </p:par>
                            </p:childTnLst>
                          </p:cTn>
                        </p:par>
                        <p:par>
                          <p:cTn id="55" fill="hold">
                            <p:stCondLst>
                              <p:cond delay="5500"/>
                            </p:stCondLst>
                            <p:childTnLst>
                              <p:par>
                                <p:cTn id="56" presetID="3" presetClass="entr" presetSubtype="10" fill="hold" grpId="0" nodeType="afterEffect">
                                  <p:stCondLst>
                                    <p:cond delay="0"/>
                                  </p:stCondLst>
                                  <p:childTnLst>
                                    <p:set>
                                      <p:cBhvr>
                                        <p:cTn id="57" dur="1" fill="hold">
                                          <p:stCondLst>
                                            <p:cond delay="0"/>
                                          </p:stCondLst>
                                        </p:cTn>
                                        <p:tgtEl>
                                          <p:spTgt spid="2"/>
                                        </p:tgtEl>
                                        <p:attrNameLst>
                                          <p:attrName>style.visibility</p:attrName>
                                        </p:attrNameLst>
                                      </p:cBhvr>
                                      <p:to>
                                        <p:strVal val="visible"/>
                                      </p:to>
                                    </p:set>
                                    <p:animEffect transition="in" filter="blinds(horizontal)">
                                      <p:cBhvr>
                                        <p:cTn id="58" dur="500"/>
                                        <p:tgtEl>
                                          <p:spTgt spid="2"/>
                                        </p:tgtEl>
                                      </p:cBhvr>
                                    </p:animEffect>
                                  </p:childTnLst>
                                </p:cTn>
                              </p:par>
                            </p:childTnLst>
                          </p:cTn>
                        </p:par>
                        <p:par>
                          <p:cTn id="59" fill="hold">
                            <p:stCondLst>
                              <p:cond delay="6000"/>
                            </p:stCondLst>
                            <p:childTnLst>
                              <p:par>
                                <p:cTn id="60" presetID="3" presetClass="entr" presetSubtype="10" fill="hold" grpId="0" nodeType="afterEffect">
                                  <p:stCondLst>
                                    <p:cond delay="0"/>
                                  </p:stCondLst>
                                  <p:childTnLst>
                                    <p:set>
                                      <p:cBhvr>
                                        <p:cTn id="61" dur="1" fill="hold">
                                          <p:stCondLst>
                                            <p:cond delay="0"/>
                                          </p:stCondLst>
                                        </p:cTn>
                                        <p:tgtEl>
                                          <p:spTgt spid="13"/>
                                        </p:tgtEl>
                                        <p:attrNameLst>
                                          <p:attrName>style.visibility</p:attrName>
                                        </p:attrNameLst>
                                      </p:cBhvr>
                                      <p:to>
                                        <p:strVal val="visible"/>
                                      </p:to>
                                    </p:set>
                                    <p:animEffect transition="in" filter="blinds(horizontal)">
                                      <p:cBhvr>
                                        <p:cTn id="6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build="p"/>
      <p:bldP spid="34" grpId="1" build="p"/>
      <p:bldP spid="6" grpId="0" bldLvl="0" animBg="1"/>
      <p:bldP spid="6" grpId="1" animBg="1"/>
      <p:bldP spid="7" grpId="0" bldLvl="0" animBg="1"/>
      <p:bldP spid="7" grpId="1" animBg="1"/>
      <p:bldP spid="8" grpId="0" bldLvl="0" animBg="1"/>
      <p:bldP spid="8" grpId="1" animBg="1"/>
      <p:bldP spid="9" grpId="0" bldLvl="0" animBg="1"/>
      <p:bldP spid="9" grpId="1" animBg="1"/>
      <p:bldP spid="2" grpId="0"/>
      <p:bldP spid="2" grpId="1"/>
      <p:bldP spid="3" grpId="0"/>
      <p:bldP spid="3" grpId="1"/>
      <p:bldP spid="4" grpId="0"/>
      <p:bldP spid="4" grpId="1"/>
      <p:bldP spid="12" grpId="0" bldLvl="0" animBg="1"/>
      <p:bldP spid="12" grpId="1" animBg="1"/>
      <p:bldP spid="13" grpId="0"/>
      <p:bldP spid="13" grpId="1"/>
      <p:bldP spid="14" grpId="0"/>
      <p:bldP spid="14" grpId="1"/>
      <p:bldP spid="16" grpId="0" bldLvl="0" animBg="1"/>
      <p:bldP spid="16" grpId="1"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标题 1"/>
          <p:cNvSpPr>
            <a:spLocks noGrp="1"/>
          </p:cNvSpPr>
          <p:nvPr>
            <p:ph type="title"/>
          </p:nvPr>
        </p:nvSpPr>
        <p:spPr>
          <a:xfrm>
            <a:off x="426183" y="219"/>
            <a:ext cx="10364427" cy="563322"/>
          </a:xfrm>
        </p:spPr>
        <p:txBody>
          <a:bodyPr/>
          <a:lstStyle/>
          <a:p>
            <a:r>
              <a:rPr lang="zh-CN" altLang="en-US" b="1" dirty="0" smtClean="0">
                <a:solidFill>
                  <a:schemeClr val="bg1"/>
                </a:solidFill>
                <a:latin typeface="+mn-ea"/>
              </a:rPr>
              <a:t>一、激光选型及应用</a:t>
            </a:r>
            <a:endParaRPr lang="zh-CN" b="1" dirty="0" smtClean="0">
              <a:solidFill>
                <a:schemeClr val="bg1"/>
              </a:solidFill>
              <a:latin typeface="+mn-ea"/>
            </a:endParaRPr>
          </a:p>
        </p:txBody>
      </p:sp>
      <p:sp>
        <p:nvSpPr>
          <p:cNvPr id="2" name="文本框 1"/>
          <p:cNvSpPr txBox="1"/>
          <p:nvPr/>
        </p:nvSpPr>
        <p:spPr>
          <a:xfrm>
            <a:off x="1055370" y="826770"/>
            <a:ext cx="4064000" cy="368300"/>
          </a:xfrm>
          <a:prstGeom prst="rect">
            <a:avLst/>
          </a:prstGeom>
          <a:noFill/>
        </p:spPr>
        <p:txBody>
          <a:bodyPr wrap="square" rtlCol="0">
            <a:spAutoFit/>
          </a:bodyPr>
          <a:p>
            <a:r>
              <a:rPr lang="zh-CN" altLang="en-US" b="1"/>
              <a:t>激光概述</a:t>
            </a:r>
            <a:endParaRPr lang="zh-CN" altLang="en-US" b="1"/>
          </a:p>
        </p:txBody>
      </p:sp>
      <p:sp>
        <p:nvSpPr>
          <p:cNvPr id="9" name="文本框 8"/>
          <p:cNvSpPr txBox="1"/>
          <p:nvPr/>
        </p:nvSpPr>
        <p:spPr>
          <a:xfrm>
            <a:off x="1055370" y="1458595"/>
            <a:ext cx="8879840" cy="1476375"/>
          </a:xfrm>
          <a:prstGeom prst="rect">
            <a:avLst/>
          </a:prstGeom>
          <a:noFill/>
        </p:spPr>
        <p:txBody>
          <a:bodyPr wrap="square" rtlCol="0">
            <a:spAutoFit/>
          </a:bodyPr>
          <a:p>
            <a:r>
              <a:rPr lang="zh-CN" altLang="en-US"/>
              <a:t>激光-LASER：Light Amplification by Stimulated Emission of Radiation （受激辐射的光放大）。原子中的电子吸收能量后从低能级跃迁到高能级，再从高能级回落到低能级的时候，所释放的能量以光子的形式放出，被引诱（激发）出来的光子束就是激光。</a:t>
            </a:r>
            <a:endParaRPr lang="zh-CN" altLang="en-US"/>
          </a:p>
          <a:p>
            <a:endParaRPr lang="zh-CN" altLang="en-US"/>
          </a:p>
          <a:p>
            <a:r>
              <a:rPr lang="zh-CN" altLang="en-US"/>
              <a:t>特点：高方向性、单色性、相干性。</a:t>
            </a:r>
            <a:endParaRPr lang="zh-CN" altLang="en-US"/>
          </a:p>
        </p:txBody>
      </p:sp>
      <p:pic>
        <p:nvPicPr>
          <p:cNvPr id="16" name="图片 15"/>
          <p:cNvPicPr>
            <a:picLocks noChangeAspect="1"/>
          </p:cNvPicPr>
          <p:nvPr>
            <p:custDataLst>
              <p:tags r:id="rId1"/>
            </p:custDataLst>
          </p:nvPr>
        </p:nvPicPr>
        <p:blipFill>
          <a:blip r:embed="rId2"/>
          <a:stretch>
            <a:fillRect/>
          </a:stretch>
        </p:blipFill>
        <p:spPr>
          <a:xfrm>
            <a:off x="1147445" y="3502025"/>
            <a:ext cx="3422015" cy="2175510"/>
          </a:xfrm>
          <a:prstGeom prst="rect">
            <a:avLst/>
          </a:prstGeom>
        </p:spPr>
      </p:pic>
      <p:pic>
        <p:nvPicPr>
          <p:cNvPr id="17" name="图片 16"/>
          <p:cNvPicPr>
            <a:picLocks noChangeAspect="1"/>
          </p:cNvPicPr>
          <p:nvPr>
            <p:custDataLst>
              <p:tags r:id="rId3"/>
            </p:custDataLst>
          </p:nvPr>
        </p:nvPicPr>
        <p:blipFill>
          <a:blip r:embed="rId4"/>
          <a:stretch>
            <a:fillRect/>
          </a:stretch>
        </p:blipFill>
        <p:spPr>
          <a:xfrm>
            <a:off x="4569460" y="3502660"/>
            <a:ext cx="3472180" cy="2174875"/>
          </a:xfrm>
          <a:prstGeom prst="rect">
            <a:avLst/>
          </a:prstGeom>
        </p:spPr>
      </p:pic>
      <p:pic>
        <p:nvPicPr>
          <p:cNvPr id="19" name="图片 18"/>
          <p:cNvPicPr>
            <a:picLocks noChangeAspect="1"/>
          </p:cNvPicPr>
          <p:nvPr>
            <p:custDataLst>
              <p:tags r:id="rId5"/>
            </p:custDataLst>
          </p:nvPr>
        </p:nvPicPr>
        <p:blipFill>
          <a:blip r:embed="rId6"/>
          <a:stretch>
            <a:fillRect/>
          </a:stretch>
        </p:blipFill>
        <p:spPr>
          <a:xfrm>
            <a:off x="8041640" y="3520440"/>
            <a:ext cx="3181350" cy="2157095"/>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标题 1"/>
          <p:cNvSpPr>
            <a:spLocks noGrp="1"/>
          </p:cNvSpPr>
          <p:nvPr>
            <p:ph type="title"/>
          </p:nvPr>
        </p:nvSpPr>
        <p:spPr>
          <a:xfrm>
            <a:off x="426183" y="219"/>
            <a:ext cx="10364427" cy="563322"/>
          </a:xfrm>
        </p:spPr>
        <p:txBody>
          <a:bodyPr/>
          <a:lstStyle/>
          <a:p>
            <a:r>
              <a:rPr lang="zh-CN" altLang="en-US" b="1" dirty="0" smtClean="0">
                <a:solidFill>
                  <a:schemeClr val="bg1"/>
                </a:solidFill>
                <a:latin typeface="+mn-ea"/>
                <a:sym typeface="+mn-ea"/>
              </a:rPr>
              <a:t>一、</a:t>
            </a:r>
            <a:r>
              <a:rPr lang="zh-CN" altLang="en-US" b="1" dirty="0" smtClean="0">
                <a:solidFill>
                  <a:schemeClr val="bg1"/>
                </a:solidFill>
                <a:latin typeface="+mn-ea"/>
                <a:sym typeface="+mn-ea"/>
              </a:rPr>
              <a:t>激光选型及应用</a:t>
            </a:r>
            <a:endParaRPr lang="zh-CN" b="1" dirty="0" smtClean="0">
              <a:solidFill>
                <a:schemeClr val="bg1"/>
              </a:solidFill>
              <a:latin typeface="+mn-ea"/>
            </a:endParaRPr>
          </a:p>
        </p:txBody>
      </p:sp>
      <p:sp>
        <p:nvSpPr>
          <p:cNvPr id="10" name="文本框 9"/>
          <p:cNvSpPr txBox="1"/>
          <p:nvPr>
            <p:custDataLst>
              <p:tags r:id="rId1"/>
            </p:custDataLst>
          </p:nvPr>
        </p:nvSpPr>
        <p:spPr>
          <a:xfrm>
            <a:off x="1289050" y="1345565"/>
            <a:ext cx="9065260" cy="1068705"/>
          </a:xfrm>
          <a:prstGeom prst="rect">
            <a:avLst/>
          </a:prstGeom>
          <a:noFill/>
        </p:spPr>
        <p:txBody>
          <a:bodyPr wrap="square" rtlCol="0">
            <a:noAutofit/>
          </a:bodyPr>
          <a:p>
            <a:r>
              <a:rPr lang="en-US" altLang="zh-CN"/>
              <a:t>1</a:t>
            </a:r>
            <a:r>
              <a:rPr lang="zh-CN" altLang="en-US"/>
              <a:t>、</a:t>
            </a:r>
            <a:r>
              <a:rPr lang="zh-CN" altLang="en-US">
                <a:solidFill>
                  <a:srgbClr val="FF0000"/>
                </a:solidFill>
              </a:rPr>
              <a:t>激光测距</a:t>
            </a:r>
            <a:endParaRPr lang="zh-CN" altLang="en-US">
              <a:solidFill>
                <a:srgbClr val="FF0000"/>
              </a:solidFill>
            </a:endParaRPr>
          </a:p>
          <a:p>
            <a:r>
              <a:rPr lang="zh-CN" altLang="en-US"/>
              <a:t>激光方向性好、亮度高的特性。具有远、准、快、抗干扰、无盲区等优点</a:t>
            </a:r>
            <a:endParaRPr lang="zh-CN" altLang="en-US"/>
          </a:p>
          <a:p>
            <a:endParaRPr lang="zh-CN" altLang="en-US">
              <a:solidFill>
                <a:srgbClr val="FF0000"/>
              </a:solidFill>
            </a:endParaRPr>
          </a:p>
          <a:p>
            <a:endParaRPr lang="zh-CN" altLang="en-US">
              <a:solidFill>
                <a:srgbClr val="FF0000"/>
              </a:solidFill>
            </a:endParaRPr>
          </a:p>
        </p:txBody>
      </p:sp>
      <p:sp>
        <p:nvSpPr>
          <p:cNvPr id="15" name="文本框 14"/>
          <p:cNvSpPr txBox="1"/>
          <p:nvPr>
            <p:custDataLst>
              <p:tags r:id="rId2"/>
            </p:custDataLst>
          </p:nvPr>
        </p:nvSpPr>
        <p:spPr>
          <a:xfrm>
            <a:off x="1055370" y="661670"/>
            <a:ext cx="4064000" cy="368300"/>
          </a:xfrm>
          <a:prstGeom prst="rect">
            <a:avLst/>
          </a:prstGeom>
          <a:noFill/>
        </p:spPr>
        <p:txBody>
          <a:bodyPr wrap="square" rtlCol="0">
            <a:spAutoFit/>
          </a:bodyPr>
          <a:p>
            <a:r>
              <a:rPr lang="zh-CN" altLang="en-US" b="1"/>
              <a:t>公司产品应用</a:t>
            </a:r>
            <a:endParaRPr lang="zh-CN" altLang="en-US" b="1"/>
          </a:p>
        </p:txBody>
      </p:sp>
      <p:pic>
        <p:nvPicPr>
          <p:cNvPr id="2" name="图片 1"/>
          <p:cNvPicPr/>
          <p:nvPr>
            <p:custDataLst>
              <p:tags r:id="rId3"/>
            </p:custDataLst>
          </p:nvPr>
        </p:nvPicPr>
        <p:blipFill>
          <a:blip r:embed="rId4"/>
          <a:stretch>
            <a:fillRect/>
          </a:stretch>
        </p:blipFill>
        <p:spPr>
          <a:xfrm>
            <a:off x="1288733" y="2620963"/>
            <a:ext cx="3133725" cy="2333625"/>
          </a:xfrm>
          <a:prstGeom prst="rect">
            <a:avLst/>
          </a:prstGeom>
          <a:noFill/>
          <a:ln w="9525">
            <a:noFill/>
          </a:ln>
        </p:spPr>
      </p:pic>
      <p:sp>
        <p:nvSpPr>
          <p:cNvPr id="3" name="文本框 2"/>
          <p:cNvSpPr txBox="1"/>
          <p:nvPr>
            <p:custDataLst>
              <p:tags r:id="rId5"/>
            </p:custDataLst>
          </p:nvPr>
        </p:nvSpPr>
        <p:spPr>
          <a:xfrm>
            <a:off x="1532255" y="5081270"/>
            <a:ext cx="2513330" cy="368300"/>
          </a:xfrm>
          <a:prstGeom prst="rect">
            <a:avLst/>
          </a:prstGeom>
          <a:noFill/>
        </p:spPr>
        <p:txBody>
          <a:bodyPr wrap="square" rtlCol="0">
            <a:spAutoFit/>
          </a:bodyPr>
          <a:p>
            <a:r>
              <a:rPr lang="zh-CN" altLang="en-US"/>
              <a:t>单目手持红外望远镜</a:t>
            </a:r>
            <a:endParaRPr lang="zh-CN" altLang="en-US"/>
          </a:p>
        </p:txBody>
      </p:sp>
      <p:pic>
        <p:nvPicPr>
          <p:cNvPr id="4" name="图片 3"/>
          <p:cNvPicPr/>
          <p:nvPr>
            <p:custDataLst>
              <p:tags r:id="rId6"/>
            </p:custDataLst>
          </p:nvPr>
        </p:nvPicPr>
        <p:blipFill>
          <a:blip r:embed="rId7"/>
          <a:stretch>
            <a:fillRect/>
          </a:stretch>
        </p:blipFill>
        <p:spPr>
          <a:xfrm>
            <a:off x="5435600" y="2840355"/>
            <a:ext cx="3124200" cy="2114550"/>
          </a:xfrm>
          <a:prstGeom prst="rect">
            <a:avLst/>
          </a:prstGeom>
          <a:noFill/>
          <a:ln w="9525">
            <a:noFill/>
          </a:ln>
        </p:spPr>
      </p:pic>
      <p:sp>
        <p:nvSpPr>
          <p:cNvPr id="5" name="文本框 4"/>
          <p:cNvSpPr txBox="1"/>
          <p:nvPr>
            <p:custDataLst>
              <p:tags r:id="rId8"/>
            </p:custDataLst>
          </p:nvPr>
        </p:nvSpPr>
        <p:spPr>
          <a:xfrm>
            <a:off x="5893435" y="4844415"/>
            <a:ext cx="4257675" cy="368300"/>
          </a:xfrm>
          <a:prstGeom prst="rect">
            <a:avLst/>
          </a:prstGeom>
          <a:noFill/>
        </p:spPr>
        <p:txBody>
          <a:bodyPr wrap="square" rtlCol="0">
            <a:spAutoFit/>
          </a:bodyPr>
          <a:p>
            <a:r>
              <a:rPr lang="zh-CN" altLang="en-US"/>
              <a:t>旗舰版红外热像仪</a:t>
            </a:r>
            <a:endParaRPr lang="zh-CN" altLang="en-US"/>
          </a:p>
        </p:txBody>
      </p:sp>
      <p:sp>
        <p:nvSpPr>
          <p:cNvPr id="6" name="文本框 5"/>
          <p:cNvSpPr txBox="1"/>
          <p:nvPr>
            <p:custDataLst>
              <p:tags r:id="rId9"/>
            </p:custDataLst>
          </p:nvPr>
        </p:nvSpPr>
        <p:spPr>
          <a:xfrm>
            <a:off x="1289050" y="2621280"/>
            <a:ext cx="2280920" cy="645160"/>
          </a:xfrm>
          <a:prstGeom prst="rect">
            <a:avLst/>
          </a:prstGeom>
          <a:noFill/>
        </p:spPr>
        <p:txBody>
          <a:bodyPr wrap="square" rtlCol="0">
            <a:spAutoFit/>
          </a:bodyPr>
          <a:p>
            <a:r>
              <a:rPr lang="zh-CN" altLang="en-US"/>
              <a:t>指示</a:t>
            </a:r>
            <a:r>
              <a:rPr lang="en-US" altLang="zh-CN"/>
              <a:t> 200m</a:t>
            </a:r>
            <a:endParaRPr lang="en-US" altLang="zh-CN"/>
          </a:p>
          <a:p>
            <a:r>
              <a:rPr lang="zh-CN" altLang="en-US"/>
              <a:t>测距</a:t>
            </a:r>
            <a:r>
              <a:rPr lang="en-US" altLang="zh-CN"/>
              <a:t> 600m</a:t>
            </a:r>
            <a:endParaRPr lang="en-US" altLang="zh-CN"/>
          </a:p>
        </p:txBody>
      </p:sp>
      <p:sp>
        <p:nvSpPr>
          <p:cNvPr id="7" name="文本框 6"/>
          <p:cNvSpPr txBox="1"/>
          <p:nvPr>
            <p:custDataLst>
              <p:tags r:id="rId10"/>
            </p:custDataLst>
          </p:nvPr>
        </p:nvSpPr>
        <p:spPr>
          <a:xfrm>
            <a:off x="6433185" y="2607310"/>
            <a:ext cx="1671320" cy="368300"/>
          </a:xfrm>
          <a:prstGeom prst="rect">
            <a:avLst/>
          </a:prstGeom>
          <a:noFill/>
        </p:spPr>
        <p:txBody>
          <a:bodyPr wrap="square" rtlCol="0">
            <a:spAutoFit/>
          </a:bodyPr>
          <a:p>
            <a:r>
              <a:rPr lang="en-US" altLang="zh-CN"/>
              <a:t>35m</a:t>
            </a:r>
            <a:r>
              <a:rPr lang="zh-CN" altLang="en-US"/>
              <a:t>，调焦</a:t>
            </a:r>
            <a:endParaRPr lang="zh-CN" altLang="en-US"/>
          </a:p>
        </p:txBody>
      </p:sp>
      <p:pic>
        <p:nvPicPr>
          <p:cNvPr id="8" name="图片 7"/>
          <p:cNvPicPr/>
          <p:nvPr>
            <p:custDataLst>
              <p:tags r:id="rId11"/>
            </p:custDataLst>
          </p:nvPr>
        </p:nvPicPr>
        <p:blipFill>
          <a:blip r:embed="rId12"/>
          <a:stretch>
            <a:fillRect/>
          </a:stretch>
        </p:blipFill>
        <p:spPr>
          <a:xfrm>
            <a:off x="929640" y="5575935"/>
            <a:ext cx="4062730" cy="1013460"/>
          </a:xfrm>
          <a:prstGeom prst="rect">
            <a:avLst/>
          </a:prstGeom>
          <a:noFill/>
          <a:ln w="9525">
            <a:noFill/>
          </a:ln>
        </p:spPr>
      </p:pic>
      <p:pic>
        <p:nvPicPr>
          <p:cNvPr id="102" name="图片 101"/>
          <p:cNvPicPr/>
          <p:nvPr>
            <p:custDataLst>
              <p:tags r:id="rId13"/>
            </p:custDataLst>
          </p:nvPr>
        </p:nvPicPr>
        <p:blipFill>
          <a:blip r:embed="rId14"/>
          <a:stretch>
            <a:fillRect/>
          </a:stretch>
        </p:blipFill>
        <p:spPr>
          <a:xfrm>
            <a:off x="8426450" y="3330575"/>
            <a:ext cx="1927860" cy="1750695"/>
          </a:xfrm>
          <a:prstGeom prst="rect">
            <a:avLst/>
          </a:prstGeom>
          <a:noFill/>
          <a:ln w="9525">
            <a:noFill/>
          </a:ln>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标题 1"/>
          <p:cNvSpPr>
            <a:spLocks noGrp="1"/>
          </p:cNvSpPr>
          <p:nvPr>
            <p:ph type="title"/>
          </p:nvPr>
        </p:nvSpPr>
        <p:spPr>
          <a:xfrm>
            <a:off x="426183" y="219"/>
            <a:ext cx="10364427" cy="563322"/>
          </a:xfrm>
        </p:spPr>
        <p:txBody>
          <a:bodyPr/>
          <a:lstStyle/>
          <a:p>
            <a:r>
              <a:rPr lang="zh-CN" altLang="en-US" b="1" dirty="0" smtClean="0">
                <a:solidFill>
                  <a:schemeClr val="bg1"/>
                </a:solidFill>
                <a:latin typeface="+mn-ea"/>
                <a:sym typeface="+mn-ea"/>
              </a:rPr>
              <a:t>一、</a:t>
            </a:r>
            <a:r>
              <a:rPr lang="zh-CN" altLang="en-US" b="1" dirty="0" smtClean="0">
                <a:solidFill>
                  <a:schemeClr val="bg1"/>
                </a:solidFill>
                <a:latin typeface="+mn-ea"/>
                <a:sym typeface="+mn-ea"/>
              </a:rPr>
              <a:t>激光选型及应用</a:t>
            </a:r>
            <a:endParaRPr lang="zh-CN" b="1" dirty="0" smtClean="0">
              <a:solidFill>
                <a:schemeClr val="bg1"/>
              </a:solidFill>
              <a:latin typeface="+mn-ea"/>
            </a:endParaRPr>
          </a:p>
        </p:txBody>
      </p:sp>
      <p:sp>
        <p:nvSpPr>
          <p:cNvPr id="10" name="文本框 9"/>
          <p:cNvSpPr txBox="1"/>
          <p:nvPr/>
        </p:nvSpPr>
        <p:spPr>
          <a:xfrm>
            <a:off x="1470025" y="1029970"/>
            <a:ext cx="7465695" cy="1627505"/>
          </a:xfrm>
          <a:prstGeom prst="rect">
            <a:avLst/>
          </a:prstGeom>
          <a:noFill/>
        </p:spPr>
        <p:txBody>
          <a:bodyPr wrap="square" rtlCol="0">
            <a:noAutofit/>
          </a:bodyPr>
          <a:p>
            <a:endParaRPr lang="en-US" altLang="zh-CN">
              <a:sym typeface="+mn-ea"/>
            </a:endParaRPr>
          </a:p>
          <a:p>
            <a:r>
              <a:rPr lang="en-US" altLang="zh-CN">
                <a:sym typeface="+mn-ea"/>
              </a:rPr>
              <a:t>2</a:t>
            </a:r>
            <a:r>
              <a:rPr lang="zh-CN" altLang="en-US">
                <a:sym typeface="+mn-ea"/>
              </a:rPr>
              <a:t>、</a:t>
            </a:r>
            <a:r>
              <a:rPr lang="zh-CN" altLang="en-US">
                <a:solidFill>
                  <a:srgbClr val="FF0000"/>
                </a:solidFill>
                <a:sym typeface="+mn-ea"/>
              </a:rPr>
              <a:t>位置指示</a:t>
            </a:r>
            <a:endParaRPr lang="zh-CN" altLang="en-US">
              <a:solidFill>
                <a:srgbClr val="FF0000"/>
              </a:solidFill>
            </a:endParaRPr>
          </a:p>
          <a:p>
            <a:r>
              <a:rPr lang="zh-CN" altLang="en-US">
                <a:sym typeface="+mn-ea"/>
              </a:rPr>
              <a:t>激光几乎是一束平行光，光斑发散小。如把激光束射到距地球38万千米的月球上，光束扩散的直径还不到二千米</a:t>
            </a:r>
            <a:endParaRPr lang="zh-CN" altLang="en-US"/>
          </a:p>
          <a:p>
            <a:endParaRPr lang="zh-CN" altLang="en-US"/>
          </a:p>
          <a:p>
            <a:endParaRPr lang="zh-CN" altLang="en-US"/>
          </a:p>
        </p:txBody>
      </p:sp>
      <p:pic>
        <p:nvPicPr>
          <p:cNvPr id="102" name="图片 101"/>
          <p:cNvPicPr/>
          <p:nvPr/>
        </p:nvPicPr>
        <p:blipFill>
          <a:blip r:embed="rId1"/>
          <a:stretch>
            <a:fillRect/>
          </a:stretch>
        </p:blipFill>
        <p:spPr>
          <a:xfrm>
            <a:off x="1469708" y="2845753"/>
            <a:ext cx="3533775" cy="2619375"/>
          </a:xfrm>
          <a:prstGeom prst="rect">
            <a:avLst/>
          </a:prstGeom>
          <a:noFill/>
          <a:ln w="9525">
            <a:noFill/>
          </a:ln>
        </p:spPr>
      </p:pic>
      <p:sp>
        <p:nvSpPr>
          <p:cNvPr id="12" name="文本框 11"/>
          <p:cNvSpPr txBox="1"/>
          <p:nvPr/>
        </p:nvSpPr>
        <p:spPr>
          <a:xfrm>
            <a:off x="1559560" y="5465445"/>
            <a:ext cx="4064000" cy="368300"/>
          </a:xfrm>
          <a:prstGeom prst="rect">
            <a:avLst/>
          </a:prstGeom>
          <a:noFill/>
        </p:spPr>
        <p:txBody>
          <a:bodyPr wrap="square" rtlCol="0">
            <a:spAutoFit/>
          </a:bodyPr>
          <a:p>
            <a:r>
              <a:rPr lang="zh-CN" altLang="en-US">
                <a:sym typeface="+mn-ea"/>
              </a:rPr>
              <a:t>小马座</a:t>
            </a:r>
            <a:r>
              <a:rPr lang="en-US" altLang="zh-CN">
                <a:sym typeface="+mn-ea"/>
              </a:rPr>
              <a:t> </a:t>
            </a:r>
            <a:r>
              <a:rPr lang="zh-CN" altLang="en-US">
                <a:sym typeface="+mn-ea"/>
              </a:rPr>
              <a:t>单目手持红外望远镜</a:t>
            </a:r>
            <a:endParaRPr lang="zh-CN" altLang="en-US"/>
          </a:p>
        </p:txBody>
      </p:sp>
      <p:sp>
        <p:nvSpPr>
          <p:cNvPr id="13" name="文本框 12"/>
          <p:cNvSpPr txBox="1"/>
          <p:nvPr/>
        </p:nvSpPr>
        <p:spPr>
          <a:xfrm>
            <a:off x="1656715" y="2764155"/>
            <a:ext cx="808355" cy="368300"/>
          </a:xfrm>
          <a:prstGeom prst="rect">
            <a:avLst/>
          </a:prstGeom>
          <a:noFill/>
        </p:spPr>
        <p:txBody>
          <a:bodyPr wrap="square" rtlCol="0">
            <a:spAutoFit/>
          </a:bodyPr>
          <a:p>
            <a:r>
              <a:rPr lang="en-US" altLang="zh-CN"/>
              <a:t>200m</a:t>
            </a:r>
            <a:endParaRPr lang="en-US" altLang="zh-CN"/>
          </a:p>
        </p:txBody>
      </p:sp>
      <p:pic>
        <p:nvPicPr>
          <p:cNvPr id="103" name="图片 102"/>
          <p:cNvPicPr/>
          <p:nvPr/>
        </p:nvPicPr>
        <p:blipFill>
          <a:blip r:embed="rId2"/>
          <a:stretch>
            <a:fillRect/>
          </a:stretch>
        </p:blipFill>
        <p:spPr>
          <a:xfrm>
            <a:off x="5003800" y="3006725"/>
            <a:ext cx="3078480" cy="2632710"/>
          </a:xfrm>
          <a:prstGeom prst="rect">
            <a:avLst/>
          </a:prstGeom>
          <a:noFill/>
          <a:ln w="9525">
            <a:noFill/>
          </a:ln>
        </p:spPr>
      </p:pic>
      <p:sp>
        <p:nvSpPr>
          <p:cNvPr id="14" name="文本框 13"/>
          <p:cNvSpPr txBox="1"/>
          <p:nvPr/>
        </p:nvSpPr>
        <p:spPr>
          <a:xfrm>
            <a:off x="5456555" y="5639435"/>
            <a:ext cx="4064000" cy="368300"/>
          </a:xfrm>
          <a:prstGeom prst="rect">
            <a:avLst/>
          </a:prstGeom>
          <a:noFill/>
        </p:spPr>
        <p:txBody>
          <a:bodyPr wrap="square" rtlCol="0">
            <a:spAutoFit/>
          </a:bodyPr>
          <a:p>
            <a:r>
              <a:rPr lang="zh-CN" altLang="en-US"/>
              <a:t>高性能红外热成像仪</a:t>
            </a:r>
            <a:endParaRPr lang="zh-CN" altLang="en-US"/>
          </a:p>
        </p:txBody>
      </p:sp>
      <p:pic>
        <p:nvPicPr>
          <p:cNvPr id="104" name="图片 103"/>
          <p:cNvPicPr/>
          <p:nvPr/>
        </p:nvPicPr>
        <p:blipFill>
          <a:blip r:embed="rId3"/>
          <a:stretch>
            <a:fillRect/>
          </a:stretch>
        </p:blipFill>
        <p:spPr>
          <a:xfrm>
            <a:off x="8373428" y="2419985"/>
            <a:ext cx="2752725" cy="3219450"/>
          </a:xfrm>
          <a:prstGeom prst="rect">
            <a:avLst/>
          </a:prstGeom>
          <a:noFill/>
          <a:ln w="9525">
            <a:noFill/>
          </a:ln>
        </p:spPr>
      </p:pic>
      <p:sp>
        <p:nvSpPr>
          <p:cNvPr id="16" name="文本框 15"/>
          <p:cNvSpPr txBox="1"/>
          <p:nvPr>
            <p:custDataLst>
              <p:tags r:id="rId4"/>
            </p:custDataLst>
          </p:nvPr>
        </p:nvSpPr>
        <p:spPr>
          <a:xfrm>
            <a:off x="8703945" y="5639435"/>
            <a:ext cx="4064000" cy="368300"/>
          </a:xfrm>
          <a:prstGeom prst="rect">
            <a:avLst/>
          </a:prstGeom>
          <a:noFill/>
        </p:spPr>
        <p:txBody>
          <a:bodyPr wrap="square" rtlCol="0">
            <a:spAutoFit/>
          </a:bodyPr>
          <a:p>
            <a:r>
              <a:rPr lang="zh-CN" altLang="en-US"/>
              <a:t>入门级红外热成像仪</a:t>
            </a:r>
            <a:endParaRPr lang="zh-CN" altLang="en-US"/>
          </a:p>
        </p:txBody>
      </p:sp>
      <p:sp>
        <p:nvSpPr>
          <p:cNvPr id="20" name="文本框 19"/>
          <p:cNvSpPr txBox="1"/>
          <p:nvPr>
            <p:custDataLst>
              <p:tags r:id="rId5"/>
            </p:custDataLst>
          </p:nvPr>
        </p:nvSpPr>
        <p:spPr>
          <a:xfrm>
            <a:off x="1055370" y="661670"/>
            <a:ext cx="4064000" cy="368300"/>
          </a:xfrm>
          <a:prstGeom prst="rect">
            <a:avLst/>
          </a:prstGeom>
          <a:noFill/>
        </p:spPr>
        <p:txBody>
          <a:bodyPr wrap="square" rtlCol="0">
            <a:spAutoFit/>
          </a:bodyPr>
          <a:p>
            <a:r>
              <a:rPr lang="zh-CN" altLang="en-US" b="1"/>
              <a:t>公司产品应用</a:t>
            </a:r>
            <a:endParaRPr lang="zh-CN" altLang="en-US" b="1"/>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标题 1"/>
          <p:cNvSpPr>
            <a:spLocks noGrp="1"/>
          </p:cNvSpPr>
          <p:nvPr>
            <p:ph type="title"/>
          </p:nvPr>
        </p:nvSpPr>
        <p:spPr>
          <a:xfrm>
            <a:off x="426183" y="219"/>
            <a:ext cx="10364427" cy="563322"/>
          </a:xfrm>
        </p:spPr>
        <p:txBody>
          <a:bodyPr/>
          <a:lstStyle/>
          <a:p>
            <a:r>
              <a:rPr lang="zh-CN" altLang="en-US" b="1" dirty="0" smtClean="0">
                <a:solidFill>
                  <a:schemeClr val="bg1"/>
                </a:solidFill>
                <a:latin typeface="+mn-ea"/>
                <a:sym typeface="+mn-ea"/>
              </a:rPr>
              <a:t>一、</a:t>
            </a:r>
            <a:r>
              <a:rPr lang="zh-CN" altLang="en-US" b="1" dirty="0" smtClean="0">
                <a:solidFill>
                  <a:schemeClr val="bg1"/>
                </a:solidFill>
                <a:latin typeface="+mn-ea"/>
                <a:sym typeface="+mn-ea"/>
              </a:rPr>
              <a:t>激光选型及应用</a:t>
            </a:r>
            <a:endParaRPr lang="zh-CN" b="1" dirty="0" smtClean="0">
              <a:solidFill>
                <a:schemeClr val="bg1"/>
              </a:solidFill>
              <a:latin typeface="+mn-ea"/>
            </a:endParaRPr>
          </a:p>
        </p:txBody>
      </p:sp>
      <p:sp>
        <p:nvSpPr>
          <p:cNvPr id="6" name="文本框 5"/>
          <p:cNvSpPr txBox="1"/>
          <p:nvPr/>
        </p:nvSpPr>
        <p:spPr>
          <a:xfrm>
            <a:off x="1201420" y="1152525"/>
            <a:ext cx="4064000" cy="368300"/>
          </a:xfrm>
          <a:prstGeom prst="rect">
            <a:avLst/>
          </a:prstGeom>
          <a:noFill/>
        </p:spPr>
        <p:txBody>
          <a:bodyPr wrap="square" rtlCol="0">
            <a:spAutoFit/>
          </a:bodyPr>
          <a:p>
            <a:r>
              <a:rPr lang="en-US" altLang="zh-CN">
                <a:solidFill>
                  <a:srgbClr val="FF0000"/>
                </a:solidFill>
                <a:sym typeface="+mn-ea"/>
              </a:rPr>
              <a:t>3</a:t>
            </a:r>
            <a:r>
              <a:rPr lang="zh-CN" altLang="en-US">
                <a:solidFill>
                  <a:srgbClr val="FF0000"/>
                </a:solidFill>
                <a:sym typeface="+mn-ea"/>
              </a:rPr>
              <a:t>、远距离补光产品</a:t>
            </a:r>
            <a:endParaRPr lang="zh-CN" altLang="en-US"/>
          </a:p>
        </p:txBody>
      </p:sp>
      <p:sp>
        <p:nvSpPr>
          <p:cNvPr id="5" name="文本框 4"/>
          <p:cNvSpPr txBox="1"/>
          <p:nvPr/>
        </p:nvSpPr>
        <p:spPr>
          <a:xfrm>
            <a:off x="1590675" y="1617980"/>
            <a:ext cx="9122410" cy="645160"/>
          </a:xfrm>
          <a:prstGeom prst="rect">
            <a:avLst/>
          </a:prstGeom>
          <a:noFill/>
        </p:spPr>
        <p:txBody>
          <a:bodyPr wrap="square" rtlCol="0">
            <a:spAutoFit/>
          </a:bodyPr>
          <a:p>
            <a:r>
              <a:rPr lang="en-US" altLang="zh-CN"/>
              <a:t>  </a:t>
            </a:r>
            <a:r>
              <a:rPr lang="zh-CN" altLang="en-US"/>
              <a:t>其利用近红外半导体光源输出大功率的红外激光配合可以远程控制光斑大小的护束镜对一定范围内目标进行照射，摄像机感应红外成像，从而实现夜视监控。</a:t>
            </a:r>
            <a:endParaRPr lang="zh-CN" altLang="en-US"/>
          </a:p>
        </p:txBody>
      </p:sp>
      <p:sp>
        <p:nvSpPr>
          <p:cNvPr id="20" name="文本框 19"/>
          <p:cNvSpPr txBox="1"/>
          <p:nvPr>
            <p:custDataLst>
              <p:tags r:id="rId1"/>
            </p:custDataLst>
          </p:nvPr>
        </p:nvSpPr>
        <p:spPr>
          <a:xfrm>
            <a:off x="1055370" y="661670"/>
            <a:ext cx="4064000" cy="368300"/>
          </a:xfrm>
          <a:prstGeom prst="rect">
            <a:avLst/>
          </a:prstGeom>
          <a:noFill/>
        </p:spPr>
        <p:txBody>
          <a:bodyPr wrap="square" rtlCol="0">
            <a:spAutoFit/>
          </a:bodyPr>
          <a:p>
            <a:r>
              <a:rPr lang="zh-CN" altLang="en-US" b="1"/>
              <a:t>公司产品应用</a:t>
            </a:r>
            <a:endParaRPr lang="zh-CN" altLang="en-US" b="1"/>
          </a:p>
        </p:txBody>
      </p:sp>
      <p:pic>
        <p:nvPicPr>
          <p:cNvPr id="112" name="图片 111"/>
          <p:cNvPicPr/>
          <p:nvPr/>
        </p:nvPicPr>
        <p:blipFill>
          <a:blip r:embed="rId2"/>
          <a:stretch>
            <a:fillRect/>
          </a:stretch>
        </p:blipFill>
        <p:spPr>
          <a:xfrm>
            <a:off x="1880235" y="2576195"/>
            <a:ext cx="2839720" cy="2537460"/>
          </a:xfrm>
          <a:prstGeom prst="rect">
            <a:avLst/>
          </a:prstGeom>
          <a:noFill/>
          <a:ln w="9525">
            <a:noFill/>
          </a:ln>
        </p:spPr>
      </p:pic>
      <p:sp>
        <p:nvSpPr>
          <p:cNvPr id="2" name="文本框 1"/>
          <p:cNvSpPr txBox="1"/>
          <p:nvPr>
            <p:custDataLst>
              <p:tags r:id="rId3"/>
            </p:custDataLst>
          </p:nvPr>
        </p:nvSpPr>
        <p:spPr>
          <a:xfrm>
            <a:off x="1336040" y="5628640"/>
            <a:ext cx="5010785" cy="368300"/>
          </a:xfrm>
          <a:prstGeom prst="rect">
            <a:avLst/>
          </a:prstGeom>
          <a:noFill/>
        </p:spPr>
        <p:txBody>
          <a:bodyPr wrap="square" rtlCol="0" anchor="t">
            <a:spAutoFit/>
          </a:bodyPr>
          <a:p>
            <a:r>
              <a:rPr lang="zh-CN" altLang="en-US"/>
              <a:t>激光器补光距离达3000米，0.3°~35°连续可调</a:t>
            </a:r>
            <a:endParaRPr lang="zh-CN" altLang="en-US"/>
          </a:p>
        </p:txBody>
      </p:sp>
      <p:pic>
        <p:nvPicPr>
          <p:cNvPr id="100" name="图片 99"/>
          <p:cNvPicPr/>
          <p:nvPr>
            <p:custDataLst>
              <p:tags r:id="rId4"/>
            </p:custDataLst>
          </p:nvPr>
        </p:nvPicPr>
        <p:blipFill>
          <a:blip r:embed="rId5"/>
          <a:stretch>
            <a:fillRect/>
          </a:stretch>
        </p:blipFill>
        <p:spPr>
          <a:xfrm>
            <a:off x="6581140" y="2456815"/>
            <a:ext cx="3702050" cy="3112135"/>
          </a:xfrm>
          <a:prstGeom prst="rect">
            <a:avLst/>
          </a:prstGeom>
          <a:noFill/>
          <a:ln w="9525">
            <a:noFill/>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标题 1"/>
          <p:cNvSpPr>
            <a:spLocks noGrp="1"/>
          </p:cNvSpPr>
          <p:nvPr>
            <p:ph type="title"/>
          </p:nvPr>
        </p:nvSpPr>
        <p:spPr>
          <a:xfrm>
            <a:off x="426183" y="219"/>
            <a:ext cx="10364427" cy="563322"/>
          </a:xfrm>
        </p:spPr>
        <p:txBody>
          <a:bodyPr/>
          <a:lstStyle/>
          <a:p>
            <a:r>
              <a:rPr lang="zh-CN" altLang="en-US" b="1" dirty="0" smtClean="0">
                <a:solidFill>
                  <a:schemeClr val="bg1"/>
                </a:solidFill>
                <a:latin typeface="+mn-ea"/>
                <a:sym typeface="+mn-ea"/>
              </a:rPr>
              <a:t>一、</a:t>
            </a:r>
            <a:r>
              <a:rPr lang="zh-CN" altLang="en-US" b="1" dirty="0" smtClean="0">
                <a:solidFill>
                  <a:schemeClr val="bg1"/>
                </a:solidFill>
                <a:latin typeface="+mn-ea"/>
                <a:sym typeface="+mn-ea"/>
              </a:rPr>
              <a:t>激光选型及应用</a:t>
            </a:r>
            <a:endParaRPr lang="zh-CN" b="1" dirty="0" smtClean="0">
              <a:solidFill>
                <a:schemeClr val="bg1"/>
              </a:solidFill>
              <a:latin typeface="+mn-ea"/>
            </a:endParaRPr>
          </a:p>
        </p:txBody>
      </p:sp>
      <p:pic>
        <p:nvPicPr>
          <p:cNvPr id="105" name="图片 104"/>
          <p:cNvPicPr/>
          <p:nvPr/>
        </p:nvPicPr>
        <p:blipFill>
          <a:blip r:embed="rId1"/>
          <a:stretch>
            <a:fillRect/>
          </a:stretch>
        </p:blipFill>
        <p:spPr>
          <a:xfrm>
            <a:off x="1271905" y="1381760"/>
            <a:ext cx="9518650" cy="4695190"/>
          </a:xfrm>
          <a:prstGeom prst="rect">
            <a:avLst/>
          </a:prstGeom>
          <a:noFill/>
          <a:ln w="9525">
            <a:noFill/>
          </a:ln>
        </p:spPr>
      </p:pic>
      <p:sp>
        <p:nvSpPr>
          <p:cNvPr id="20" name="文本框 19"/>
          <p:cNvSpPr txBox="1"/>
          <p:nvPr>
            <p:custDataLst>
              <p:tags r:id="rId2"/>
            </p:custDataLst>
          </p:nvPr>
        </p:nvSpPr>
        <p:spPr>
          <a:xfrm>
            <a:off x="1055370" y="661670"/>
            <a:ext cx="4064000" cy="368300"/>
          </a:xfrm>
          <a:prstGeom prst="rect">
            <a:avLst/>
          </a:prstGeom>
          <a:noFill/>
        </p:spPr>
        <p:txBody>
          <a:bodyPr wrap="square" rtlCol="0">
            <a:spAutoFit/>
          </a:bodyPr>
          <a:p>
            <a:r>
              <a:rPr lang="zh-CN" altLang="en-US" b="1"/>
              <a:t>选型</a:t>
            </a:r>
            <a:endParaRPr lang="zh-CN" altLang="en-US" b="1"/>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标题 1"/>
          <p:cNvSpPr>
            <a:spLocks noGrp="1"/>
          </p:cNvSpPr>
          <p:nvPr>
            <p:ph type="title"/>
          </p:nvPr>
        </p:nvSpPr>
        <p:spPr>
          <a:xfrm>
            <a:off x="426183" y="219"/>
            <a:ext cx="10364427" cy="563322"/>
          </a:xfrm>
        </p:spPr>
        <p:txBody>
          <a:bodyPr/>
          <a:lstStyle/>
          <a:p>
            <a:r>
              <a:rPr lang="zh-CN" altLang="en-US" b="1" dirty="0" smtClean="0">
                <a:solidFill>
                  <a:schemeClr val="bg1"/>
                </a:solidFill>
                <a:latin typeface="+mn-ea"/>
              </a:rPr>
              <a:t>二、快门选型及应用</a:t>
            </a:r>
            <a:endParaRPr lang="zh-CN" b="1" dirty="0" smtClean="0">
              <a:solidFill>
                <a:schemeClr val="bg1"/>
              </a:solidFill>
              <a:latin typeface="+mn-ea"/>
            </a:endParaRPr>
          </a:p>
        </p:txBody>
      </p:sp>
      <p:sp>
        <p:nvSpPr>
          <p:cNvPr id="2" name="文本框 1"/>
          <p:cNvSpPr txBox="1"/>
          <p:nvPr/>
        </p:nvSpPr>
        <p:spPr>
          <a:xfrm>
            <a:off x="1055370" y="826770"/>
            <a:ext cx="4064000" cy="368300"/>
          </a:xfrm>
          <a:prstGeom prst="rect">
            <a:avLst/>
          </a:prstGeom>
          <a:noFill/>
        </p:spPr>
        <p:txBody>
          <a:bodyPr wrap="square" rtlCol="0">
            <a:spAutoFit/>
          </a:bodyPr>
          <a:p>
            <a:r>
              <a:rPr lang="zh-CN" altLang="en-US" b="1"/>
              <a:t>快门概述</a:t>
            </a:r>
            <a:endParaRPr lang="zh-CN" altLang="en-US" b="1"/>
          </a:p>
        </p:txBody>
      </p:sp>
      <p:sp>
        <p:nvSpPr>
          <p:cNvPr id="3" name="文本框 2"/>
          <p:cNvSpPr txBox="1"/>
          <p:nvPr/>
        </p:nvSpPr>
        <p:spPr>
          <a:xfrm>
            <a:off x="1443355" y="1417320"/>
            <a:ext cx="9452610" cy="1198880"/>
          </a:xfrm>
          <a:prstGeom prst="rect">
            <a:avLst/>
          </a:prstGeom>
          <a:noFill/>
        </p:spPr>
        <p:txBody>
          <a:bodyPr wrap="square" rtlCol="0">
            <a:spAutoFit/>
          </a:bodyPr>
          <a:p>
            <a:r>
              <a:rPr lang="en-US" altLang="zh-CN"/>
              <a:t>     </a:t>
            </a:r>
            <a:r>
              <a:rPr lang="zh-CN" altLang="en-US"/>
              <a:t>通常可见光快门（SHUTTER）是在拍摄时，控制感光剂（Film）或者图像传感器（IMAGE SENSOR）曝光时间的开合装置。承担着调节曝光时间的作用，调节曝光时间的实质是调节图像传感器（IMAGE SENSOR）的受光的量。相机通常通过快门来遮挡光到达图像传感器的光，等同于人的眼睑。</a:t>
            </a:r>
            <a:endParaRPr lang="zh-CN" altLang="en-US"/>
          </a:p>
        </p:txBody>
      </p:sp>
      <p:pic>
        <p:nvPicPr>
          <p:cNvPr id="106" name="图片 105"/>
          <p:cNvPicPr/>
          <p:nvPr/>
        </p:nvPicPr>
        <p:blipFill>
          <a:blip r:embed="rId1"/>
          <a:stretch>
            <a:fillRect/>
          </a:stretch>
        </p:blipFill>
        <p:spPr>
          <a:xfrm>
            <a:off x="1583055" y="3027680"/>
            <a:ext cx="4317365" cy="3080385"/>
          </a:xfrm>
          <a:prstGeom prst="rect">
            <a:avLst/>
          </a:prstGeom>
          <a:noFill/>
          <a:ln w="9525">
            <a:noFill/>
          </a:ln>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标题 1"/>
          <p:cNvSpPr>
            <a:spLocks noGrp="1"/>
          </p:cNvSpPr>
          <p:nvPr>
            <p:ph type="title"/>
          </p:nvPr>
        </p:nvSpPr>
        <p:spPr>
          <a:xfrm>
            <a:off x="426183" y="219"/>
            <a:ext cx="10364427" cy="563322"/>
          </a:xfrm>
        </p:spPr>
        <p:txBody>
          <a:bodyPr/>
          <a:lstStyle/>
          <a:p>
            <a:r>
              <a:rPr lang="zh-CN" altLang="en-US" b="1" dirty="0" smtClean="0">
                <a:solidFill>
                  <a:schemeClr val="bg1"/>
                </a:solidFill>
                <a:latin typeface="+mn-ea"/>
                <a:sym typeface="+mn-ea"/>
              </a:rPr>
              <a:t>二、</a:t>
            </a:r>
            <a:r>
              <a:rPr lang="zh-CN" altLang="en-US" b="1" dirty="0" smtClean="0">
                <a:solidFill>
                  <a:schemeClr val="bg1"/>
                </a:solidFill>
                <a:latin typeface="+mn-ea"/>
                <a:sym typeface="+mn-ea"/>
              </a:rPr>
              <a:t>快门选型及应用</a:t>
            </a:r>
            <a:endParaRPr lang="zh-CN" b="1" dirty="0" smtClean="0">
              <a:solidFill>
                <a:schemeClr val="bg1"/>
              </a:solidFill>
              <a:latin typeface="+mn-ea"/>
            </a:endParaRPr>
          </a:p>
        </p:txBody>
      </p:sp>
      <p:sp>
        <p:nvSpPr>
          <p:cNvPr id="2" name="文本框 1"/>
          <p:cNvSpPr txBox="1"/>
          <p:nvPr>
            <p:custDataLst>
              <p:tags r:id="rId1"/>
            </p:custDataLst>
          </p:nvPr>
        </p:nvSpPr>
        <p:spPr>
          <a:xfrm>
            <a:off x="880745" y="826770"/>
            <a:ext cx="4064000" cy="368300"/>
          </a:xfrm>
          <a:prstGeom prst="rect">
            <a:avLst/>
          </a:prstGeom>
          <a:noFill/>
        </p:spPr>
        <p:txBody>
          <a:bodyPr wrap="square" rtlCol="0">
            <a:spAutoFit/>
          </a:bodyPr>
          <a:p>
            <a:r>
              <a:rPr lang="zh-CN" altLang="en-US" b="1"/>
              <a:t>快门控制分类</a:t>
            </a:r>
            <a:endParaRPr lang="zh-CN" altLang="en-US" b="1"/>
          </a:p>
        </p:txBody>
      </p:sp>
      <p:sp>
        <p:nvSpPr>
          <p:cNvPr id="24" name="TextBox 2"/>
          <p:cNvSpPr txBox="1"/>
          <p:nvPr>
            <p:custDataLst>
              <p:tags r:id="rId2"/>
            </p:custDataLst>
          </p:nvPr>
        </p:nvSpPr>
        <p:spPr>
          <a:xfrm>
            <a:off x="907415" y="1404620"/>
            <a:ext cx="6263005" cy="645160"/>
          </a:xfrm>
          <a:prstGeom prst="rect">
            <a:avLst/>
          </a:prstGeom>
          <a:noFill/>
        </p:spPr>
        <p:txBody>
          <a:bodyPr wrap="square" rtlCol="0">
            <a:spAutoFit/>
          </a:bodyPr>
          <a:p>
            <a:r>
              <a:rPr kumimoji="1" lang="en-US" altLang="zh-CN" dirty="0">
                <a:latin typeface="微软雅黑" panose="020B0503020204020204" pitchFamily="34" charset="-122"/>
                <a:ea typeface="微软雅黑" panose="020B0503020204020204" pitchFamily="34" charset="-122"/>
              </a:rPr>
              <a:t>1.</a:t>
            </a:r>
            <a:r>
              <a:rPr kumimoji="1" lang="zh-CN" altLang="en-US" dirty="0">
                <a:latin typeface="微软雅黑" panose="020B0503020204020204" pitchFamily="34" charset="-122"/>
                <a:ea typeface="微软雅黑" panose="020B0503020204020204" pitchFamily="34" charset="-122"/>
              </a:rPr>
              <a:t>双稳态快门</a:t>
            </a:r>
            <a:endParaRPr kumimoji="1" lang="en-US" altLang="zh-CN" dirty="0">
              <a:ea typeface="宋体" panose="02010600030101010101" pitchFamily="2" charset="-122"/>
            </a:endParaRPr>
          </a:p>
          <a:p>
            <a:endParaRPr lang="en-US" altLang="zh-CN" dirty="0" smtClean="0"/>
          </a:p>
        </p:txBody>
      </p:sp>
      <p:sp>
        <p:nvSpPr>
          <p:cNvPr id="30" name="TextBox 2"/>
          <p:cNvSpPr txBox="1"/>
          <p:nvPr>
            <p:custDataLst>
              <p:tags r:id="rId3"/>
            </p:custDataLst>
          </p:nvPr>
        </p:nvSpPr>
        <p:spPr>
          <a:xfrm>
            <a:off x="880745" y="3815080"/>
            <a:ext cx="6263005" cy="645160"/>
          </a:xfrm>
          <a:prstGeom prst="rect">
            <a:avLst/>
          </a:prstGeom>
          <a:noFill/>
        </p:spPr>
        <p:txBody>
          <a:bodyPr wrap="square" rtlCol="0">
            <a:spAutoFit/>
          </a:bodyPr>
          <a:p>
            <a:r>
              <a:rPr kumimoji="1" lang="en-US" altLang="zh-CN" dirty="0">
                <a:latin typeface="+mn-ea"/>
                <a:cs typeface="+mn-ea"/>
              </a:rPr>
              <a:t>2.</a:t>
            </a:r>
            <a:r>
              <a:rPr kumimoji="1" lang="zh-CN" altLang="en-US" dirty="0">
                <a:latin typeface="+mn-ea"/>
                <a:cs typeface="+mn-ea"/>
              </a:rPr>
              <a:t>单稳态快门</a:t>
            </a:r>
            <a:endParaRPr kumimoji="1" lang="en-US" altLang="zh-CN" dirty="0">
              <a:latin typeface="+mn-ea"/>
              <a:cs typeface="+mn-ea"/>
            </a:endParaRPr>
          </a:p>
          <a:p>
            <a:endParaRPr lang="en-US" altLang="zh-CN" dirty="0" smtClean="0">
              <a:latin typeface="+mn-ea"/>
              <a:cs typeface="+mn-ea"/>
            </a:endParaRPr>
          </a:p>
        </p:txBody>
      </p:sp>
      <p:pic>
        <p:nvPicPr>
          <p:cNvPr id="107" name="图片 106"/>
          <p:cNvPicPr/>
          <p:nvPr/>
        </p:nvPicPr>
        <p:blipFill>
          <a:blip r:embed="rId4"/>
          <a:stretch>
            <a:fillRect/>
          </a:stretch>
        </p:blipFill>
        <p:spPr>
          <a:xfrm>
            <a:off x="5728335" y="1621790"/>
            <a:ext cx="4636135" cy="2058035"/>
          </a:xfrm>
          <a:prstGeom prst="rect">
            <a:avLst/>
          </a:prstGeom>
          <a:noFill/>
          <a:ln w="9525">
            <a:noFill/>
          </a:ln>
        </p:spPr>
      </p:pic>
      <p:pic>
        <p:nvPicPr>
          <p:cNvPr id="108" name="图片 107"/>
          <p:cNvPicPr/>
          <p:nvPr/>
        </p:nvPicPr>
        <p:blipFill>
          <a:blip r:embed="rId5"/>
          <a:stretch>
            <a:fillRect/>
          </a:stretch>
        </p:blipFill>
        <p:spPr>
          <a:xfrm>
            <a:off x="5107623" y="4364990"/>
            <a:ext cx="6067425" cy="1962150"/>
          </a:xfrm>
          <a:prstGeom prst="rect">
            <a:avLst/>
          </a:prstGeom>
          <a:noFill/>
          <a:ln w="9525">
            <a:noFill/>
          </a:ln>
        </p:spPr>
      </p:pic>
      <p:pic>
        <p:nvPicPr>
          <p:cNvPr id="3" name="图片 2"/>
          <p:cNvPicPr>
            <a:picLocks noChangeAspect="1"/>
          </p:cNvPicPr>
          <p:nvPr>
            <p:custDataLst>
              <p:tags r:id="rId6"/>
            </p:custDataLst>
          </p:nvPr>
        </p:nvPicPr>
        <p:blipFill>
          <a:blip r:embed="rId7"/>
          <a:stretch>
            <a:fillRect/>
          </a:stretch>
        </p:blipFill>
        <p:spPr>
          <a:xfrm>
            <a:off x="3578225" y="1982470"/>
            <a:ext cx="1723390" cy="1765300"/>
          </a:xfrm>
          <a:prstGeom prst="rect">
            <a:avLst/>
          </a:prstGeom>
        </p:spPr>
      </p:pic>
      <p:pic>
        <p:nvPicPr>
          <p:cNvPr id="109" name="图片 108"/>
          <p:cNvPicPr/>
          <p:nvPr/>
        </p:nvPicPr>
        <p:blipFill>
          <a:blip r:embed="rId8"/>
          <a:stretch>
            <a:fillRect/>
          </a:stretch>
        </p:blipFill>
        <p:spPr>
          <a:xfrm>
            <a:off x="2132330" y="4115435"/>
            <a:ext cx="3169285" cy="2461260"/>
          </a:xfrm>
          <a:prstGeom prst="rect">
            <a:avLst/>
          </a:prstGeom>
          <a:noFill/>
          <a:ln w="9525">
            <a:noFill/>
          </a:ln>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标题 1"/>
          <p:cNvSpPr>
            <a:spLocks noGrp="1"/>
          </p:cNvSpPr>
          <p:nvPr>
            <p:ph type="title"/>
          </p:nvPr>
        </p:nvSpPr>
        <p:spPr>
          <a:xfrm>
            <a:off x="426183" y="219"/>
            <a:ext cx="10364427" cy="563322"/>
          </a:xfrm>
        </p:spPr>
        <p:txBody>
          <a:bodyPr/>
          <a:lstStyle/>
          <a:p>
            <a:r>
              <a:rPr lang="zh-CN" altLang="en-US" b="1" dirty="0" smtClean="0">
                <a:solidFill>
                  <a:schemeClr val="bg1"/>
                </a:solidFill>
                <a:latin typeface="+mn-ea"/>
                <a:sym typeface="+mn-ea"/>
              </a:rPr>
              <a:t>二、</a:t>
            </a:r>
            <a:r>
              <a:rPr lang="zh-CN" altLang="en-US" b="1" dirty="0" smtClean="0">
                <a:solidFill>
                  <a:schemeClr val="bg1"/>
                </a:solidFill>
                <a:latin typeface="+mn-ea"/>
                <a:sym typeface="+mn-ea"/>
              </a:rPr>
              <a:t>快门选型及应用</a:t>
            </a:r>
            <a:endParaRPr lang="zh-CN" b="1" dirty="0" smtClean="0">
              <a:solidFill>
                <a:schemeClr val="bg1"/>
              </a:solidFill>
              <a:latin typeface="+mn-ea"/>
            </a:endParaRPr>
          </a:p>
        </p:txBody>
      </p:sp>
      <p:sp>
        <p:nvSpPr>
          <p:cNvPr id="2" name="文本框 1"/>
          <p:cNvSpPr txBox="1"/>
          <p:nvPr>
            <p:custDataLst>
              <p:tags r:id="rId1"/>
            </p:custDataLst>
          </p:nvPr>
        </p:nvSpPr>
        <p:spPr>
          <a:xfrm>
            <a:off x="880745" y="826770"/>
            <a:ext cx="4064000" cy="368300"/>
          </a:xfrm>
          <a:prstGeom prst="rect">
            <a:avLst/>
          </a:prstGeom>
          <a:noFill/>
        </p:spPr>
        <p:txBody>
          <a:bodyPr wrap="square" rtlCol="0">
            <a:spAutoFit/>
          </a:bodyPr>
          <a:p>
            <a:r>
              <a:rPr lang="zh-CN" altLang="en-US" b="1"/>
              <a:t>公司产品应用</a:t>
            </a:r>
            <a:endParaRPr lang="zh-CN" altLang="en-US" b="1"/>
          </a:p>
        </p:txBody>
      </p:sp>
      <p:sp>
        <p:nvSpPr>
          <p:cNvPr id="4" name="文本框 3"/>
          <p:cNvSpPr txBox="1"/>
          <p:nvPr/>
        </p:nvSpPr>
        <p:spPr>
          <a:xfrm>
            <a:off x="997585" y="1659890"/>
            <a:ext cx="9655810" cy="1198880"/>
          </a:xfrm>
          <a:prstGeom prst="rect">
            <a:avLst/>
          </a:prstGeom>
          <a:noFill/>
        </p:spPr>
        <p:txBody>
          <a:bodyPr wrap="square" rtlCol="0">
            <a:spAutoFit/>
          </a:bodyPr>
          <a:p>
            <a:pPr algn="l">
              <a:buClrTx/>
              <a:buSzTx/>
              <a:buFontTx/>
            </a:pPr>
            <a:r>
              <a:rPr kumimoji="1" lang="en-US" altLang="zh-CN" dirty="0">
                <a:latin typeface="微软雅黑" panose="020B0503020204020204" pitchFamily="34" charset="-122"/>
                <a:ea typeface="微软雅黑" panose="020B0503020204020204" pitchFamily="34" charset="-122"/>
                <a:sym typeface="+mn-ea"/>
              </a:rPr>
              <a:t>  </a:t>
            </a:r>
            <a:r>
              <a:rPr kumimoji="1" lang="zh-CN" altLang="en-US" dirty="0">
                <a:latin typeface="微软雅黑" panose="020B0503020204020204" pitchFamily="34" charset="-122"/>
                <a:ea typeface="微软雅黑" panose="020B0503020204020204" pitchFamily="34" charset="-122"/>
                <a:sym typeface="+mn-ea"/>
              </a:rPr>
              <a:t>主要作用：及时更新本底，消除面的非均匀性，测温时更新基准，防止镜筒温漂补偿带来不稳定。温度漂移造成上次快门本底值不能适应当前状态，图像质量恶化，重新打快门获取本底值，面非均性校正</a:t>
            </a:r>
            <a:endParaRPr kumimoji="1" lang="zh-CN" altLang="en-US" dirty="0">
              <a:latin typeface="微软雅黑" panose="020B0503020204020204" pitchFamily="34" charset="-122"/>
              <a:ea typeface="微软雅黑" panose="020B0503020204020204" pitchFamily="34" charset="-122"/>
              <a:sym typeface="+mn-ea"/>
            </a:endParaRPr>
          </a:p>
          <a:p>
            <a:pPr algn="l">
              <a:buClrTx/>
              <a:buSzTx/>
              <a:buFontTx/>
            </a:pPr>
            <a:endParaRPr lang="zh-CN" alt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标题 1"/>
          <p:cNvSpPr>
            <a:spLocks noGrp="1"/>
          </p:cNvSpPr>
          <p:nvPr>
            <p:ph type="title"/>
          </p:nvPr>
        </p:nvSpPr>
        <p:spPr>
          <a:xfrm>
            <a:off x="426183" y="219"/>
            <a:ext cx="10364427" cy="563322"/>
          </a:xfrm>
        </p:spPr>
        <p:txBody>
          <a:bodyPr/>
          <a:lstStyle/>
          <a:p>
            <a:r>
              <a:rPr lang="zh-CN" altLang="en-US" b="1" dirty="0" smtClean="0">
                <a:solidFill>
                  <a:schemeClr val="bg1"/>
                </a:solidFill>
                <a:latin typeface="+mn-ea"/>
                <a:sym typeface="+mn-ea"/>
              </a:rPr>
              <a:t>二、</a:t>
            </a:r>
            <a:r>
              <a:rPr lang="zh-CN" altLang="en-US" b="1" dirty="0" smtClean="0">
                <a:solidFill>
                  <a:schemeClr val="bg1"/>
                </a:solidFill>
                <a:latin typeface="+mn-ea"/>
                <a:sym typeface="+mn-ea"/>
              </a:rPr>
              <a:t>快门选型及应用</a:t>
            </a:r>
            <a:endParaRPr lang="zh-CN" b="1" dirty="0" smtClean="0">
              <a:solidFill>
                <a:schemeClr val="bg1"/>
              </a:solidFill>
              <a:latin typeface="+mn-ea"/>
            </a:endParaRPr>
          </a:p>
        </p:txBody>
      </p:sp>
      <p:sp>
        <p:nvSpPr>
          <p:cNvPr id="20" name="文本框 19"/>
          <p:cNvSpPr txBox="1"/>
          <p:nvPr>
            <p:custDataLst>
              <p:tags r:id="rId1"/>
            </p:custDataLst>
          </p:nvPr>
        </p:nvSpPr>
        <p:spPr>
          <a:xfrm>
            <a:off x="900430" y="718820"/>
            <a:ext cx="4218940" cy="368300"/>
          </a:xfrm>
          <a:prstGeom prst="rect">
            <a:avLst/>
          </a:prstGeom>
          <a:noFill/>
        </p:spPr>
        <p:txBody>
          <a:bodyPr wrap="square" rtlCol="0">
            <a:spAutoFit/>
          </a:bodyPr>
          <a:p>
            <a:r>
              <a:rPr lang="zh-CN" altLang="en-US" b="1"/>
              <a:t>快门问题和选型</a:t>
            </a:r>
            <a:endParaRPr lang="zh-CN" altLang="en-US" b="1"/>
          </a:p>
        </p:txBody>
      </p:sp>
      <p:pic>
        <p:nvPicPr>
          <p:cNvPr id="111" name="图片 110"/>
          <p:cNvPicPr/>
          <p:nvPr/>
        </p:nvPicPr>
        <p:blipFill>
          <a:blip r:embed="rId2"/>
          <a:stretch>
            <a:fillRect/>
          </a:stretch>
        </p:blipFill>
        <p:spPr>
          <a:xfrm>
            <a:off x="1881505" y="1378268"/>
            <a:ext cx="7905750" cy="4295775"/>
          </a:xfrm>
          <a:prstGeom prst="rect">
            <a:avLst/>
          </a:prstGeom>
          <a:noFill/>
          <a:ln w="9525">
            <a:noFill/>
          </a:ln>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标题 1"/>
          <p:cNvSpPr>
            <a:spLocks noGrp="1"/>
          </p:cNvSpPr>
          <p:nvPr>
            <p:ph type="title"/>
          </p:nvPr>
        </p:nvSpPr>
        <p:spPr>
          <a:xfrm>
            <a:off x="426183" y="219"/>
            <a:ext cx="10364427" cy="563322"/>
          </a:xfrm>
        </p:spPr>
        <p:txBody>
          <a:bodyPr/>
          <a:lstStyle/>
          <a:p>
            <a:r>
              <a:rPr lang="zh-CN" altLang="en-US" b="1" dirty="0" smtClean="0">
                <a:solidFill>
                  <a:schemeClr val="bg1"/>
                </a:solidFill>
                <a:latin typeface="+mn-ea"/>
                <a:sym typeface="+mn-ea"/>
              </a:rPr>
              <a:t>三、激光结构设计</a:t>
            </a:r>
            <a:endParaRPr lang="zh-CN" b="1" dirty="0" smtClean="0">
              <a:solidFill>
                <a:schemeClr val="bg1"/>
              </a:solidFill>
              <a:latin typeface="+mn-ea"/>
            </a:endParaRPr>
          </a:p>
        </p:txBody>
      </p:sp>
      <p:sp>
        <p:nvSpPr>
          <p:cNvPr id="5" name="文本框 4"/>
          <p:cNvSpPr txBox="1"/>
          <p:nvPr>
            <p:custDataLst>
              <p:tags r:id="rId1"/>
            </p:custDataLst>
          </p:nvPr>
        </p:nvSpPr>
        <p:spPr>
          <a:xfrm>
            <a:off x="591820" y="737235"/>
            <a:ext cx="10426700" cy="1753235"/>
          </a:xfrm>
          <a:prstGeom prst="rect">
            <a:avLst/>
          </a:prstGeom>
          <a:noFill/>
          <a:ln w="9525">
            <a:noFill/>
          </a:ln>
        </p:spPr>
        <p:txBody>
          <a:bodyPr wrap="square">
            <a:spAutoFit/>
          </a:bodyPr>
          <a:p>
            <a:pPr indent="0" fontAlgn="auto">
              <a:lnSpc>
                <a:spcPct val="150000"/>
              </a:lnSpc>
            </a:pPr>
            <a:r>
              <a:rPr lang="en-US" altLang="zh-CN" b="0">
                <a:ea typeface="宋体" panose="02010600030101010101" pitchFamily="2" charset="-122"/>
              </a:rPr>
              <a:t>3.1</a:t>
            </a:r>
            <a:r>
              <a:rPr lang="zh-CN" altLang="en-US" b="0">
                <a:ea typeface="宋体" panose="02010600030101010101" pitchFamily="2" charset="-122"/>
              </a:rPr>
              <a:t>激光分类</a:t>
            </a:r>
            <a:endParaRPr lang="zh-CN" altLang="en-US" b="0">
              <a:ea typeface="宋体" panose="02010600030101010101" pitchFamily="2" charset="-122"/>
            </a:endParaRPr>
          </a:p>
          <a:p>
            <a:pPr indent="0" fontAlgn="auto">
              <a:lnSpc>
                <a:spcPct val="150000"/>
              </a:lnSpc>
            </a:pPr>
            <a:r>
              <a:rPr lang="zh-CN" altLang="en-US" b="0">
                <a:ea typeface="宋体" panose="02010600030101010101" pitchFamily="2" charset="-122"/>
              </a:rPr>
              <a:t>按作用形式分：</a:t>
            </a:r>
            <a:endParaRPr lang="zh-CN" altLang="en-US" b="0">
              <a:ea typeface="宋体" panose="02010600030101010101" pitchFamily="2" charset="-122"/>
            </a:endParaRPr>
          </a:p>
          <a:p>
            <a:pPr indent="0" fontAlgn="auto">
              <a:lnSpc>
                <a:spcPct val="150000"/>
              </a:lnSpc>
            </a:pPr>
            <a:r>
              <a:rPr lang="zh-CN" altLang="en-US" b="0">
                <a:ea typeface="宋体" panose="02010600030101010101" pitchFamily="2" charset="-122"/>
              </a:rPr>
              <a:t>a)激光管：指示观测画面中的某一个特定目标。</a:t>
            </a:r>
            <a:endParaRPr lang="zh-CN" altLang="en-US" b="0">
              <a:ea typeface="宋体" panose="02010600030101010101" pitchFamily="2" charset="-122"/>
            </a:endParaRPr>
          </a:p>
          <a:p>
            <a:pPr indent="0" fontAlgn="auto">
              <a:lnSpc>
                <a:spcPct val="150000"/>
              </a:lnSpc>
            </a:pPr>
            <a:r>
              <a:rPr lang="zh-CN" altLang="en-US" b="0">
                <a:ea typeface="宋体" panose="02010600030101010101" pitchFamily="2" charset="-122"/>
              </a:rPr>
              <a:t>b)激光测距模组：观测设备在观测过程中执行测距功能，获取相应的距离信息。</a:t>
            </a:r>
            <a:endParaRPr lang="zh-CN" altLang="en-US" b="0">
              <a:ea typeface="宋体" panose="02010600030101010101" pitchFamily="2" charset="-122"/>
            </a:endParaRPr>
          </a:p>
        </p:txBody>
      </p:sp>
      <p:pic>
        <p:nvPicPr>
          <p:cNvPr id="6" name="图片 5"/>
          <p:cNvPicPr>
            <a:picLocks noChangeAspect="1"/>
          </p:cNvPicPr>
          <p:nvPr>
            <p:custDataLst>
              <p:tags r:id="rId2"/>
            </p:custDataLst>
          </p:nvPr>
        </p:nvPicPr>
        <p:blipFill>
          <a:blip r:embed="rId3"/>
          <a:stretch>
            <a:fillRect/>
          </a:stretch>
        </p:blipFill>
        <p:spPr>
          <a:xfrm>
            <a:off x="8830945" y="2742565"/>
            <a:ext cx="2342515" cy="1496695"/>
          </a:xfrm>
          <a:prstGeom prst="rect">
            <a:avLst/>
          </a:prstGeom>
        </p:spPr>
      </p:pic>
      <p:pic>
        <p:nvPicPr>
          <p:cNvPr id="7" name="图片 6"/>
          <p:cNvPicPr>
            <a:picLocks noChangeAspect="1"/>
          </p:cNvPicPr>
          <p:nvPr>
            <p:custDataLst>
              <p:tags r:id="rId4"/>
            </p:custDataLst>
          </p:nvPr>
        </p:nvPicPr>
        <p:blipFill>
          <a:blip r:embed="rId5"/>
          <a:stretch>
            <a:fillRect/>
          </a:stretch>
        </p:blipFill>
        <p:spPr>
          <a:xfrm>
            <a:off x="4714240" y="2458720"/>
            <a:ext cx="1676400" cy="2064385"/>
          </a:xfrm>
          <a:prstGeom prst="rect">
            <a:avLst/>
          </a:prstGeom>
        </p:spPr>
      </p:pic>
      <p:sp>
        <p:nvSpPr>
          <p:cNvPr id="9" name="文本框 8"/>
          <p:cNvSpPr txBox="1"/>
          <p:nvPr/>
        </p:nvSpPr>
        <p:spPr>
          <a:xfrm>
            <a:off x="6872605" y="4824095"/>
            <a:ext cx="4064000" cy="368300"/>
          </a:xfrm>
          <a:prstGeom prst="rect">
            <a:avLst/>
          </a:prstGeom>
          <a:noFill/>
        </p:spPr>
        <p:txBody>
          <a:bodyPr wrap="square" rtlCol="0">
            <a:spAutoFit/>
          </a:bodyPr>
          <a:p>
            <a:r>
              <a:rPr lang="zh-CN" altLang="en-US"/>
              <a:t>激光测距模块</a:t>
            </a:r>
            <a:endParaRPr lang="zh-CN" altLang="en-US"/>
          </a:p>
        </p:txBody>
      </p:sp>
      <p:sp>
        <p:nvSpPr>
          <p:cNvPr id="10" name="文本框 9"/>
          <p:cNvSpPr txBox="1"/>
          <p:nvPr/>
        </p:nvSpPr>
        <p:spPr>
          <a:xfrm>
            <a:off x="1593215" y="4355465"/>
            <a:ext cx="1539875" cy="368300"/>
          </a:xfrm>
          <a:prstGeom prst="rect">
            <a:avLst/>
          </a:prstGeom>
          <a:noFill/>
        </p:spPr>
        <p:txBody>
          <a:bodyPr wrap="square" rtlCol="0">
            <a:spAutoFit/>
          </a:bodyPr>
          <a:p>
            <a:r>
              <a:rPr lang="zh-CN" altLang="en-US"/>
              <a:t>激光管</a:t>
            </a:r>
            <a:endParaRPr lang="zh-CN" altLang="en-US"/>
          </a:p>
        </p:txBody>
      </p:sp>
      <p:pic>
        <p:nvPicPr>
          <p:cNvPr id="11" name="图片 10"/>
          <p:cNvPicPr>
            <a:picLocks noChangeAspect="1"/>
          </p:cNvPicPr>
          <p:nvPr>
            <p:custDataLst>
              <p:tags r:id="rId6"/>
            </p:custDataLst>
          </p:nvPr>
        </p:nvPicPr>
        <p:blipFill>
          <a:blip r:embed="rId7"/>
          <a:stretch>
            <a:fillRect/>
          </a:stretch>
        </p:blipFill>
        <p:spPr>
          <a:xfrm>
            <a:off x="1295400" y="2742565"/>
            <a:ext cx="1837690" cy="1395730"/>
          </a:xfrm>
          <a:prstGeom prst="rect">
            <a:avLst/>
          </a:prstGeom>
        </p:spPr>
      </p:pic>
      <p:pic>
        <p:nvPicPr>
          <p:cNvPr id="2" name="图片 1"/>
          <p:cNvPicPr>
            <a:picLocks noChangeAspect="1"/>
          </p:cNvPicPr>
          <p:nvPr>
            <p:custDataLst>
              <p:tags r:id="rId8"/>
            </p:custDataLst>
          </p:nvPr>
        </p:nvPicPr>
        <p:blipFill>
          <a:blip r:embed="rId9"/>
          <a:stretch>
            <a:fillRect/>
          </a:stretch>
        </p:blipFill>
        <p:spPr>
          <a:xfrm>
            <a:off x="6682105" y="2539365"/>
            <a:ext cx="1991360" cy="1983740"/>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标题 1"/>
          <p:cNvSpPr>
            <a:spLocks noGrp="1"/>
          </p:cNvSpPr>
          <p:nvPr>
            <p:ph type="title"/>
          </p:nvPr>
        </p:nvSpPr>
        <p:spPr>
          <a:xfrm>
            <a:off x="426183" y="219"/>
            <a:ext cx="10364427" cy="563322"/>
          </a:xfrm>
        </p:spPr>
        <p:txBody>
          <a:bodyPr/>
          <a:lstStyle/>
          <a:p>
            <a:r>
              <a:rPr lang="zh-CN" altLang="en-US" b="1" dirty="0" smtClean="0">
                <a:solidFill>
                  <a:schemeClr val="bg1"/>
                </a:solidFill>
                <a:latin typeface="+mn-ea"/>
                <a:sym typeface="+mn-ea"/>
              </a:rPr>
              <a:t>三、激光结构设计</a:t>
            </a:r>
            <a:endParaRPr lang="zh-CN" b="1" dirty="0" smtClean="0">
              <a:solidFill>
                <a:schemeClr val="bg1"/>
              </a:solidFill>
              <a:latin typeface="+mn-ea"/>
            </a:endParaRPr>
          </a:p>
        </p:txBody>
      </p:sp>
      <p:sp>
        <p:nvSpPr>
          <p:cNvPr id="100" name="文本框 99"/>
          <p:cNvSpPr txBox="1"/>
          <p:nvPr/>
        </p:nvSpPr>
        <p:spPr>
          <a:xfrm>
            <a:off x="589915" y="563245"/>
            <a:ext cx="11359515" cy="5259070"/>
          </a:xfrm>
          <a:prstGeom prst="rect">
            <a:avLst/>
          </a:prstGeom>
          <a:noFill/>
          <a:ln w="9525">
            <a:noFill/>
          </a:ln>
        </p:spPr>
        <p:txBody>
          <a:bodyPr wrap="square">
            <a:noAutofit/>
          </a:bodyPr>
          <a:p>
            <a:pPr indent="0" fontAlgn="auto">
              <a:lnSpc>
                <a:spcPct val="150000"/>
              </a:lnSpc>
            </a:pPr>
            <a:r>
              <a:rPr lang="zh-CN" altLang="en-US">
                <a:latin typeface="黑体" panose="02010609060101010101" charset="-122"/>
                <a:ea typeface="黑体" panose="02010609060101010101" charset="-122"/>
                <a:cs typeface="黑体" panose="02010609060101010101" charset="-122"/>
              </a:rPr>
              <a:t>激光管结构设计</a:t>
            </a:r>
            <a:endParaRPr lang="zh-CN" altLang="en-US">
              <a:latin typeface="黑体" panose="02010609060101010101" charset="-122"/>
              <a:ea typeface="黑体" panose="02010609060101010101" charset="-122"/>
              <a:cs typeface="黑体" panose="02010609060101010101" charset="-122"/>
            </a:endParaRPr>
          </a:p>
          <a:p>
            <a:pPr indent="0" fontAlgn="auto">
              <a:lnSpc>
                <a:spcPct val="150000"/>
              </a:lnSpc>
            </a:pPr>
            <a:r>
              <a:rPr lang="zh-CN" altLang="en-US">
                <a:latin typeface="黑体" panose="02010609060101010101" charset="-122"/>
                <a:ea typeface="黑体" panose="02010609060101010101" charset="-122"/>
                <a:cs typeface="黑体" panose="02010609060101010101" charset="-122"/>
              </a:rPr>
              <a:t>1</a:t>
            </a:r>
            <a:r>
              <a:rPr lang="en-US" altLang="zh-CN">
                <a:latin typeface="黑体" panose="02010609060101010101" charset="-122"/>
                <a:ea typeface="黑体" panose="02010609060101010101" charset="-122"/>
                <a:cs typeface="黑体" panose="02010609060101010101" charset="-122"/>
              </a:rPr>
              <a:t>.</a:t>
            </a:r>
            <a:r>
              <a:rPr lang="zh-CN" altLang="en-US">
                <a:latin typeface="黑体" panose="02010609060101010101" charset="-122"/>
                <a:ea typeface="黑体" panose="02010609060101010101" charset="-122"/>
                <a:cs typeface="黑体" panose="02010609060101010101" charset="-122"/>
              </a:rPr>
              <a:t>球体调节式</a:t>
            </a:r>
            <a:endParaRPr lang="zh-CN" altLang="en-US">
              <a:latin typeface="黑体" panose="02010609060101010101" charset="-122"/>
              <a:ea typeface="黑体" panose="02010609060101010101" charset="-122"/>
              <a:cs typeface="黑体" panose="02010609060101010101" charset="-122"/>
            </a:endParaRPr>
          </a:p>
          <a:p>
            <a:pPr indent="0" fontAlgn="auto">
              <a:lnSpc>
                <a:spcPct val="150000"/>
              </a:lnSpc>
            </a:pPr>
            <a:r>
              <a:rPr lang="en-US" altLang="zh-CN" dirty="0">
                <a:latin typeface="宋体" panose="02010600030101010101" pitchFamily="2" charset="-122"/>
                <a:ea typeface="宋体" panose="02010600030101010101" pitchFamily="2" charset="-122"/>
                <a:cs typeface="宋体" panose="02010600030101010101" pitchFamily="2" charset="-122"/>
                <a:sym typeface="+mn-ea"/>
              </a:rPr>
              <a:t>    </a:t>
            </a:r>
            <a:r>
              <a:rPr lang="zh-CN" altLang="en-US" dirty="0">
                <a:latin typeface="宋体" panose="02010600030101010101" pitchFamily="2" charset="-122"/>
                <a:ea typeface="宋体" panose="02010600030101010101" pitchFamily="2" charset="-122"/>
                <a:cs typeface="宋体" panose="02010600030101010101" pitchFamily="2" charset="-122"/>
                <a:sym typeface="+mn-ea"/>
              </a:rPr>
              <a:t>微调机构主要由激光管、激光压环、</a:t>
            </a:r>
            <a:r>
              <a:rPr lang="zh-CN" altLang="en-US" dirty="0">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球体支架</a:t>
            </a:r>
            <a:r>
              <a:rPr lang="zh-CN" altLang="en-US" dirty="0">
                <a:latin typeface="宋体" panose="02010600030101010101" pitchFamily="2" charset="-122"/>
                <a:ea typeface="宋体" panose="02010600030101010101" pitchFamily="2" charset="-122"/>
                <a:cs typeface="宋体" panose="02010600030101010101" pitchFamily="2" charset="-122"/>
                <a:sym typeface="+mn-ea"/>
              </a:rPr>
              <a:t>和固定座组成；激光管套上球体支架中，激光压环将两者通过卡扣方式与底座固定，治具调节球体支架，从而调节激光管角度，即可实现激光管微调；结构紧凑，成本低。</a:t>
            </a:r>
            <a:endParaRPr lang="zh-CN" altLang="en-US" b="0">
              <a:latin typeface="宋体" panose="02010600030101010101" pitchFamily="2" charset="-122"/>
              <a:ea typeface="宋体" panose="02010600030101010101" pitchFamily="2" charset="-122"/>
              <a:cs typeface="宋体" panose="02010600030101010101" pitchFamily="2" charset="-122"/>
            </a:endParaRPr>
          </a:p>
        </p:txBody>
      </p:sp>
      <p:sp>
        <p:nvSpPr>
          <p:cNvPr id="3" name="文本框 2"/>
          <p:cNvSpPr txBox="1"/>
          <p:nvPr/>
        </p:nvSpPr>
        <p:spPr>
          <a:xfrm>
            <a:off x="697230" y="5663565"/>
            <a:ext cx="11055350" cy="368300"/>
          </a:xfrm>
          <a:prstGeom prst="rect">
            <a:avLst/>
          </a:prstGeom>
          <a:noFill/>
          <a:ln w="9525">
            <a:noFill/>
          </a:ln>
        </p:spPr>
        <p:txBody>
          <a:bodyPr wrap="square">
            <a:spAutoFit/>
          </a:bodyPr>
          <a:p>
            <a:pPr indent="304800"/>
            <a:r>
              <a:rPr lang="zh-CN" b="0">
                <a:latin typeface="宋体" panose="02010600030101010101" pitchFamily="2" charset="-122"/>
                <a:ea typeface="宋体" panose="02010600030101010101" pitchFamily="2" charset="-122"/>
                <a:cs typeface="宋体" panose="02010600030101010101" pitchFamily="2" charset="-122"/>
              </a:rPr>
              <a:t>注意事项：针对激光指示出现激光分叉的问题，将窗口玻璃的安装角度倾斜5°~6°可改善此问题。</a:t>
            </a:r>
            <a:endParaRPr lang="zh-CN" altLang="en-US" b="0">
              <a:latin typeface="宋体" panose="02010600030101010101" pitchFamily="2" charset="-122"/>
              <a:ea typeface="宋体" panose="02010600030101010101" pitchFamily="2" charset="-122"/>
              <a:cs typeface="宋体" panose="02010600030101010101" pitchFamily="2" charset="-122"/>
            </a:endParaRPr>
          </a:p>
        </p:txBody>
      </p:sp>
      <p:grpSp>
        <p:nvGrpSpPr>
          <p:cNvPr id="2" name="组合 1"/>
          <p:cNvGrpSpPr/>
          <p:nvPr/>
        </p:nvGrpSpPr>
        <p:grpSpPr>
          <a:xfrm>
            <a:off x="237490" y="2526665"/>
            <a:ext cx="5142230" cy="2721610"/>
            <a:chOff x="1469" y="4366"/>
            <a:chExt cx="8098" cy="4286"/>
          </a:xfrm>
        </p:grpSpPr>
        <p:pic>
          <p:nvPicPr>
            <p:cNvPr id="8" name="图片 7"/>
            <p:cNvPicPr>
              <a:picLocks noChangeAspect="1"/>
            </p:cNvPicPr>
            <p:nvPr>
              <p:custDataLst>
                <p:tags r:id="rId1"/>
              </p:custDataLst>
            </p:nvPr>
          </p:nvPicPr>
          <p:blipFill>
            <a:blip r:embed="rId2"/>
            <a:stretch>
              <a:fillRect/>
            </a:stretch>
          </p:blipFill>
          <p:spPr>
            <a:xfrm>
              <a:off x="2090" y="4366"/>
              <a:ext cx="7056" cy="4286"/>
            </a:xfrm>
            <a:prstGeom prst="rect">
              <a:avLst/>
            </a:prstGeom>
          </p:spPr>
        </p:pic>
        <p:sp>
          <p:nvSpPr>
            <p:cNvPr id="12" name="文本框 11"/>
            <p:cNvSpPr txBox="1"/>
            <p:nvPr/>
          </p:nvSpPr>
          <p:spPr>
            <a:xfrm>
              <a:off x="1469" y="7209"/>
              <a:ext cx="1778" cy="580"/>
            </a:xfrm>
            <a:prstGeom prst="rect">
              <a:avLst/>
            </a:prstGeom>
            <a:noFill/>
          </p:spPr>
          <p:txBody>
            <a:bodyPr wrap="square" rtlCol="0">
              <a:spAutoFit/>
            </a:bodyPr>
            <a:p>
              <a:r>
                <a:rPr lang="zh-CN" altLang="en-US"/>
                <a:t>激光压环</a:t>
              </a:r>
              <a:endParaRPr lang="zh-CN" altLang="en-US"/>
            </a:p>
          </p:txBody>
        </p:sp>
        <p:sp>
          <p:nvSpPr>
            <p:cNvPr id="13" name="文本框 12"/>
            <p:cNvSpPr txBox="1"/>
            <p:nvPr>
              <p:custDataLst>
                <p:tags r:id="rId3"/>
              </p:custDataLst>
            </p:nvPr>
          </p:nvSpPr>
          <p:spPr>
            <a:xfrm>
              <a:off x="3143" y="7389"/>
              <a:ext cx="1778" cy="580"/>
            </a:xfrm>
            <a:prstGeom prst="rect">
              <a:avLst/>
            </a:prstGeom>
            <a:noFill/>
          </p:spPr>
          <p:txBody>
            <a:bodyPr wrap="square" rtlCol="0">
              <a:spAutoFit/>
            </a:bodyPr>
            <a:p>
              <a:r>
                <a:rPr lang="zh-CN" altLang="en-US"/>
                <a:t>球体支架</a:t>
              </a:r>
              <a:endParaRPr lang="zh-CN" altLang="en-US"/>
            </a:p>
          </p:txBody>
        </p:sp>
        <p:sp>
          <p:nvSpPr>
            <p:cNvPr id="14" name="文本框 13"/>
            <p:cNvSpPr txBox="1"/>
            <p:nvPr>
              <p:custDataLst>
                <p:tags r:id="rId4"/>
              </p:custDataLst>
            </p:nvPr>
          </p:nvSpPr>
          <p:spPr>
            <a:xfrm>
              <a:off x="4729" y="7579"/>
              <a:ext cx="1778" cy="580"/>
            </a:xfrm>
            <a:prstGeom prst="rect">
              <a:avLst/>
            </a:prstGeom>
            <a:noFill/>
          </p:spPr>
          <p:txBody>
            <a:bodyPr wrap="square" rtlCol="0">
              <a:spAutoFit/>
            </a:bodyPr>
            <a:p>
              <a:r>
                <a:rPr lang="zh-CN" altLang="en-US"/>
                <a:t>激光管</a:t>
              </a:r>
              <a:endParaRPr lang="zh-CN" altLang="en-US"/>
            </a:p>
          </p:txBody>
        </p:sp>
        <p:sp>
          <p:nvSpPr>
            <p:cNvPr id="15" name="文本框 14"/>
            <p:cNvSpPr txBox="1"/>
            <p:nvPr>
              <p:custDataLst>
                <p:tags r:id="rId5"/>
              </p:custDataLst>
            </p:nvPr>
          </p:nvSpPr>
          <p:spPr>
            <a:xfrm>
              <a:off x="6882" y="8072"/>
              <a:ext cx="2685" cy="580"/>
            </a:xfrm>
            <a:prstGeom prst="rect">
              <a:avLst/>
            </a:prstGeom>
            <a:noFill/>
          </p:spPr>
          <p:txBody>
            <a:bodyPr wrap="square" rtlCol="0">
              <a:spAutoFit/>
            </a:bodyPr>
            <a:p>
              <a:r>
                <a:rPr lang="zh-CN" altLang="en-US"/>
                <a:t>底座</a:t>
              </a:r>
              <a:endParaRPr lang="zh-CN" altLang="en-US"/>
            </a:p>
          </p:txBody>
        </p:sp>
      </p:grpSp>
      <p:grpSp>
        <p:nvGrpSpPr>
          <p:cNvPr id="5" name="组合 4"/>
          <p:cNvGrpSpPr/>
          <p:nvPr/>
        </p:nvGrpSpPr>
        <p:grpSpPr>
          <a:xfrm>
            <a:off x="5262880" y="2660650"/>
            <a:ext cx="3072130" cy="2623820"/>
            <a:chOff x="9356" y="4519"/>
            <a:chExt cx="4838" cy="4132"/>
          </a:xfrm>
        </p:grpSpPr>
        <p:pic>
          <p:nvPicPr>
            <p:cNvPr id="16" name="图片 15"/>
            <p:cNvPicPr>
              <a:picLocks noChangeAspect="1"/>
            </p:cNvPicPr>
            <p:nvPr>
              <p:custDataLst>
                <p:tags r:id="rId6"/>
              </p:custDataLst>
            </p:nvPr>
          </p:nvPicPr>
          <p:blipFill>
            <a:blip r:embed="rId7"/>
            <a:stretch>
              <a:fillRect/>
            </a:stretch>
          </p:blipFill>
          <p:spPr>
            <a:xfrm>
              <a:off x="9670" y="4519"/>
              <a:ext cx="4524" cy="4133"/>
            </a:xfrm>
            <a:prstGeom prst="rect">
              <a:avLst/>
            </a:prstGeom>
          </p:spPr>
        </p:pic>
        <p:sp>
          <p:nvSpPr>
            <p:cNvPr id="17" name="文本框 16"/>
            <p:cNvSpPr txBox="1"/>
            <p:nvPr>
              <p:custDataLst>
                <p:tags r:id="rId8"/>
              </p:custDataLst>
            </p:nvPr>
          </p:nvSpPr>
          <p:spPr>
            <a:xfrm>
              <a:off x="9356" y="6219"/>
              <a:ext cx="1874" cy="580"/>
            </a:xfrm>
            <a:prstGeom prst="rect">
              <a:avLst/>
            </a:prstGeom>
            <a:noFill/>
          </p:spPr>
          <p:txBody>
            <a:bodyPr wrap="square" rtlCol="0">
              <a:spAutoFit/>
            </a:bodyPr>
            <a:p>
              <a:r>
                <a:rPr lang="zh-CN" altLang="en-US"/>
                <a:t>球体支架</a:t>
              </a:r>
              <a:endParaRPr lang="zh-CN" altLang="en-US"/>
            </a:p>
          </p:txBody>
        </p:sp>
      </p:grpSp>
      <p:pic>
        <p:nvPicPr>
          <p:cNvPr id="19" name="图片 18"/>
          <p:cNvPicPr>
            <a:picLocks noChangeAspect="1"/>
          </p:cNvPicPr>
          <p:nvPr>
            <p:custDataLst>
              <p:tags r:id="rId9"/>
            </p:custDataLst>
          </p:nvPr>
        </p:nvPicPr>
        <p:blipFill>
          <a:blip r:embed="rId10"/>
          <a:stretch>
            <a:fillRect/>
          </a:stretch>
        </p:blipFill>
        <p:spPr>
          <a:xfrm>
            <a:off x="8542655" y="2858770"/>
            <a:ext cx="2884170" cy="1814195"/>
          </a:xfrm>
          <a:prstGeom prst="rect">
            <a:avLst/>
          </a:prstGeom>
        </p:spPr>
      </p:pic>
      <p:sp>
        <p:nvSpPr>
          <p:cNvPr id="4" name="文本框 3"/>
          <p:cNvSpPr txBox="1"/>
          <p:nvPr/>
        </p:nvSpPr>
        <p:spPr>
          <a:xfrm>
            <a:off x="10918825" y="4067175"/>
            <a:ext cx="1203960" cy="368300"/>
          </a:xfrm>
          <a:prstGeom prst="rect">
            <a:avLst/>
          </a:prstGeom>
          <a:noFill/>
        </p:spPr>
        <p:txBody>
          <a:bodyPr wrap="square" rtlCol="0" anchor="t">
            <a:spAutoFit/>
          </a:bodyPr>
          <a:p>
            <a:r>
              <a:rPr lang="zh-CN">
                <a:latin typeface="宋体" panose="02010600030101010101" pitchFamily="2" charset="-122"/>
                <a:ea typeface="宋体" panose="02010600030101010101" pitchFamily="2" charset="-122"/>
                <a:cs typeface="宋体" panose="02010600030101010101" pitchFamily="2" charset="-122"/>
                <a:sym typeface="+mn-ea"/>
              </a:rPr>
              <a:t>窗口玻璃</a:t>
            </a:r>
            <a:endParaRPr lang="zh-CN" altLang="en-US">
              <a:latin typeface="宋体" panose="02010600030101010101" pitchFamily="2" charset="-122"/>
              <a:ea typeface="宋体" panose="02010600030101010101" pitchFamily="2" charset="-122"/>
              <a:cs typeface="宋体" panose="02010600030101010101" pitchFamily="2" charset="-122"/>
              <a:sym typeface="+mn-ea"/>
            </a:endParaRPr>
          </a:p>
        </p:txBody>
      </p:sp>
      <p:pic>
        <p:nvPicPr>
          <p:cNvPr id="104" name="图片 103"/>
          <p:cNvPicPr/>
          <p:nvPr>
            <p:custDataLst>
              <p:tags r:id="rId11"/>
            </p:custDataLst>
          </p:nvPr>
        </p:nvPicPr>
        <p:blipFill>
          <a:blip r:embed="rId12"/>
          <a:stretch>
            <a:fillRect/>
          </a:stretch>
        </p:blipFill>
        <p:spPr>
          <a:xfrm>
            <a:off x="11348720" y="0"/>
            <a:ext cx="848360" cy="1018540"/>
          </a:xfrm>
          <a:prstGeom prst="rect">
            <a:avLst/>
          </a:prstGeom>
          <a:noFill/>
          <a:ln w="9525">
            <a:noFill/>
          </a:ln>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标题 1"/>
          <p:cNvSpPr>
            <a:spLocks noGrp="1"/>
          </p:cNvSpPr>
          <p:nvPr>
            <p:ph type="title"/>
          </p:nvPr>
        </p:nvSpPr>
        <p:spPr>
          <a:xfrm>
            <a:off x="426183" y="219"/>
            <a:ext cx="10364427" cy="563322"/>
          </a:xfrm>
        </p:spPr>
        <p:txBody>
          <a:bodyPr/>
          <a:lstStyle/>
          <a:p>
            <a:r>
              <a:rPr lang="zh-CN" altLang="en-US" b="1" dirty="0" smtClean="0">
                <a:solidFill>
                  <a:schemeClr val="bg1"/>
                </a:solidFill>
                <a:latin typeface="+mn-ea"/>
                <a:sym typeface="+mn-ea"/>
              </a:rPr>
              <a:t>三、激光结构设计</a:t>
            </a:r>
            <a:endParaRPr lang="zh-CN" b="1" dirty="0" smtClean="0">
              <a:solidFill>
                <a:schemeClr val="bg1"/>
              </a:solidFill>
              <a:latin typeface="+mn-ea"/>
            </a:endParaRPr>
          </a:p>
        </p:txBody>
      </p:sp>
      <p:sp>
        <p:nvSpPr>
          <p:cNvPr id="3" name="文本框 2"/>
          <p:cNvSpPr txBox="1"/>
          <p:nvPr/>
        </p:nvSpPr>
        <p:spPr>
          <a:xfrm>
            <a:off x="505460" y="5521325"/>
            <a:ext cx="11311890" cy="739140"/>
          </a:xfrm>
          <a:prstGeom prst="rect">
            <a:avLst/>
          </a:prstGeom>
          <a:noFill/>
          <a:ln w="9525">
            <a:noFill/>
          </a:ln>
        </p:spPr>
        <p:txBody>
          <a:bodyPr wrap="square">
            <a:noAutofit/>
          </a:bodyPr>
          <a:p>
            <a:pPr indent="304800"/>
            <a:r>
              <a:rPr lang="zh-CN">
                <a:ea typeface="宋体" panose="02010600030101010101" pitchFamily="2" charset="-122"/>
                <a:sym typeface="+mn-ea"/>
              </a:rPr>
              <a:t>注意事项：此底座及球体支架为金属材质，在进行激光器组件的结构设计时需注意激光管外壳是否导电，外壳导电易造成短路现象，建议在进行激光器组件结构设计时多与硬件沟通。</a:t>
            </a:r>
            <a:endParaRPr lang="zh-CN" altLang="en-US" b="0">
              <a:ea typeface="宋体" panose="02010600030101010101" pitchFamily="2" charset="-122"/>
            </a:endParaRPr>
          </a:p>
        </p:txBody>
      </p:sp>
      <p:pic>
        <p:nvPicPr>
          <p:cNvPr id="9" name="图片 8"/>
          <p:cNvPicPr/>
          <p:nvPr>
            <p:custDataLst>
              <p:tags r:id="rId1"/>
            </p:custDataLst>
          </p:nvPr>
        </p:nvPicPr>
        <p:blipFill>
          <a:blip r:embed="rId2"/>
          <a:stretch>
            <a:fillRect/>
          </a:stretch>
        </p:blipFill>
        <p:spPr>
          <a:xfrm>
            <a:off x="6852920" y="2510790"/>
            <a:ext cx="3213735" cy="2696845"/>
          </a:xfrm>
          <a:prstGeom prst="rect">
            <a:avLst/>
          </a:prstGeom>
        </p:spPr>
      </p:pic>
      <p:sp>
        <p:nvSpPr>
          <p:cNvPr id="4" name="文本框 3"/>
          <p:cNvSpPr txBox="1"/>
          <p:nvPr/>
        </p:nvSpPr>
        <p:spPr>
          <a:xfrm>
            <a:off x="768350" y="621030"/>
            <a:ext cx="10777855" cy="1753235"/>
          </a:xfrm>
          <a:prstGeom prst="rect">
            <a:avLst/>
          </a:prstGeom>
          <a:noFill/>
        </p:spPr>
        <p:txBody>
          <a:bodyPr wrap="square" rtlCol="0" anchor="t">
            <a:spAutoFit/>
          </a:bodyPr>
          <a:p>
            <a:pPr indent="0" fontAlgn="auto">
              <a:lnSpc>
                <a:spcPct val="150000"/>
              </a:lnSpc>
            </a:pPr>
            <a:r>
              <a:rPr lang="zh-CN" altLang="en-US">
                <a:latin typeface="黑体" panose="02010609060101010101" charset="-122"/>
                <a:ea typeface="黑体" panose="02010609060101010101" charset="-122"/>
                <a:cs typeface="黑体" panose="02010609060101010101" charset="-122"/>
                <a:sym typeface="+mn-ea"/>
              </a:rPr>
              <a:t>激光管结构设计</a:t>
            </a:r>
            <a:endParaRPr lang="zh-CN" altLang="en-US">
              <a:latin typeface="黑体" panose="02010609060101010101" charset="-122"/>
              <a:ea typeface="黑体" panose="02010609060101010101" charset="-122"/>
              <a:cs typeface="黑体" panose="02010609060101010101" charset="-122"/>
            </a:endParaRPr>
          </a:p>
          <a:p>
            <a:pPr indent="0" fontAlgn="auto">
              <a:lnSpc>
                <a:spcPct val="150000"/>
              </a:lnSpc>
            </a:pPr>
            <a:r>
              <a:rPr lang="en-US" altLang="zh-CN">
                <a:latin typeface="黑体" panose="02010609060101010101" charset="-122"/>
                <a:ea typeface="黑体" panose="02010609060101010101" charset="-122"/>
                <a:cs typeface="黑体" panose="02010609060101010101" charset="-122"/>
                <a:sym typeface="+mn-ea"/>
              </a:rPr>
              <a:t>2.</a:t>
            </a:r>
            <a:r>
              <a:rPr lang="zh-CN" altLang="en-US">
                <a:latin typeface="黑体" panose="02010609060101010101" charset="-122"/>
                <a:ea typeface="黑体" panose="02010609060101010101" charset="-122"/>
                <a:cs typeface="黑体" panose="02010609060101010101" charset="-122"/>
                <a:sym typeface="+mn-ea"/>
              </a:rPr>
              <a:t>半球体调节式</a:t>
            </a:r>
            <a:endParaRPr lang="zh-CN" altLang="en-US">
              <a:latin typeface="黑体" panose="02010609060101010101" charset="-122"/>
              <a:ea typeface="黑体" panose="02010609060101010101" charset="-122"/>
              <a:cs typeface="黑体" panose="02010609060101010101" charset="-122"/>
              <a:sym typeface="+mn-ea"/>
            </a:endParaRPr>
          </a:p>
          <a:p>
            <a:pPr indent="304800" fontAlgn="auto">
              <a:lnSpc>
                <a:spcPct val="150000"/>
              </a:lnSpc>
            </a:pPr>
            <a:r>
              <a:rPr lang="zh-CN" altLang="en-US" dirty="0">
                <a:latin typeface="宋体" panose="02010600030101010101" pitchFamily="2" charset="-122"/>
                <a:ea typeface="宋体" panose="02010600030101010101" pitchFamily="2" charset="-122"/>
                <a:cs typeface="宋体" panose="02010600030101010101" pitchFamily="2" charset="-122"/>
                <a:sym typeface="+mn-ea"/>
              </a:rPr>
              <a:t>微调机构主要由激光管、激光压圈、</a:t>
            </a:r>
            <a:r>
              <a:rPr lang="zh-CN" altLang="en-US" dirty="0">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球体支架</a:t>
            </a:r>
            <a:r>
              <a:rPr lang="zh-CN" altLang="en-US" dirty="0">
                <a:latin typeface="宋体" panose="02010600030101010101" pitchFamily="2" charset="-122"/>
                <a:ea typeface="宋体" panose="02010600030101010101" pitchFamily="2" charset="-122"/>
                <a:cs typeface="宋体" panose="02010600030101010101" pitchFamily="2" charset="-122"/>
                <a:sym typeface="+mn-ea"/>
              </a:rPr>
              <a:t>和底座组成；激光管套上激光固定块后放入底座，旋入激光压圈，治具调节球体支架，调节激光管角度，即可实现激光管微调。</a:t>
            </a:r>
            <a:endParaRPr lang="zh-CN" altLang="en-US">
              <a:latin typeface="宋体" panose="02010600030101010101" pitchFamily="2" charset="-122"/>
              <a:ea typeface="宋体" panose="02010600030101010101" pitchFamily="2" charset="-122"/>
              <a:cs typeface="宋体" panose="02010600030101010101" pitchFamily="2" charset="-122"/>
              <a:sym typeface="+mn-ea"/>
            </a:endParaRPr>
          </a:p>
        </p:txBody>
      </p:sp>
      <p:grpSp>
        <p:nvGrpSpPr>
          <p:cNvPr id="14" name="组合 13"/>
          <p:cNvGrpSpPr/>
          <p:nvPr/>
        </p:nvGrpSpPr>
        <p:grpSpPr>
          <a:xfrm>
            <a:off x="1383665" y="2472690"/>
            <a:ext cx="4712335" cy="2901315"/>
            <a:chOff x="2322" y="3912"/>
            <a:chExt cx="7101" cy="4486"/>
          </a:xfrm>
        </p:grpSpPr>
        <p:pic>
          <p:nvPicPr>
            <p:cNvPr id="5" name="图片 4"/>
            <p:cNvPicPr>
              <a:picLocks noChangeAspect="1"/>
            </p:cNvPicPr>
            <p:nvPr>
              <p:custDataLst>
                <p:tags r:id="rId3"/>
              </p:custDataLst>
            </p:nvPr>
          </p:nvPicPr>
          <p:blipFill>
            <a:blip r:embed="rId4"/>
            <a:stretch>
              <a:fillRect/>
            </a:stretch>
          </p:blipFill>
          <p:spPr>
            <a:xfrm>
              <a:off x="2322" y="3912"/>
              <a:ext cx="5927" cy="4486"/>
            </a:xfrm>
            <a:prstGeom prst="rect">
              <a:avLst/>
            </a:prstGeom>
          </p:spPr>
        </p:pic>
        <p:sp>
          <p:nvSpPr>
            <p:cNvPr id="6" name="文本框 5"/>
            <p:cNvSpPr txBox="1"/>
            <p:nvPr>
              <p:custDataLst>
                <p:tags r:id="rId5"/>
              </p:custDataLst>
            </p:nvPr>
          </p:nvSpPr>
          <p:spPr>
            <a:xfrm>
              <a:off x="7591" y="5172"/>
              <a:ext cx="1832" cy="569"/>
            </a:xfrm>
            <a:prstGeom prst="rect">
              <a:avLst/>
            </a:prstGeom>
            <a:noFill/>
          </p:spPr>
          <p:txBody>
            <a:bodyPr wrap="square" rtlCol="0">
              <a:spAutoFit/>
            </a:bodyPr>
            <a:p>
              <a:r>
                <a:rPr lang="zh-CN" altLang="en-US"/>
                <a:t>激光压圈</a:t>
              </a:r>
              <a:endParaRPr lang="zh-CN" altLang="en-US"/>
            </a:p>
          </p:txBody>
        </p:sp>
        <p:sp>
          <p:nvSpPr>
            <p:cNvPr id="7" name="文本框 6"/>
            <p:cNvSpPr txBox="1"/>
            <p:nvPr>
              <p:custDataLst>
                <p:tags r:id="rId6"/>
              </p:custDataLst>
            </p:nvPr>
          </p:nvSpPr>
          <p:spPr>
            <a:xfrm>
              <a:off x="6965" y="6046"/>
              <a:ext cx="2123" cy="569"/>
            </a:xfrm>
            <a:prstGeom prst="rect">
              <a:avLst/>
            </a:prstGeom>
            <a:noFill/>
          </p:spPr>
          <p:txBody>
            <a:bodyPr wrap="square" rtlCol="0">
              <a:spAutoFit/>
            </a:bodyPr>
            <a:p>
              <a:r>
                <a:rPr lang="zh-CN" altLang="en-US"/>
                <a:t>球体支架</a:t>
              </a:r>
              <a:endParaRPr lang="zh-CN" altLang="en-US"/>
            </a:p>
          </p:txBody>
        </p:sp>
        <p:sp>
          <p:nvSpPr>
            <p:cNvPr id="8" name="文本框 7"/>
            <p:cNvSpPr txBox="1"/>
            <p:nvPr>
              <p:custDataLst>
                <p:tags r:id="rId7"/>
              </p:custDataLst>
            </p:nvPr>
          </p:nvSpPr>
          <p:spPr>
            <a:xfrm>
              <a:off x="6394" y="6920"/>
              <a:ext cx="2123" cy="569"/>
            </a:xfrm>
            <a:prstGeom prst="rect">
              <a:avLst/>
            </a:prstGeom>
            <a:noFill/>
          </p:spPr>
          <p:txBody>
            <a:bodyPr wrap="square" rtlCol="0">
              <a:spAutoFit/>
            </a:bodyPr>
            <a:p>
              <a:r>
                <a:rPr lang="zh-CN" altLang="en-US"/>
                <a:t>激光管</a:t>
              </a:r>
              <a:endParaRPr lang="zh-CN" altLang="en-US"/>
            </a:p>
          </p:txBody>
        </p:sp>
        <p:sp>
          <p:nvSpPr>
            <p:cNvPr id="11" name="文本框 10"/>
            <p:cNvSpPr txBox="1"/>
            <p:nvPr>
              <p:custDataLst>
                <p:tags r:id="rId8"/>
              </p:custDataLst>
            </p:nvPr>
          </p:nvSpPr>
          <p:spPr>
            <a:xfrm>
              <a:off x="5714" y="7807"/>
              <a:ext cx="2123" cy="569"/>
            </a:xfrm>
            <a:prstGeom prst="rect">
              <a:avLst/>
            </a:prstGeom>
            <a:noFill/>
          </p:spPr>
          <p:txBody>
            <a:bodyPr wrap="square" rtlCol="0">
              <a:spAutoFit/>
            </a:bodyPr>
            <a:p>
              <a:r>
                <a:rPr lang="zh-CN" altLang="en-US"/>
                <a:t>底座</a:t>
              </a:r>
              <a:endParaRPr lang="zh-CN" altLang="en-US"/>
            </a:p>
          </p:txBody>
        </p:sp>
      </p:grpSp>
      <p:sp>
        <p:nvSpPr>
          <p:cNvPr id="15" name="文本框 14"/>
          <p:cNvSpPr txBox="1"/>
          <p:nvPr>
            <p:custDataLst>
              <p:tags r:id="rId9"/>
            </p:custDataLst>
          </p:nvPr>
        </p:nvSpPr>
        <p:spPr>
          <a:xfrm>
            <a:off x="8501528" y="4541192"/>
            <a:ext cx="1408856" cy="368000"/>
          </a:xfrm>
          <a:prstGeom prst="rect">
            <a:avLst/>
          </a:prstGeom>
          <a:noFill/>
        </p:spPr>
        <p:txBody>
          <a:bodyPr wrap="square" rtlCol="0">
            <a:spAutoFit/>
          </a:bodyPr>
          <a:p>
            <a:r>
              <a:rPr lang="zh-CN" altLang="en-US"/>
              <a:t>球体支架</a:t>
            </a:r>
            <a:endParaRPr lang="zh-CN" altLang="en-US"/>
          </a:p>
        </p:txBody>
      </p:sp>
      <p:pic>
        <p:nvPicPr>
          <p:cNvPr id="16" name="图片 15"/>
          <p:cNvPicPr>
            <a:picLocks noChangeAspect="1"/>
          </p:cNvPicPr>
          <p:nvPr>
            <p:custDataLst>
              <p:tags r:id="rId10"/>
            </p:custDataLst>
          </p:nvPr>
        </p:nvPicPr>
        <p:blipFill>
          <a:blip r:embed="rId11"/>
          <a:stretch>
            <a:fillRect/>
          </a:stretch>
        </p:blipFill>
        <p:spPr>
          <a:xfrm>
            <a:off x="11468735" y="0"/>
            <a:ext cx="723265" cy="1365250"/>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标题 1"/>
          <p:cNvSpPr>
            <a:spLocks noGrp="1"/>
          </p:cNvSpPr>
          <p:nvPr>
            <p:ph type="title"/>
          </p:nvPr>
        </p:nvSpPr>
        <p:spPr>
          <a:xfrm>
            <a:off x="426183" y="219"/>
            <a:ext cx="10364427" cy="563322"/>
          </a:xfrm>
        </p:spPr>
        <p:txBody>
          <a:bodyPr/>
          <a:lstStyle/>
          <a:p>
            <a:r>
              <a:rPr lang="zh-CN" altLang="en-US" b="1" dirty="0" smtClean="0">
                <a:solidFill>
                  <a:schemeClr val="bg1"/>
                </a:solidFill>
                <a:latin typeface="+mn-ea"/>
                <a:sym typeface="+mn-ea"/>
              </a:rPr>
              <a:t>三、激光结构设计</a:t>
            </a:r>
            <a:endParaRPr lang="zh-CN" b="1" dirty="0" smtClean="0">
              <a:solidFill>
                <a:schemeClr val="bg1"/>
              </a:solidFill>
              <a:latin typeface="+mn-ea"/>
            </a:endParaRPr>
          </a:p>
        </p:txBody>
      </p:sp>
      <p:pic>
        <p:nvPicPr>
          <p:cNvPr id="15" name="图片 15" descr="组件1(1)"/>
          <p:cNvPicPr>
            <a:picLocks noChangeAspect="1"/>
          </p:cNvPicPr>
          <p:nvPr>
            <p:custDataLst>
              <p:tags r:id="rId1"/>
            </p:custDataLst>
          </p:nvPr>
        </p:nvPicPr>
        <p:blipFill>
          <a:blip r:embed="rId2"/>
          <a:stretch>
            <a:fillRect/>
          </a:stretch>
        </p:blipFill>
        <p:spPr>
          <a:xfrm>
            <a:off x="2196465" y="2757488"/>
            <a:ext cx="1771650" cy="1881505"/>
          </a:xfrm>
          <a:prstGeom prst="rect">
            <a:avLst/>
          </a:prstGeom>
        </p:spPr>
      </p:pic>
      <p:pic>
        <p:nvPicPr>
          <p:cNvPr id="16" name="图片 16" descr="螺钉孔1(1)"/>
          <p:cNvPicPr>
            <a:picLocks noChangeAspect="1"/>
          </p:cNvPicPr>
          <p:nvPr>
            <p:custDataLst>
              <p:tags r:id="rId3"/>
            </p:custDataLst>
          </p:nvPr>
        </p:nvPicPr>
        <p:blipFill>
          <a:blip r:embed="rId4"/>
          <a:stretch>
            <a:fillRect/>
          </a:stretch>
        </p:blipFill>
        <p:spPr>
          <a:xfrm>
            <a:off x="4649788" y="2849880"/>
            <a:ext cx="1917065" cy="1697990"/>
          </a:xfrm>
          <a:prstGeom prst="rect">
            <a:avLst/>
          </a:prstGeom>
        </p:spPr>
      </p:pic>
      <p:pic>
        <p:nvPicPr>
          <p:cNvPr id="13" name="图片 13" descr="固定底座2(1)"/>
          <p:cNvPicPr>
            <a:picLocks noChangeAspect="1"/>
          </p:cNvPicPr>
          <p:nvPr>
            <p:custDataLst>
              <p:tags r:id="rId5"/>
            </p:custDataLst>
          </p:nvPr>
        </p:nvPicPr>
        <p:blipFill>
          <a:blip r:embed="rId6"/>
          <a:stretch>
            <a:fillRect/>
          </a:stretch>
        </p:blipFill>
        <p:spPr>
          <a:xfrm>
            <a:off x="2174875" y="4959350"/>
            <a:ext cx="1793240" cy="1468120"/>
          </a:xfrm>
          <a:prstGeom prst="rect">
            <a:avLst/>
          </a:prstGeom>
        </p:spPr>
      </p:pic>
      <p:pic>
        <p:nvPicPr>
          <p:cNvPr id="11" name="图片 11" descr="固定底座1(1)"/>
          <p:cNvPicPr>
            <a:picLocks noChangeAspect="1"/>
          </p:cNvPicPr>
          <p:nvPr>
            <p:custDataLst>
              <p:tags r:id="rId7"/>
            </p:custDataLst>
          </p:nvPr>
        </p:nvPicPr>
        <p:blipFill>
          <a:blip r:embed="rId8"/>
          <a:stretch>
            <a:fillRect/>
          </a:stretch>
        </p:blipFill>
        <p:spPr>
          <a:xfrm>
            <a:off x="4831715" y="4959985"/>
            <a:ext cx="1649095" cy="1649095"/>
          </a:xfrm>
          <a:prstGeom prst="rect">
            <a:avLst/>
          </a:prstGeom>
        </p:spPr>
      </p:pic>
      <p:sp>
        <p:nvSpPr>
          <p:cNvPr id="4" name="文本框 3"/>
          <p:cNvSpPr txBox="1"/>
          <p:nvPr>
            <p:custDataLst>
              <p:tags r:id="rId9"/>
            </p:custDataLst>
          </p:nvPr>
        </p:nvSpPr>
        <p:spPr>
          <a:xfrm>
            <a:off x="802640" y="563245"/>
            <a:ext cx="11179175" cy="2168525"/>
          </a:xfrm>
          <a:prstGeom prst="rect">
            <a:avLst/>
          </a:prstGeom>
          <a:noFill/>
        </p:spPr>
        <p:txBody>
          <a:bodyPr wrap="square" rtlCol="0" anchor="t">
            <a:spAutoFit/>
          </a:bodyPr>
          <a:p>
            <a:pPr indent="0" fontAlgn="auto">
              <a:lnSpc>
                <a:spcPct val="150000"/>
              </a:lnSpc>
            </a:pPr>
            <a:r>
              <a:rPr lang="zh-CN" altLang="en-US">
                <a:latin typeface="黑体" panose="02010609060101010101" charset="-122"/>
                <a:ea typeface="黑体" panose="02010609060101010101" charset="-122"/>
                <a:cs typeface="黑体" panose="02010609060101010101" charset="-122"/>
                <a:sym typeface="+mn-ea"/>
              </a:rPr>
              <a:t>激光测距模块微调机构设计</a:t>
            </a:r>
            <a:endParaRPr lang="zh-CN" altLang="en-US">
              <a:latin typeface="黑体" panose="02010609060101010101" charset="-122"/>
              <a:ea typeface="黑体" panose="02010609060101010101" charset="-122"/>
              <a:cs typeface="黑体" panose="02010609060101010101" charset="-122"/>
            </a:endParaRPr>
          </a:p>
          <a:p>
            <a:pPr indent="0" fontAlgn="auto">
              <a:lnSpc>
                <a:spcPct val="150000"/>
              </a:lnSpc>
            </a:pPr>
            <a:r>
              <a:rPr lang="zh-CN" altLang="en-US">
                <a:latin typeface="黑体" panose="02010609060101010101" charset="-122"/>
                <a:ea typeface="黑体" panose="02010609060101010101" charset="-122"/>
                <a:cs typeface="黑体" panose="02010609060101010101" charset="-122"/>
                <a:sym typeface="+mn-ea"/>
              </a:rPr>
              <a:t>1</a:t>
            </a:r>
            <a:r>
              <a:rPr lang="en-US" altLang="zh-CN">
                <a:latin typeface="黑体" panose="02010609060101010101" charset="-122"/>
                <a:ea typeface="黑体" panose="02010609060101010101" charset="-122"/>
                <a:cs typeface="黑体" panose="02010609060101010101" charset="-122"/>
                <a:sym typeface="+mn-ea"/>
              </a:rPr>
              <a:t>.</a:t>
            </a:r>
            <a:r>
              <a:rPr lang="zh-CN" altLang="en-US">
                <a:latin typeface="黑体" panose="02010609060101010101" charset="-122"/>
                <a:ea typeface="黑体" panose="02010609060101010101" charset="-122"/>
                <a:cs typeface="黑体" panose="02010609060101010101" charset="-122"/>
                <a:sym typeface="+mn-ea"/>
              </a:rPr>
              <a:t>半球底座调节式</a:t>
            </a:r>
            <a:endParaRPr lang="zh-CN" altLang="en-US">
              <a:latin typeface="黑体" panose="02010609060101010101" charset="-122"/>
              <a:ea typeface="黑体" panose="02010609060101010101" charset="-122"/>
              <a:cs typeface="黑体" panose="02010609060101010101" charset="-122"/>
              <a:sym typeface="+mn-ea"/>
            </a:endParaRPr>
          </a:p>
          <a:p>
            <a:pPr indent="304800" fontAlgn="auto">
              <a:lnSpc>
                <a:spcPct val="150000"/>
              </a:lnSpc>
            </a:pPr>
            <a:r>
              <a:rPr lang="zh-CN">
                <a:ea typeface="宋体" panose="02010600030101010101" pitchFamily="2" charset="-122"/>
                <a:sym typeface="+mn-ea"/>
              </a:rPr>
              <a:t>微调机构主要由激光测距模块、激光支架、固定底座、紧定螺钉及调节螺钉组成；将激光测距模块</a:t>
            </a:r>
            <a:r>
              <a:rPr lang="zh-CN" altLang="en-US">
                <a:ea typeface="宋体" panose="02010600030101010101" pitchFamily="2" charset="-122"/>
                <a:sym typeface="+mn-ea"/>
              </a:rPr>
              <a:t>与激光支架固定，</a:t>
            </a:r>
            <a:r>
              <a:rPr lang="zh-CN">
                <a:ea typeface="宋体" panose="02010600030101010101" pitchFamily="2" charset="-122"/>
                <a:sym typeface="+mn-ea"/>
              </a:rPr>
              <a:t>固定底座是一个半球体，通过两颗调节螺钉调节激光支架方向，从而调节激光测距模组的角度，最后点胶固定，即可完成激光测距模组的角度调节。</a:t>
            </a:r>
            <a:endParaRPr lang="zh-CN" altLang="en-US">
              <a:latin typeface="宋体" panose="02010600030101010101" pitchFamily="2" charset="-122"/>
              <a:ea typeface="宋体" panose="02010600030101010101" pitchFamily="2" charset="-122"/>
              <a:cs typeface="宋体" panose="02010600030101010101" pitchFamily="2" charset="-122"/>
              <a:sym typeface="+mn-ea"/>
            </a:endParaRPr>
          </a:p>
        </p:txBody>
      </p:sp>
      <p:pic>
        <p:nvPicPr>
          <p:cNvPr id="2" name="图片 1"/>
          <p:cNvPicPr>
            <a:picLocks noChangeAspect="1"/>
          </p:cNvPicPr>
          <p:nvPr>
            <p:custDataLst>
              <p:tags r:id="rId10"/>
            </p:custDataLst>
          </p:nvPr>
        </p:nvPicPr>
        <p:blipFill>
          <a:blip r:embed="rId11"/>
          <a:stretch>
            <a:fillRect/>
          </a:stretch>
        </p:blipFill>
        <p:spPr>
          <a:xfrm>
            <a:off x="10925810" y="0"/>
            <a:ext cx="1266190" cy="1024255"/>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标题 1"/>
          <p:cNvSpPr>
            <a:spLocks noGrp="1"/>
          </p:cNvSpPr>
          <p:nvPr>
            <p:ph type="title"/>
          </p:nvPr>
        </p:nvSpPr>
        <p:spPr>
          <a:xfrm>
            <a:off x="426183" y="219"/>
            <a:ext cx="10364427" cy="563322"/>
          </a:xfrm>
        </p:spPr>
        <p:txBody>
          <a:bodyPr/>
          <a:lstStyle/>
          <a:p>
            <a:r>
              <a:rPr lang="zh-CN" altLang="en-US" b="1" dirty="0" smtClean="0">
                <a:solidFill>
                  <a:schemeClr val="bg1"/>
                </a:solidFill>
                <a:latin typeface="+mn-ea"/>
                <a:sym typeface="+mn-ea"/>
              </a:rPr>
              <a:t>三、激光结构设计</a:t>
            </a:r>
            <a:endParaRPr lang="zh-CN" b="1" dirty="0" smtClean="0">
              <a:solidFill>
                <a:schemeClr val="bg1"/>
              </a:solidFill>
              <a:latin typeface="+mn-ea"/>
            </a:endParaRPr>
          </a:p>
        </p:txBody>
      </p:sp>
      <p:pic>
        <p:nvPicPr>
          <p:cNvPr id="24" name="图片 24" descr="1115(1)"/>
          <p:cNvPicPr>
            <a:picLocks noChangeAspect="1"/>
          </p:cNvPicPr>
          <p:nvPr>
            <p:custDataLst>
              <p:tags r:id="rId1"/>
            </p:custDataLst>
          </p:nvPr>
        </p:nvPicPr>
        <p:blipFill>
          <a:blip r:embed="rId2"/>
          <a:stretch>
            <a:fillRect/>
          </a:stretch>
        </p:blipFill>
        <p:spPr>
          <a:xfrm>
            <a:off x="4526915" y="2803525"/>
            <a:ext cx="3104515" cy="2735580"/>
          </a:xfrm>
          <a:prstGeom prst="rect">
            <a:avLst/>
          </a:prstGeom>
        </p:spPr>
      </p:pic>
      <p:sp>
        <p:nvSpPr>
          <p:cNvPr id="3" name="文本框 2"/>
          <p:cNvSpPr txBox="1"/>
          <p:nvPr>
            <p:custDataLst>
              <p:tags r:id="rId3"/>
            </p:custDataLst>
          </p:nvPr>
        </p:nvSpPr>
        <p:spPr>
          <a:xfrm>
            <a:off x="696595" y="563245"/>
            <a:ext cx="10875645" cy="1753235"/>
          </a:xfrm>
          <a:prstGeom prst="rect">
            <a:avLst/>
          </a:prstGeom>
          <a:noFill/>
        </p:spPr>
        <p:txBody>
          <a:bodyPr wrap="square" rtlCol="0" anchor="t">
            <a:spAutoFit/>
          </a:bodyPr>
          <a:p>
            <a:pPr indent="0" fontAlgn="auto">
              <a:lnSpc>
                <a:spcPct val="150000"/>
              </a:lnSpc>
            </a:pPr>
            <a:r>
              <a:rPr lang="zh-CN" altLang="en-US">
                <a:latin typeface="黑体" panose="02010609060101010101" charset="-122"/>
                <a:ea typeface="黑体" panose="02010609060101010101" charset="-122"/>
                <a:cs typeface="黑体" panose="02010609060101010101" charset="-122"/>
                <a:sym typeface="+mn-ea"/>
              </a:rPr>
              <a:t>激光测距模块微调机构设计</a:t>
            </a:r>
            <a:endParaRPr lang="zh-CN" altLang="en-US">
              <a:latin typeface="黑体" panose="02010609060101010101" charset="-122"/>
              <a:ea typeface="黑体" panose="02010609060101010101" charset="-122"/>
              <a:cs typeface="黑体" panose="02010609060101010101" charset="-122"/>
            </a:endParaRPr>
          </a:p>
          <a:p>
            <a:pPr indent="0" fontAlgn="auto">
              <a:lnSpc>
                <a:spcPct val="150000"/>
              </a:lnSpc>
            </a:pPr>
            <a:r>
              <a:rPr lang="en-US" altLang="zh-CN">
                <a:latin typeface="黑体" panose="02010609060101010101" charset="-122"/>
                <a:ea typeface="黑体" panose="02010609060101010101" charset="-122"/>
                <a:cs typeface="黑体" panose="02010609060101010101" charset="-122"/>
                <a:sym typeface="+mn-ea"/>
              </a:rPr>
              <a:t>2.</a:t>
            </a:r>
            <a:r>
              <a:rPr lang="zh-CN" altLang="en-US">
                <a:latin typeface="黑体" panose="02010609060101010101" charset="-122"/>
                <a:ea typeface="黑体" panose="02010609060101010101" charset="-122"/>
                <a:cs typeface="黑体" panose="02010609060101010101" charset="-122"/>
                <a:sym typeface="+mn-ea"/>
              </a:rPr>
              <a:t>支架调节式</a:t>
            </a:r>
            <a:endParaRPr lang="zh-CN" altLang="en-US">
              <a:latin typeface="黑体" panose="02010609060101010101" charset="-122"/>
              <a:ea typeface="黑体" panose="02010609060101010101" charset="-122"/>
              <a:cs typeface="黑体" panose="02010609060101010101" charset="-122"/>
              <a:sym typeface="+mn-ea"/>
            </a:endParaRPr>
          </a:p>
          <a:p>
            <a:pPr indent="0" fontAlgn="auto">
              <a:lnSpc>
                <a:spcPct val="150000"/>
              </a:lnSpc>
            </a:pPr>
            <a:r>
              <a:rPr lang="zh-CN" altLang="en-US">
                <a:latin typeface="黑体" panose="02010609060101010101" charset="-122"/>
                <a:ea typeface="黑体" panose="02010609060101010101" charset="-122"/>
                <a:cs typeface="黑体" panose="02010609060101010101" charset="-122"/>
                <a:sym typeface="+mn-ea"/>
              </a:rPr>
              <a:t> </a:t>
            </a:r>
            <a:r>
              <a:rPr lang="en-US" altLang="zh-CN">
                <a:latin typeface="黑体" panose="02010609060101010101" charset="-122"/>
                <a:ea typeface="黑体" panose="02010609060101010101" charset="-122"/>
                <a:cs typeface="黑体" panose="02010609060101010101" charset="-122"/>
                <a:sym typeface="+mn-ea"/>
              </a:rPr>
              <a:t>   </a:t>
            </a:r>
            <a:r>
              <a:rPr lang="zh-CN">
                <a:ea typeface="宋体" panose="02010600030101010101" pitchFamily="2" charset="-122"/>
                <a:sym typeface="+mn-ea"/>
              </a:rPr>
              <a:t>微调机构主要由激光测距模块、激光支架、调节支架、机身等组成；将激光测距模块与</a:t>
            </a:r>
            <a:r>
              <a:rPr lang="zh-CN" altLang="en-US">
                <a:ea typeface="宋体" panose="02010600030101010101" pitchFamily="2" charset="-122"/>
                <a:sym typeface="+mn-ea"/>
              </a:rPr>
              <a:t>激光支架固定，将激光支架与调节支架做竖直方式</a:t>
            </a:r>
            <a:r>
              <a:rPr lang="zh-CN">
                <a:ea typeface="宋体" panose="02010600030101010101" pitchFamily="2" charset="-122"/>
                <a:sym typeface="+mn-ea"/>
              </a:rPr>
              <a:t>微调</a:t>
            </a:r>
            <a:r>
              <a:rPr lang="zh-CN" altLang="en-US">
                <a:ea typeface="宋体" panose="02010600030101010101" pitchFamily="2" charset="-122"/>
                <a:sym typeface="+mn-ea"/>
              </a:rPr>
              <a:t>设计，调节支架与机身做平面转动微调设计</a:t>
            </a:r>
            <a:r>
              <a:rPr lang="zh-CN">
                <a:ea typeface="宋体" panose="02010600030101010101" pitchFamily="2" charset="-122"/>
                <a:sym typeface="+mn-ea"/>
              </a:rPr>
              <a:t>。</a:t>
            </a:r>
            <a:endParaRPr lang="zh-CN" altLang="en-US">
              <a:latin typeface="宋体" panose="02010600030101010101" pitchFamily="2" charset="-122"/>
              <a:ea typeface="宋体" panose="02010600030101010101" pitchFamily="2" charset="-122"/>
              <a:cs typeface="宋体" panose="02010600030101010101" pitchFamily="2" charset="-122"/>
              <a:sym typeface="+mn-ea"/>
            </a:endParaRPr>
          </a:p>
        </p:txBody>
      </p:sp>
      <p:pic>
        <p:nvPicPr>
          <p:cNvPr id="28" name="图片 28" descr="竖直方向解释(1)"/>
          <p:cNvPicPr>
            <a:picLocks noChangeAspect="1"/>
          </p:cNvPicPr>
          <p:nvPr>
            <p:custDataLst>
              <p:tags r:id="rId4"/>
            </p:custDataLst>
          </p:nvPr>
        </p:nvPicPr>
        <p:blipFill>
          <a:blip r:embed="rId5"/>
          <a:stretch>
            <a:fillRect/>
          </a:stretch>
        </p:blipFill>
        <p:spPr>
          <a:xfrm>
            <a:off x="8004175" y="3140075"/>
            <a:ext cx="1739900" cy="1858010"/>
          </a:xfrm>
          <a:prstGeom prst="rect">
            <a:avLst/>
          </a:prstGeom>
        </p:spPr>
      </p:pic>
      <p:pic>
        <p:nvPicPr>
          <p:cNvPr id="26" name="图片 26" descr="116(1)"/>
          <p:cNvPicPr>
            <a:picLocks noChangeAspect="1"/>
          </p:cNvPicPr>
          <p:nvPr>
            <p:custDataLst>
              <p:tags r:id="rId6"/>
            </p:custDataLst>
          </p:nvPr>
        </p:nvPicPr>
        <p:blipFill>
          <a:blip r:embed="rId7"/>
          <a:stretch>
            <a:fillRect/>
          </a:stretch>
        </p:blipFill>
        <p:spPr>
          <a:xfrm>
            <a:off x="9871710" y="3192780"/>
            <a:ext cx="1910080" cy="1824355"/>
          </a:xfrm>
          <a:prstGeom prst="rect">
            <a:avLst/>
          </a:prstGeom>
        </p:spPr>
      </p:pic>
      <p:grpSp>
        <p:nvGrpSpPr>
          <p:cNvPr id="11" name="组合 10"/>
          <p:cNvGrpSpPr/>
          <p:nvPr/>
        </p:nvGrpSpPr>
        <p:grpSpPr>
          <a:xfrm>
            <a:off x="176530" y="2612390"/>
            <a:ext cx="4160520" cy="3073400"/>
            <a:chOff x="421" y="4114"/>
            <a:chExt cx="6552" cy="4840"/>
          </a:xfrm>
        </p:grpSpPr>
        <p:grpSp>
          <p:nvGrpSpPr>
            <p:cNvPr id="9" name="组合 8"/>
            <p:cNvGrpSpPr/>
            <p:nvPr/>
          </p:nvGrpSpPr>
          <p:grpSpPr>
            <a:xfrm>
              <a:off x="421" y="4114"/>
              <a:ext cx="6553" cy="4840"/>
              <a:chOff x="277" y="5175"/>
              <a:chExt cx="6553" cy="4840"/>
            </a:xfrm>
          </p:grpSpPr>
          <p:pic>
            <p:nvPicPr>
              <p:cNvPr id="2" name="图片 1"/>
              <p:cNvPicPr>
                <a:picLocks noChangeAspect="1"/>
              </p:cNvPicPr>
              <p:nvPr>
                <p:custDataLst>
                  <p:tags r:id="rId8"/>
                </p:custDataLst>
              </p:nvPr>
            </p:nvPicPr>
            <p:blipFill>
              <a:blip r:embed="rId9"/>
              <a:stretch>
                <a:fillRect/>
              </a:stretch>
            </p:blipFill>
            <p:spPr>
              <a:xfrm>
                <a:off x="1231" y="5244"/>
                <a:ext cx="5599" cy="4771"/>
              </a:xfrm>
              <a:prstGeom prst="rect">
                <a:avLst/>
              </a:prstGeom>
            </p:spPr>
          </p:pic>
          <p:grpSp>
            <p:nvGrpSpPr>
              <p:cNvPr id="8" name="组合 7"/>
              <p:cNvGrpSpPr/>
              <p:nvPr/>
            </p:nvGrpSpPr>
            <p:grpSpPr>
              <a:xfrm>
                <a:off x="277" y="5175"/>
                <a:ext cx="5467" cy="3396"/>
                <a:chOff x="537" y="5110"/>
                <a:chExt cx="5467" cy="3396"/>
              </a:xfrm>
            </p:grpSpPr>
            <p:sp>
              <p:nvSpPr>
                <p:cNvPr id="4" name="文本框 3"/>
                <p:cNvSpPr txBox="1"/>
                <p:nvPr/>
              </p:nvSpPr>
              <p:spPr>
                <a:xfrm>
                  <a:off x="2383" y="5110"/>
                  <a:ext cx="1846" cy="580"/>
                </a:xfrm>
                <a:prstGeom prst="rect">
                  <a:avLst/>
                </a:prstGeom>
                <a:noFill/>
              </p:spPr>
              <p:txBody>
                <a:bodyPr wrap="square" rtlCol="0">
                  <a:spAutoFit/>
                </a:bodyPr>
                <a:p>
                  <a:r>
                    <a:rPr lang="zh-CN" altLang="en-US"/>
                    <a:t>激光支架</a:t>
                  </a:r>
                  <a:endParaRPr lang="zh-CN" altLang="en-US"/>
                </a:p>
              </p:txBody>
            </p:sp>
            <p:sp>
              <p:nvSpPr>
                <p:cNvPr id="5" name="文本框 4"/>
                <p:cNvSpPr txBox="1"/>
                <p:nvPr>
                  <p:custDataLst>
                    <p:tags r:id="rId10"/>
                  </p:custDataLst>
                </p:nvPr>
              </p:nvSpPr>
              <p:spPr>
                <a:xfrm>
                  <a:off x="4158" y="5171"/>
                  <a:ext cx="1846" cy="580"/>
                </a:xfrm>
                <a:prstGeom prst="rect">
                  <a:avLst/>
                </a:prstGeom>
                <a:noFill/>
              </p:spPr>
              <p:txBody>
                <a:bodyPr wrap="square" rtlCol="0">
                  <a:spAutoFit/>
                </a:bodyPr>
                <a:p>
                  <a:r>
                    <a:rPr lang="zh-CN" altLang="en-US"/>
                    <a:t>调节支架</a:t>
                  </a:r>
                  <a:endParaRPr lang="zh-CN" altLang="en-US"/>
                </a:p>
              </p:txBody>
            </p:sp>
            <p:sp>
              <p:nvSpPr>
                <p:cNvPr id="7" name="文本框 6"/>
                <p:cNvSpPr txBox="1"/>
                <p:nvPr>
                  <p:custDataLst>
                    <p:tags r:id="rId11"/>
                  </p:custDataLst>
                </p:nvPr>
              </p:nvSpPr>
              <p:spPr>
                <a:xfrm>
                  <a:off x="537" y="7991"/>
                  <a:ext cx="2464" cy="515"/>
                </a:xfrm>
                <a:prstGeom prst="rect">
                  <a:avLst/>
                </a:prstGeom>
                <a:noFill/>
              </p:spPr>
              <p:txBody>
                <a:bodyPr wrap="square" rtlCol="0">
                  <a:spAutoFit/>
                </a:bodyPr>
                <a:p>
                  <a:r>
                    <a:rPr lang="zh-CN" altLang="en-US"/>
                    <a:t>激光测距模块</a:t>
                  </a:r>
                  <a:endParaRPr lang="zh-CN" altLang="en-US"/>
                </a:p>
              </p:txBody>
            </p:sp>
          </p:grpSp>
        </p:grpSp>
        <p:sp>
          <p:nvSpPr>
            <p:cNvPr id="10" name="文本框 9"/>
            <p:cNvSpPr txBox="1"/>
            <p:nvPr>
              <p:custDataLst>
                <p:tags r:id="rId12"/>
              </p:custDataLst>
            </p:nvPr>
          </p:nvSpPr>
          <p:spPr>
            <a:xfrm>
              <a:off x="5487" y="4764"/>
              <a:ext cx="1146" cy="580"/>
            </a:xfrm>
            <a:prstGeom prst="rect">
              <a:avLst/>
            </a:prstGeom>
            <a:noFill/>
          </p:spPr>
          <p:txBody>
            <a:bodyPr wrap="square" rtlCol="0">
              <a:spAutoFit/>
            </a:bodyPr>
            <a:p>
              <a:r>
                <a:rPr lang="zh-CN" altLang="en-US"/>
                <a:t>机身</a:t>
              </a:r>
              <a:endParaRPr lang="zh-CN" altLang="en-US"/>
            </a:p>
          </p:txBody>
        </p:sp>
      </p:grpSp>
      <p:pic>
        <p:nvPicPr>
          <p:cNvPr id="6" name="图片 5"/>
          <p:cNvPicPr>
            <a:picLocks noChangeAspect="1"/>
          </p:cNvPicPr>
          <p:nvPr>
            <p:custDataLst>
              <p:tags r:id="rId13"/>
            </p:custDataLst>
          </p:nvPr>
        </p:nvPicPr>
        <p:blipFill>
          <a:blip r:embed="rId14"/>
          <a:stretch>
            <a:fillRect/>
          </a:stretch>
        </p:blipFill>
        <p:spPr>
          <a:xfrm>
            <a:off x="11480165" y="0"/>
            <a:ext cx="719455" cy="1201420"/>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标题 1"/>
          <p:cNvSpPr>
            <a:spLocks noGrp="1"/>
          </p:cNvSpPr>
          <p:nvPr>
            <p:ph type="title"/>
          </p:nvPr>
        </p:nvSpPr>
        <p:spPr>
          <a:xfrm>
            <a:off x="426183" y="219"/>
            <a:ext cx="10364427" cy="563322"/>
          </a:xfrm>
        </p:spPr>
        <p:txBody>
          <a:bodyPr/>
          <a:lstStyle/>
          <a:p>
            <a:r>
              <a:rPr lang="zh-CN" altLang="en-US" b="1" dirty="0" smtClean="0">
                <a:solidFill>
                  <a:schemeClr val="bg1"/>
                </a:solidFill>
                <a:latin typeface="+mn-ea"/>
                <a:sym typeface="+mn-ea"/>
              </a:rPr>
              <a:t>四、快门选型及结构设计</a:t>
            </a:r>
            <a:endParaRPr lang="zh-CN" b="1" dirty="0" smtClean="0">
              <a:solidFill>
                <a:schemeClr val="bg1"/>
              </a:solidFill>
              <a:latin typeface="+mn-ea"/>
            </a:endParaRPr>
          </a:p>
        </p:txBody>
      </p:sp>
      <p:sp>
        <p:nvSpPr>
          <p:cNvPr id="8" name="文本框 7"/>
          <p:cNvSpPr txBox="1"/>
          <p:nvPr/>
        </p:nvSpPr>
        <p:spPr>
          <a:xfrm>
            <a:off x="619760" y="563245"/>
            <a:ext cx="11144250" cy="2114550"/>
          </a:xfrm>
          <a:prstGeom prst="rect">
            <a:avLst/>
          </a:prstGeom>
          <a:noFill/>
        </p:spPr>
        <p:txBody>
          <a:bodyPr wrap="square" rtlCol="0" anchor="t">
            <a:noAutofit/>
          </a:bodyPr>
          <a:p>
            <a:pPr fontAlgn="auto">
              <a:lnSpc>
                <a:spcPct val="150000"/>
              </a:lnSpc>
            </a:pPr>
            <a:r>
              <a:rPr lang="en-US" altLang="zh-CN">
                <a:latin typeface="宋体" panose="02010600030101010101" pitchFamily="2" charset="-122"/>
                <a:ea typeface="宋体" panose="02010600030101010101" pitchFamily="2" charset="-122"/>
                <a:cs typeface="宋体" panose="02010600030101010101" pitchFamily="2" charset="-122"/>
                <a:sym typeface="+mn-ea"/>
              </a:rPr>
              <a:t>4.1</a:t>
            </a:r>
            <a:r>
              <a:rPr lang="zh-CN" altLang="en-US">
                <a:latin typeface="宋体" panose="02010600030101010101" pitchFamily="2" charset="-122"/>
                <a:ea typeface="宋体" panose="02010600030101010101" pitchFamily="2" charset="-122"/>
                <a:cs typeface="宋体" panose="02010600030101010101" pitchFamily="2" charset="-122"/>
                <a:sym typeface="+mn-ea"/>
              </a:rPr>
              <a:t>快门选型的基本要求</a:t>
            </a:r>
            <a:endParaRPr lang="zh-CN" altLang="en-US">
              <a:latin typeface="宋体" panose="02010600030101010101" pitchFamily="2" charset="-122"/>
              <a:ea typeface="宋体" panose="02010600030101010101" pitchFamily="2" charset="-122"/>
              <a:cs typeface="宋体" panose="02010600030101010101" pitchFamily="2" charset="-122"/>
              <a:sym typeface="+mn-ea"/>
            </a:endParaRPr>
          </a:p>
          <a:p>
            <a:pPr fontAlgn="auto">
              <a:lnSpc>
                <a:spcPct val="150000"/>
              </a:lnSpc>
            </a:pPr>
            <a:r>
              <a:rPr lang="en-US" altLang="zh-CN">
                <a:latin typeface="宋体" panose="02010600030101010101" pitchFamily="2" charset="-122"/>
                <a:ea typeface="宋体" panose="02010600030101010101" pitchFamily="2" charset="-122"/>
                <a:cs typeface="宋体" panose="02010600030101010101" pitchFamily="2" charset="-122"/>
                <a:sym typeface="+mn-ea"/>
              </a:rPr>
              <a:t>    </a:t>
            </a:r>
            <a:r>
              <a:rPr lang="zh-CN" altLang="en-US">
                <a:latin typeface="宋体" panose="02010600030101010101" pitchFamily="2" charset="-122"/>
                <a:ea typeface="宋体" panose="02010600030101010101" pitchFamily="2" charset="-122"/>
                <a:cs typeface="宋体" panose="02010600030101010101" pitchFamily="2" charset="-122"/>
                <a:sym typeface="+mn-ea"/>
              </a:rPr>
              <a:t>在快门窗口（快门叶片）的中心轴和红外镜头光轴中心一致的条件下</a:t>
            </a:r>
            <a:endParaRPr lang="zh-CN" altLang="en-US">
              <a:latin typeface="宋体" panose="02010600030101010101" pitchFamily="2" charset="-122"/>
              <a:ea typeface="宋体" panose="02010600030101010101" pitchFamily="2" charset="-122"/>
              <a:cs typeface="宋体" panose="02010600030101010101" pitchFamily="2" charset="-122"/>
              <a:sym typeface="+mn-ea"/>
            </a:endParaRPr>
          </a:p>
          <a:p>
            <a:pPr marL="285750" indent="-285750" fontAlgn="auto">
              <a:lnSpc>
                <a:spcPct val="150000"/>
              </a:lnSpc>
              <a:buFont typeface="Wingdings" panose="05000000000000000000" charset="0"/>
              <a:buChar char="l"/>
            </a:pPr>
            <a:r>
              <a:rPr lang="zh-CN" altLang="en-US">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全开时叶片不能遮挡光线，在闭合时要完全遮挡光线。</a:t>
            </a:r>
            <a:endParaRPr lang="zh-CN" altLang="en-US">
              <a:solidFill>
                <a:srgbClr val="FF0000"/>
              </a:solidFill>
              <a:latin typeface="宋体" panose="02010600030101010101" pitchFamily="2" charset="-122"/>
              <a:ea typeface="宋体" panose="02010600030101010101" pitchFamily="2" charset="-122"/>
              <a:cs typeface="宋体" panose="02010600030101010101" pitchFamily="2" charset="-122"/>
              <a:sym typeface="+mn-ea"/>
            </a:endParaRPr>
          </a:p>
          <a:p>
            <a:pPr indent="0" fontAlgn="auto">
              <a:lnSpc>
                <a:spcPct val="150000"/>
              </a:lnSpc>
              <a:buFont typeface="Wingdings" panose="05000000000000000000" charset="0"/>
              <a:buNone/>
            </a:pPr>
            <a:endParaRPr lang="zh-CN" altLang="en-US">
              <a:latin typeface="宋体" panose="02010600030101010101" pitchFamily="2" charset="-122"/>
              <a:ea typeface="宋体" panose="02010600030101010101" pitchFamily="2" charset="-122"/>
              <a:cs typeface="宋体" panose="02010600030101010101" pitchFamily="2" charset="-122"/>
              <a:sym typeface="+mn-ea"/>
            </a:endParaRPr>
          </a:p>
          <a:p>
            <a:pPr indent="0" fontAlgn="auto">
              <a:lnSpc>
                <a:spcPct val="150000"/>
              </a:lnSpc>
              <a:buFont typeface="Wingdings" panose="05000000000000000000" charset="0"/>
              <a:buNone/>
            </a:pPr>
            <a:endParaRPr lang="zh-CN" altLang="en-US">
              <a:latin typeface="宋体" panose="02010600030101010101" pitchFamily="2" charset="-122"/>
              <a:ea typeface="宋体" panose="02010600030101010101" pitchFamily="2" charset="-122"/>
              <a:cs typeface="宋体" panose="02010600030101010101" pitchFamily="2" charset="-122"/>
              <a:sym typeface="+mn-ea"/>
            </a:endParaRPr>
          </a:p>
          <a:p>
            <a:pPr indent="0" fontAlgn="auto">
              <a:lnSpc>
                <a:spcPct val="150000"/>
              </a:lnSpc>
              <a:buFont typeface="Wingdings" panose="05000000000000000000" charset="0"/>
              <a:buNone/>
            </a:pPr>
            <a:endParaRPr lang="zh-CN" altLang="en-US">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100" name="文本框 99"/>
          <p:cNvSpPr txBox="1"/>
          <p:nvPr>
            <p:custDataLst>
              <p:tags r:id="rId1"/>
            </p:custDataLst>
          </p:nvPr>
        </p:nvSpPr>
        <p:spPr>
          <a:xfrm>
            <a:off x="725170" y="2142490"/>
            <a:ext cx="10426700" cy="2999740"/>
          </a:xfrm>
          <a:prstGeom prst="rect">
            <a:avLst/>
          </a:prstGeom>
          <a:noFill/>
          <a:ln w="9525">
            <a:noFill/>
          </a:ln>
        </p:spPr>
        <p:txBody>
          <a:bodyPr wrap="square">
            <a:spAutoFit/>
          </a:bodyPr>
          <a:p>
            <a:pPr indent="0" fontAlgn="auto">
              <a:lnSpc>
                <a:spcPct val="150000"/>
              </a:lnSpc>
            </a:pPr>
            <a:r>
              <a:rPr lang="en-US" altLang="zh-CN">
                <a:latin typeface="宋体" panose="02010600030101010101" pitchFamily="2" charset="-122"/>
                <a:ea typeface="宋体" panose="02010600030101010101" pitchFamily="2" charset="-122"/>
                <a:cs typeface="宋体" panose="02010600030101010101" pitchFamily="2" charset="-122"/>
                <a:sym typeface="+mn-ea"/>
              </a:rPr>
              <a:t>4.2 </a:t>
            </a:r>
            <a:r>
              <a:rPr lang="zh-CN" altLang="en-US">
                <a:latin typeface="宋体" panose="02010600030101010101" pitchFamily="2" charset="-122"/>
                <a:ea typeface="宋体" panose="02010600030101010101" pitchFamily="2" charset="-122"/>
                <a:cs typeface="宋体" panose="02010600030101010101" pitchFamily="2" charset="-122"/>
                <a:sym typeface="+mn-ea"/>
              </a:rPr>
              <a:t>快门的相关指标</a:t>
            </a:r>
            <a:endParaRPr lang="zh-CN" altLang="en-US" b="0">
              <a:latin typeface="宋体" panose="02010600030101010101" pitchFamily="2" charset="-122"/>
              <a:ea typeface="宋体" panose="02010600030101010101" pitchFamily="2" charset="-122"/>
              <a:cs typeface="宋体" panose="02010600030101010101" pitchFamily="2" charset="-122"/>
            </a:endParaRPr>
          </a:p>
          <a:p>
            <a:pPr indent="0" fontAlgn="auto">
              <a:lnSpc>
                <a:spcPct val="150000"/>
              </a:lnSpc>
            </a:pPr>
            <a:r>
              <a:rPr lang="zh-CN" altLang="en-US">
                <a:latin typeface="宋体" panose="02010600030101010101" pitchFamily="2" charset="-122"/>
                <a:ea typeface="宋体" panose="02010600030101010101" pitchFamily="2" charset="-122"/>
                <a:cs typeface="宋体" panose="02010600030101010101" pitchFamily="2" charset="-122"/>
                <a:sym typeface="+mn-ea"/>
              </a:rPr>
              <a:t>红外热像产品在系统设计过程中就需要考虑和快门相关的技术指标，例如：</a:t>
            </a:r>
            <a:endParaRPr lang="zh-CN" altLang="en-US" b="0">
              <a:latin typeface="宋体" panose="02010600030101010101" pitchFamily="2" charset="-122"/>
              <a:ea typeface="宋体" panose="02010600030101010101" pitchFamily="2" charset="-122"/>
              <a:cs typeface="宋体" panose="02010600030101010101" pitchFamily="2" charset="-122"/>
            </a:endParaRPr>
          </a:p>
          <a:p>
            <a:pPr marL="285750" indent="-285750" fontAlgn="auto">
              <a:lnSpc>
                <a:spcPct val="150000"/>
              </a:lnSpc>
              <a:buFont typeface="Wingdings" panose="05000000000000000000" charset="0"/>
              <a:buChar char="l"/>
            </a:pPr>
            <a:r>
              <a:rPr lang="zh-CN" altLang="en-US">
                <a:latin typeface="宋体" panose="02010600030101010101" pitchFamily="2" charset="-122"/>
                <a:ea typeface="宋体" panose="02010600030101010101" pitchFamily="2" charset="-122"/>
                <a:cs typeface="宋体" panose="02010600030101010101" pitchFamily="2" charset="-122"/>
                <a:sym typeface="+mn-ea"/>
              </a:rPr>
              <a:t>整机寿命&lt;&lt;快门寿命，那么需要选型快门时对寿命的指标考量； </a:t>
            </a:r>
            <a:endParaRPr lang="zh-CN" altLang="en-US" b="0">
              <a:latin typeface="宋体" panose="02010600030101010101" pitchFamily="2" charset="-122"/>
              <a:ea typeface="宋体" panose="02010600030101010101" pitchFamily="2" charset="-122"/>
              <a:cs typeface="宋体" panose="02010600030101010101" pitchFamily="2" charset="-122"/>
            </a:endParaRPr>
          </a:p>
          <a:p>
            <a:pPr marL="285750" indent="-285750" fontAlgn="auto">
              <a:lnSpc>
                <a:spcPct val="150000"/>
              </a:lnSpc>
              <a:buFont typeface="Wingdings" panose="05000000000000000000" charset="0"/>
              <a:buChar char="l"/>
            </a:pPr>
            <a:r>
              <a:rPr lang="zh-CN" altLang="en-US">
                <a:latin typeface="宋体" panose="02010600030101010101" pitchFamily="2" charset="-122"/>
                <a:ea typeface="宋体" panose="02010600030101010101" pitchFamily="2" charset="-122"/>
                <a:cs typeface="宋体" panose="02010600030101010101" pitchFamily="2" charset="-122"/>
                <a:sym typeface="+mn-ea"/>
              </a:rPr>
              <a:t>快门动作时无异响 ，快门作动噪音指标要小于整机产品的噪音要求。</a:t>
            </a:r>
            <a:endParaRPr lang="zh-CN" altLang="en-US" b="0">
              <a:latin typeface="宋体" panose="02010600030101010101" pitchFamily="2" charset="-122"/>
              <a:ea typeface="宋体" panose="02010600030101010101" pitchFamily="2" charset="-122"/>
              <a:cs typeface="宋体" panose="02010600030101010101" pitchFamily="2" charset="-122"/>
            </a:endParaRPr>
          </a:p>
          <a:p>
            <a:pPr marL="285750" indent="-285750" fontAlgn="auto">
              <a:lnSpc>
                <a:spcPct val="150000"/>
              </a:lnSpc>
              <a:buFont typeface="Wingdings" panose="05000000000000000000" charset="0"/>
              <a:buChar char="l"/>
            </a:pPr>
            <a:r>
              <a:rPr lang="zh-CN" altLang="en-US">
                <a:latin typeface="宋体" panose="02010600030101010101" pitchFamily="2" charset="-122"/>
                <a:ea typeface="宋体" panose="02010600030101010101" pitchFamily="2" charset="-122"/>
                <a:cs typeface="宋体" panose="02010600030101010101" pitchFamily="2" charset="-122"/>
                <a:sym typeface="+mn-ea"/>
              </a:rPr>
              <a:t>枪瞄产品的使用场景具有冲击大的特点，快门的冲击可靠性要高于整机。</a:t>
            </a:r>
            <a:endParaRPr lang="zh-CN" altLang="en-US" b="0">
              <a:latin typeface="宋体" panose="02010600030101010101" pitchFamily="2" charset="-122"/>
              <a:ea typeface="宋体" panose="02010600030101010101" pitchFamily="2" charset="-122"/>
              <a:cs typeface="宋体" panose="02010600030101010101" pitchFamily="2" charset="-122"/>
            </a:endParaRPr>
          </a:p>
          <a:p>
            <a:pPr marL="285750" indent="-285750" fontAlgn="auto">
              <a:lnSpc>
                <a:spcPct val="150000"/>
              </a:lnSpc>
              <a:buFont typeface="Wingdings" panose="05000000000000000000" charset="0"/>
              <a:buChar char="l"/>
            </a:pPr>
            <a:r>
              <a:rPr lang="zh-CN" altLang="en-US">
                <a:latin typeface="宋体" panose="02010600030101010101" pitchFamily="2" charset="-122"/>
                <a:ea typeface="宋体" panose="02010600030101010101" pitchFamily="2" charset="-122"/>
                <a:cs typeface="宋体" panose="02010600030101010101" pitchFamily="2" charset="-122"/>
                <a:sym typeface="+mn-ea"/>
              </a:rPr>
              <a:t>快门动作时无异响 ，快门作动噪音指标要小于整机产品的噪音要求。</a:t>
            </a:r>
            <a:endParaRPr lang="zh-CN" altLang="en-US">
              <a:latin typeface="宋体" panose="02010600030101010101" pitchFamily="2" charset="-122"/>
              <a:ea typeface="宋体" panose="02010600030101010101" pitchFamily="2" charset="-122"/>
              <a:cs typeface="宋体" panose="02010600030101010101" pitchFamily="2" charset="-122"/>
              <a:sym typeface="+mn-ea"/>
            </a:endParaRPr>
          </a:p>
          <a:p>
            <a:pPr marL="285750" indent="-285750" fontAlgn="auto">
              <a:lnSpc>
                <a:spcPct val="150000"/>
              </a:lnSpc>
              <a:buFont typeface="Wingdings" panose="05000000000000000000" charset="0"/>
              <a:buChar char="l"/>
            </a:pPr>
            <a:r>
              <a:rPr lang="zh-CN" altLang="en-US">
                <a:latin typeface="宋体" panose="02010600030101010101" pitchFamily="2" charset="-122"/>
                <a:ea typeface="宋体" panose="02010600030101010101" pitchFamily="2" charset="-122"/>
                <a:cs typeface="宋体" panose="02010600030101010101" pitchFamily="2" charset="-122"/>
                <a:sym typeface="+mn-ea"/>
              </a:rPr>
              <a:t>快门的抗磁性，快门冲击，振动；</a:t>
            </a:r>
            <a:endParaRPr lang="zh-CN" altLang="en-US" b="0">
              <a:ea typeface="宋体" panose="02010600030101010101" pitchFamily="2" charset="-122"/>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标题 1"/>
          <p:cNvSpPr>
            <a:spLocks noGrp="1"/>
          </p:cNvSpPr>
          <p:nvPr>
            <p:ph type="title"/>
          </p:nvPr>
        </p:nvSpPr>
        <p:spPr>
          <a:xfrm>
            <a:off x="426183" y="219"/>
            <a:ext cx="10364427" cy="563322"/>
          </a:xfrm>
        </p:spPr>
        <p:txBody>
          <a:bodyPr/>
          <a:lstStyle/>
          <a:p>
            <a:r>
              <a:rPr lang="zh-CN" altLang="en-US" b="1" dirty="0" smtClean="0">
                <a:solidFill>
                  <a:schemeClr val="bg1"/>
                </a:solidFill>
                <a:latin typeface="+mn-ea"/>
                <a:sym typeface="+mn-ea"/>
              </a:rPr>
              <a:t>四、快门选型及结构设计</a:t>
            </a:r>
            <a:endParaRPr lang="zh-CN" b="1" dirty="0" smtClean="0">
              <a:solidFill>
                <a:schemeClr val="bg1"/>
              </a:solidFill>
              <a:latin typeface="+mn-ea"/>
            </a:endParaRPr>
          </a:p>
        </p:txBody>
      </p:sp>
      <p:sp>
        <p:nvSpPr>
          <p:cNvPr id="2" name="文本框 1"/>
          <p:cNvSpPr txBox="1"/>
          <p:nvPr/>
        </p:nvSpPr>
        <p:spPr>
          <a:xfrm>
            <a:off x="1151890" y="586740"/>
            <a:ext cx="6096000" cy="922020"/>
          </a:xfrm>
          <a:prstGeom prst="rect">
            <a:avLst/>
          </a:prstGeom>
          <a:noFill/>
        </p:spPr>
        <p:txBody>
          <a:bodyPr wrap="square" rtlCol="0" anchor="t">
            <a:spAutoFit/>
          </a:bodyPr>
          <a:p>
            <a:pPr fontAlgn="auto">
              <a:lnSpc>
                <a:spcPct val="150000"/>
              </a:lnSpc>
            </a:pPr>
            <a:r>
              <a:rPr lang="en-US" altLang="zh-CN">
                <a:latin typeface="宋体" panose="02010600030101010101" pitchFamily="2" charset="-122"/>
                <a:ea typeface="宋体" panose="02010600030101010101" pitchFamily="2" charset="-122"/>
                <a:cs typeface="宋体" panose="02010600030101010101" pitchFamily="2" charset="-122"/>
                <a:sym typeface="+mn-ea"/>
              </a:rPr>
              <a:t>4.3 </a:t>
            </a:r>
            <a:r>
              <a:rPr lang="zh-CN" altLang="en-US">
                <a:latin typeface="宋体" panose="02010600030101010101" pitchFamily="2" charset="-122"/>
                <a:ea typeface="宋体" panose="02010600030101010101" pitchFamily="2" charset="-122"/>
                <a:cs typeface="宋体" panose="02010600030101010101" pitchFamily="2" charset="-122"/>
                <a:sym typeface="+mn-ea"/>
              </a:rPr>
              <a:t>快门位置 </a:t>
            </a:r>
            <a:endParaRPr lang="zh-CN" altLang="en-US">
              <a:latin typeface="宋体" panose="02010600030101010101" pitchFamily="2" charset="-122"/>
              <a:ea typeface="宋体" panose="02010600030101010101" pitchFamily="2" charset="-122"/>
              <a:cs typeface="宋体" panose="02010600030101010101" pitchFamily="2" charset="-122"/>
              <a:sym typeface="+mn-ea"/>
            </a:endParaRPr>
          </a:p>
          <a:p>
            <a:pPr indent="0" fontAlgn="auto">
              <a:lnSpc>
                <a:spcPct val="150000"/>
              </a:lnSpc>
              <a:buFont typeface="Wingdings" panose="05000000000000000000" charset="0"/>
              <a:buNone/>
            </a:pPr>
            <a:r>
              <a:rPr lang="zh-CN" altLang="en-US">
                <a:latin typeface="宋体" panose="02010600030101010101" pitchFamily="2" charset="-122"/>
                <a:ea typeface="宋体" panose="02010600030101010101" pitchFamily="2" charset="-122"/>
                <a:cs typeface="宋体" panose="02010600030101010101" pitchFamily="2" charset="-122"/>
                <a:sym typeface="+mn-ea"/>
              </a:rPr>
              <a:t>沿光轴方向，快门有镜前、镜中、镜后安装位置。 </a:t>
            </a:r>
            <a:r>
              <a:rPr lang="en-US" altLang="zh-CN">
                <a:latin typeface="宋体" panose="02010600030101010101" pitchFamily="2" charset="-122"/>
                <a:ea typeface="宋体" panose="02010600030101010101" pitchFamily="2" charset="-122"/>
                <a:cs typeface="宋体" panose="02010600030101010101" pitchFamily="2" charset="-122"/>
                <a:sym typeface="+mn-ea"/>
              </a:rPr>
              <a:t> </a:t>
            </a:r>
            <a:endParaRPr lang="en-US" altLang="zh-CN">
              <a:latin typeface="宋体" panose="02010600030101010101" pitchFamily="2" charset="-122"/>
              <a:ea typeface="宋体" panose="02010600030101010101" pitchFamily="2" charset="-122"/>
              <a:cs typeface="宋体" panose="02010600030101010101" pitchFamily="2" charset="-122"/>
              <a:sym typeface="+mn-ea"/>
            </a:endParaRPr>
          </a:p>
        </p:txBody>
      </p:sp>
      <p:grpSp>
        <p:nvGrpSpPr>
          <p:cNvPr id="16" name="组合 15"/>
          <p:cNvGrpSpPr/>
          <p:nvPr/>
        </p:nvGrpSpPr>
        <p:grpSpPr>
          <a:xfrm>
            <a:off x="851535" y="1704975"/>
            <a:ext cx="9062085" cy="2188845"/>
            <a:chOff x="976" y="4289"/>
            <a:chExt cx="14271" cy="3447"/>
          </a:xfrm>
        </p:grpSpPr>
        <p:sp>
          <p:nvSpPr>
            <p:cNvPr id="10" name="左大括号 9"/>
            <p:cNvSpPr/>
            <p:nvPr>
              <p:custDataLst>
                <p:tags r:id="rId1"/>
              </p:custDataLst>
            </p:nvPr>
          </p:nvSpPr>
          <p:spPr>
            <a:xfrm>
              <a:off x="2669" y="4461"/>
              <a:ext cx="1174" cy="2950"/>
            </a:xfrm>
            <a:prstGeom prst="leftBrac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a:p>
              <a:endParaRPr lang="zh-CN" altLang="en-US"/>
            </a:p>
          </p:txBody>
        </p:sp>
        <p:sp>
          <p:nvSpPr>
            <p:cNvPr id="11" name="文本框 10"/>
            <p:cNvSpPr txBox="1"/>
            <p:nvPr>
              <p:custDataLst>
                <p:tags r:id="rId2"/>
              </p:custDataLst>
            </p:nvPr>
          </p:nvSpPr>
          <p:spPr>
            <a:xfrm>
              <a:off x="3878" y="4289"/>
              <a:ext cx="11355" cy="580"/>
            </a:xfrm>
            <a:prstGeom prst="rect">
              <a:avLst/>
            </a:prstGeom>
            <a:noFill/>
          </p:spPr>
          <p:txBody>
            <a:bodyPr wrap="square" rtlCol="0">
              <a:spAutoFit/>
            </a:bodyPr>
            <a:p>
              <a:r>
                <a:rPr lang="zh-CN" altLang="en-US">
                  <a:latin typeface="宋体" panose="02010600030101010101" pitchFamily="2" charset="-122"/>
                  <a:ea typeface="宋体" panose="02010600030101010101" pitchFamily="2" charset="-122"/>
                  <a:cs typeface="宋体" panose="02010600030101010101" pitchFamily="2" charset="-122"/>
                  <a:sym typeface="+mn-ea"/>
                </a:rPr>
                <a:t>镜前安装（远离探测器）：推荐测温产品采用该安装位置形式。</a:t>
              </a:r>
              <a:endParaRPr lang="zh-CN" altLang="en-US"/>
            </a:p>
          </p:txBody>
        </p:sp>
        <p:sp>
          <p:nvSpPr>
            <p:cNvPr id="12" name="文本框 11"/>
            <p:cNvSpPr txBox="1"/>
            <p:nvPr>
              <p:custDataLst>
                <p:tags r:id="rId3"/>
              </p:custDataLst>
            </p:nvPr>
          </p:nvSpPr>
          <p:spPr>
            <a:xfrm>
              <a:off x="3843" y="6284"/>
              <a:ext cx="11355" cy="1452"/>
            </a:xfrm>
            <a:prstGeom prst="rect">
              <a:avLst/>
            </a:prstGeom>
            <a:noFill/>
          </p:spPr>
          <p:txBody>
            <a:bodyPr wrap="square" rtlCol="0">
              <a:spAutoFit/>
            </a:bodyPr>
            <a:p>
              <a:pPr indent="0" fontAlgn="auto">
                <a:lnSpc>
                  <a:spcPct val="150000"/>
                </a:lnSpc>
                <a:buFont typeface="Wingdings" panose="05000000000000000000" charset="0"/>
                <a:buNone/>
              </a:pPr>
              <a:r>
                <a:rPr lang="zh-CN" altLang="en-US">
                  <a:latin typeface="宋体" panose="02010600030101010101" pitchFamily="2" charset="-122"/>
                  <a:ea typeface="宋体" panose="02010600030101010101" pitchFamily="2" charset="-122"/>
                  <a:cs typeface="宋体" panose="02010600030101010101" pitchFamily="2" charset="-122"/>
                  <a:sym typeface="+mn-ea"/>
                </a:rPr>
                <a:t>镜后安装（靠近探测器）：考虑到测温上对快门非均匀性的影响，快门叶片距离探测器尽量远。</a:t>
              </a:r>
              <a:endParaRPr lang="zh-CN" altLang="en-US"/>
            </a:p>
          </p:txBody>
        </p:sp>
        <p:sp>
          <p:nvSpPr>
            <p:cNvPr id="13" name="文本框 12"/>
            <p:cNvSpPr txBox="1"/>
            <p:nvPr>
              <p:custDataLst>
                <p:tags r:id="rId4"/>
              </p:custDataLst>
            </p:nvPr>
          </p:nvSpPr>
          <p:spPr>
            <a:xfrm>
              <a:off x="3893" y="5342"/>
              <a:ext cx="11355" cy="580"/>
            </a:xfrm>
            <a:prstGeom prst="rect">
              <a:avLst/>
            </a:prstGeom>
            <a:noFill/>
          </p:spPr>
          <p:txBody>
            <a:bodyPr wrap="square" rtlCol="0">
              <a:spAutoFit/>
            </a:bodyPr>
            <a:p>
              <a:r>
                <a:rPr lang="zh-CN" altLang="en-US">
                  <a:latin typeface="宋体" panose="02010600030101010101" pitchFamily="2" charset="-122"/>
                  <a:ea typeface="宋体" panose="02010600030101010101" pitchFamily="2" charset="-122"/>
                  <a:cs typeface="宋体" panose="02010600030101010101" pitchFamily="2" charset="-122"/>
                  <a:sym typeface="+mn-ea"/>
                </a:rPr>
                <a:t>镜中安装（镜头组内）：推荐测温产品采用该安装位置形式。</a:t>
              </a:r>
              <a:endParaRPr lang="zh-CN" altLang="en-US"/>
            </a:p>
          </p:txBody>
        </p:sp>
        <p:sp>
          <p:nvSpPr>
            <p:cNvPr id="15" name="文本框 14"/>
            <p:cNvSpPr txBox="1"/>
            <p:nvPr>
              <p:custDataLst>
                <p:tags r:id="rId5"/>
              </p:custDataLst>
            </p:nvPr>
          </p:nvSpPr>
          <p:spPr>
            <a:xfrm>
              <a:off x="976" y="5644"/>
              <a:ext cx="6400" cy="580"/>
            </a:xfrm>
            <a:prstGeom prst="rect">
              <a:avLst/>
            </a:prstGeom>
            <a:noFill/>
          </p:spPr>
          <p:txBody>
            <a:bodyPr wrap="square" rtlCol="0">
              <a:spAutoFit/>
            </a:bodyPr>
            <a:p>
              <a:r>
                <a:rPr lang="zh-CN" altLang="en-US"/>
                <a:t>快门位置</a:t>
              </a:r>
              <a:endParaRPr lang="zh-CN" altLang="en-US"/>
            </a:p>
          </p:txBody>
        </p:sp>
      </p:grpSp>
      <p:sp>
        <p:nvSpPr>
          <p:cNvPr id="3" name="文本框 2"/>
          <p:cNvSpPr txBox="1"/>
          <p:nvPr/>
        </p:nvSpPr>
        <p:spPr>
          <a:xfrm>
            <a:off x="1151890" y="4149090"/>
            <a:ext cx="10715625" cy="1614805"/>
          </a:xfrm>
          <a:prstGeom prst="rect">
            <a:avLst/>
          </a:prstGeom>
          <a:noFill/>
        </p:spPr>
        <p:txBody>
          <a:bodyPr wrap="square" rtlCol="0" anchor="t">
            <a:spAutoFit/>
          </a:bodyPr>
          <a:p>
            <a:pPr marL="285750" indent="-285750" fontAlgn="auto">
              <a:lnSpc>
                <a:spcPct val="150000"/>
              </a:lnSpc>
              <a:buFont typeface="Wingdings" panose="05000000000000000000" charset="0"/>
              <a:buChar char="l"/>
            </a:pPr>
            <a:r>
              <a:rPr lang="zh-CN" altLang="en-US">
                <a:latin typeface="宋体" panose="02010600030101010101" pitchFamily="2" charset="-122"/>
                <a:ea typeface="宋体" panose="02010600030101010101" pitchFamily="2" charset="-122"/>
                <a:cs typeface="宋体" panose="02010600030101010101" pitchFamily="2" charset="-122"/>
                <a:sym typeface="+mn-ea"/>
              </a:rPr>
              <a:t>根据经验，在采用金属探测器的测温产品设计中，快门叶片距离探测器窗口最近距离不低于2mm；</a:t>
            </a:r>
            <a:endParaRPr lang="zh-CN" altLang="en-US">
              <a:latin typeface="宋体" panose="02010600030101010101" pitchFamily="2" charset="-122"/>
              <a:ea typeface="宋体" panose="02010600030101010101" pitchFamily="2" charset="-122"/>
              <a:cs typeface="宋体" panose="02010600030101010101" pitchFamily="2" charset="-122"/>
              <a:sym typeface="+mn-ea"/>
            </a:endParaRPr>
          </a:p>
          <a:p>
            <a:pPr marL="285750" indent="-285750" fontAlgn="auto">
              <a:lnSpc>
                <a:spcPct val="150000"/>
              </a:lnSpc>
              <a:buFont typeface="Wingdings" panose="05000000000000000000" charset="0"/>
              <a:buChar char="l"/>
            </a:pPr>
            <a:r>
              <a:rPr lang="zh-CN" altLang="en-US">
                <a:latin typeface="宋体" panose="02010600030101010101" pitchFamily="2" charset="-122"/>
                <a:ea typeface="宋体" panose="02010600030101010101" pitchFamily="2" charset="-122"/>
                <a:cs typeface="宋体" panose="02010600030101010101" pitchFamily="2" charset="-122"/>
                <a:sym typeface="+mn-ea"/>
              </a:rPr>
              <a:t>针对观瞄产品以及采用晶元、陶瓷探测器的产品，快门叶片距离探测器窗口最近距离不低于1mm； </a:t>
            </a:r>
            <a:endParaRPr lang="zh-CN" altLang="en-US">
              <a:latin typeface="宋体" panose="02010600030101010101" pitchFamily="2" charset="-122"/>
              <a:ea typeface="宋体" panose="02010600030101010101" pitchFamily="2" charset="-122"/>
              <a:cs typeface="宋体" panose="02010600030101010101" pitchFamily="2" charset="-122"/>
              <a:sym typeface="+mn-ea"/>
            </a:endParaRPr>
          </a:p>
          <a:p>
            <a:pPr marL="285750" indent="-285750" fontAlgn="auto">
              <a:lnSpc>
                <a:spcPct val="150000"/>
              </a:lnSpc>
              <a:buFont typeface="Wingdings" panose="05000000000000000000" charset="0"/>
              <a:buChar char="l"/>
            </a:pPr>
            <a:r>
              <a:rPr lang="zh-CN" altLang="en-US">
                <a:latin typeface="宋体" panose="02010600030101010101" pitchFamily="2" charset="-122"/>
                <a:ea typeface="宋体" panose="02010600030101010101" pitchFamily="2" charset="-122"/>
                <a:cs typeface="宋体" panose="02010600030101010101" pitchFamily="2" charset="-122"/>
                <a:sym typeface="+mn-ea"/>
              </a:rPr>
              <a:t>从装配精度方面考虑，快门组件外壳端面距离探测器窗口要保证足够的安全距离，推荐距离不低于1mm。  </a:t>
            </a:r>
            <a:endParaRPr lang="zh-CN" altLang="en-US">
              <a:latin typeface="宋体" panose="02010600030101010101" pitchFamily="2" charset="-122"/>
              <a:ea typeface="宋体" panose="02010600030101010101" pitchFamily="2" charset="-122"/>
              <a:cs typeface="宋体" panose="02010600030101010101" pitchFamily="2" charset="-122"/>
              <a:sym typeface="+mn-ea"/>
            </a:endParaRPr>
          </a:p>
          <a:p>
            <a:endParaRPr lang="zh-CN" altLang="en-US">
              <a:latin typeface="宋体" panose="02010600030101010101" pitchFamily="2" charset="-122"/>
              <a:ea typeface="宋体" panose="02010600030101010101" pitchFamily="2" charset="-122"/>
              <a:cs typeface="宋体" panose="02010600030101010101" pitchFamily="2" charset="-122"/>
              <a:sym typeface="+mn-ea"/>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标题 1"/>
          <p:cNvSpPr>
            <a:spLocks noGrp="1"/>
          </p:cNvSpPr>
          <p:nvPr>
            <p:ph type="title"/>
          </p:nvPr>
        </p:nvSpPr>
        <p:spPr>
          <a:xfrm>
            <a:off x="426183" y="219"/>
            <a:ext cx="10364427" cy="563322"/>
          </a:xfrm>
        </p:spPr>
        <p:txBody>
          <a:bodyPr/>
          <a:lstStyle/>
          <a:p>
            <a:r>
              <a:rPr lang="zh-CN" altLang="en-US" b="1" dirty="0" smtClean="0">
                <a:solidFill>
                  <a:schemeClr val="bg1"/>
                </a:solidFill>
                <a:latin typeface="+mn-ea"/>
                <a:sym typeface="+mn-ea"/>
              </a:rPr>
              <a:t>四、快门选型及结构设计</a:t>
            </a:r>
            <a:endParaRPr lang="zh-CN" b="1" dirty="0" smtClean="0">
              <a:solidFill>
                <a:schemeClr val="bg1"/>
              </a:solidFill>
              <a:latin typeface="+mn-ea"/>
            </a:endParaRPr>
          </a:p>
        </p:txBody>
      </p:sp>
      <p:pic>
        <p:nvPicPr>
          <p:cNvPr id="4" name="图片 3"/>
          <p:cNvPicPr>
            <a:picLocks noChangeAspect="1"/>
          </p:cNvPicPr>
          <p:nvPr>
            <p:custDataLst>
              <p:tags r:id="rId1"/>
            </p:custDataLst>
          </p:nvPr>
        </p:nvPicPr>
        <p:blipFill>
          <a:blip r:embed="rId2"/>
          <a:stretch>
            <a:fillRect/>
          </a:stretch>
        </p:blipFill>
        <p:spPr>
          <a:xfrm>
            <a:off x="92710" y="1031875"/>
            <a:ext cx="5825490" cy="3812540"/>
          </a:xfrm>
          <a:prstGeom prst="rect">
            <a:avLst/>
          </a:prstGeom>
        </p:spPr>
      </p:pic>
      <p:pic>
        <p:nvPicPr>
          <p:cNvPr id="5" name="图片 4"/>
          <p:cNvPicPr>
            <a:picLocks noChangeAspect="1"/>
          </p:cNvPicPr>
          <p:nvPr>
            <p:custDataLst>
              <p:tags r:id="rId3"/>
            </p:custDataLst>
          </p:nvPr>
        </p:nvPicPr>
        <p:blipFill>
          <a:blip r:embed="rId4"/>
          <a:stretch>
            <a:fillRect/>
          </a:stretch>
        </p:blipFill>
        <p:spPr>
          <a:xfrm>
            <a:off x="5964555" y="875030"/>
            <a:ext cx="6233160" cy="5042535"/>
          </a:xfrm>
          <a:prstGeom prst="rect">
            <a:avLst/>
          </a:prstGeom>
        </p:spPr>
      </p:pic>
      <p:sp>
        <p:nvSpPr>
          <p:cNvPr id="2" name="文本框 1"/>
          <p:cNvSpPr txBox="1"/>
          <p:nvPr>
            <p:custDataLst>
              <p:tags r:id="rId5"/>
            </p:custDataLst>
          </p:nvPr>
        </p:nvSpPr>
        <p:spPr>
          <a:xfrm>
            <a:off x="423545" y="645795"/>
            <a:ext cx="4064000" cy="368300"/>
          </a:xfrm>
          <a:prstGeom prst="rect">
            <a:avLst/>
          </a:prstGeom>
          <a:noFill/>
        </p:spPr>
        <p:txBody>
          <a:bodyPr wrap="square" rtlCol="0">
            <a:spAutoFit/>
          </a:bodyPr>
          <a:p>
            <a:r>
              <a:rPr lang="zh-CN" altLang="en-US"/>
              <a:t>目前公司快门型号</a:t>
            </a:r>
            <a:endParaRPr lang="zh-CN" altLang="en-US"/>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标题 1"/>
          <p:cNvSpPr>
            <a:spLocks noGrp="1"/>
          </p:cNvSpPr>
          <p:nvPr>
            <p:ph type="title"/>
          </p:nvPr>
        </p:nvSpPr>
        <p:spPr>
          <a:xfrm>
            <a:off x="426183" y="219"/>
            <a:ext cx="10364427" cy="563322"/>
          </a:xfrm>
        </p:spPr>
        <p:txBody>
          <a:bodyPr/>
          <a:lstStyle/>
          <a:p>
            <a:r>
              <a:rPr lang="zh-CN" altLang="en-US" b="1" dirty="0" smtClean="0">
                <a:solidFill>
                  <a:schemeClr val="bg1"/>
                </a:solidFill>
                <a:latin typeface="+mn-ea"/>
                <a:sym typeface="+mn-ea"/>
              </a:rPr>
              <a:t>四、快门选型及结构设计</a:t>
            </a:r>
            <a:endParaRPr lang="zh-CN" b="1" dirty="0" smtClean="0">
              <a:solidFill>
                <a:schemeClr val="bg1"/>
              </a:solidFill>
              <a:latin typeface="+mn-ea"/>
            </a:endParaRPr>
          </a:p>
        </p:txBody>
      </p:sp>
      <p:sp>
        <p:nvSpPr>
          <p:cNvPr id="100" name="文本框 99"/>
          <p:cNvSpPr txBox="1"/>
          <p:nvPr/>
        </p:nvSpPr>
        <p:spPr>
          <a:xfrm>
            <a:off x="725170" y="640080"/>
            <a:ext cx="10426700" cy="506730"/>
          </a:xfrm>
          <a:prstGeom prst="rect">
            <a:avLst/>
          </a:prstGeom>
          <a:noFill/>
          <a:ln w="9525">
            <a:noFill/>
          </a:ln>
        </p:spPr>
        <p:txBody>
          <a:bodyPr wrap="square">
            <a:spAutoFit/>
          </a:bodyPr>
          <a:p>
            <a:pPr indent="0" fontAlgn="auto">
              <a:lnSpc>
                <a:spcPct val="150000"/>
              </a:lnSpc>
            </a:pPr>
            <a:r>
              <a:rPr lang="en-US" altLang="zh-CN" b="0">
                <a:ea typeface="宋体" panose="02010600030101010101" pitchFamily="2" charset="-122"/>
              </a:rPr>
              <a:t>4.4  </a:t>
            </a:r>
            <a:r>
              <a:rPr lang="zh-CN" b="0">
                <a:ea typeface="宋体" panose="02010600030101010101" pitchFamily="2" charset="-122"/>
              </a:rPr>
              <a:t>快门分类</a:t>
            </a:r>
            <a:r>
              <a:rPr lang="en-US" altLang="zh-CN" b="0">
                <a:ea typeface="宋体" panose="02010600030101010101" pitchFamily="2" charset="-122"/>
              </a:rPr>
              <a:t>:</a:t>
            </a:r>
            <a:endParaRPr lang="zh-CN" altLang="en-US" b="0">
              <a:ea typeface="宋体" panose="02010600030101010101" pitchFamily="2" charset="-122"/>
            </a:endParaRPr>
          </a:p>
        </p:txBody>
      </p:sp>
      <p:pic>
        <p:nvPicPr>
          <p:cNvPr id="3" name="图片 2"/>
          <p:cNvPicPr>
            <a:picLocks noChangeAspect="1"/>
          </p:cNvPicPr>
          <p:nvPr>
            <p:custDataLst>
              <p:tags r:id="rId1"/>
            </p:custDataLst>
          </p:nvPr>
        </p:nvPicPr>
        <p:blipFill>
          <a:blip r:embed="rId2"/>
          <a:stretch>
            <a:fillRect/>
          </a:stretch>
        </p:blipFill>
        <p:spPr>
          <a:xfrm>
            <a:off x="2529840" y="772795"/>
            <a:ext cx="5599430" cy="5878830"/>
          </a:xfrm>
          <a:prstGeom prst="rect">
            <a:avLst/>
          </a:prstGeom>
        </p:spPr>
      </p:pic>
      <p:pic>
        <p:nvPicPr>
          <p:cNvPr id="7" name="图片 6"/>
          <p:cNvPicPr>
            <a:picLocks noChangeAspect="1"/>
          </p:cNvPicPr>
          <p:nvPr>
            <p:custDataLst>
              <p:tags r:id="rId3"/>
            </p:custDataLst>
          </p:nvPr>
        </p:nvPicPr>
        <p:blipFill>
          <a:blip r:embed="rId4"/>
          <a:stretch>
            <a:fillRect/>
          </a:stretch>
        </p:blipFill>
        <p:spPr>
          <a:xfrm>
            <a:off x="8306435" y="956310"/>
            <a:ext cx="1323340" cy="1077595"/>
          </a:xfrm>
          <a:prstGeom prst="rect">
            <a:avLst/>
          </a:prstGeom>
        </p:spPr>
      </p:pic>
      <p:pic>
        <p:nvPicPr>
          <p:cNvPr id="4" name="图片 3"/>
          <p:cNvPicPr>
            <a:picLocks noChangeAspect="1"/>
          </p:cNvPicPr>
          <p:nvPr>
            <p:custDataLst>
              <p:tags r:id="rId5"/>
            </p:custDataLst>
          </p:nvPr>
        </p:nvPicPr>
        <p:blipFill>
          <a:blip r:embed="rId6"/>
          <a:stretch>
            <a:fillRect/>
          </a:stretch>
        </p:blipFill>
        <p:spPr>
          <a:xfrm>
            <a:off x="8180070" y="2715260"/>
            <a:ext cx="1203325" cy="1103630"/>
          </a:xfrm>
          <a:prstGeom prst="rect">
            <a:avLst/>
          </a:prstGeom>
        </p:spPr>
      </p:pic>
      <p:pic>
        <p:nvPicPr>
          <p:cNvPr id="5" name="图片 4"/>
          <p:cNvPicPr>
            <a:picLocks noChangeAspect="1"/>
          </p:cNvPicPr>
          <p:nvPr>
            <p:custDataLst>
              <p:tags r:id="rId7"/>
            </p:custDataLst>
          </p:nvPr>
        </p:nvPicPr>
        <p:blipFill>
          <a:blip r:embed="rId8"/>
          <a:stretch>
            <a:fillRect/>
          </a:stretch>
        </p:blipFill>
        <p:spPr>
          <a:xfrm>
            <a:off x="8180070" y="4756150"/>
            <a:ext cx="850900" cy="909320"/>
          </a:xfrm>
          <a:prstGeom prst="rect">
            <a:avLst/>
          </a:prstGeom>
        </p:spPr>
      </p:pic>
      <p:pic>
        <p:nvPicPr>
          <p:cNvPr id="6" name="图片 5"/>
          <p:cNvPicPr>
            <a:picLocks noChangeAspect="1"/>
          </p:cNvPicPr>
          <p:nvPr>
            <p:custDataLst>
              <p:tags r:id="rId9"/>
            </p:custDataLst>
          </p:nvPr>
        </p:nvPicPr>
        <p:blipFill>
          <a:blip r:embed="rId10"/>
          <a:stretch>
            <a:fillRect/>
          </a:stretch>
        </p:blipFill>
        <p:spPr>
          <a:xfrm>
            <a:off x="7989570" y="6181725"/>
            <a:ext cx="713740" cy="600075"/>
          </a:xfrm>
          <a:prstGeom prst="rect">
            <a:avLst/>
          </a:prstGeo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标题 1"/>
          <p:cNvSpPr>
            <a:spLocks noGrp="1"/>
          </p:cNvSpPr>
          <p:nvPr>
            <p:ph type="title"/>
          </p:nvPr>
        </p:nvSpPr>
        <p:spPr>
          <a:xfrm>
            <a:off x="426183" y="219"/>
            <a:ext cx="10364427" cy="563322"/>
          </a:xfrm>
        </p:spPr>
        <p:txBody>
          <a:bodyPr/>
          <a:lstStyle/>
          <a:p>
            <a:r>
              <a:rPr lang="zh-CN" altLang="en-US" b="1" dirty="0" smtClean="0">
                <a:solidFill>
                  <a:schemeClr val="bg1"/>
                </a:solidFill>
                <a:latin typeface="+mn-ea"/>
                <a:sym typeface="+mn-ea"/>
              </a:rPr>
              <a:t>四、快门选型及结构设计</a:t>
            </a:r>
            <a:endParaRPr lang="zh-CN" b="1" dirty="0" smtClean="0">
              <a:solidFill>
                <a:schemeClr val="bg1"/>
              </a:solidFill>
              <a:latin typeface="+mn-ea"/>
            </a:endParaRPr>
          </a:p>
        </p:txBody>
      </p:sp>
      <p:sp>
        <p:nvSpPr>
          <p:cNvPr id="8" name="文本框 7"/>
          <p:cNvSpPr txBox="1"/>
          <p:nvPr/>
        </p:nvSpPr>
        <p:spPr>
          <a:xfrm>
            <a:off x="327660" y="640080"/>
            <a:ext cx="10207625" cy="1198880"/>
          </a:xfrm>
          <a:prstGeom prst="rect">
            <a:avLst/>
          </a:prstGeom>
          <a:noFill/>
          <a:ln w="9525">
            <a:noFill/>
          </a:ln>
        </p:spPr>
        <p:txBody>
          <a:bodyPr wrap="square">
            <a:spAutoFit/>
          </a:bodyPr>
          <a:p>
            <a:pPr indent="533400"/>
            <a:r>
              <a:rPr lang="en-US" altLang="zh-CN" b="0">
                <a:ea typeface="宋体" panose="02010600030101010101" pitchFamily="2" charset="-122"/>
              </a:rPr>
              <a:t>4.5 </a:t>
            </a:r>
            <a:r>
              <a:rPr lang="zh-CN" b="0">
                <a:ea typeface="宋体" panose="02010600030101010101" pitchFamily="2" charset="-122"/>
              </a:rPr>
              <a:t>快门设计注意事项：</a:t>
            </a:r>
            <a:endParaRPr lang="zh-CN" b="0">
              <a:ea typeface="宋体" panose="02010600030101010101" pitchFamily="2" charset="-122"/>
            </a:endParaRPr>
          </a:p>
          <a:p>
            <a:pPr indent="533400" fontAlgn="auto">
              <a:lnSpc>
                <a:spcPct val="150000"/>
              </a:lnSpc>
            </a:pPr>
            <a:r>
              <a:rPr lang="zh-CN">
                <a:ea typeface="宋体" panose="02010600030101010101" pitchFamily="2" charset="-122"/>
                <a:sym typeface="+mn-ea"/>
              </a:rPr>
              <a:t>从</a:t>
            </a:r>
            <a:r>
              <a:rPr lang="zh-CN">
                <a:ea typeface="宋体" panose="02010600030101010101" pitchFamily="2" charset="-122"/>
                <a:sym typeface="+mn-ea"/>
              </a:rPr>
              <a:t>快门安装叶片间隙、</a:t>
            </a:r>
            <a:r>
              <a:rPr lang="zh-CN">
                <a:ea typeface="宋体" panose="02010600030101010101" pitchFamily="2" charset="-122"/>
                <a:sym typeface="+mn-ea"/>
              </a:rPr>
              <a:t>快门锁附及受力要求、防尘设计要求、热传递要求、</a:t>
            </a:r>
            <a:r>
              <a:rPr lang="zh-CN">
                <a:ea typeface="宋体" panose="02010600030101010101" pitchFamily="2" charset="-122"/>
                <a:sym typeface="+mn-ea"/>
              </a:rPr>
              <a:t>快门缓冲限位要求、快门可拆卸性要求、</a:t>
            </a:r>
            <a:r>
              <a:rPr lang="zh-CN">
                <a:ea typeface="宋体" panose="02010600030101010101" pitchFamily="2" charset="-122"/>
                <a:sym typeface="+mn-ea"/>
              </a:rPr>
              <a:t>快门线长要求等七个方面来对快门选型以及应用做要求。</a:t>
            </a:r>
            <a:r>
              <a:rPr lang="en-US">
                <a:latin typeface="Times New Roman" panose="02020603050405020304" charset="0"/>
                <a:ea typeface="宋体" panose="02010600030101010101" pitchFamily="2" charset="-122"/>
                <a:sym typeface="+mn-ea"/>
              </a:rPr>
              <a:t> </a:t>
            </a:r>
            <a:endParaRPr lang="en-US" altLang="en-US" b="0">
              <a:latin typeface="Times New Roman" panose="02020603050405020304" charset="0"/>
              <a:ea typeface="宋体" panose="02010600030101010101" pitchFamily="2" charset="-122"/>
            </a:endParaRPr>
          </a:p>
        </p:txBody>
      </p:sp>
      <p:pic>
        <p:nvPicPr>
          <p:cNvPr id="3" name="图片 2"/>
          <p:cNvPicPr>
            <a:picLocks noChangeAspect="1"/>
          </p:cNvPicPr>
          <p:nvPr>
            <p:custDataLst>
              <p:tags r:id="rId1"/>
            </p:custDataLst>
          </p:nvPr>
        </p:nvPicPr>
        <p:blipFill>
          <a:blip r:embed="rId2"/>
          <a:stretch>
            <a:fillRect/>
          </a:stretch>
        </p:blipFill>
        <p:spPr>
          <a:xfrm>
            <a:off x="2528570" y="1903730"/>
            <a:ext cx="6523990" cy="4777105"/>
          </a:xfrm>
          <a:prstGeom prst="rect">
            <a:avLst/>
          </a:prstGeom>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标题 1"/>
          <p:cNvSpPr>
            <a:spLocks noGrp="1"/>
          </p:cNvSpPr>
          <p:nvPr>
            <p:ph type="title"/>
          </p:nvPr>
        </p:nvSpPr>
        <p:spPr>
          <a:xfrm>
            <a:off x="426183" y="219"/>
            <a:ext cx="10364427" cy="563322"/>
          </a:xfrm>
        </p:spPr>
        <p:txBody>
          <a:bodyPr/>
          <a:lstStyle/>
          <a:p>
            <a:r>
              <a:rPr lang="zh-CN" altLang="en-US" b="1" dirty="0" smtClean="0">
                <a:solidFill>
                  <a:schemeClr val="bg1"/>
                </a:solidFill>
                <a:latin typeface="+mn-ea"/>
              </a:rPr>
              <a:t>五、</a:t>
            </a:r>
            <a:r>
              <a:rPr lang="zh-CN" altLang="en-US" b="1" dirty="0">
                <a:solidFill>
                  <a:schemeClr val="bg1"/>
                </a:solidFill>
                <a:latin typeface="+mn-ea"/>
                <a:sym typeface="+mn-ea"/>
              </a:rPr>
              <a:t>激光测距测试方案</a:t>
            </a:r>
            <a:endParaRPr lang="zh-CN" altLang="en-US" b="1" dirty="0" smtClean="0">
              <a:solidFill>
                <a:schemeClr val="bg1"/>
              </a:solidFill>
              <a:latin typeface="+mn-ea"/>
              <a:sym typeface="+mn-ea"/>
            </a:endParaRPr>
          </a:p>
        </p:txBody>
      </p:sp>
      <p:sp>
        <p:nvSpPr>
          <p:cNvPr id="2" name="TextBox 1"/>
          <p:cNvSpPr txBox="1"/>
          <p:nvPr>
            <p:custDataLst>
              <p:tags r:id="rId1"/>
            </p:custDataLst>
          </p:nvPr>
        </p:nvSpPr>
        <p:spPr>
          <a:xfrm>
            <a:off x="407845" y="1295400"/>
            <a:ext cx="2240280" cy="368300"/>
          </a:xfrm>
          <a:prstGeom prst="rect">
            <a:avLst/>
          </a:prstGeom>
          <a:noFill/>
        </p:spPr>
        <p:txBody>
          <a:bodyPr wrap="none" rtlCol="0">
            <a:spAutoFit/>
          </a:bodyPr>
          <a:p>
            <a:r>
              <a:rPr lang="zh-CN" altLang="en-US" dirty="0" smtClean="0"/>
              <a:t>激光测距测试方案：</a:t>
            </a:r>
            <a:endParaRPr lang="zh-CN" altLang="en-US" dirty="0"/>
          </a:p>
        </p:txBody>
      </p:sp>
      <p:sp>
        <p:nvSpPr>
          <p:cNvPr id="3" name="TextBox 2"/>
          <p:cNvSpPr txBox="1"/>
          <p:nvPr>
            <p:custDataLst>
              <p:tags r:id="rId2"/>
            </p:custDataLst>
          </p:nvPr>
        </p:nvSpPr>
        <p:spPr>
          <a:xfrm>
            <a:off x="600076" y="1961965"/>
            <a:ext cx="3082290" cy="1076325"/>
          </a:xfrm>
          <a:prstGeom prst="rect">
            <a:avLst/>
          </a:prstGeom>
          <a:noFill/>
        </p:spPr>
        <p:txBody>
          <a:bodyPr wrap="none" rtlCol="0">
            <a:spAutoFit/>
          </a:bodyPr>
          <a:p>
            <a:pPr algn="l"/>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主要为两大块：</a:t>
            </a:r>
            <a:endParaRPr lang="zh-CN" altLang="en-US" sz="1600" dirty="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gn="l">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白盒</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硬件电路测试</a:t>
            </a:r>
            <a:endParaRPr lang="zh-CN" altLang="en-US" sz="1600" dirty="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gn="l">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黑盒</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mn-ea"/>
              </a:rPr>
              <a:t>环境可靠性测试</a:t>
            </a:r>
            <a:endParaRPr lang="zh-CN" altLang="en-US" sz="1600" dirty="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gn="l">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软测</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精度测试、兼容性测试</a:t>
            </a:r>
            <a:endParaRPr lang="zh-CN" altLang="en-US" sz="1600" dirty="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00" name="图片 99"/>
          <p:cNvPicPr/>
          <p:nvPr/>
        </p:nvPicPr>
        <p:blipFill>
          <a:blip r:embed="rId3"/>
          <a:stretch>
            <a:fillRect/>
          </a:stretch>
        </p:blipFill>
        <p:spPr>
          <a:xfrm>
            <a:off x="3996055" y="887095"/>
            <a:ext cx="8087360" cy="5214620"/>
          </a:xfrm>
          <a:prstGeom prst="rect">
            <a:avLst/>
          </a:prstGeom>
          <a:noFill/>
          <a:ln w="9525">
            <a:noFill/>
          </a:ln>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标题 1"/>
          <p:cNvSpPr>
            <a:spLocks noGrp="1"/>
          </p:cNvSpPr>
          <p:nvPr>
            <p:ph type="title"/>
          </p:nvPr>
        </p:nvSpPr>
        <p:spPr>
          <a:xfrm>
            <a:off x="426183" y="219"/>
            <a:ext cx="10364427" cy="563322"/>
          </a:xfrm>
        </p:spPr>
        <p:txBody>
          <a:bodyPr/>
          <a:lstStyle/>
          <a:p>
            <a:r>
              <a:rPr lang="zh-CN" altLang="en-US" b="1" dirty="0" smtClean="0">
                <a:solidFill>
                  <a:schemeClr val="bg1"/>
                </a:solidFill>
                <a:latin typeface="+mn-ea"/>
              </a:rPr>
              <a:t>六、</a:t>
            </a:r>
            <a:r>
              <a:rPr lang="zh-CN" altLang="en-US" b="1" dirty="0">
                <a:solidFill>
                  <a:schemeClr val="bg1"/>
                </a:solidFill>
                <a:latin typeface="+mn-ea"/>
                <a:sym typeface="+mn-ea"/>
              </a:rPr>
              <a:t>快门测试方案</a:t>
            </a:r>
            <a:endParaRPr lang="zh-CN" altLang="en-US" b="1" dirty="0" smtClean="0">
              <a:solidFill>
                <a:schemeClr val="bg1"/>
              </a:solidFill>
              <a:latin typeface="+mn-ea"/>
              <a:sym typeface="+mn-ea"/>
            </a:endParaRPr>
          </a:p>
        </p:txBody>
      </p:sp>
      <p:sp>
        <p:nvSpPr>
          <p:cNvPr id="2" name="TextBox 1"/>
          <p:cNvSpPr txBox="1"/>
          <p:nvPr>
            <p:custDataLst>
              <p:tags r:id="rId1"/>
            </p:custDataLst>
          </p:nvPr>
        </p:nvSpPr>
        <p:spPr>
          <a:xfrm>
            <a:off x="407845" y="1295400"/>
            <a:ext cx="1783080" cy="368300"/>
          </a:xfrm>
          <a:prstGeom prst="rect">
            <a:avLst/>
          </a:prstGeom>
          <a:noFill/>
        </p:spPr>
        <p:txBody>
          <a:bodyPr wrap="none" rtlCol="0">
            <a:spAutoFit/>
          </a:bodyPr>
          <a:p>
            <a:r>
              <a:rPr lang="zh-CN" altLang="en-US" dirty="0" smtClean="0"/>
              <a:t>快门测试方案：</a:t>
            </a:r>
            <a:endParaRPr lang="zh-CN" altLang="en-US" dirty="0"/>
          </a:p>
        </p:txBody>
      </p:sp>
      <p:sp>
        <p:nvSpPr>
          <p:cNvPr id="3" name="TextBox 2"/>
          <p:cNvSpPr txBox="1"/>
          <p:nvPr>
            <p:custDataLst>
              <p:tags r:id="rId2"/>
            </p:custDataLst>
          </p:nvPr>
        </p:nvSpPr>
        <p:spPr>
          <a:xfrm>
            <a:off x="600076" y="1961965"/>
            <a:ext cx="2472690" cy="1322070"/>
          </a:xfrm>
          <a:prstGeom prst="rect">
            <a:avLst/>
          </a:prstGeom>
          <a:noFill/>
        </p:spPr>
        <p:txBody>
          <a:bodyPr wrap="none" rtlCol="0">
            <a:spAutoFit/>
          </a:bodyPr>
          <a:p>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主要为四大块：</a:t>
            </a:r>
            <a:endParaRPr lang="zh-CN" altLang="en-US" sz="1600" dirty="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白盒</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硬件电路测试</a:t>
            </a:r>
            <a:endParaRPr lang="zh-CN" altLang="en-US" sz="1600" dirty="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黑盒</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环境可靠性测试</a:t>
            </a:r>
            <a:endParaRPr lang="zh-CN" altLang="en-US" sz="1600" dirty="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黑盒</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机械可靠性测试</a:t>
            </a:r>
            <a:endParaRPr lang="zh-CN" altLang="en-US" sz="1600" dirty="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黑盒</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性能测试</a:t>
            </a:r>
            <a:endParaRPr lang="zh-CN" altLang="en-US" sz="1600" dirty="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03" name="图片 102"/>
          <p:cNvPicPr/>
          <p:nvPr/>
        </p:nvPicPr>
        <p:blipFill>
          <a:blip r:embed="rId3"/>
          <a:stretch>
            <a:fillRect/>
          </a:stretch>
        </p:blipFill>
        <p:spPr>
          <a:xfrm>
            <a:off x="3532505" y="628015"/>
            <a:ext cx="8461375" cy="5672455"/>
          </a:xfrm>
          <a:prstGeom prst="rect">
            <a:avLst/>
          </a:prstGeom>
          <a:noFill/>
          <a:ln w="9525">
            <a:noFill/>
          </a:ln>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标题 1"/>
          <p:cNvSpPr>
            <a:spLocks noGrp="1"/>
          </p:cNvSpPr>
          <p:nvPr>
            <p:ph type="title"/>
          </p:nvPr>
        </p:nvSpPr>
        <p:spPr>
          <a:xfrm>
            <a:off x="426183" y="219"/>
            <a:ext cx="10364427" cy="563322"/>
          </a:xfrm>
        </p:spPr>
        <p:txBody>
          <a:bodyPr/>
          <a:lstStyle/>
          <a:p>
            <a:r>
              <a:rPr lang="zh-CN" altLang="en-US" b="1" dirty="0" smtClean="0">
                <a:solidFill>
                  <a:schemeClr val="bg1"/>
                </a:solidFill>
                <a:latin typeface="+mn-ea"/>
                <a:sym typeface="+mn-ea"/>
              </a:rPr>
              <a:t>六、</a:t>
            </a:r>
            <a:r>
              <a:rPr lang="zh-CN" altLang="en-US" b="1" dirty="0">
                <a:solidFill>
                  <a:schemeClr val="bg1"/>
                </a:solidFill>
                <a:latin typeface="+mn-ea"/>
                <a:sym typeface="+mn-ea"/>
              </a:rPr>
              <a:t>快门测试方案</a:t>
            </a:r>
            <a:endParaRPr lang="zh-CN" altLang="en-US" b="1" dirty="0" smtClean="0">
              <a:solidFill>
                <a:schemeClr val="bg1"/>
              </a:solidFill>
              <a:latin typeface="+mn-ea"/>
              <a:sym typeface="+mn-ea"/>
            </a:endParaRPr>
          </a:p>
        </p:txBody>
      </p:sp>
      <p:sp>
        <p:nvSpPr>
          <p:cNvPr id="3" name="TextBox 2"/>
          <p:cNvSpPr txBox="1"/>
          <p:nvPr>
            <p:custDataLst>
              <p:tags r:id="rId1"/>
            </p:custDataLst>
          </p:nvPr>
        </p:nvSpPr>
        <p:spPr>
          <a:xfrm>
            <a:off x="513715" y="1107440"/>
            <a:ext cx="11127105" cy="4961890"/>
          </a:xfrm>
          <a:prstGeom prst="rect">
            <a:avLst/>
          </a:prstGeom>
          <a:noFill/>
        </p:spPr>
        <p:txBody>
          <a:bodyPr wrap="none" rtlCol="0">
            <a:noAutofit/>
          </a:bodyPr>
          <a:p>
            <a:pPr marL="285750" indent="-285750" algn="l">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白盒</a:t>
            </a:r>
            <a:endParaRPr lang="zh-CN" altLang="en-US" sz="1600" dirty="0">
              <a:latin typeface="微软雅黑" panose="020B0503020204020204" pitchFamily="34" charset="-122"/>
              <a:ea typeface="微软雅黑" panose="020B0503020204020204" pitchFamily="34" charset="-122"/>
              <a:cs typeface="微软雅黑" panose="020B0503020204020204" pitchFamily="34" charset="-122"/>
            </a:endParaRPr>
          </a:p>
          <a:p>
            <a:pPr indent="0" algn="l">
              <a:buFont typeface="Arial" panose="020B0604020202020204" pitchFamily="34" charset="0"/>
              <a:buNone/>
            </a:pP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    1. </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快门供电电压低于门限要求，硬件调整快门电压；</a:t>
            </a:r>
            <a:endParaRPr lang="en-US" altLang="zh-CN" sz="1600" dirty="0">
              <a:latin typeface="微软雅黑" panose="020B0503020204020204" pitchFamily="34" charset="-122"/>
              <a:ea typeface="微软雅黑" panose="020B0503020204020204" pitchFamily="34" charset="-122"/>
              <a:cs typeface="微软雅黑" panose="020B0503020204020204" pitchFamily="34" charset="-122"/>
            </a:endParaRPr>
          </a:p>
          <a:p>
            <a:pPr indent="0" algn="l">
              <a:buFont typeface="Arial" panose="020B0604020202020204" pitchFamily="34" charset="0"/>
              <a:buNone/>
            </a:pP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    2. 快门通电时间不满足要求</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ASIC</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调整快门通电时间；</a:t>
            </a:r>
            <a:endParaRPr lang="zh-CN" altLang="en-US" sz="1600" dirty="0">
              <a:latin typeface="微软雅黑" panose="020B0503020204020204" pitchFamily="34" charset="-122"/>
              <a:ea typeface="微软雅黑" panose="020B0503020204020204" pitchFamily="34" charset="-122"/>
              <a:cs typeface="微软雅黑" panose="020B0503020204020204" pitchFamily="34" charset="-122"/>
            </a:endParaRPr>
          </a:p>
          <a:p>
            <a:pPr indent="0" algn="l">
              <a:buFont typeface="Arial" panose="020B0604020202020204" pitchFamily="34" charset="0"/>
              <a:buNone/>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   3. </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打快门时过冲，硬件更改快门滤波电容容值；</a:t>
            </a:r>
            <a:endParaRPr lang="zh-CN" altLang="en-US" sz="1600" dirty="0">
              <a:latin typeface="微软雅黑" panose="020B0503020204020204" pitchFamily="34" charset="-122"/>
              <a:ea typeface="微软雅黑" panose="020B0503020204020204" pitchFamily="34" charset="-122"/>
              <a:cs typeface="微软雅黑" panose="020B0503020204020204" pitchFamily="34" charset="-122"/>
            </a:endParaRPr>
          </a:p>
          <a:p>
            <a:pPr indent="0" algn="l">
              <a:buFont typeface="Arial" panose="020B0604020202020204" pitchFamily="34" charset="0"/>
              <a:buNone/>
            </a:pPr>
            <a:endParaRPr lang="en-US" altLang="zh-CN" sz="1600" dirty="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gn="l">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黑盒</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环境可靠性测试</a:t>
            </a:r>
            <a:endParaRPr lang="zh-CN" altLang="en-US" sz="1600" dirty="0">
              <a:latin typeface="微软雅黑" panose="020B0503020204020204" pitchFamily="34" charset="-122"/>
              <a:ea typeface="微软雅黑" panose="020B0503020204020204" pitchFamily="34" charset="-122"/>
              <a:cs typeface="微软雅黑" panose="020B0503020204020204" pitchFamily="34" charset="-122"/>
            </a:endParaRPr>
          </a:p>
          <a:p>
            <a:pPr indent="0" algn="l">
              <a:buFont typeface="Arial" panose="020B0604020202020204" pitchFamily="34" charset="0"/>
              <a:buNone/>
            </a:pP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    1. </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高温工作测试快门超温卡死问题，新增测温档位，降低快门温；</a:t>
            </a:r>
            <a:endParaRPr lang="zh-CN" altLang="en-US" sz="1600" dirty="0">
              <a:latin typeface="微软雅黑" panose="020B0503020204020204" pitchFamily="34" charset="-122"/>
              <a:ea typeface="微软雅黑" panose="020B0503020204020204" pitchFamily="34" charset="-122"/>
              <a:cs typeface="微软雅黑" panose="020B0503020204020204" pitchFamily="34" charset="-122"/>
            </a:endParaRPr>
          </a:p>
          <a:p>
            <a:pPr indent="0" algn="l">
              <a:buFont typeface="Arial" panose="020B0604020202020204" pitchFamily="34" charset="0"/>
              <a:buNone/>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   2. </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高温高湿存储测试快门卡死，更换快门材质；</a:t>
            </a:r>
            <a:endParaRPr lang="zh-CN" altLang="en-US" sz="1600" dirty="0">
              <a:latin typeface="微软雅黑" panose="020B0503020204020204" pitchFamily="34" charset="-122"/>
              <a:ea typeface="微软雅黑" panose="020B0503020204020204" pitchFamily="34" charset="-122"/>
              <a:cs typeface="微软雅黑" panose="020B0503020204020204" pitchFamily="34" charset="-122"/>
            </a:endParaRPr>
          </a:p>
          <a:p>
            <a:pPr indent="0" algn="l">
              <a:buFont typeface="Arial" panose="020B0604020202020204" pitchFamily="34" charset="0"/>
              <a:buNone/>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   3. </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低温工作测试快门卡死，抬高快门驱动电压；</a:t>
            </a:r>
            <a:endParaRPr lang="en-US" altLang="zh-CN" sz="1600" dirty="0">
              <a:latin typeface="微软雅黑" panose="020B0503020204020204" pitchFamily="34" charset="-122"/>
              <a:ea typeface="微软雅黑" panose="020B0503020204020204" pitchFamily="34" charset="-122"/>
              <a:cs typeface="微软雅黑" panose="020B0503020204020204" pitchFamily="34" charset="-122"/>
            </a:endParaRPr>
          </a:p>
          <a:p>
            <a:pPr indent="0" algn="l">
              <a:buFont typeface="Arial" panose="020B0604020202020204" pitchFamily="34" charset="0"/>
              <a:buNone/>
            </a:pPr>
            <a:endParaRPr lang="zh-CN" altLang="en-US" sz="1600" dirty="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gn="l">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黑盒</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机械可靠性测试</a:t>
            </a:r>
            <a:endParaRPr lang="zh-CN" altLang="en-US" sz="1600" dirty="0">
              <a:latin typeface="微软雅黑" panose="020B0503020204020204" pitchFamily="34" charset="-122"/>
              <a:ea typeface="微软雅黑" panose="020B0503020204020204" pitchFamily="34" charset="-122"/>
              <a:cs typeface="微软雅黑" panose="020B0503020204020204" pitchFamily="34" charset="-122"/>
            </a:endParaRPr>
          </a:p>
          <a:p>
            <a:pPr indent="0" algn="l">
              <a:buFont typeface="Arial" panose="020B0604020202020204" pitchFamily="34" charset="0"/>
              <a:buNone/>
            </a:pP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    1. </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打枪时快门损坏，更换抗冲击快门；</a:t>
            </a:r>
            <a:endParaRPr lang="zh-CN" altLang="en-US" sz="1600" dirty="0">
              <a:latin typeface="微软雅黑" panose="020B0503020204020204" pitchFamily="34" charset="-122"/>
              <a:ea typeface="微软雅黑" panose="020B0503020204020204" pitchFamily="34" charset="-122"/>
              <a:cs typeface="微软雅黑" panose="020B0503020204020204" pitchFamily="34" charset="-122"/>
            </a:endParaRPr>
          </a:p>
          <a:p>
            <a:pPr indent="0" algn="l">
              <a:buFont typeface="Arial" panose="020B0604020202020204" pitchFamily="34" charset="0"/>
              <a:buNone/>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   2. </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包装跌落快门损坏，更换快门；</a:t>
            </a:r>
            <a:endParaRPr lang="zh-CN" altLang="en-US" sz="1600" dirty="0">
              <a:latin typeface="微软雅黑" panose="020B0503020204020204" pitchFamily="34" charset="-122"/>
              <a:ea typeface="微软雅黑" panose="020B0503020204020204" pitchFamily="34" charset="-122"/>
              <a:cs typeface="微软雅黑" panose="020B0503020204020204" pitchFamily="34" charset="-122"/>
            </a:endParaRPr>
          </a:p>
          <a:p>
            <a:pPr indent="0" algn="l">
              <a:buFont typeface="Arial" panose="020B0604020202020204" pitchFamily="34" charset="0"/>
              <a:buNone/>
            </a:pPr>
            <a:endParaRPr lang="zh-CN" altLang="en-US" sz="1600" dirty="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gn="l">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黑盒</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性能测试</a:t>
            </a:r>
            <a:endParaRPr lang="zh-CN" altLang="en-US" sz="1600" dirty="0">
              <a:latin typeface="微软雅黑" panose="020B0503020204020204" pitchFamily="34" charset="-122"/>
              <a:ea typeface="微软雅黑" panose="020B0503020204020204" pitchFamily="34" charset="-122"/>
              <a:cs typeface="微软雅黑" panose="020B0503020204020204" pitchFamily="34" charset="-122"/>
            </a:endParaRPr>
          </a:p>
          <a:p>
            <a:pPr indent="0" algn="l">
              <a:buFont typeface="Arial" panose="020B0604020202020204" pitchFamily="34" charset="0"/>
              <a:buNone/>
            </a:pP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    1. </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快门噪音超标，更换静音快门</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600" dirty="0">
              <a:latin typeface="微软雅黑" panose="020B0503020204020204" pitchFamily="34" charset="-122"/>
              <a:ea typeface="微软雅黑" panose="020B0503020204020204" pitchFamily="34" charset="-122"/>
              <a:cs typeface="微软雅黑" panose="020B0503020204020204" pitchFamily="34" charset="-122"/>
            </a:endParaRPr>
          </a:p>
          <a:p>
            <a:pPr indent="0" algn="l">
              <a:buFont typeface="Arial" panose="020B0604020202020204" pitchFamily="34" charset="0"/>
              <a:buNone/>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   2. </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快门抗磁性能差，更换抗磁快门，更换快门锁定方式；</a:t>
            </a:r>
            <a:endParaRPr lang="zh-CN" altLang="en-US" sz="1600" dirty="0">
              <a:latin typeface="微软雅黑" panose="020B0503020204020204" pitchFamily="34" charset="-122"/>
              <a:ea typeface="微软雅黑" panose="020B0503020204020204" pitchFamily="34" charset="-122"/>
              <a:cs typeface="微软雅黑" panose="020B0503020204020204" pitchFamily="34" charset="-122"/>
            </a:endParaRPr>
          </a:p>
          <a:p>
            <a:pPr indent="0" algn="l">
              <a:buFont typeface="Arial" panose="020B0604020202020204" pitchFamily="34" charset="0"/>
              <a:buNone/>
            </a:pPr>
            <a:endParaRPr lang="zh-CN" altLang="en-US" sz="1600" dirty="0">
              <a:latin typeface="微软雅黑" panose="020B0503020204020204" pitchFamily="34" charset="-122"/>
              <a:ea typeface="微软雅黑" panose="020B0503020204020204" pitchFamily="34" charset="-122"/>
              <a:cs typeface="微软雅黑" panose="020B0503020204020204" pitchFamily="34" charset="-122"/>
            </a:endParaRPr>
          </a:p>
          <a:p>
            <a:pPr indent="0" algn="l">
              <a:buFont typeface="Arial" panose="020B0604020202020204" pitchFamily="34" charset="0"/>
              <a:buNone/>
            </a:pPr>
            <a:endParaRPr lang="zh-CN" altLang="en-US" sz="16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文本框 1"/>
          <p:cNvSpPr txBox="1"/>
          <p:nvPr/>
        </p:nvSpPr>
        <p:spPr>
          <a:xfrm>
            <a:off x="596265" y="689610"/>
            <a:ext cx="3599815" cy="368300"/>
          </a:xfrm>
          <a:prstGeom prst="rect">
            <a:avLst/>
          </a:prstGeom>
          <a:noFill/>
        </p:spPr>
        <p:txBody>
          <a:bodyPr wrap="square" rtlCol="0">
            <a:spAutoFit/>
          </a:bodyPr>
          <a:p>
            <a:r>
              <a:rPr lang="zh-CN" altLang="en-US"/>
              <a:t>测试</a:t>
            </a:r>
            <a:r>
              <a:rPr lang="en-US" altLang="zh-CN"/>
              <a:t>——</a:t>
            </a:r>
            <a:r>
              <a:rPr lang="zh-CN" altLang="en-US"/>
              <a:t>快门常见问题</a:t>
            </a:r>
            <a:endParaRPr lang="zh-CN" altLang="en-US"/>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35" y="-95885"/>
            <a:ext cx="6767195" cy="716280"/>
          </a:xfrm>
          <a:prstGeom prst="rect">
            <a:avLst/>
          </a:prstGeom>
          <a:noFill/>
        </p:spPr>
        <p:txBody>
          <a:bodyPr wrap="square" rtlCol="0">
            <a:spAutoFit/>
          </a:bodyPr>
          <a:lstStyle/>
          <a:p>
            <a:pPr indent="360680">
              <a:lnSpc>
                <a:spcPct val="150000"/>
              </a:lnSpc>
              <a:buClr>
                <a:schemeClr val="tx2"/>
              </a:buClr>
              <a:buSzPct val="100000"/>
            </a:pPr>
            <a:r>
              <a:rPr lang="zh-CN" altLang="en-US" sz="2710" b="1" dirty="0">
                <a:solidFill>
                  <a:schemeClr val="bg1"/>
                </a:solidFill>
                <a:latin typeface="+mn-ea"/>
                <a:sym typeface="+mn-ea"/>
              </a:rPr>
              <a:t>七、嵌入式平台图像算法加速与优化</a:t>
            </a:r>
            <a:endParaRPr lang="zh-CN" altLang="en-US" sz="2710" b="1" dirty="0">
              <a:solidFill>
                <a:schemeClr val="bg1"/>
              </a:solidFill>
              <a:latin typeface="+mn-ea"/>
              <a:sym typeface="+mn-ea"/>
            </a:endParaRPr>
          </a:p>
        </p:txBody>
      </p:sp>
      <p:sp>
        <p:nvSpPr>
          <p:cNvPr id="100" name="文本框 99"/>
          <p:cNvSpPr txBox="1"/>
          <p:nvPr/>
        </p:nvSpPr>
        <p:spPr>
          <a:xfrm>
            <a:off x="547852" y="1126189"/>
            <a:ext cx="6212398" cy="300355"/>
          </a:xfrm>
          <a:prstGeom prst="rect">
            <a:avLst/>
          </a:prstGeom>
          <a:noFill/>
          <a:ln w="9525">
            <a:noFill/>
          </a:ln>
        </p:spPr>
        <p:txBody>
          <a:bodyPr wrap="square">
            <a:spAutoFit/>
          </a:bodyPr>
          <a:p>
            <a:pPr indent="0"/>
            <a:r>
              <a:rPr sz="1355" b="1">
                <a:latin typeface="Times New Roman" panose="02020603050405020304" charset="0"/>
                <a:ea typeface="宋体" panose="02010600030101010101" pitchFamily="2" charset="-122"/>
              </a:rPr>
              <a:t>算法优化参考流程如下图所示:</a:t>
            </a:r>
            <a:endParaRPr sz="1355" b="1">
              <a:latin typeface="Times New Roman" panose="02020603050405020304" charset="0"/>
              <a:ea typeface="宋体" panose="02010600030101010101" pitchFamily="2" charset="-122"/>
            </a:endParaRPr>
          </a:p>
        </p:txBody>
      </p:sp>
      <p:graphicFrame>
        <p:nvGraphicFramePr>
          <p:cNvPr id="2" name="对象 -2147482624"/>
          <p:cNvGraphicFramePr/>
          <p:nvPr>
            <p:custDataLst>
              <p:tags r:id="rId1"/>
            </p:custDataLst>
          </p:nvPr>
        </p:nvGraphicFramePr>
        <p:xfrm>
          <a:off x="417207" y="1585734"/>
          <a:ext cx="6114548" cy="4803789"/>
        </p:xfrm>
        <a:graphic>
          <a:graphicData uri="http://schemas.openxmlformats.org/presentationml/2006/ole">
            <mc:AlternateContent xmlns:mc="http://schemas.openxmlformats.org/markup-compatibility/2006">
              <mc:Choice xmlns:v="urn:schemas-microsoft-com:vml" Requires="v">
                <p:oleObj spid="_x0000_s3076" name="" r:id="rId2" imgW="8794115" imgH="6006465" progId="Visio.Drawing.15">
                  <p:embed/>
                </p:oleObj>
              </mc:Choice>
              <mc:Fallback>
                <p:oleObj name="" r:id="rId2" imgW="8794115" imgH="6006465" progId="Visio.Drawing.15">
                  <p:embed/>
                  <p:pic>
                    <p:nvPicPr>
                      <p:cNvPr id="0" name="图片 3075"/>
                      <p:cNvPicPr/>
                      <p:nvPr/>
                    </p:nvPicPr>
                    <p:blipFill>
                      <a:blip r:embed="rId3"/>
                      <a:stretch>
                        <a:fillRect/>
                      </a:stretch>
                    </p:blipFill>
                    <p:spPr>
                      <a:xfrm>
                        <a:off x="417207" y="1585734"/>
                        <a:ext cx="6114548" cy="4803789"/>
                      </a:xfrm>
                      <a:prstGeom prst="rect">
                        <a:avLst/>
                      </a:prstGeom>
                      <a:noFill/>
                      <a:ln w="38100">
                        <a:noFill/>
                        <a:miter/>
                      </a:ln>
                    </p:spPr>
                  </p:pic>
                </p:oleObj>
              </mc:Fallback>
            </mc:AlternateContent>
          </a:graphicData>
        </a:graphic>
      </p:graphicFrame>
      <p:sp>
        <p:nvSpPr>
          <p:cNvPr id="5" name="文本框 4"/>
          <p:cNvSpPr txBox="1"/>
          <p:nvPr/>
        </p:nvSpPr>
        <p:spPr>
          <a:xfrm>
            <a:off x="6759176" y="990546"/>
            <a:ext cx="4701100" cy="1973580"/>
          </a:xfrm>
          <a:prstGeom prst="rect">
            <a:avLst/>
          </a:prstGeom>
          <a:noFill/>
          <a:ln w="9525">
            <a:noFill/>
          </a:ln>
        </p:spPr>
        <p:txBody>
          <a:bodyPr wrap="square">
            <a:spAutoFit/>
          </a:bodyPr>
          <a:p>
            <a:pPr indent="254000"/>
            <a:r>
              <a:rPr lang="zh-CN" sz="1525" b="1">
                <a:latin typeface="Times New Roman" panose="02020603050405020304" charset="0"/>
                <a:ea typeface="宋体" panose="02010600030101010101" pitchFamily="2" charset="-122"/>
              </a:rPr>
              <a:t>1．算法优化基本原则</a:t>
            </a:r>
            <a:r>
              <a:rPr lang="en-US" sz="1525" b="0">
                <a:latin typeface="Times New Roman" panose="02020603050405020304" charset="0"/>
                <a:ea typeface="宋体" panose="02010600030101010101" pitchFamily="2" charset="-122"/>
              </a:rPr>
              <a:t>A </a:t>
            </a:r>
            <a:r>
              <a:rPr lang="zh-CN" sz="1525" b="0">
                <a:latin typeface="Times New Roman" panose="02020603050405020304" charset="0"/>
                <a:ea typeface="宋体" panose="02010600030101010101" pitchFamily="2" charset="-122"/>
              </a:rPr>
              <a:t>等效原则：优化前后程序实现的功能一致；</a:t>
            </a:r>
            <a:endParaRPr lang="zh-CN" sz="1525" b="0">
              <a:latin typeface="Times New Roman" panose="02020603050405020304" charset="0"/>
              <a:ea typeface="宋体" panose="02010600030101010101" pitchFamily="2" charset="-122"/>
            </a:endParaRPr>
          </a:p>
          <a:p>
            <a:pPr indent="254000"/>
            <a:r>
              <a:rPr lang="en-US" sz="1525" b="0">
                <a:latin typeface="Times New Roman" panose="02020603050405020304" charset="0"/>
                <a:ea typeface="宋体" panose="02010600030101010101" pitchFamily="2" charset="-122"/>
              </a:rPr>
              <a:t>B </a:t>
            </a:r>
            <a:r>
              <a:rPr lang="zh-CN" sz="1525" b="0">
                <a:latin typeface="Times New Roman" panose="02020603050405020304" charset="0"/>
                <a:ea typeface="宋体" panose="02010600030101010101" pitchFamily="2" charset="-122"/>
              </a:rPr>
              <a:t>有效原则：优化后要比优化前运行速度快或占用存储空间小，或二者兼有；</a:t>
            </a:r>
            <a:endParaRPr lang="zh-CN" sz="1525" b="0">
              <a:latin typeface="Times New Roman" panose="02020603050405020304" charset="0"/>
              <a:ea typeface="宋体" panose="02010600030101010101" pitchFamily="2" charset="-122"/>
            </a:endParaRPr>
          </a:p>
          <a:p>
            <a:pPr indent="254000"/>
            <a:r>
              <a:rPr lang="en-US" sz="1525" b="0">
                <a:latin typeface="Times New Roman" panose="02020603050405020304" charset="0"/>
                <a:ea typeface="宋体" panose="02010600030101010101" pitchFamily="2" charset="-122"/>
              </a:rPr>
              <a:t>C </a:t>
            </a:r>
            <a:r>
              <a:rPr lang="zh-CN" sz="1525" b="0">
                <a:latin typeface="Times New Roman" panose="02020603050405020304" charset="0"/>
                <a:ea typeface="宋体" panose="02010600030101010101" pitchFamily="2" charset="-122"/>
              </a:rPr>
              <a:t>经济原则：优化程序要付出较小的代价，取得较好的结果。</a:t>
            </a:r>
            <a:endParaRPr lang="zh-CN" altLang="en-US" sz="1525" b="0">
              <a:latin typeface="Times New Roman" panose="02020603050405020304" charset="0"/>
              <a:ea typeface="宋体" panose="02010600030101010101" pitchFamily="2" charset="-122"/>
            </a:endParaRPr>
          </a:p>
        </p:txBody>
      </p:sp>
      <p:sp>
        <p:nvSpPr>
          <p:cNvPr id="6" name="文本框 5"/>
          <p:cNvSpPr txBox="1"/>
          <p:nvPr/>
        </p:nvSpPr>
        <p:spPr>
          <a:xfrm>
            <a:off x="6766971" y="3306957"/>
            <a:ext cx="4301098" cy="2209165"/>
          </a:xfrm>
          <a:prstGeom prst="rect">
            <a:avLst/>
          </a:prstGeom>
          <a:noFill/>
          <a:ln w="9525">
            <a:noFill/>
          </a:ln>
        </p:spPr>
        <p:txBody>
          <a:bodyPr>
            <a:spAutoFit/>
          </a:bodyPr>
          <a:p>
            <a:pPr indent="254000" algn="l">
              <a:buClrTx/>
              <a:buSzTx/>
              <a:buNone/>
            </a:pPr>
            <a:r>
              <a:rPr lang="zh-CN" sz="1525" b="1">
                <a:latin typeface="Times New Roman" panose="02020603050405020304" charset="0"/>
                <a:ea typeface="宋体" panose="02010600030101010101" pitchFamily="2" charset="-122"/>
              </a:rPr>
              <a:t>2.算法性能评估指标</a:t>
            </a:r>
            <a:endParaRPr lang="zh-CN" sz="1525" b="0">
              <a:latin typeface="Times New Roman" panose="02020603050405020304" charset="0"/>
              <a:ea typeface="宋体" panose="02010600030101010101" pitchFamily="2" charset="-122"/>
            </a:endParaRPr>
          </a:p>
          <a:p>
            <a:pPr indent="254000" algn="l">
              <a:buClrTx/>
              <a:buSzTx/>
              <a:buNone/>
            </a:pPr>
            <a:r>
              <a:rPr lang="en-US" sz="1525" b="0">
                <a:latin typeface="Times New Roman" panose="02020603050405020304" charset="0"/>
                <a:ea typeface="宋体" panose="02010600030101010101" pitchFamily="2" charset="-122"/>
              </a:rPr>
              <a:t>      综合性能测试评估基本指标：时间，内存，CPU占用率，功耗</a:t>
            </a:r>
            <a:endParaRPr lang="en-US" sz="1525" b="0">
              <a:latin typeface="Times New Roman" panose="02020603050405020304" charset="0"/>
              <a:ea typeface="宋体" panose="02010600030101010101" pitchFamily="2" charset="-122"/>
            </a:endParaRPr>
          </a:p>
          <a:p>
            <a:pPr indent="254000" algn="l">
              <a:buClrTx/>
              <a:buSzTx/>
              <a:buNone/>
            </a:pPr>
            <a:r>
              <a:rPr lang="en-US" sz="1525" b="0">
                <a:latin typeface="Times New Roman" panose="02020603050405020304" charset="0"/>
                <a:ea typeface="宋体" panose="02010600030101010101" pitchFamily="2" charset="-122"/>
              </a:rPr>
              <a:t>函数优化大致方向：A消除冗余计算B消除，优化选择，跳转分支C低效率函数优化D内存访问效率优化</a:t>
            </a:r>
            <a:endParaRPr lang="en-US" sz="1525" b="0">
              <a:latin typeface="Times New Roman" panose="02020603050405020304" charset="0"/>
              <a:ea typeface="宋体" panose="02010600030101010101" pitchFamily="2" charset="-122"/>
            </a:endParaRPr>
          </a:p>
        </p:txBody>
      </p:sp>
      <p:sp>
        <p:nvSpPr>
          <p:cNvPr id="3" name="文本框 2"/>
          <p:cNvSpPr txBox="1"/>
          <p:nvPr/>
        </p:nvSpPr>
        <p:spPr>
          <a:xfrm>
            <a:off x="3175" y="520700"/>
            <a:ext cx="5756910" cy="553085"/>
          </a:xfrm>
          <a:prstGeom prst="rect">
            <a:avLst/>
          </a:prstGeom>
          <a:noFill/>
        </p:spPr>
        <p:txBody>
          <a:bodyPr wrap="square" rtlCol="0" anchor="t">
            <a:spAutoFit/>
          </a:bodyPr>
          <a:p>
            <a:pPr indent="360680">
              <a:lnSpc>
                <a:spcPct val="150000"/>
              </a:lnSpc>
              <a:buClr>
                <a:schemeClr val="tx2"/>
              </a:buClr>
              <a:buSzPct val="100000"/>
            </a:pPr>
            <a:r>
              <a:rPr lang="en-US" altLang="zh-CN" sz="2000" b="1" dirty="0">
                <a:solidFill>
                  <a:schemeClr val="tx1"/>
                </a:solidFill>
                <a:latin typeface="+mn-ea"/>
                <a:sym typeface="+mn-ea"/>
              </a:rPr>
              <a:t>7.1</a:t>
            </a:r>
            <a:r>
              <a:rPr lang="zh-CN" altLang="en-US" sz="2000" b="1" dirty="0">
                <a:solidFill>
                  <a:schemeClr val="tx1"/>
                </a:solidFill>
                <a:latin typeface="+mn-ea"/>
                <a:sym typeface="+mn-ea"/>
              </a:rPr>
              <a:t>算法优化流程</a:t>
            </a:r>
            <a:endParaRPr lang="zh-CN" altLang="en-US" sz="2000" b="1" dirty="0">
              <a:solidFill>
                <a:schemeClr val="tx1"/>
              </a:solidFill>
              <a:latin typeface="+mn-ea"/>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88" y="-46132"/>
            <a:ext cx="4328672" cy="716280"/>
          </a:xfrm>
          <a:prstGeom prst="rect">
            <a:avLst/>
          </a:prstGeom>
          <a:noFill/>
        </p:spPr>
        <p:txBody>
          <a:bodyPr wrap="square" rtlCol="0">
            <a:spAutoFit/>
          </a:bodyPr>
          <a:lstStyle/>
          <a:p>
            <a:pPr lvl="0" indent="360680" algn="l">
              <a:lnSpc>
                <a:spcPct val="150000"/>
              </a:lnSpc>
              <a:buClr>
                <a:schemeClr val="tx2"/>
              </a:buClr>
              <a:buSzTx/>
              <a:buFontTx/>
            </a:pPr>
            <a:r>
              <a:rPr lang="en-US" altLang="zh-CN" sz="2710" b="1" dirty="0">
                <a:solidFill>
                  <a:schemeClr val="bg1"/>
                </a:solidFill>
                <a:latin typeface="+mn-ea"/>
                <a:sym typeface="+mn-ea"/>
              </a:rPr>
              <a:t>7.2 </a:t>
            </a:r>
            <a:r>
              <a:rPr lang="zh-CN" altLang="en-US" sz="2710" b="1" dirty="0">
                <a:solidFill>
                  <a:schemeClr val="bg1"/>
                </a:solidFill>
                <a:latin typeface="+mn-ea"/>
                <a:sym typeface="+mn-ea"/>
              </a:rPr>
              <a:t>算法性能摸底</a:t>
            </a:r>
            <a:endParaRPr lang="zh-CN" altLang="en-US" sz="2710" b="1" dirty="0">
              <a:solidFill>
                <a:schemeClr val="bg1"/>
              </a:solidFill>
              <a:latin typeface="+mn-ea"/>
              <a:sym typeface="+mn-ea"/>
            </a:endParaRPr>
          </a:p>
        </p:txBody>
      </p:sp>
      <p:sp>
        <p:nvSpPr>
          <p:cNvPr id="100" name="文本框 99"/>
          <p:cNvSpPr txBox="1"/>
          <p:nvPr/>
        </p:nvSpPr>
        <p:spPr>
          <a:xfrm>
            <a:off x="669925" y="750570"/>
            <a:ext cx="10562590" cy="1389380"/>
          </a:xfrm>
          <a:prstGeom prst="rect">
            <a:avLst/>
          </a:prstGeom>
          <a:noFill/>
          <a:ln w="9525">
            <a:noFill/>
          </a:ln>
        </p:spPr>
        <p:txBody>
          <a:bodyPr wrap="square">
            <a:noAutofit/>
          </a:bodyPr>
          <a:p>
            <a:pPr indent="0" fontAlgn="auto">
              <a:lnSpc>
                <a:spcPct val="150000"/>
              </a:lnSpc>
            </a:pPr>
            <a:r>
              <a:rPr lang="zh-CN" sz="1355" b="1">
                <a:latin typeface="Times New Roman" panose="02020603050405020304" charset="0"/>
                <a:ea typeface="宋体" panose="02010600030101010101" pitchFamily="2" charset="-122"/>
              </a:rPr>
              <a:t>1，算法优化遵循抓大放小的原则。首先把算法的整个流程执行一遍，然后根据每个函数的实际运行时间来判断是否需要优化。重点对运行时间长的函数进行优化，对于耗时较短的函数不予处理。2，算法性能摸底设计两组实验。第一组编译器开启三级优化选项，第二组编译器同时打开三级优化和</a:t>
            </a:r>
            <a:r>
              <a:rPr lang="en-US" sz="1355" b="1">
                <a:latin typeface="Times New Roman" panose="02020603050405020304" charset="0"/>
                <a:ea typeface="宋体" panose="02010600030101010101" pitchFamily="2" charset="-122"/>
              </a:rPr>
              <a:t>NEON</a:t>
            </a:r>
            <a:r>
              <a:rPr lang="zh-CN" sz="1355" b="1">
                <a:latin typeface="Times New Roman" panose="02020603050405020304" charset="0"/>
                <a:ea typeface="宋体" panose="02010600030101010101" pitchFamily="2" charset="-122"/>
              </a:rPr>
              <a:t>加速选项。通过对两组实验中函数的执行时间来判断那些函数需要被重点优化。</a:t>
            </a:r>
            <a:endParaRPr lang="zh-CN" altLang="en-US" sz="1355" b="1">
              <a:latin typeface="Times New Roman" panose="02020603050405020304" charset="0"/>
              <a:ea typeface="宋体" panose="02010600030101010101" pitchFamily="2" charset="-122"/>
            </a:endParaRPr>
          </a:p>
        </p:txBody>
      </p:sp>
      <p:pic>
        <p:nvPicPr>
          <p:cNvPr id="2" name="图片 1"/>
          <p:cNvPicPr>
            <a:picLocks noChangeAspect="1"/>
          </p:cNvPicPr>
          <p:nvPr/>
        </p:nvPicPr>
        <p:blipFill>
          <a:blip r:embed="rId1"/>
          <a:stretch>
            <a:fillRect/>
          </a:stretch>
        </p:blipFill>
        <p:spPr>
          <a:xfrm>
            <a:off x="669896" y="2465813"/>
            <a:ext cx="4822606" cy="2911306"/>
          </a:xfrm>
          <a:prstGeom prst="rect">
            <a:avLst/>
          </a:prstGeom>
        </p:spPr>
      </p:pic>
      <p:pic>
        <p:nvPicPr>
          <p:cNvPr id="7" name="图片 6"/>
          <p:cNvPicPr>
            <a:picLocks noChangeAspect="1"/>
          </p:cNvPicPr>
          <p:nvPr/>
        </p:nvPicPr>
        <p:blipFill>
          <a:blip r:embed="rId2"/>
          <a:stretch>
            <a:fillRect/>
          </a:stretch>
        </p:blipFill>
        <p:spPr>
          <a:xfrm>
            <a:off x="6157022" y="2522836"/>
            <a:ext cx="4903252" cy="2879047"/>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48117" y="929344"/>
            <a:ext cx="11035066" cy="326390"/>
          </a:xfrm>
          <a:prstGeom prst="rect">
            <a:avLst/>
          </a:prstGeom>
          <a:noFill/>
        </p:spPr>
        <p:txBody>
          <a:bodyPr wrap="square" rtlCol="0">
            <a:spAutoFit/>
          </a:bodyPr>
          <a:lstStyle/>
          <a:p>
            <a:endParaRPr lang="zh-CN" altLang="en-US" sz="1525" dirty="0"/>
          </a:p>
        </p:txBody>
      </p:sp>
      <p:pic>
        <p:nvPicPr>
          <p:cNvPr id="7" name="图片 6"/>
          <p:cNvPicPr>
            <a:picLocks noChangeAspect="1"/>
          </p:cNvPicPr>
          <p:nvPr/>
        </p:nvPicPr>
        <p:blipFill>
          <a:blip r:embed="rId1"/>
          <a:stretch>
            <a:fillRect/>
          </a:stretch>
        </p:blipFill>
        <p:spPr>
          <a:xfrm>
            <a:off x="731187" y="1356140"/>
            <a:ext cx="4483895" cy="3620987"/>
          </a:xfrm>
          <a:prstGeom prst="rect">
            <a:avLst/>
          </a:prstGeom>
        </p:spPr>
      </p:pic>
      <p:sp>
        <p:nvSpPr>
          <p:cNvPr id="100" name="文本框 99"/>
          <p:cNvSpPr txBox="1"/>
          <p:nvPr/>
        </p:nvSpPr>
        <p:spPr>
          <a:xfrm>
            <a:off x="5913472" y="1826572"/>
            <a:ext cx="5507018" cy="3230245"/>
          </a:xfrm>
          <a:prstGeom prst="rect">
            <a:avLst/>
          </a:prstGeom>
          <a:noFill/>
          <a:ln w="9525">
            <a:noFill/>
          </a:ln>
        </p:spPr>
        <p:txBody>
          <a:bodyPr wrap="square">
            <a:spAutoFit/>
          </a:bodyPr>
          <a:p>
            <a:pPr indent="0"/>
            <a:r>
              <a:rPr lang="zh-CN" sz="1695" b="1">
                <a:latin typeface="Times New Roman" panose="02020603050405020304" charset="0"/>
                <a:ea typeface="宋体" panose="02010600030101010101" pitchFamily="2" charset="-122"/>
              </a:rPr>
              <a:t>结果分析：</a:t>
            </a:r>
            <a:endParaRPr lang="zh-CN" sz="1695" b="1">
              <a:latin typeface="Times New Roman" panose="02020603050405020304" charset="0"/>
              <a:ea typeface="宋体" panose="02010600030101010101" pitchFamily="2" charset="-122"/>
            </a:endParaRPr>
          </a:p>
          <a:p>
            <a:pPr indent="0"/>
            <a:r>
              <a:rPr lang="zh-CN" sz="1695" b="1">
                <a:latin typeface="Times New Roman" panose="02020603050405020304" charset="0"/>
                <a:ea typeface="宋体" panose="02010600030101010101" pitchFamily="2" charset="-122"/>
              </a:rPr>
              <a:t>1，通过测试数据来看可以发现整个算法流程中时间消耗最长的函数是去竖纹，去横纹，空域滤波。2，开启</a:t>
            </a:r>
            <a:r>
              <a:rPr lang="en-US" sz="1695" b="1">
                <a:latin typeface="Times New Roman" panose="02020603050405020304" charset="0"/>
                <a:ea typeface="宋体" panose="02010600030101010101" pitchFamily="2" charset="-122"/>
              </a:rPr>
              <a:t>NEON</a:t>
            </a:r>
            <a:r>
              <a:rPr lang="zh-CN" sz="1695" b="1">
                <a:latin typeface="Times New Roman" panose="02020603050405020304" charset="0"/>
                <a:ea typeface="宋体" panose="02010600030101010101" pitchFamily="2" charset="-122"/>
              </a:rPr>
              <a:t>后并没有看到算法性能得到了实质性的提升，说明原始图像处理算法的实现代码耦合性强，复杂度较高，编译器对于代码中的复杂逻辑语句的识别率较低，需要进行代码分析，手动优化，以提升编译优化效率。</a:t>
            </a:r>
            <a:r>
              <a:rPr lang="en-US" sz="1695" b="1">
                <a:latin typeface="Times New Roman" panose="02020603050405020304" charset="0"/>
                <a:ea typeface="宋体" panose="02010600030101010101" pitchFamily="2" charset="-122"/>
              </a:rPr>
              <a:t>3</a:t>
            </a:r>
            <a:r>
              <a:rPr lang="zh-CN" sz="1695" b="1">
                <a:latin typeface="Times New Roman" panose="02020603050405020304" charset="0"/>
                <a:ea typeface="宋体" panose="02010600030101010101" pitchFamily="2" charset="-122"/>
              </a:rPr>
              <a:t>，从目前单帧运算时间来看，现有算法在不同分辨率的测试数据下单帧时长均高于</a:t>
            </a:r>
            <a:r>
              <a:rPr lang="en-US" sz="1695" b="1">
                <a:latin typeface="Times New Roman" panose="02020603050405020304" charset="0"/>
                <a:ea typeface="宋体" panose="02010600030101010101" pitchFamily="2" charset="-122"/>
              </a:rPr>
              <a:t>50ms</a:t>
            </a:r>
            <a:r>
              <a:rPr lang="zh-CN" sz="1695" b="1">
                <a:latin typeface="Times New Roman" panose="02020603050405020304" charset="0"/>
                <a:ea typeface="宋体" panose="02010600030101010101" pitchFamily="2" charset="-122"/>
              </a:rPr>
              <a:t>，不能达到实时处理水平。</a:t>
            </a:r>
            <a:endParaRPr lang="zh-CN" altLang="en-US" sz="1695" b="1">
              <a:latin typeface="Times New Roman" panose="02020603050405020304" charset="0"/>
              <a:ea typeface="宋体" panose="02010600030101010101" pitchFamily="2" charset="-122"/>
            </a:endParaRPr>
          </a:p>
        </p:txBody>
      </p:sp>
      <p:sp>
        <p:nvSpPr>
          <p:cNvPr id="4" name="TextBox 3"/>
          <p:cNvSpPr txBox="1"/>
          <p:nvPr>
            <p:custDataLst>
              <p:tags r:id="rId2"/>
            </p:custDataLst>
          </p:nvPr>
        </p:nvSpPr>
        <p:spPr>
          <a:xfrm>
            <a:off x="-588" y="-46132"/>
            <a:ext cx="4328672" cy="716280"/>
          </a:xfrm>
          <a:prstGeom prst="rect">
            <a:avLst/>
          </a:prstGeom>
          <a:noFill/>
        </p:spPr>
        <p:txBody>
          <a:bodyPr wrap="square" rtlCol="0">
            <a:spAutoFit/>
          </a:bodyPr>
          <a:p>
            <a:pPr lvl="0" indent="360680" algn="l">
              <a:lnSpc>
                <a:spcPct val="150000"/>
              </a:lnSpc>
              <a:buClr>
                <a:schemeClr val="tx2"/>
              </a:buClr>
              <a:buSzTx/>
              <a:buFontTx/>
            </a:pPr>
            <a:r>
              <a:rPr lang="en-US" altLang="zh-CN" sz="2710" b="1" dirty="0">
                <a:solidFill>
                  <a:schemeClr val="bg1"/>
                </a:solidFill>
                <a:latin typeface="+mn-ea"/>
                <a:sym typeface="+mn-ea"/>
              </a:rPr>
              <a:t>7.2 </a:t>
            </a:r>
            <a:r>
              <a:rPr lang="zh-CN" altLang="en-US" sz="2710" b="1" dirty="0">
                <a:solidFill>
                  <a:schemeClr val="bg1"/>
                </a:solidFill>
                <a:latin typeface="+mn-ea"/>
                <a:sym typeface="+mn-ea"/>
              </a:rPr>
              <a:t>算法性能摸底</a:t>
            </a:r>
            <a:endParaRPr lang="zh-CN" altLang="en-US" sz="2710" b="1" dirty="0">
              <a:solidFill>
                <a:schemeClr val="bg1"/>
              </a:solidFill>
              <a:latin typeface="+mn-ea"/>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88" y="-46132"/>
            <a:ext cx="4328672" cy="716280"/>
          </a:xfrm>
          <a:prstGeom prst="rect">
            <a:avLst/>
          </a:prstGeom>
          <a:noFill/>
        </p:spPr>
        <p:txBody>
          <a:bodyPr wrap="square" rtlCol="0">
            <a:spAutoFit/>
          </a:bodyPr>
          <a:lstStyle/>
          <a:p>
            <a:pPr indent="360680">
              <a:lnSpc>
                <a:spcPct val="150000"/>
              </a:lnSpc>
              <a:buClr>
                <a:schemeClr val="tx2"/>
              </a:buClr>
              <a:buSzPct val="100000"/>
            </a:pPr>
            <a:r>
              <a:rPr lang="zh-CN" altLang="en-US" sz="2710" b="1" dirty="0">
                <a:solidFill>
                  <a:schemeClr val="bg1"/>
                </a:solidFill>
                <a:latin typeface="+mn-ea"/>
              </a:rPr>
              <a:t>平台资源简介</a:t>
            </a:r>
            <a:endParaRPr lang="en-US" altLang="zh-CN" sz="2710" b="1" dirty="0">
              <a:solidFill>
                <a:schemeClr val="bg1"/>
              </a:solidFill>
              <a:latin typeface="+mn-ea"/>
            </a:endParaRPr>
          </a:p>
        </p:txBody>
      </p:sp>
      <p:sp>
        <p:nvSpPr>
          <p:cNvPr id="3" name="TextBox 2"/>
          <p:cNvSpPr txBox="1"/>
          <p:nvPr/>
        </p:nvSpPr>
        <p:spPr>
          <a:xfrm>
            <a:off x="487364" y="687945"/>
            <a:ext cx="11035066" cy="326390"/>
          </a:xfrm>
          <a:prstGeom prst="rect">
            <a:avLst/>
          </a:prstGeom>
          <a:noFill/>
        </p:spPr>
        <p:txBody>
          <a:bodyPr wrap="square" rtlCol="0">
            <a:spAutoFit/>
          </a:bodyPr>
          <a:lstStyle/>
          <a:p>
            <a:r>
              <a:rPr lang="zh-CN" altLang="en-US" sz="1525" dirty="0">
                <a:solidFill>
                  <a:schemeClr val="tx2"/>
                </a:solidFill>
              </a:rPr>
              <a:t>固定点灰度滤波函数优化</a:t>
            </a:r>
            <a:endParaRPr lang="zh-CN" altLang="en-US" sz="1525" dirty="0">
              <a:solidFill>
                <a:schemeClr val="tx2"/>
              </a:solidFill>
            </a:endParaRPr>
          </a:p>
        </p:txBody>
      </p:sp>
      <p:pic>
        <p:nvPicPr>
          <p:cNvPr id="2" name="图片 1"/>
          <p:cNvPicPr>
            <a:picLocks noChangeAspect="1"/>
          </p:cNvPicPr>
          <p:nvPr/>
        </p:nvPicPr>
        <p:blipFill>
          <a:blip r:embed="rId1"/>
          <a:stretch>
            <a:fillRect/>
          </a:stretch>
        </p:blipFill>
        <p:spPr>
          <a:xfrm>
            <a:off x="1015597" y="1173343"/>
            <a:ext cx="10161344" cy="529841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9998036" y="1417081"/>
            <a:ext cx="2072885" cy="326390"/>
          </a:xfrm>
          <a:prstGeom prst="rect">
            <a:avLst/>
          </a:prstGeom>
          <a:noFill/>
        </p:spPr>
        <p:txBody>
          <a:bodyPr wrap="square" rtlCol="0">
            <a:spAutoFit/>
          </a:bodyPr>
          <a:lstStyle/>
          <a:p>
            <a:endParaRPr lang="zh-CN" altLang="en-US" sz="1525" dirty="0"/>
          </a:p>
        </p:txBody>
      </p:sp>
      <p:sp>
        <p:nvSpPr>
          <p:cNvPr id="100" name="文本框 99"/>
          <p:cNvSpPr txBox="1"/>
          <p:nvPr/>
        </p:nvSpPr>
        <p:spPr>
          <a:xfrm>
            <a:off x="304303" y="1018874"/>
            <a:ext cx="11313501" cy="927100"/>
          </a:xfrm>
          <a:prstGeom prst="rect">
            <a:avLst/>
          </a:prstGeom>
          <a:noFill/>
          <a:ln w="9525">
            <a:noFill/>
          </a:ln>
        </p:spPr>
        <p:txBody>
          <a:bodyPr wrap="square">
            <a:spAutoFit/>
          </a:bodyPr>
          <a:p>
            <a:pPr indent="0"/>
            <a:r>
              <a:rPr lang="zh-CN" sz="1355" b="1">
                <a:latin typeface="Times New Roman" panose="02020603050405020304" charset="0"/>
                <a:ea typeface="宋体" panose="02010600030101010101" pitchFamily="2" charset="-122"/>
              </a:rPr>
              <a:t>1，固定点灰度滤波函数优化代码分析发现该函数的主循环中同时出现了两次条件判断、求取绝对值、多次算术运算等语句，这对编译器来讲是极其不友好的。为了简化循环逻辑，减少条件判断，需要对该主循环结构进行拆分。代码中应用到了滑窗运算，采用了</a:t>
            </a:r>
            <a:r>
              <a:rPr lang="en-US" sz="1355" b="1">
                <a:latin typeface="Times New Roman" panose="02020603050405020304" charset="0"/>
                <a:ea typeface="宋体" panose="02010600030101010101" pitchFamily="2" charset="-122"/>
              </a:rPr>
              <a:t>4</a:t>
            </a:r>
            <a:r>
              <a:rPr lang="zh-CN" sz="1355" b="1">
                <a:latin typeface="Times New Roman" panose="02020603050405020304" charset="0"/>
                <a:ea typeface="宋体" panose="02010600030101010101" pitchFamily="2" charset="-122"/>
              </a:rPr>
              <a:t>层</a:t>
            </a:r>
            <a:r>
              <a:rPr lang="en-US" sz="1355" b="1">
                <a:latin typeface="Times New Roman" panose="02020603050405020304" charset="0"/>
                <a:ea typeface="宋体" panose="02010600030101010101" pitchFamily="2" charset="-122"/>
              </a:rPr>
              <a:t>for</a:t>
            </a:r>
            <a:r>
              <a:rPr lang="zh-CN" sz="1355" b="1">
                <a:latin typeface="Times New Roman" panose="02020603050405020304" charset="0"/>
                <a:ea typeface="宋体" panose="02010600030101010101" pitchFamily="2" charset="-122"/>
              </a:rPr>
              <a:t>循环，循环体较深，且未指明循环次数，所以需要对内部循环指明循环次数。下面以</a:t>
            </a:r>
            <a:r>
              <a:rPr lang="en-US" sz="1355" b="1">
                <a:latin typeface="Times New Roman" panose="02020603050405020304" charset="0"/>
                <a:ea typeface="宋体" panose="02010600030101010101" pitchFamily="2" charset="-122"/>
              </a:rPr>
              <a:t>1024*768</a:t>
            </a:r>
            <a:r>
              <a:rPr lang="zh-CN" sz="1355" b="1">
                <a:latin typeface="Times New Roman" panose="02020603050405020304" charset="0"/>
                <a:ea typeface="宋体" panose="02010600030101010101" pitchFamily="2" charset="-122"/>
              </a:rPr>
              <a:t>大小的分辨率图像作为测试数据，对固定点灰度滤波函数从个角度进行代码级优化，并测试实验：</a:t>
            </a:r>
            <a:endParaRPr lang="zh-CN" altLang="en-US" sz="1355" b="1">
              <a:latin typeface="Times New Roman" panose="02020603050405020304" charset="0"/>
              <a:ea typeface="宋体" panose="02010600030101010101" pitchFamily="2" charset="-122"/>
            </a:endParaRPr>
          </a:p>
        </p:txBody>
      </p:sp>
      <p:pic>
        <p:nvPicPr>
          <p:cNvPr id="6" name="图片 5"/>
          <p:cNvPicPr>
            <a:picLocks noChangeAspect="1"/>
          </p:cNvPicPr>
          <p:nvPr/>
        </p:nvPicPr>
        <p:blipFill>
          <a:blip r:embed="rId1"/>
          <a:stretch>
            <a:fillRect/>
          </a:stretch>
        </p:blipFill>
        <p:spPr>
          <a:xfrm>
            <a:off x="2316141" y="2057220"/>
            <a:ext cx="5593578" cy="3729052"/>
          </a:xfrm>
          <a:prstGeom prst="rect">
            <a:avLst/>
          </a:prstGeom>
        </p:spPr>
      </p:pic>
      <p:sp>
        <p:nvSpPr>
          <p:cNvPr id="7" name="文本框 6"/>
          <p:cNvSpPr txBox="1"/>
          <p:nvPr/>
        </p:nvSpPr>
        <p:spPr>
          <a:xfrm>
            <a:off x="1523664" y="5806701"/>
            <a:ext cx="8301657" cy="300355"/>
          </a:xfrm>
          <a:prstGeom prst="rect">
            <a:avLst/>
          </a:prstGeom>
          <a:noFill/>
          <a:ln w="9525">
            <a:noFill/>
          </a:ln>
        </p:spPr>
        <p:txBody>
          <a:bodyPr wrap="square">
            <a:spAutoFit/>
          </a:bodyPr>
          <a:p>
            <a:pPr indent="266700"/>
            <a:r>
              <a:rPr lang="zh-CN" sz="1355" b="1">
                <a:latin typeface="Times New Roman" panose="02020603050405020304" charset="0"/>
                <a:ea typeface="宋体" panose="02010600030101010101" pitchFamily="2" charset="-122"/>
              </a:rPr>
              <a:t>从上述测试结果来看，经过两次代码级优化，执行时间减半，证明该方法是有效的。</a:t>
            </a:r>
            <a:endParaRPr lang="zh-CN" sz="1355" b="1">
              <a:latin typeface="Times New Roman" panose="02020603050405020304" charset="0"/>
              <a:ea typeface="宋体" panose="02010600030101010101" pitchFamily="2" charset="-122"/>
            </a:endParaRPr>
          </a:p>
        </p:txBody>
      </p:sp>
      <p:sp>
        <p:nvSpPr>
          <p:cNvPr id="2" name="TextBox 3"/>
          <p:cNvSpPr txBox="1"/>
          <p:nvPr>
            <p:custDataLst>
              <p:tags r:id="rId2"/>
            </p:custDataLst>
          </p:nvPr>
        </p:nvSpPr>
        <p:spPr>
          <a:xfrm>
            <a:off x="0" y="-46018"/>
            <a:ext cx="4328518" cy="482798"/>
          </a:xfrm>
          <a:prstGeom prst="rect">
            <a:avLst/>
          </a:prstGeom>
          <a:noFill/>
        </p:spPr>
        <p:txBody>
          <a:bodyPr wrap="square" rtlCol="0">
            <a:noAutofit/>
          </a:bodyPr>
          <a:p>
            <a:pPr indent="360680">
              <a:lnSpc>
                <a:spcPct val="150000"/>
              </a:lnSpc>
              <a:buClr>
                <a:schemeClr val="tx2"/>
              </a:buClr>
              <a:buSzPct val="100000"/>
            </a:pPr>
            <a:r>
              <a:rPr lang="en-US" altLang="zh-CN" sz="2710" b="1" dirty="0">
                <a:solidFill>
                  <a:schemeClr val="bg1"/>
                </a:solidFill>
                <a:latin typeface="+mn-ea"/>
              </a:rPr>
              <a:t>7.3 </a:t>
            </a:r>
            <a:r>
              <a:rPr lang="zh-CN" altLang="en-US" sz="2710" b="1" dirty="0">
                <a:solidFill>
                  <a:schemeClr val="bg1"/>
                </a:solidFill>
                <a:latin typeface="+mn-ea"/>
              </a:rPr>
              <a:t>代码级优化</a:t>
            </a:r>
            <a:endParaRPr lang="en-US" altLang="zh-CN" sz="2710" b="1" dirty="0">
              <a:solidFill>
                <a:schemeClr val="bg1"/>
              </a:solidFill>
              <a:latin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9998036" y="1417081"/>
            <a:ext cx="2072885" cy="326390"/>
          </a:xfrm>
          <a:prstGeom prst="rect">
            <a:avLst/>
          </a:prstGeom>
          <a:noFill/>
        </p:spPr>
        <p:txBody>
          <a:bodyPr wrap="square" rtlCol="0">
            <a:spAutoFit/>
          </a:bodyPr>
          <a:lstStyle/>
          <a:p>
            <a:endParaRPr lang="zh-CN" altLang="en-US" sz="1525" dirty="0"/>
          </a:p>
        </p:txBody>
      </p:sp>
      <p:sp>
        <p:nvSpPr>
          <p:cNvPr id="100" name="文本框 99"/>
          <p:cNvSpPr txBox="1"/>
          <p:nvPr/>
        </p:nvSpPr>
        <p:spPr>
          <a:xfrm>
            <a:off x="853230" y="951053"/>
            <a:ext cx="7037672" cy="300355"/>
          </a:xfrm>
          <a:prstGeom prst="rect">
            <a:avLst/>
          </a:prstGeom>
          <a:noFill/>
          <a:ln w="9525">
            <a:noFill/>
          </a:ln>
        </p:spPr>
        <p:txBody>
          <a:bodyPr wrap="square">
            <a:spAutoFit/>
          </a:bodyPr>
          <a:p>
            <a:pPr indent="266700"/>
            <a:r>
              <a:rPr lang="zh-CN" sz="1355" b="1">
                <a:latin typeface="Times New Roman" panose="02020603050405020304" charset="0"/>
                <a:ea typeface="宋体" panose="02010600030101010101" pitchFamily="2" charset="-122"/>
              </a:rPr>
              <a:t>将去竖纹，去横纹，空域滤波函数单独分析得到如下数据：</a:t>
            </a:r>
            <a:endParaRPr lang="zh-CN" altLang="en-US" sz="1355" b="1">
              <a:latin typeface="Times New Roman" panose="02020603050405020304" charset="0"/>
              <a:ea typeface="宋体" panose="02010600030101010101" pitchFamily="2" charset="-122"/>
            </a:endParaRPr>
          </a:p>
        </p:txBody>
      </p:sp>
      <p:pic>
        <p:nvPicPr>
          <p:cNvPr id="5" name="图片 4"/>
          <p:cNvPicPr>
            <a:picLocks noChangeAspect="1"/>
          </p:cNvPicPr>
          <p:nvPr/>
        </p:nvPicPr>
        <p:blipFill>
          <a:blip r:embed="rId1"/>
          <a:stretch>
            <a:fillRect/>
          </a:stretch>
        </p:blipFill>
        <p:spPr>
          <a:xfrm>
            <a:off x="731187" y="1363208"/>
            <a:ext cx="5196264" cy="2827972"/>
          </a:xfrm>
          <a:prstGeom prst="rect">
            <a:avLst/>
          </a:prstGeom>
        </p:spPr>
      </p:pic>
      <p:pic>
        <p:nvPicPr>
          <p:cNvPr id="6" name="图片 5"/>
          <p:cNvPicPr>
            <a:picLocks noChangeAspect="1"/>
          </p:cNvPicPr>
          <p:nvPr/>
        </p:nvPicPr>
        <p:blipFill>
          <a:blip r:embed="rId2"/>
          <a:stretch>
            <a:fillRect/>
          </a:stretch>
        </p:blipFill>
        <p:spPr>
          <a:xfrm>
            <a:off x="5913472" y="1371463"/>
            <a:ext cx="4866692" cy="2830123"/>
          </a:xfrm>
          <a:prstGeom prst="rect">
            <a:avLst/>
          </a:prstGeom>
        </p:spPr>
      </p:pic>
      <p:pic>
        <p:nvPicPr>
          <p:cNvPr id="7" name="图片 6"/>
          <p:cNvPicPr>
            <a:picLocks noChangeAspect="1"/>
          </p:cNvPicPr>
          <p:nvPr/>
        </p:nvPicPr>
        <p:blipFill>
          <a:blip r:embed="rId3"/>
          <a:stretch>
            <a:fillRect/>
          </a:stretch>
        </p:blipFill>
        <p:spPr>
          <a:xfrm>
            <a:off x="3474750" y="4299604"/>
            <a:ext cx="4537121" cy="2565605"/>
          </a:xfrm>
          <a:prstGeom prst="rect">
            <a:avLst/>
          </a:prstGeom>
        </p:spPr>
      </p:pic>
      <p:sp>
        <p:nvSpPr>
          <p:cNvPr id="2" name="TextBox 3"/>
          <p:cNvSpPr txBox="1"/>
          <p:nvPr>
            <p:custDataLst>
              <p:tags r:id="rId4"/>
            </p:custDataLst>
          </p:nvPr>
        </p:nvSpPr>
        <p:spPr>
          <a:xfrm>
            <a:off x="0" y="-46018"/>
            <a:ext cx="4328518" cy="482798"/>
          </a:xfrm>
          <a:prstGeom prst="rect">
            <a:avLst/>
          </a:prstGeom>
          <a:noFill/>
        </p:spPr>
        <p:txBody>
          <a:bodyPr wrap="square" rtlCol="0">
            <a:noAutofit/>
          </a:bodyPr>
          <a:lstStyle/>
          <a:p>
            <a:pPr indent="360680">
              <a:lnSpc>
                <a:spcPct val="150000"/>
              </a:lnSpc>
              <a:buClr>
                <a:schemeClr val="tx2"/>
              </a:buClr>
              <a:buSzPct val="100000"/>
            </a:pPr>
            <a:r>
              <a:rPr lang="en-US" altLang="zh-CN" sz="2710" b="1" dirty="0">
                <a:solidFill>
                  <a:schemeClr val="bg1"/>
                </a:solidFill>
                <a:latin typeface="+mn-ea"/>
              </a:rPr>
              <a:t>7.3 </a:t>
            </a:r>
            <a:r>
              <a:rPr lang="zh-CN" altLang="en-US" sz="2710" b="1" dirty="0">
                <a:solidFill>
                  <a:schemeClr val="bg1"/>
                </a:solidFill>
                <a:latin typeface="+mn-ea"/>
              </a:rPr>
              <a:t>代码级优化</a:t>
            </a:r>
            <a:endParaRPr lang="en-US" altLang="zh-CN" sz="2710" b="1" dirty="0">
              <a:solidFill>
                <a:schemeClr val="bg1"/>
              </a:solidFill>
              <a:latin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nvPicPr>
        <p:blipFill>
          <a:blip r:embed="rId1"/>
          <a:stretch>
            <a:fillRect/>
          </a:stretch>
        </p:blipFill>
        <p:spPr>
          <a:xfrm>
            <a:off x="1645708" y="1051299"/>
            <a:ext cx="7387136" cy="3774214"/>
          </a:xfrm>
          <a:prstGeom prst="rect">
            <a:avLst/>
          </a:prstGeom>
        </p:spPr>
      </p:pic>
      <p:sp>
        <p:nvSpPr>
          <p:cNvPr id="100" name="文本框 99"/>
          <p:cNvSpPr txBox="1"/>
          <p:nvPr/>
        </p:nvSpPr>
        <p:spPr>
          <a:xfrm>
            <a:off x="1157533" y="5258311"/>
            <a:ext cx="8611336" cy="509270"/>
          </a:xfrm>
          <a:prstGeom prst="rect">
            <a:avLst/>
          </a:prstGeom>
          <a:noFill/>
          <a:ln w="9525">
            <a:noFill/>
          </a:ln>
        </p:spPr>
        <p:txBody>
          <a:bodyPr wrap="square">
            <a:spAutoFit/>
          </a:bodyPr>
          <a:p>
            <a:pPr indent="266700"/>
            <a:r>
              <a:rPr lang="zh-CN" sz="1355" b="1">
                <a:latin typeface="Times New Roman" panose="02020603050405020304" charset="0"/>
                <a:ea typeface="宋体" panose="02010600030101010101" pitchFamily="2" charset="-122"/>
              </a:rPr>
              <a:t>通过上述优化措施，算法整体性能均提升一倍以上。在</a:t>
            </a:r>
            <a:r>
              <a:rPr lang="en-US" sz="1355" b="1">
                <a:latin typeface="Times New Roman" panose="02020603050405020304" charset="0"/>
                <a:ea typeface="宋体" panose="02010600030101010101" pitchFamily="2" charset="-122"/>
              </a:rPr>
              <a:t>256*192</a:t>
            </a:r>
            <a:r>
              <a:rPr lang="zh-CN" sz="1355" b="1">
                <a:latin typeface="Times New Roman" panose="02020603050405020304" charset="0"/>
                <a:ea typeface="宋体" panose="02010600030101010101" pitchFamily="2" charset="-122"/>
              </a:rPr>
              <a:t>分辨率下单帧运算时间降至</a:t>
            </a:r>
            <a:r>
              <a:rPr lang="en-US" sz="1355" b="1">
                <a:latin typeface="Times New Roman" panose="02020603050405020304" charset="0"/>
                <a:ea typeface="宋体" panose="02010600030101010101" pitchFamily="2" charset="-122"/>
              </a:rPr>
              <a:t>45ms</a:t>
            </a:r>
            <a:r>
              <a:rPr lang="zh-CN" sz="1355" b="1">
                <a:latin typeface="Times New Roman" panose="02020603050405020304" charset="0"/>
                <a:ea typeface="宋体" panose="02010600030101010101" pitchFamily="2" charset="-122"/>
              </a:rPr>
              <a:t>左右，可以达到实时处理状态，说明以上优化方式有效。</a:t>
            </a:r>
            <a:endParaRPr lang="zh-CN" altLang="en-US" sz="1355" b="1">
              <a:latin typeface="Times New Roman" panose="02020603050405020304" charset="0"/>
              <a:ea typeface="宋体" panose="02010600030101010101" pitchFamily="2" charset="-122"/>
            </a:endParaRPr>
          </a:p>
        </p:txBody>
      </p:sp>
      <p:sp>
        <p:nvSpPr>
          <p:cNvPr id="5" name="TextBox 3"/>
          <p:cNvSpPr txBox="1"/>
          <p:nvPr>
            <p:custDataLst>
              <p:tags r:id="rId2"/>
            </p:custDataLst>
          </p:nvPr>
        </p:nvSpPr>
        <p:spPr>
          <a:xfrm>
            <a:off x="0" y="-46018"/>
            <a:ext cx="4328518" cy="482798"/>
          </a:xfrm>
          <a:prstGeom prst="rect">
            <a:avLst/>
          </a:prstGeom>
          <a:noFill/>
        </p:spPr>
        <p:txBody>
          <a:bodyPr wrap="square" rtlCol="0">
            <a:noAutofit/>
          </a:bodyPr>
          <a:lstStyle/>
          <a:p>
            <a:pPr indent="360680">
              <a:lnSpc>
                <a:spcPct val="150000"/>
              </a:lnSpc>
              <a:buClr>
                <a:schemeClr val="tx2"/>
              </a:buClr>
              <a:buSzPct val="100000"/>
            </a:pPr>
            <a:r>
              <a:rPr lang="en-US" altLang="zh-CN" sz="2710" b="1" dirty="0">
                <a:solidFill>
                  <a:schemeClr val="bg1"/>
                </a:solidFill>
                <a:latin typeface="+mn-ea"/>
              </a:rPr>
              <a:t>7.3</a:t>
            </a:r>
            <a:r>
              <a:rPr lang="zh-CN" altLang="en-US" sz="2710" b="1" dirty="0">
                <a:solidFill>
                  <a:schemeClr val="bg1"/>
                </a:solidFill>
                <a:latin typeface="+mn-ea"/>
              </a:rPr>
              <a:t>代码级优化</a:t>
            </a:r>
            <a:endParaRPr lang="en-US" altLang="zh-CN" sz="2710" b="1" dirty="0">
              <a:solidFill>
                <a:schemeClr val="bg1"/>
              </a:solidFill>
              <a:latin typeface="+mn-ea"/>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 name="图片 6"/>
          <p:cNvPicPr>
            <a:picLocks noChangeAspect="1"/>
          </p:cNvPicPr>
          <p:nvPr/>
        </p:nvPicPr>
        <p:blipFill>
          <a:blip r:embed="rId1"/>
          <a:stretch>
            <a:fillRect/>
          </a:stretch>
        </p:blipFill>
        <p:spPr>
          <a:xfrm>
            <a:off x="236855" y="3618230"/>
            <a:ext cx="4038600" cy="3038475"/>
          </a:xfrm>
          <a:prstGeom prst="rect">
            <a:avLst/>
          </a:prstGeom>
        </p:spPr>
      </p:pic>
      <p:pic>
        <p:nvPicPr>
          <p:cNvPr id="6" name="图片 5"/>
          <p:cNvPicPr>
            <a:picLocks noChangeAspect="1"/>
          </p:cNvPicPr>
          <p:nvPr/>
        </p:nvPicPr>
        <p:blipFill>
          <a:blip r:embed="rId2"/>
          <a:stretch>
            <a:fillRect/>
          </a:stretch>
        </p:blipFill>
        <p:spPr>
          <a:xfrm>
            <a:off x="4402455" y="1028065"/>
            <a:ext cx="2924175" cy="5124450"/>
          </a:xfrm>
          <a:prstGeom prst="rect">
            <a:avLst/>
          </a:prstGeom>
        </p:spPr>
      </p:pic>
      <p:pic>
        <p:nvPicPr>
          <p:cNvPr id="8" name="图片 7"/>
          <p:cNvPicPr>
            <a:picLocks noChangeAspect="1"/>
          </p:cNvPicPr>
          <p:nvPr/>
        </p:nvPicPr>
        <p:blipFill>
          <a:blip r:embed="rId3"/>
          <a:stretch>
            <a:fillRect/>
          </a:stretch>
        </p:blipFill>
        <p:spPr>
          <a:xfrm>
            <a:off x="7453630" y="1524000"/>
            <a:ext cx="4476750" cy="4391025"/>
          </a:xfrm>
          <a:prstGeom prst="rect">
            <a:avLst/>
          </a:prstGeom>
        </p:spPr>
      </p:pic>
      <p:pic>
        <p:nvPicPr>
          <p:cNvPr id="4" name="图片 3"/>
          <p:cNvPicPr>
            <a:picLocks noChangeAspect="1"/>
          </p:cNvPicPr>
          <p:nvPr/>
        </p:nvPicPr>
        <p:blipFill>
          <a:blip r:embed="rId4"/>
          <a:stretch>
            <a:fillRect/>
          </a:stretch>
        </p:blipFill>
        <p:spPr>
          <a:xfrm>
            <a:off x="211455" y="591820"/>
            <a:ext cx="4191000" cy="292417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fill="hold"/>
                                        <p:tgtEl>
                                          <p:spTgt spid="8"/>
                                        </p:tgtEl>
                                        <p:attrNameLst>
                                          <p:attrName>ppt_x</p:attrName>
                                        </p:attrNameLst>
                                      </p:cBhvr>
                                      <p:tavLst>
                                        <p:tav tm="0">
                                          <p:val>
                                            <p:strVal val="#ppt_x"/>
                                          </p:val>
                                        </p:tav>
                                        <p:tav tm="100000">
                                          <p:val>
                                            <p:strVal val="#ppt_x"/>
                                          </p:val>
                                        </p:tav>
                                      </p:tavLst>
                                    </p:anim>
                                    <p:anim calcmode="lin" valueType="num">
                                      <p:cBhvr additive="base">
                                        <p:cTn id="13" dur="500" fill="hold"/>
                                        <p:tgtEl>
                                          <p:spTgt spid="8"/>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nodeType="after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nodeType="after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additive="base">
                                        <p:cTn id="22" dur="500" fill="hold"/>
                                        <p:tgtEl>
                                          <p:spTgt spid="7"/>
                                        </p:tgtEl>
                                        <p:attrNameLst>
                                          <p:attrName>ppt_x</p:attrName>
                                        </p:attrNameLst>
                                      </p:cBhvr>
                                      <p:tavLst>
                                        <p:tav tm="0">
                                          <p:val>
                                            <p:strVal val="#ppt_x"/>
                                          </p:val>
                                        </p:tav>
                                        <p:tav tm="100000">
                                          <p:val>
                                            <p:strVal val="#ppt_x"/>
                                          </p:val>
                                        </p:tav>
                                      </p:tavLst>
                                    </p:anim>
                                    <p:anim calcmode="lin" valueType="num">
                                      <p:cBhvr additive="base">
                                        <p:cTn id="23"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7.4 NEON</a:t>
            </a:r>
            <a:r>
              <a:rPr lang="zh-CN" altLang="en-US"/>
              <a:t>优化</a:t>
            </a:r>
            <a:endParaRPr lang="zh-CN" altLang="en-US"/>
          </a:p>
        </p:txBody>
      </p:sp>
      <p:sp>
        <p:nvSpPr>
          <p:cNvPr id="5" name="TextBox 3"/>
          <p:cNvSpPr txBox="1"/>
          <p:nvPr>
            <p:custDataLst>
              <p:tags r:id="rId1"/>
            </p:custDataLst>
          </p:nvPr>
        </p:nvSpPr>
        <p:spPr>
          <a:xfrm>
            <a:off x="365006" y="608173"/>
            <a:ext cx="4328672" cy="716280"/>
          </a:xfrm>
          <a:prstGeom prst="rect">
            <a:avLst/>
          </a:prstGeom>
          <a:noFill/>
        </p:spPr>
        <p:txBody>
          <a:bodyPr wrap="square" rtlCol="0">
            <a:spAutoFit/>
            <a:scene3d>
              <a:camera prst="orthographicFront"/>
              <a:lightRig rig="threePt" dir="t"/>
            </a:scene3d>
          </a:bodyPr>
          <a:p>
            <a:pPr indent="360680">
              <a:lnSpc>
                <a:spcPct val="150000"/>
              </a:lnSpc>
              <a:buClr>
                <a:schemeClr val="tx2"/>
              </a:buClr>
              <a:buSzPct val="100000"/>
            </a:pPr>
            <a:r>
              <a:rPr lang="en-US" altLang="zh-CN" sz="2710" b="1" dirty="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mn-ea"/>
              </a:rPr>
              <a:t>1.NEON</a:t>
            </a:r>
            <a:r>
              <a:rPr lang="zh-CN" altLang="en-US" sz="2710" b="1" dirty="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mn-ea"/>
              </a:rPr>
              <a:t>概述</a:t>
            </a:r>
            <a:endParaRPr lang="zh-CN" altLang="en-US" sz="2710" b="1" dirty="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mn-ea"/>
            </a:endParaRPr>
          </a:p>
        </p:txBody>
      </p:sp>
      <p:sp>
        <p:nvSpPr>
          <p:cNvPr id="6" name="文本框 5"/>
          <p:cNvSpPr txBox="1"/>
          <p:nvPr>
            <p:custDataLst>
              <p:tags r:id="rId2"/>
            </p:custDataLst>
          </p:nvPr>
        </p:nvSpPr>
        <p:spPr>
          <a:xfrm>
            <a:off x="791940" y="1356140"/>
            <a:ext cx="9912956" cy="561975"/>
          </a:xfrm>
          <a:prstGeom prst="rect">
            <a:avLst/>
          </a:prstGeom>
          <a:noFill/>
        </p:spPr>
        <p:txBody>
          <a:bodyPr wrap="square" rtlCol="0">
            <a:spAutoFit/>
          </a:bodyPr>
          <a:p>
            <a:pPr indent="457200"/>
            <a:r>
              <a:rPr lang="zh-CN" altLang="en-US" sz="1525"/>
              <a:t>ARM NEON 可以提升计算机视觉等计算密集型程序的性能，编译器可以将 C/C++ 代码自动转换为 NEON 指令。但是想要有更好的性能还是需要手工编写 NEON 代码，熟练掌握 NEON 指令是第一步。</a:t>
            </a:r>
            <a:endParaRPr lang="zh-CN" altLang="en-US" sz="1525"/>
          </a:p>
        </p:txBody>
      </p:sp>
      <p:pic>
        <p:nvPicPr>
          <p:cNvPr id="7" name="图片 6"/>
          <p:cNvPicPr/>
          <p:nvPr>
            <p:custDataLst>
              <p:tags r:id="rId3"/>
            </p:custDataLst>
          </p:nvPr>
        </p:nvPicPr>
        <p:blipFill>
          <a:blip r:embed="rId4"/>
          <a:stretch>
            <a:fillRect/>
          </a:stretch>
        </p:blipFill>
        <p:spPr>
          <a:xfrm>
            <a:off x="2743294" y="2453189"/>
            <a:ext cx="5645191" cy="1806461"/>
          </a:xfrm>
          <a:prstGeom prst="rect">
            <a:avLst/>
          </a:prstGeom>
          <a:noFill/>
          <a:ln w="9525">
            <a:noFill/>
          </a:ln>
        </p:spPr>
      </p:pic>
      <p:sp>
        <p:nvSpPr>
          <p:cNvPr id="8" name="文本框 7"/>
          <p:cNvSpPr txBox="1"/>
          <p:nvPr>
            <p:custDataLst>
              <p:tags r:id="rId5"/>
            </p:custDataLst>
          </p:nvPr>
        </p:nvSpPr>
        <p:spPr>
          <a:xfrm>
            <a:off x="426346" y="4404005"/>
            <a:ext cx="10943606" cy="1607185"/>
          </a:xfrm>
          <a:prstGeom prst="rect">
            <a:avLst/>
          </a:prstGeom>
          <a:noFill/>
        </p:spPr>
        <p:txBody>
          <a:bodyPr wrap="square" rtlCol="0" anchor="t">
            <a:spAutoFit/>
          </a:bodyPr>
          <a:p>
            <a:pPr indent="457200"/>
            <a:r>
              <a:rPr lang="zh-CN" altLang="en-US" sz="1525"/>
              <a:t>Armv8-A 的执行状态可以分为 AArch64 和 AArch32 两种状态。</a:t>
            </a:r>
            <a:endParaRPr lang="zh-CN" altLang="en-US" sz="1525"/>
          </a:p>
          <a:p>
            <a:r>
              <a:rPr lang="zh-CN" altLang="en-US" sz="1355">
                <a:latin typeface="Calibri" panose="020F0502020204030204" charset="0"/>
                <a:cs typeface="Calibri" panose="020F0502020204030204" charset="0"/>
              </a:rPr>
              <a:t>•</a:t>
            </a:r>
            <a:r>
              <a:rPr lang="zh-CN" altLang="en-US" sz="1355"/>
              <a:t>AArch64 是 64 位执行状态，支持 A64 指令集。</a:t>
            </a:r>
            <a:endParaRPr lang="zh-CN" altLang="en-US" sz="1355"/>
          </a:p>
          <a:p>
            <a:r>
              <a:rPr lang="zh-CN" altLang="en-US" sz="1355">
                <a:latin typeface="Calibri" panose="020F0502020204030204" charset="0"/>
                <a:cs typeface="Calibri" panose="020F0502020204030204" charset="0"/>
                <a:sym typeface="+mn-ea"/>
              </a:rPr>
              <a:t>•</a:t>
            </a:r>
            <a:r>
              <a:rPr lang="zh-CN" altLang="en-US" sz="1355"/>
              <a:t>AArch32 是 32 位执行状态，支持 T32 和 A32 指令集，同时 AArch32 与 AArch64 中一些的功能保持一致，而且 AArch32 兼容 Armv7-A。</a:t>
            </a:r>
            <a:endParaRPr lang="zh-CN" altLang="en-US" sz="1355"/>
          </a:p>
          <a:p>
            <a:endParaRPr lang="zh-CN" altLang="en-US" sz="1355"/>
          </a:p>
          <a:p>
            <a:pPr indent="457200"/>
            <a:r>
              <a:rPr lang="zh-CN" altLang="en-US" sz="1525"/>
              <a:t>ARMV8 支持浮点类型的除法向量操作，这是ARMV7所没有的。另外AArch64还支持double类型的操作。</a:t>
            </a:r>
            <a:endParaRPr lang="zh-CN" altLang="en-US" sz="1525"/>
          </a:p>
          <a:p>
            <a:pPr indent="457200" algn="l">
              <a:buClrTx/>
              <a:buSzTx/>
              <a:buNone/>
            </a:pPr>
            <a:r>
              <a:rPr lang="zh-CN" altLang="en-US" sz="1355"/>
              <a:t>Armv9-A 是 arm 当前最新的指令架构，Armv9-A 除了向前兼容 Armv8-A，在性能计算上有了很大的提升，主要表现在安全、AI 以及改进矢量扩展（SVE2）和 DSP 能力。</a:t>
            </a:r>
            <a:endParaRPr lang="zh-CN" altLang="en-US" sz="1355"/>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1"/>
          <p:cNvSpPr>
            <a:spLocks noGrp="1"/>
          </p:cNvSpPr>
          <p:nvPr>
            <p:custDataLst>
              <p:tags r:id="rId1"/>
            </p:custDataLst>
          </p:nvPr>
        </p:nvSpPr>
        <p:spPr>
          <a:xfrm>
            <a:off x="182096" y="76026"/>
            <a:ext cx="10364427" cy="563322"/>
          </a:xfrm>
          <a:prstGeom prst="rect">
            <a:avLst/>
          </a:prstGeom>
        </p:spPr>
        <p:txBody>
          <a:bodyPr anchor="ctr"/>
          <a:lstStyle>
            <a:lvl1pPr algn="l" defTabSz="1203325" rtl="0" eaLnBrk="1" latinLnBrk="0" hangingPunct="1">
              <a:spcBef>
                <a:spcPct val="0"/>
              </a:spcBef>
              <a:buNone/>
              <a:defRPr sz="2800" kern="1200">
                <a:solidFill>
                  <a:schemeClr val="accent6"/>
                </a:solidFill>
                <a:latin typeface="+mj-lt"/>
                <a:ea typeface="+mj-ea"/>
                <a:cs typeface="+mj-cs"/>
              </a:defRPr>
            </a:lvl1pPr>
          </a:lstStyle>
          <a:p>
            <a:r>
              <a:rPr lang="en-US" altLang="zh-CN" sz="2370"/>
              <a:t>7.4  NEON</a:t>
            </a:r>
            <a:r>
              <a:rPr lang="zh-CN" altLang="en-US" sz="2370"/>
              <a:t>优化</a:t>
            </a:r>
            <a:endParaRPr lang="zh-CN" altLang="en-US" sz="2370"/>
          </a:p>
        </p:txBody>
      </p:sp>
      <p:sp>
        <p:nvSpPr>
          <p:cNvPr id="5" name="文本框 4"/>
          <p:cNvSpPr txBox="1"/>
          <p:nvPr>
            <p:custDataLst>
              <p:tags r:id="rId2"/>
            </p:custDataLst>
          </p:nvPr>
        </p:nvSpPr>
        <p:spPr>
          <a:xfrm>
            <a:off x="913983" y="4770136"/>
            <a:ext cx="7209716" cy="326390"/>
          </a:xfrm>
          <a:prstGeom prst="rect">
            <a:avLst/>
          </a:prstGeom>
          <a:noFill/>
        </p:spPr>
        <p:txBody>
          <a:bodyPr wrap="square" rtlCol="0" anchor="t">
            <a:spAutoFit/>
          </a:bodyPr>
          <a:p>
            <a:r>
              <a:rPr lang="zh-CN" altLang="en-US" sz="1525"/>
              <a:t>AArch64 有 32 个 128bit 的向量寄存器</a:t>
            </a:r>
            <a:endParaRPr lang="zh-CN" altLang="en-US" sz="1525"/>
          </a:p>
        </p:txBody>
      </p:sp>
      <p:sp>
        <p:nvSpPr>
          <p:cNvPr id="6" name="文本框 5"/>
          <p:cNvSpPr txBox="1"/>
          <p:nvPr>
            <p:custDataLst>
              <p:tags r:id="rId3"/>
            </p:custDataLst>
          </p:nvPr>
        </p:nvSpPr>
        <p:spPr>
          <a:xfrm>
            <a:off x="914521" y="5684657"/>
            <a:ext cx="5560244" cy="326390"/>
          </a:xfrm>
          <a:prstGeom prst="rect">
            <a:avLst/>
          </a:prstGeom>
          <a:noFill/>
        </p:spPr>
        <p:txBody>
          <a:bodyPr wrap="square" rtlCol="0" anchor="t">
            <a:spAutoFit/>
          </a:bodyPr>
          <a:p>
            <a:r>
              <a:rPr lang="zh-CN" altLang="en-US" sz="1525"/>
              <a:t>AArch32/Armv7 有 16 个 128bit 的向量寄存器</a:t>
            </a:r>
            <a:endParaRPr lang="zh-CN" altLang="en-US" sz="1355"/>
          </a:p>
        </p:txBody>
      </p:sp>
      <p:pic>
        <p:nvPicPr>
          <p:cNvPr id="102" name="图片 101"/>
          <p:cNvPicPr/>
          <p:nvPr>
            <p:custDataLst>
              <p:tags r:id="rId4"/>
            </p:custDataLst>
          </p:nvPr>
        </p:nvPicPr>
        <p:blipFill>
          <a:blip r:embed="rId5"/>
          <a:stretch>
            <a:fillRect/>
          </a:stretch>
        </p:blipFill>
        <p:spPr>
          <a:xfrm>
            <a:off x="2865337" y="1049419"/>
            <a:ext cx="5806482" cy="3209694"/>
          </a:xfrm>
          <a:prstGeom prst="rect">
            <a:avLst/>
          </a:prstGeom>
          <a:noFill/>
          <a:ln w="9525">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4" name="图片 103"/>
          <p:cNvPicPr/>
          <p:nvPr>
            <p:custDataLst>
              <p:tags r:id="rId1"/>
            </p:custDataLst>
          </p:nvPr>
        </p:nvPicPr>
        <p:blipFill>
          <a:blip r:embed="rId2"/>
          <a:stretch>
            <a:fillRect/>
          </a:stretch>
        </p:blipFill>
        <p:spPr>
          <a:xfrm>
            <a:off x="1827697" y="3730615"/>
            <a:ext cx="7774235" cy="2758079"/>
          </a:xfrm>
          <a:prstGeom prst="rect">
            <a:avLst/>
          </a:prstGeom>
          <a:noFill/>
          <a:ln w="9525">
            <a:noFill/>
          </a:ln>
        </p:spPr>
      </p:pic>
      <p:pic>
        <p:nvPicPr>
          <p:cNvPr id="105" name="图片 104"/>
          <p:cNvPicPr/>
          <p:nvPr>
            <p:custDataLst>
              <p:tags r:id="rId3"/>
            </p:custDataLst>
          </p:nvPr>
        </p:nvPicPr>
        <p:blipFill>
          <a:blip r:embed="rId4"/>
          <a:stretch>
            <a:fillRect/>
          </a:stretch>
        </p:blipFill>
        <p:spPr>
          <a:xfrm>
            <a:off x="1828773" y="634362"/>
            <a:ext cx="7790364" cy="3064532"/>
          </a:xfrm>
          <a:prstGeom prst="rect">
            <a:avLst/>
          </a:prstGeom>
          <a:noFill/>
          <a:ln w="9525">
            <a:noFill/>
          </a:ln>
        </p:spPr>
      </p:pic>
      <p:sp>
        <p:nvSpPr>
          <p:cNvPr id="3" name="标题 2"/>
          <p:cNvSpPr>
            <a:spLocks noGrp="1"/>
          </p:cNvSpPr>
          <p:nvPr>
            <p:ph type="title"/>
            <p:custDataLst>
              <p:tags r:id="rId5"/>
            </p:custDataLst>
          </p:nvPr>
        </p:nvSpPr>
        <p:spPr/>
        <p:txBody>
          <a:bodyPr/>
          <a:p>
            <a:r>
              <a:rPr lang="en-US" altLang="zh-CN"/>
              <a:t>7.4 NEON</a:t>
            </a:r>
            <a:r>
              <a:rPr lang="zh-CN" altLang="en-US"/>
              <a:t>优化</a:t>
            </a:r>
            <a:endParaRPr lang="zh-CN"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custDataLst>
              <p:tags r:id="rId1"/>
            </p:custDataLst>
          </p:nvPr>
        </p:nvSpPr>
        <p:spPr>
          <a:xfrm>
            <a:off x="547852" y="929256"/>
            <a:ext cx="2758079" cy="326390"/>
          </a:xfrm>
          <a:prstGeom prst="rect">
            <a:avLst/>
          </a:prstGeom>
          <a:noFill/>
        </p:spPr>
        <p:txBody>
          <a:bodyPr wrap="square" rtlCol="0">
            <a:spAutoFit/>
          </a:bodyPr>
          <a:p>
            <a:r>
              <a:rPr lang="zh-CN" altLang="en-US" sz="1525" dirty="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intrinsics</a:t>
            </a:r>
            <a:r>
              <a:rPr lang="zh-CN" altLang="en-US" sz="1525" dirty="0"/>
              <a:t>指令分类</a:t>
            </a:r>
            <a:endParaRPr lang="zh-CN" altLang="en-US" sz="1525" dirty="0"/>
          </a:p>
        </p:txBody>
      </p:sp>
      <p:pic>
        <p:nvPicPr>
          <p:cNvPr id="6" name="图片 5"/>
          <p:cNvPicPr>
            <a:picLocks noChangeAspect="1"/>
          </p:cNvPicPr>
          <p:nvPr>
            <p:custDataLst>
              <p:tags r:id="rId2"/>
            </p:custDataLst>
          </p:nvPr>
        </p:nvPicPr>
        <p:blipFill>
          <a:blip r:embed="rId3"/>
          <a:stretch>
            <a:fillRect/>
          </a:stretch>
        </p:blipFill>
        <p:spPr>
          <a:xfrm>
            <a:off x="2316141" y="1600227"/>
            <a:ext cx="6451647" cy="4596799"/>
          </a:xfrm>
          <a:prstGeom prst="rect">
            <a:avLst/>
          </a:prstGeom>
        </p:spPr>
      </p:pic>
      <p:sp>
        <p:nvSpPr>
          <p:cNvPr id="2" name="标题 1"/>
          <p:cNvSpPr>
            <a:spLocks noGrp="1"/>
          </p:cNvSpPr>
          <p:nvPr>
            <p:ph type="title"/>
            <p:custDataLst>
              <p:tags r:id="rId4"/>
            </p:custDataLst>
          </p:nvPr>
        </p:nvSpPr>
        <p:spPr/>
        <p:txBody>
          <a:bodyPr/>
          <a:p>
            <a:r>
              <a:rPr lang="en-US" altLang="zh-CN"/>
              <a:t>7.4 NEON</a:t>
            </a:r>
            <a:r>
              <a:rPr lang="zh-CN" altLang="en-US"/>
              <a:t>优化</a:t>
            </a:r>
            <a:endParaRPr lang="zh-CN"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Box 3"/>
          <p:cNvSpPr txBox="1"/>
          <p:nvPr>
            <p:custDataLst>
              <p:tags r:id="rId1"/>
            </p:custDataLst>
          </p:nvPr>
        </p:nvSpPr>
        <p:spPr>
          <a:xfrm>
            <a:off x="426296" y="624302"/>
            <a:ext cx="4328672" cy="716280"/>
          </a:xfrm>
          <a:prstGeom prst="rect">
            <a:avLst/>
          </a:prstGeom>
          <a:noFill/>
        </p:spPr>
        <p:txBody>
          <a:bodyPr wrap="square" rtlCol="0">
            <a:spAutoFit/>
            <a:scene3d>
              <a:camera prst="orthographicFront"/>
              <a:lightRig rig="threePt" dir="t"/>
            </a:scene3d>
          </a:bodyPr>
          <a:p>
            <a:pPr indent="360680">
              <a:lnSpc>
                <a:spcPct val="150000"/>
              </a:lnSpc>
              <a:buClr>
                <a:schemeClr val="tx2"/>
              </a:buClr>
              <a:buSzPct val="100000"/>
            </a:pPr>
            <a:r>
              <a:rPr lang="en-US" altLang="zh-CN" sz="2710" b="1" dirty="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mn-ea"/>
              </a:rPr>
              <a:t>2.NEON</a:t>
            </a:r>
            <a:r>
              <a:rPr lang="zh-CN" altLang="en-US" sz="2710" b="1" dirty="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mn-ea"/>
              </a:rPr>
              <a:t>编程</a:t>
            </a:r>
            <a:endParaRPr lang="zh-CN" altLang="en-US" sz="2710" b="1" dirty="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mn-ea"/>
            </a:endParaRPr>
          </a:p>
        </p:txBody>
      </p:sp>
      <p:sp>
        <p:nvSpPr>
          <p:cNvPr id="5" name="文本框 4"/>
          <p:cNvSpPr txBox="1"/>
          <p:nvPr>
            <p:custDataLst>
              <p:tags r:id="rId2"/>
            </p:custDataLst>
          </p:nvPr>
        </p:nvSpPr>
        <p:spPr>
          <a:xfrm>
            <a:off x="487099" y="1415817"/>
            <a:ext cx="7664557" cy="326390"/>
          </a:xfrm>
          <a:prstGeom prst="rect">
            <a:avLst/>
          </a:prstGeom>
          <a:noFill/>
        </p:spPr>
        <p:txBody>
          <a:bodyPr wrap="square" rtlCol="0" anchor="t">
            <a:spAutoFit/>
          </a:bodyPr>
          <a:p>
            <a:r>
              <a:rPr lang="zh-CN" altLang="en-US" sz="1525"/>
              <a:t>SAD(sum of absolute difference) 运算可以使用 NEON 指令来加速。</a:t>
            </a:r>
            <a:endParaRPr lang="zh-CN" altLang="en-US" sz="1525"/>
          </a:p>
        </p:txBody>
      </p:sp>
      <p:sp>
        <p:nvSpPr>
          <p:cNvPr id="6" name="文本框 5"/>
          <p:cNvSpPr txBox="1"/>
          <p:nvPr>
            <p:custDataLst>
              <p:tags r:id="rId3"/>
            </p:custDataLst>
          </p:nvPr>
        </p:nvSpPr>
        <p:spPr>
          <a:xfrm>
            <a:off x="609143" y="1964207"/>
            <a:ext cx="6096806" cy="509270"/>
          </a:xfrm>
          <a:prstGeom prst="rect">
            <a:avLst/>
          </a:prstGeom>
          <a:noFill/>
        </p:spPr>
        <p:txBody>
          <a:bodyPr wrap="square" rtlCol="0" anchor="t">
            <a:spAutoFit/>
          </a:bodyPr>
          <a:p>
            <a:r>
              <a:rPr lang="zh-CN" altLang="en-US" sz="1355"/>
              <a:t>首先使用vabd做差的绝对值计算。</a:t>
            </a:r>
            <a:endParaRPr lang="zh-CN" altLang="en-US" sz="1355"/>
          </a:p>
          <a:p>
            <a:r>
              <a:rPr lang="zh-CN" altLang="en-US" sz="1355"/>
              <a:t>然后使用vdot将上面的结果做累加。</a:t>
            </a:r>
            <a:endParaRPr lang="zh-CN" altLang="en-US" sz="1355"/>
          </a:p>
        </p:txBody>
      </p:sp>
      <p:sp>
        <p:nvSpPr>
          <p:cNvPr id="7" name="文本框 6"/>
          <p:cNvSpPr txBox="1"/>
          <p:nvPr>
            <p:custDataLst>
              <p:tags r:id="rId4"/>
            </p:custDataLst>
          </p:nvPr>
        </p:nvSpPr>
        <p:spPr>
          <a:xfrm>
            <a:off x="548390" y="2817975"/>
            <a:ext cx="6096806" cy="2808605"/>
          </a:xfrm>
          <a:prstGeom prst="rect">
            <a:avLst/>
          </a:prstGeom>
          <a:noFill/>
        </p:spPr>
        <p:txBody>
          <a:bodyPr wrap="square" rtlCol="0" anchor="t">
            <a:spAutoFit/>
          </a:bodyPr>
          <a:p>
            <a:r>
              <a:rPr lang="zh-CN" altLang="en-US" sz="1355"/>
              <a:t>// 初始化 v_sum 和 v_c1  </a:t>
            </a:r>
            <a:endParaRPr lang="zh-CN" altLang="en-US" sz="1355"/>
          </a:p>
          <a:p>
            <a:r>
              <a:rPr lang="zh-CN" altLang="en-US" sz="1355"/>
              <a:t>uint32x4_t v_sum = vmovq_n_u32(0);</a:t>
            </a:r>
            <a:endParaRPr lang="zh-CN" altLang="en-US" sz="1355"/>
          </a:p>
          <a:p>
            <a:r>
              <a:rPr lang="zh-CN" altLang="en-US" sz="1355"/>
              <a:t>uint8x16_t v_c1  = vmovq_n_u8(1);</a:t>
            </a:r>
            <a:endParaRPr lang="zh-CN" altLang="en-US" sz="1355"/>
          </a:p>
          <a:p>
            <a:endParaRPr lang="zh-CN" altLang="en-US" sz="1355"/>
          </a:p>
          <a:p>
            <a:r>
              <a:rPr lang="zh-CN" altLang="en-US" sz="1355"/>
              <a:t>// v_src0, v_src1为两幅图的输入</a:t>
            </a:r>
            <a:endParaRPr lang="zh-CN" altLang="en-US" sz="1355"/>
          </a:p>
          <a:p>
            <a:r>
              <a:rPr lang="zh-CN" altLang="en-US" sz="1355"/>
              <a:t>// 将做差的绝对值计算</a:t>
            </a:r>
            <a:endParaRPr lang="zh-CN" altLang="en-US" sz="1355"/>
          </a:p>
          <a:p>
            <a:r>
              <a:rPr lang="zh-CN" altLang="en-US" sz="1355"/>
              <a:t>uint8x16_t v_abd_res = vabdq_u8(v_src0, v_src1);</a:t>
            </a:r>
            <a:endParaRPr lang="zh-CN" altLang="en-US" sz="1355"/>
          </a:p>
          <a:p>
            <a:endParaRPr lang="zh-CN" altLang="en-US" sz="1355"/>
          </a:p>
          <a:p>
            <a:r>
              <a:rPr lang="zh-CN" altLang="en-US" sz="1355"/>
              <a:t>// 做 vdot操作</a:t>
            </a:r>
            <a:endParaRPr lang="zh-CN" altLang="en-US" sz="1355"/>
          </a:p>
          <a:p>
            <a:r>
              <a:rPr lang="zh-CN" altLang="en-US" sz="1355"/>
              <a:t>v_sum = vdotq_u32(v_sum , v_abd_res, v_c1);</a:t>
            </a:r>
            <a:endParaRPr lang="zh-CN" altLang="en-US" sz="1355"/>
          </a:p>
          <a:p>
            <a:r>
              <a:rPr lang="zh-CN" altLang="en-US" sz="1355"/>
              <a:t>...</a:t>
            </a:r>
            <a:endParaRPr lang="zh-CN" altLang="en-US" sz="1355"/>
          </a:p>
          <a:p>
            <a:r>
              <a:rPr lang="zh-CN" altLang="en-US" sz="1355"/>
              <a:t>// 将最后的结果累加</a:t>
            </a:r>
            <a:endParaRPr lang="zh-CN" altLang="en-US" sz="1355"/>
          </a:p>
          <a:p>
            <a:r>
              <a:rPr lang="zh-CN" altLang="en-US" sz="1355"/>
              <a:t>uint32_t res = vaddvq_u32(v_sum);</a:t>
            </a:r>
            <a:endParaRPr lang="zh-CN" altLang="en-US" sz="1355"/>
          </a:p>
        </p:txBody>
      </p:sp>
      <p:pic>
        <p:nvPicPr>
          <p:cNvPr id="106" name="图片 105"/>
          <p:cNvPicPr/>
          <p:nvPr>
            <p:custDataLst>
              <p:tags r:id="rId5"/>
            </p:custDataLst>
          </p:nvPr>
        </p:nvPicPr>
        <p:blipFill>
          <a:blip r:embed="rId6"/>
          <a:stretch>
            <a:fillRect/>
          </a:stretch>
        </p:blipFill>
        <p:spPr>
          <a:xfrm>
            <a:off x="4999220" y="2817976"/>
            <a:ext cx="5806482" cy="2653240"/>
          </a:xfrm>
          <a:prstGeom prst="rect">
            <a:avLst/>
          </a:prstGeom>
          <a:noFill/>
          <a:ln w="9525">
            <a:noFill/>
          </a:ln>
        </p:spPr>
      </p:pic>
      <p:sp>
        <p:nvSpPr>
          <p:cNvPr id="8" name="文本框 7"/>
          <p:cNvSpPr txBox="1"/>
          <p:nvPr>
            <p:custDataLst>
              <p:tags r:id="rId7"/>
            </p:custDataLst>
          </p:nvPr>
        </p:nvSpPr>
        <p:spPr>
          <a:xfrm>
            <a:off x="2072592" y="5964766"/>
            <a:ext cx="2682272" cy="561975"/>
          </a:xfrm>
          <a:prstGeom prst="rect">
            <a:avLst/>
          </a:prstGeom>
          <a:noFill/>
        </p:spPr>
        <p:txBody>
          <a:bodyPr wrap="square" rtlCol="0" anchor="t">
            <a:spAutoFit/>
          </a:bodyPr>
          <a:p>
            <a:r>
              <a:rPr lang="zh-CN" altLang="en-US" sz="1525"/>
              <a:t>ri = |ai - bi|</a:t>
            </a:r>
            <a:endParaRPr lang="zh-CN" altLang="en-US" sz="1525"/>
          </a:p>
          <a:p>
            <a:r>
              <a:rPr lang="en-US" altLang="zh-CN" sz="1525"/>
              <a:t>si+=(ri*ci)</a:t>
            </a:r>
            <a:endParaRPr lang="en-US" altLang="zh-CN" sz="1525"/>
          </a:p>
        </p:txBody>
      </p:sp>
      <p:sp>
        <p:nvSpPr>
          <p:cNvPr id="2" name="标题 1"/>
          <p:cNvSpPr>
            <a:spLocks noGrp="1"/>
          </p:cNvSpPr>
          <p:nvPr>
            <p:ph type="title"/>
            <p:custDataLst>
              <p:tags r:id="rId8"/>
            </p:custDataLst>
          </p:nvPr>
        </p:nvSpPr>
        <p:spPr/>
        <p:txBody>
          <a:bodyPr/>
          <a:p>
            <a:r>
              <a:rPr lang="en-US" altLang="zh-CN"/>
              <a:t>7.4 NEON</a:t>
            </a:r>
            <a:r>
              <a:rPr lang="zh-CN" altLang="en-US"/>
              <a:t>优化</a:t>
            </a:r>
            <a:endParaRPr lang="zh-CN"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custDataLst>
              <p:tags r:id="rId1"/>
            </p:custDataLst>
          </p:nvPr>
        </p:nvSpPr>
        <p:spPr>
          <a:xfrm>
            <a:off x="121506" y="685706"/>
            <a:ext cx="6096806" cy="326390"/>
          </a:xfrm>
          <a:prstGeom prst="rect">
            <a:avLst/>
          </a:prstGeom>
          <a:noFill/>
        </p:spPr>
        <p:txBody>
          <a:bodyPr wrap="square" rtlCol="0" anchor="t">
            <a:spAutoFit/>
            <a:scene3d>
              <a:camera prst="orthographicFront"/>
              <a:lightRig rig="threePt" dir="t"/>
            </a:scene3d>
          </a:bodyPr>
          <a:p>
            <a:r>
              <a:rPr lang="zh-CN" altLang="en-US" sz="1525">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UV通道下采样</a:t>
            </a:r>
            <a:endParaRPr lang="zh-CN" altLang="en-US" sz="1525">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
        <p:nvSpPr>
          <p:cNvPr id="5" name="文本框 4"/>
          <p:cNvSpPr txBox="1"/>
          <p:nvPr>
            <p:custDataLst>
              <p:tags r:id="rId2"/>
            </p:custDataLst>
          </p:nvPr>
        </p:nvSpPr>
        <p:spPr>
          <a:xfrm>
            <a:off x="547852" y="1234096"/>
            <a:ext cx="10717799" cy="561975"/>
          </a:xfrm>
          <a:prstGeom prst="rect">
            <a:avLst/>
          </a:prstGeom>
          <a:noFill/>
        </p:spPr>
        <p:txBody>
          <a:bodyPr wrap="square" rtlCol="0" anchor="t">
            <a:spAutoFit/>
          </a:bodyPr>
          <a:p>
            <a:pPr indent="457200"/>
            <a:r>
              <a:rPr lang="zh-CN" altLang="en-US" sz="1525"/>
              <a:t>输入是u8类型的数据，通过邻近的4个像素求平均，输出u8类型的数据，达到1/4下采样的目的。我们假定每行数据长度是16的整数倍。算法的示意图和参考代码如下所示。</a:t>
            </a:r>
            <a:endParaRPr lang="zh-CN" altLang="en-US" sz="1525"/>
          </a:p>
        </p:txBody>
      </p:sp>
      <p:pic>
        <p:nvPicPr>
          <p:cNvPr id="100" name="图片 99"/>
          <p:cNvPicPr/>
          <p:nvPr>
            <p:custDataLst>
              <p:tags r:id="rId3"/>
            </p:custDataLst>
          </p:nvPr>
        </p:nvPicPr>
        <p:blipFill>
          <a:blip r:embed="rId4"/>
          <a:stretch>
            <a:fillRect/>
          </a:stretch>
        </p:blipFill>
        <p:spPr>
          <a:xfrm>
            <a:off x="609411" y="2209639"/>
            <a:ext cx="4161312" cy="1467750"/>
          </a:xfrm>
          <a:prstGeom prst="rect">
            <a:avLst/>
          </a:prstGeom>
          <a:noFill/>
          <a:ln w="9525">
            <a:noFill/>
          </a:ln>
        </p:spPr>
      </p:pic>
      <p:pic>
        <p:nvPicPr>
          <p:cNvPr id="11" name="图片 10"/>
          <p:cNvPicPr>
            <a:picLocks noChangeAspect="1"/>
          </p:cNvPicPr>
          <p:nvPr>
            <p:custDataLst>
              <p:tags r:id="rId5"/>
            </p:custDataLst>
          </p:nvPr>
        </p:nvPicPr>
        <p:blipFill>
          <a:blip r:embed="rId6"/>
          <a:stretch>
            <a:fillRect/>
          </a:stretch>
        </p:blipFill>
        <p:spPr>
          <a:xfrm>
            <a:off x="5120457" y="1920121"/>
            <a:ext cx="6266162" cy="4169377"/>
          </a:xfrm>
          <a:prstGeom prst="rect">
            <a:avLst/>
          </a:prstGeom>
        </p:spPr>
      </p:pic>
      <p:sp>
        <p:nvSpPr>
          <p:cNvPr id="2" name="标题 1"/>
          <p:cNvSpPr>
            <a:spLocks noGrp="1"/>
          </p:cNvSpPr>
          <p:nvPr>
            <p:ph type="title"/>
            <p:custDataLst>
              <p:tags r:id="rId7"/>
            </p:custDataLst>
          </p:nvPr>
        </p:nvSpPr>
        <p:spPr/>
        <p:txBody>
          <a:bodyPr/>
          <a:p>
            <a:r>
              <a:rPr lang="en-US" altLang="zh-CN"/>
              <a:t>7.4 NEON</a:t>
            </a:r>
            <a:r>
              <a:rPr lang="zh-CN" altLang="en-US"/>
              <a:t>优化</a:t>
            </a:r>
            <a:endParaRPr lang="zh-CN"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1" name="图片 100"/>
          <p:cNvPicPr/>
          <p:nvPr>
            <p:custDataLst>
              <p:tags r:id="rId1"/>
            </p:custDataLst>
          </p:nvPr>
        </p:nvPicPr>
        <p:blipFill>
          <a:blip r:embed="rId2"/>
          <a:stretch>
            <a:fillRect/>
          </a:stretch>
        </p:blipFill>
        <p:spPr>
          <a:xfrm>
            <a:off x="305646" y="746728"/>
            <a:ext cx="5806482" cy="2548401"/>
          </a:xfrm>
          <a:prstGeom prst="rect">
            <a:avLst/>
          </a:prstGeom>
          <a:noFill/>
          <a:ln w="9525">
            <a:noFill/>
          </a:ln>
        </p:spPr>
      </p:pic>
      <p:pic>
        <p:nvPicPr>
          <p:cNvPr id="102" name="图片 101"/>
          <p:cNvPicPr/>
          <p:nvPr>
            <p:custDataLst>
              <p:tags r:id="rId3"/>
            </p:custDataLst>
          </p:nvPr>
        </p:nvPicPr>
        <p:blipFill>
          <a:blip r:embed="rId4"/>
          <a:stretch>
            <a:fillRect/>
          </a:stretch>
        </p:blipFill>
        <p:spPr>
          <a:xfrm>
            <a:off x="609949" y="4098628"/>
            <a:ext cx="3838730" cy="2104850"/>
          </a:xfrm>
          <a:prstGeom prst="rect">
            <a:avLst/>
          </a:prstGeom>
          <a:noFill/>
          <a:ln w="9525">
            <a:noFill/>
          </a:ln>
        </p:spPr>
      </p:pic>
      <p:pic>
        <p:nvPicPr>
          <p:cNvPr id="103" name="图片 102"/>
          <p:cNvPicPr/>
          <p:nvPr>
            <p:custDataLst>
              <p:tags r:id="rId5"/>
            </p:custDataLst>
          </p:nvPr>
        </p:nvPicPr>
        <p:blipFill>
          <a:blip r:embed="rId6"/>
          <a:stretch>
            <a:fillRect/>
          </a:stretch>
        </p:blipFill>
        <p:spPr>
          <a:xfrm>
            <a:off x="5911052" y="4159649"/>
            <a:ext cx="5806482" cy="2274206"/>
          </a:xfrm>
          <a:prstGeom prst="rect">
            <a:avLst/>
          </a:prstGeom>
          <a:noFill/>
          <a:ln w="9525">
            <a:noFill/>
          </a:ln>
        </p:spPr>
      </p:pic>
      <p:pic>
        <p:nvPicPr>
          <p:cNvPr id="104" name="图片 103"/>
          <p:cNvPicPr/>
          <p:nvPr>
            <p:custDataLst>
              <p:tags r:id="rId7"/>
            </p:custDataLst>
          </p:nvPr>
        </p:nvPicPr>
        <p:blipFill>
          <a:blip r:embed="rId8"/>
          <a:stretch>
            <a:fillRect/>
          </a:stretch>
        </p:blipFill>
        <p:spPr>
          <a:xfrm>
            <a:off x="7254608" y="870115"/>
            <a:ext cx="4241958" cy="2250012"/>
          </a:xfrm>
          <a:prstGeom prst="rect">
            <a:avLst/>
          </a:prstGeom>
          <a:noFill/>
          <a:ln w="9525">
            <a:noFill/>
          </a:ln>
        </p:spPr>
      </p:pic>
      <p:sp>
        <p:nvSpPr>
          <p:cNvPr id="4" name="右箭头 3"/>
          <p:cNvSpPr/>
          <p:nvPr>
            <p:custDataLst>
              <p:tags r:id="rId9"/>
            </p:custDataLst>
          </p:nvPr>
        </p:nvSpPr>
        <p:spPr>
          <a:xfrm>
            <a:off x="4694111" y="5136267"/>
            <a:ext cx="829037" cy="41129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525"/>
          </a:p>
        </p:txBody>
      </p:sp>
      <p:sp>
        <p:nvSpPr>
          <p:cNvPr id="5" name="右箭头 4"/>
          <p:cNvSpPr/>
          <p:nvPr>
            <p:custDataLst>
              <p:tags r:id="rId10"/>
            </p:custDataLst>
          </p:nvPr>
        </p:nvSpPr>
        <p:spPr>
          <a:xfrm rot="16200000">
            <a:off x="8778541" y="3434645"/>
            <a:ext cx="829037" cy="41129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525"/>
          </a:p>
        </p:txBody>
      </p:sp>
      <p:sp>
        <p:nvSpPr>
          <p:cNvPr id="2" name="标题 1"/>
          <p:cNvSpPr>
            <a:spLocks noGrp="1"/>
          </p:cNvSpPr>
          <p:nvPr>
            <p:ph type="title"/>
            <p:custDataLst>
              <p:tags r:id="rId11"/>
            </p:custDataLst>
          </p:nvPr>
        </p:nvSpPr>
        <p:spPr/>
        <p:txBody>
          <a:bodyPr/>
          <a:p>
            <a:r>
              <a:rPr lang="en-US" altLang="zh-CN"/>
              <a:t>7.4 NEON</a:t>
            </a:r>
            <a:r>
              <a:rPr lang="zh-CN" altLang="en-US"/>
              <a:t>优化</a:t>
            </a:r>
            <a:endParaRPr lang="zh-CN" alt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图片 4"/>
          <p:cNvPicPr>
            <a:picLocks noChangeAspect="1"/>
          </p:cNvPicPr>
          <p:nvPr>
            <p:custDataLst>
              <p:tags r:id="rId1"/>
            </p:custDataLst>
          </p:nvPr>
        </p:nvPicPr>
        <p:blipFill>
          <a:blip r:embed="rId2"/>
          <a:stretch>
            <a:fillRect/>
          </a:stretch>
        </p:blipFill>
        <p:spPr>
          <a:xfrm>
            <a:off x="2865069" y="1722271"/>
            <a:ext cx="4879058" cy="1975817"/>
          </a:xfrm>
          <a:prstGeom prst="rect">
            <a:avLst/>
          </a:prstGeom>
        </p:spPr>
      </p:pic>
      <p:sp>
        <p:nvSpPr>
          <p:cNvPr id="6" name="文本框 5"/>
          <p:cNvSpPr txBox="1"/>
          <p:nvPr>
            <p:custDataLst>
              <p:tags r:id="rId3"/>
            </p:custDataLst>
          </p:nvPr>
        </p:nvSpPr>
        <p:spPr>
          <a:xfrm>
            <a:off x="3315609" y="4207768"/>
            <a:ext cx="5754869" cy="1475740"/>
          </a:xfrm>
          <a:prstGeom prst="rect">
            <a:avLst/>
          </a:prstGeom>
          <a:noFill/>
        </p:spPr>
        <p:txBody>
          <a:bodyPr wrap="square" rtlCol="0">
            <a:spAutoFit/>
          </a:bodyPr>
          <a:p>
            <a:pPr algn="l"/>
            <a:r>
              <a:rPr lang="en-US" altLang="zh-CN" sz="1525">
                <a:solidFill>
                  <a:srgbClr val="FF0000"/>
                </a:solidFill>
              </a:rPr>
              <a:t>v1 = [  0,  1,  2,  3,  4,  5,  6,  7]</a:t>
            </a:r>
            <a:endParaRPr lang="en-US" altLang="zh-CN" sz="1525">
              <a:solidFill>
                <a:srgbClr val="FF0000"/>
              </a:solidFill>
            </a:endParaRPr>
          </a:p>
          <a:p>
            <a:pPr algn="l"/>
            <a:r>
              <a:rPr lang="en-US" altLang="zh-CN" sz="1525">
                <a:solidFill>
                  <a:srgbClr val="0070C0"/>
                </a:solidFill>
              </a:rPr>
              <a:t>v2 = </a:t>
            </a:r>
            <a:r>
              <a:rPr lang="en-US" altLang="zh-CN" sz="1975">
                <a:solidFill>
                  <a:srgbClr val="0070C0"/>
                </a:solidFill>
                <a:sym typeface="+mn-ea"/>
              </a:rPr>
              <a:t>[  1,  2,  3,  4,  5,  6,  7,  8]</a:t>
            </a:r>
            <a:endParaRPr lang="en-US" altLang="zh-CN" sz="1525">
              <a:solidFill>
                <a:srgbClr val="0070C0"/>
              </a:solidFill>
            </a:endParaRPr>
          </a:p>
          <a:p>
            <a:pPr algn="l"/>
            <a:r>
              <a:rPr lang="en-US" altLang="zh-CN" sz="1525">
                <a:solidFill>
                  <a:schemeClr val="accent3"/>
                </a:solidFill>
              </a:rPr>
              <a:t>v3 = </a:t>
            </a:r>
            <a:r>
              <a:rPr lang="en-US" altLang="zh-CN" sz="1975">
                <a:solidFill>
                  <a:schemeClr val="accent3"/>
                </a:solidFill>
                <a:sym typeface="+mn-ea"/>
              </a:rPr>
              <a:t>[  2,  3,  4,  5,  6,  7,  8,  9]</a:t>
            </a:r>
            <a:endParaRPr lang="en-US" altLang="zh-CN" sz="1975">
              <a:solidFill>
                <a:schemeClr val="accent3"/>
              </a:solidFill>
              <a:sym typeface="+mn-ea"/>
            </a:endParaRPr>
          </a:p>
          <a:p>
            <a:pPr algn="l"/>
            <a:endParaRPr lang="en-US" altLang="zh-CN" sz="1975">
              <a:sym typeface="+mn-ea"/>
            </a:endParaRPr>
          </a:p>
          <a:p>
            <a:pPr algn="l"/>
            <a:r>
              <a:rPr lang="en-US" altLang="zh-CN" sz="1525">
                <a:solidFill>
                  <a:schemeClr val="bg1">
                    <a:lumMod val="50000"/>
                  </a:schemeClr>
                </a:solidFill>
              </a:rPr>
              <a:t>result_v = (v1+v2+v3)/3</a:t>
            </a:r>
            <a:endParaRPr lang="en-US" altLang="zh-CN" sz="1525">
              <a:solidFill>
                <a:schemeClr val="bg1">
                  <a:lumMod val="50000"/>
                </a:schemeClr>
              </a:solidFill>
            </a:endParaRPr>
          </a:p>
        </p:txBody>
      </p:sp>
      <p:sp>
        <p:nvSpPr>
          <p:cNvPr id="7" name="文本框 6"/>
          <p:cNvSpPr txBox="1"/>
          <p:nvPr>
            <p:custDataLst>
              <p:tags r:id="rId4"/>
            </p:custDataLst>
          </p:nvPr>
        </p:nvSpPr>
        <p:spPr>
          <a:xfrm>
            <a:off x="4267227" y="990546"/>
            <a:ext cx="1737360" cy="326390"/>
          </a:xfrm>
          <a:prstGeom prst="rect">
            <a:avLst/>
          </a:prstGeom>
          <a:noFill/>
        </p:spPr>
        <p:txBody>
          <a:bodyPr wrap="none" rtlCol="0">
            <a:spAutoFit/>
            <a:scene3d>
              <a:camera prst="orthographicFront"/>
              <a:lightRig rig="threePt" dir="t"/>
            </a:scene3d>
          </a:bodyPr>
          <a:p>
            <a:r>
              <a:rPr lang="zh-CN" altLang="en-US" sz="1525">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矩阵运算的向量化</a:t>
            </a:r>
            <a:endParaRPr lang="zh-CN" altLang="en-US" sz="1525">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
        <p:nvSpPr>
          <p:cNvPr id="2" name="标题 1"/>
          <p:cNvSpPr>
            <a:spLocks noGrp="1"/>
          </p:cNvSpPr>
          <p:nvPr>
            <p:ph type="title"/>
            <p:custDataLst>
              <p:tags r:id="rId5"/>
            </p:custDataLst>
          </p:nvPr>
        </p:nvSpPr>
        <p:spPr/>
        <p:txBody>
          <a:bodyPr/>
          <a:p>
            <a:r>
              <a:rPr lang="en-US" altLang="zh-CN"/>
              <a:t>7.4 NEON</a:t>
            </a:r>
            <a:r>
              <a:rPr lang="zh-CN" altLang="en-US"/>
              <a:t>优化</a:t>
            </a:r>
            <a:endParaRPr lang="zh-CN"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文本框 7"/>
          <p:cNvSpPr txBox="1"/>
          <p:nvPr>
            <p:custDataLst>
              <p:tags r:id="rId3"/>
            </p:custDataLst>
          </p:nvPr>
        </p:nvSpPr>
        <p:spPr>
          <a:xfrm>
            <a:off x="4145183" y="1098611"/>
            <a:ext cx="3237114" cy="326390"/>
          </a:xfrm>
          <a:prstGeom prst="rect">
            <a:avLst/>
          </a:prstGeom>
          <a:noFill/>
        </p:spPr>
        <p:txBody>
          <a:bodyPr wrap="square" rtlCol="0">
            <a:spAutoFit/>
            <a:scene3d>
              <a:camera prst="orthographicFront"/>
              <a:lightRig rig="threePt" dir="t"/>
            </a:scene3d>
          </a:bodyPr>
          <a:p>
            <a:r>
              <a:rPr lang="zh-CN" altLang="en-US" sz="1525">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基于</a:t>
            </a:r>
            <a:r>
              <a:rPr lang="en-US" altLang="zh-CN" sz="1525">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NEON</a:t>
            </a:r>
            <a:r>
              <a:rPr lang="zh-CN" altLang="en-US" sz="1525">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的加速效果</a:t>
            </a:r>
            <a:endParaRPr lang="zh-CN" altLang="en-US" sz="1525">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
        <p:nvSpPr>
          <p:cNvPr id="100" name="文本框 99"/>
          <p:cNvSpPr txBox="1"/>
          <p:nvPr>
            <p:custDataLst>
              <p:tags r:id="rId4"/>
            </p:custDataLst>
          </p:nvPr>
        </p:nvSpPr>
        <p:spPr>
          <a:xfrm>
            <a:off x="1584417" y="5258311"/>
            <a:ext cx="8070473" cy="561975"/>
          </a:xfrm>
          <a:prstGeom prst="rect">
            <a:avLst/>
          </a:prstGeom>
          <a:noFill/>
          <a:ln w="9525">
            <a:noFill/>
          </a:ln>
        </p:spPr>
        <p:txBody>
          <a:bodyPr wrap="square">
            <a:spAutoFit/>
          </a:bodyPr>
          <a:p>
            <a:pPr indent="0"/>
            <a:r>
              <a:rPr lang="en-US" altLang="zh-CN" sz="1525" b="0">
                <a:latin typeface="Calibri" panose="020F0502020204030204" charset="0"/>
                <a:ea typeface="宋体" panose="02010600030101010101" pitchFamily="2" charset="-122"/>
              </a:rPr>
              <a:t>         </a:t>
            </a:r>
            <a:r>
              <a:rPr lang="zh-CN" sz="1525" b="0">
                <a:latin typeface="Calibri" panose="020F0502020204030204" charset="0"/>
                <a:ea typeface="宋体" panose="02010600030101010101" pitchFamily="2" charset="-122"/>
              </a:rPr>
              <a:t>通过以上图表数据，可以看到使用</a:t>
            </a:r>
            <a:r>
              <a:rPr lang="en-US" sz="1525" b="0">
                <a:latin typeface="Calibri" panose="020F0502020204030204" charset="0"/>
                <a:ea typeface="宋体" panose="02010600030101010101" pitchFamily="2" charset="-122"/>
              </a:rPr>
              <a:t>NEON</a:t>
            </a:r>
            <a:r>
              <a:rPr lang="zh-CN" sz="1525" b="0">
                <a:latin typeface="Calibri" panose="020F0502020204030204" charset="0"/>
                <a:ea typeface="宋体" panose="02010600030101010101" pitchFamily="2" charset="-122"/>
              </a:rPr>
              <a:t>指令集进行算法编程优化后，在</a:t>
            </a:r>
            <a:r>
              <a:rPr lang="en-US" sz="1525" b="0">
                <a:latin typeface="Calibri" panose="020F0502020204030204" charset="0"/>
                <a:ea typeface="宋体" panose="02010600030101010101" pitchFamily="2" charset="-122"/>
              </a:rPr>
              <a:t>ARMv7</a:t>
            </a:r>
            <a:r>
              <a:rPr lang="zh-CN" sz="1525" b="0">
                <a:latin typeface="Calibri" panose="020F0502020204030204" charset="0"/>
                <a:ea typeface="宋体" panose="02010600030101010101" pitchFamily="2" charset="-122"/>
              </a:rPr>
              <a:t>和</a:t>
            </a:r>
            <a:r>
              <a:rPr lang="en-US" sz="1525" b="0">
                <a:latin typeface="Calibri" panose="020F0502020204030204" charset="0"/>
                <a:ea typeface="宋体" panose="02010600030101010101" pitchFamily="2" charset="-122"/>
              </a:rPr>
              <a:t>ARMv8</a:t>
            </a:r>
            <a:r>
              <a:rPr lang="zh-CN" sz="1525" b="0">
                <a:latin typeface="Calibri" panose="020F0502020204030204" charset="0"/>
                <a:ea typeface="宋体" panose="02010600030101010101" pitchFamily="2" charset="-122"/>
              </a:rPr>
              <a:t>芯片平台上均取得了明显的加速效果。部分算法效率提升一倍。</a:t>
            </a:r>
            <a:endParaRPr lang="zh-CN" altLang="en-US" sz="1525" b="0">
              <a:latin typeface="Calibri" panose="020F0502020204030204" charset="0"/>
              <a:ea typeface="宋体" panose="02010600030101010101" pitchFamily="2" charset="-122"/>
            </a:endParaRPr>
          </a:p>
        </p:txBody>
      </p:sp>
      <p:graphicFrame>
        <p:nvGraphicFramePr>
          <p:cNvPr id="5" name="图表 4"/>
          <p:cNvGraphicFramePr/>
          <p:nvPr>
            <p:custDataLst>
              <p:tags r:id="rId5"/>
            </p:custDataLst>
          </p:nvPr>
        </p:nvGraphicFramePr>
        <p:xfrm>
          <a:off x="1157801" y="2071466"/>
          <a:ext cx="3870988" cy="2322593"/>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6" name="图表 5"/>
          <p:cNvGraphicFramePr/>
          <p:nvPr>
            <p:custDataLst>
              <p:tags r:id="rId6"/>
            </p:custDataLst>
          </p:nvPr>
        </p:nvGraphicFramePr>
        <p:xfrm>
          <a:off x="5852450" y="2088132"/>
          <a:ext cx="3870988" cy="2322593"/>
        </p:xfrm>
        <a:graphic>
          <a:graphicData uri="http://schemas.openxmlformats.org/drawingml/2006/chart">
            <c:chart xmlns:c="http://schemas.openxmlformats.org/drawingml/2006/chart" xmlns:r="http://schemas.openxmlformats.org/officeDocument/2006/relationships" r:id="rId2"/>
          </a:graphicData>
        </a:graphic>
      </p:graphicFrame>
      <p:sp>
        <p:nvSpPr>
          <p:cNvPr id="2" name="标题 1"/>
          <p:cNvSpPr>
            <a:spLocks noGrp="1"/>
          </p:cNvSpPr>
          <p:nvPr>
            <p:ph type="title"/>
            <p:custDataLst>
              <p:tags r:id="rId7"/>
            </p:custDataLst>
          </p:nvPr>
        </p:nvSpPr>
        <p:spPr/>
        <p:txBody>
          <a:bodyPr/>
          <a:p>
            <a:r>
              <a:rPr lang="en-US" altLang="zh-CN"/>
              <a:t>7.4 NEON</a:t>
            </a:r>
            <a:r>
              <a:rPr lang="zh-CN" altLang="en-US"/>
              <a:t>优化</a:t>
            </a:r>
            <a:endParaRPr lang="zh-CN"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5" name="表格 4"/>
          <p:cNvGraphicFramePr/>
          <p:nvPr>
            <p:custDataLst>
              <p:tags r:id="rId1"/>
            </p:custDataLst>
          </p:nvPr>
        </p:nvGraphicFramePr>
        <p:xfrm>
          <a:off x="918284" y="1780873"/>
          <a:ext cx="4947285" cy="2167890"/>
        </p:xfrm>
        <a:graphic>
          <a:graphicData uri="http://schemas.openxmlformats.org/drawingml/2006/table">
            <a:tbl>
              <a:tblPr/>
              <a:tblGrid>
                <a:gridCol w="1648460"/>
                <a:gridCol w="1648460"/>
                <a:gridCol w="1650365"/>
              </a:tblGrid>
              <a:tr h="619125">
                <a:tc gridSpan="3">
                  <a:txBody>
                    <a:bodyPr/>
                    <a:p>
                      <a:pPr indent="0">
                        <a:buNone/>
                      </a:pPr>
                      <a:r>
                        <a:rPr lang="en-US" sz="1185" b="1">
                          <a:latin typeface="宋体" panose="02010600030101010101" pitchFamily="2" charset="-122"/>
                          <a:ea typeface="宋体" panose="02010600030101010101" pitchFamily="2" charset="-122"/>
                          <a:cs typeface="宋体" panose="02010600030101010101" pitchFamily="2" charset="-122"/>
                        </a:rPr>
                        <a:t>测试平台：</a:t>
                      </a:r>
                      <a:r>
                        <a:rPr lang="en-US" sz="1185" b="0">
                          <a:latin typeface="宋体" panose="02010600030101010101" pitchFamily="2" charset="-122"/>
                          <a:ea typeface="宋体" panose="02010600030101010101" pitchFamily="2" charset="-122"/>
                          <a:cs typeface="宋体" panose="02010600030101010101" pitchFamily="2" charset="-122"/>
                        </a:rPr>
                        <a:t>海思3516CV500 双核 ARM Cortex-A7@ 900MHz </a:t>
                      </a:r>
                      <a:endParaRPr lang="en-US" sz="1185" b="0">
                        <a:latin typeface="宋体" panose="02010600030101010101" pitchFamily="2" charset="-122"/>
                        <a:ea typeface="宋体" panose="02010600030101010101" pitchFamily="2" charset="-122"/>
                        <a:cs typeface="宋体" panose="02010600030101010101" pitchFamily="2" charset="-122"/>
                      </a:endParaRPr>
                    </a:p>
                    <a:p>
                      <a:pPr indent="0">
                        <a:buNone/>
                      </a:pPr>
                      <a:r>
                        <a:rPr lang="en-US" sz="1185" b="1">
                          <a:latin typeface="宋体" panose="02010600030101010101" pitchFamily="2" charset="-122"/>
                          <a:ea typeface="宋体" panose="02010600030101010101" pitchFamily="2" charset="-122"/>
                          <a:cs typeface="宋体" panose="02010600030101010101" pitchFamily="2" charset="-122"/>
                        </a:rPr>
                        <a:t>测试数据：</a:t>
                      </a:r>
                      <a:r>
                        <a:rPr lang="en-US" sz="1185" b="0">
                          <a:solidFill>
                            <a:srgbClr val="FF0000"/>
                          </a:solidFill>
                          <a:latin typeface="宋体" panose="02010600030101010101" pitchFamily="2" charset="-122"/>
                          <a:ea typeface="宋体" panose="02010600030101010101" pitchFamily="2" charset="-122"/>
                          <a:cs typeface="宋体" panose="02010600030101010101" pitchFamily="2" charset="-122"/>
                        </a:rPr>
                        <a:t>256*192</a:t>
                      </a:r>
                      <a:r>
                        <a:rPr lang="en-US" sz="1185" b="0">
                          <a:latin typeface="宋体" panose="02010600030101010101" pitchFamily="2" charset="-122"/>
                          <a:ea typeface="宋体" panose="02010600030101010101" pitchFamily="2" charset="-122"/>
                          <a:cs typeface="宋体" panose="02010600030101010101" pitchFamily="2" charset="-122"/>
                        </a:rPr>
                        <a:t>16bit红外Y16数据</a:t>
                      </a:r>
                      <a:endParaRPr lang="en-US" sz="1185" b="0">
                        <a:latin typeface="宋体" panose="02010600030101010101" pitchFamily="2" charset="-122"/>
                        <a:ea typeface="宋体" panose="02010600030101010101" pitchFamily="2" charset="-122"/>
                        <a:cs typeface="宋体" panose="02010600030101010101" pitchFamily="2" charset="-122"/>
                      </a:endParaRPr>
                    </a:p>
                    <a:p>
                      <a:pPr indent="0">
                        <a:buNone/>
                      </a:pPr>
                      <a:r>
                        <a:rPr lang="en-US" sz="1185" b="1">
                          <a:latin typeface="宋体" panose="02010600030101010101" pitchFamily="2" charset="-122"/>
                          <a:ea typeface="宋体" panose="02010600030101010101" pitchFamily="2" charset="-122"/>
                          <a:cs typeface="宋体" panose="02010600030101010101" pitchFamily="2" charset="-122"/>
                        </a:rPr>
                        <a:t>测试条件：</a:t>
                      </a:r>
                      <a:r>
                        <a:rPr lang="en-US" sz="1185" b="0">
                          <a:latin typeface="宋体" panose="02010600030101010101" pitchFamily="2" charset="-122"/>
                          <a:ea typeface="宋体" panose="02010600030101010101" pitchFamily="2" charset="-122"/>
                          <a:cs typeface="宋体" panose="02010600030101010101" pitchFamily="2" charset="-122"/>
                        </a:rPr>
                        <a:t>开启去竖纹算法开启空域滤波算法开启图像增强算法</a:t>
                      </a:r>
                      <a:endParaRPr lang="en-US" altLang="en-US" sz="1185" b="0">
                        <a:latin typeface="宋体" panose="02010600030101010101" pitchFamily="2" charset="-122"/>
                        <a:ea typeface="宋体" panose="02010600030101010101" pitchFamily="2" charset="-122"/>
                        <a:cs typeface="宋体" panose="02010600030101010101" pitchFamily="2" charset="-122"/>
                      </a:endParaRPr>
                    </a:p>
                  </a:txBody>
                  <a:tcPr marL="58064" marR="58064"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r>
              <a:tr h="309880">
                <a:tc>
                  <a:txBody>
                    <a:bodyPr/>
                    <a:p>
                      <a:pPr indent="0" algn="ctr">
                        <a:buNone/>
                      </a:pPr>
                      <a:r>
                        <a:rPr lang="en-US" sz="1185" b="1">
                          <a:latin typeface="宋体" panose="02010600030101010101" pitchFamily="2" charset="-122"/>
                          <a:ea typeface="宋体" panose="02010600030101010101" pitchFamily="2" charset="-122"/>
                          <a:cs typeface="宋体" panose="02010600030101010101" pitchFamily="2" charset="-122"/>
                        </a:rPr>
                        <a:t>测试算法</a:t>
                      </a:r>
                      <a:endParaRPr lang="en-US" altLang="en-US" sz="1185" b="1">
                        <a:latin typeface="宋体" panose="02010600030101010101" pitchFamily="2" charset="-122"/>
                        <a:ea typeface="宋体" panose="02010600030101010101" pitchFamily="2" charset="-122"/>
                        <a:cs typeface="宋体" panose="02010600030101010101" pitchFamily="2" charset="-122"/>
                      </a:endParaRPr>
                    </a:p>
                  </a:txBody>
                  <a:tcPr marL="58064" marR="58064"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185" b="0">
                          <a:latin typeface="宋体" panose="02010600030101010101" pitchFamily="2" charset="-122"/>
                          <a:ea typeface="宋体" panose="02010600030101010101" pitchFamily="2" charset="-122"/>
                          <a:cs typeface="宋体" panose="02010600030101010101" pitchFamily="2" charset="-122"/>
                        </a:rPr>
                        <a:t>CPP</a:t>
                      </a:r>
                      <a:endParaRPr lang="en-US" altLang="en-US" sz="1185" b="0">
                        <a:latin typeface="宋体" panose="02010600030101010101" pitchFamily="2" charset="-122"/>
                        <a:ea typeface="宋体" panose="02010600030101010101" pitchFamily="2" charset="-122"/>
                        <a:cs typeface="宋体" panose="02010600030101010101" pitchFamily="2" charset="-122"/>
                      </a:endParaRPr>
                    </a:p>
                  </a:txBody>
                  <a:tcPr marL="58064" marR="58064"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185" b="0">
                          <a:latin typeface="宋体" panose="02010600030101010101" pitchFamily="2" charset="-122"/>
                          <a:ea typeface="宋体" panose="02010600030101010101" pitchFamily="2" charset="-122"/>
                          <a:cs typeface="宋体" panose="02010600030101010101" pitchFamily="2" charset="-122"/>
                        </a:rPr>
                        <a:t>NEON</a:t>
                      </a:r>
                      <a:endParaRPr lang="en-US" altLang="en-US" sz="1185" b="0">
                        <a:latin typeface="宋体" panose="02010600030101010101" pitchFamily="2" charset="-122"/>
                        <a:ea typeface="宋体" panose="02010600030101010101" pitchFamily="2" charset="-122"/>
                        <a:cs typeface="宋体" panose="02010600030101010101" pitchFamily="2" charset="-122"/>
                      </a:endParaRPr>
                    </a:p>
                  </a:txBody>
                  <a:tcPr marL="58064" marR="58064"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09880">
                <a:tc>
                  <a:txBody>
                    <a:bodyPr/>
                    <a:p>
                      <a:pPr indent="0" algn="ctr">
                        <a:buNone/>
                      </a:pPr>
                      <a:r>
                        <a:rPr lang="en-US" sz="1185" b="1">
                          <a:latin typeface="宋体" panose="02010600030101010101" pitchFamily="2" charset="-122"/>
                          <a:ea typeface="宋体" panose="02010600030101010101" pitchFamily="2" charset="-122"/>
                          <a:cs typeface="宋体" panose="02010600030101010101" pitchFamily="2" charset="-122"/>
                        </a:rPr>
                        <a:t>处理时间</a:t>
                      </a:r>
                      <a:endParaRPr lang="en-US" altLang="en-US" sz="1185" b="1">
                        <a:latin typeface="宋体" panose="02010600030101010101" pitchFamily="2" charset="-122"/>
                        <a:ea typeface="宋体" panose="02010600030101010101" pitchFamily="2" charset="-122"/>
                        <a:cs typeface="宋体" panose="02010600030101010101" pitchFamily="2" charset="-122"/>
                      </a:endParaRPr>
                    </a:p>
                  </a:txBody>
                  <a:tcPr marL="58064" marR="58064"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185" b="0">
                          <a:latin typeface="宋体" panose="02010600030101010101" pitchFamily="2" charset="-122"/>
                          <a:ea typeface="宋体" panose="02010600030101010101" pitchFamily="2" charset="-122"/>
                          <a:cs typeface="宋体" panose="02010600030101010101" pitchFamily="2" charset="-122"/>
                        </a:rPr>
                        <a:t>39.2ms</a:t>
                      </a:r>
                      <a:endParaRPr lang="en-US" altLang="en-US" sz="1185" b="0">
                        <a:latin typeface="宋体" panose="02010600030101010101" pitchFamily="2" charset="-122"/>
                        <a:ea typeface="宋体" panose="02010600030101010101" pitchFamily="2" charset="-122"/>
                        <a:cs typeface="宋体" panose="02010600030101010101" pitchFamily="2" charset="-122"/>
                      </a:endParaRPr>
                    </a:p>
                  </a:txBody>
                  <a:tcPr marL="58064" marR="58064"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185" b="0">
                          <a:latin typeface="宋体" panose="02010600030101010101" pitchFamily="2" charset="-122"/>
                          <a:ea typeface="宋体" panose="02010600030101010101" pitchFamily="2" charset="-122"/>
                          <a:cs typeface="宋体" panose="02010600030101010101" pitchFamily="2" charset="-122"/>
                        </a:rPr>
                        <a:t>19.35ms</a:t>
                      </a:r>
                      <a:endParaRPr lang="en-US" altLang="en-US" sz="1185" b="0">
                        <a:latin typeface="宋体" panose="02010600030101010101" pitchFamily="2" charset="-122"/>
                        <a:ea typeface="宋体" panose="02010600030101010101" pitchFamily="2" charset="-122"/>
                        <a:cs typeface="宋体" panose="02010600030101010101" pitchFamily="2" charset="-122"/>
                      </a:endParaRPr>
                    </a:p>
                  </a:txBody>
                  <a:tcPr marL="58064" marR="58064"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09880">
                <a:tc>
                  <a:txBody>
                    <a:bodyPr/>
                    <a:p>
                      <a:pPr indent="0" algn="ctr">
                        <a:buNone/>
                      </a:pPr>
                      <a:r>
                        <a:rPr lang="en-US" sz="1185" b="1">
                          <a:latin typeface="宋体" panose="02010600030101010101" pitchFamily="2" charset="-122"/>
                          <a:ea typeface="宋体" panose="02010600030101010101" pitchFamily="2" charset="-122"/>
                          <a:cs typeface="宋体" panose="02010600030101010101" pitchFamily="2" charset="-122"/>
                        </a:rPr>
                        <a:t>CPU占用率</a:t>
                      </a:r>
                      <a:endParaRPr lang="en-US" altLang="en-US" sz="1185" b="1">
                        <a:latin typeface="宋体" panose="02010600030101010101" pitchFamily="2" charset="-122"/>
                        <a:ea typeface="宋体" panose="02010600030101010101" pitchFamily="2" charset="-122"/>
                        <a:cs typeface="宋体" panose="02010600030101010101" pitchFamily="2" charset="-122"/>
                      </a:endParaRPr>
                    </a:p>
                  </a:txBody>
                  <a:tcPr marL="58064" marR="58064"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185" b="0">
                          <a:latin typeface="宋体" panose="02010600030101010101" pitchFamily="2" charset="-122"/>
                          <a:ea typeface="宋体" panose="02010600030101010101" pitchFamily="2" charset="-122"/>
                          <a:cs typeface="宋体" panose="02010600030101010101" pitchFamily="2" charset="-122"/>
                        </a:rPr>
                        <a:t>49.9%</a:t>
                      </a:r>
                      <a:endParaRPr lang="en-US" altLang="en-US" sz="1185" b="0">
                        <a:latin typeface="宋体" panose="02010600030101010101" pitchFamily="2" charset="-122"/>
                        <a:ea typeface="宋体" panose="02010600030101010101" pitchFamily="2" charset="-122"/>
                        <a:cs typeface="宋体" panose="02010600030101010101" pitchFamily="2" charset="-122"/>
                      </a:endParaRPr>
                    </a:p>
                  </a:txBody>
                  <a:tcPr marL="58064" marR="58064"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185" b="0">
                          <a:latin typeface="宋体" panose="02010600030101010101" pitchFamily="2" charset="-122"/>
                          <a:ea typeface="宋体" panose="02010600030101010101" pitchFamily="2" charset="-122"/>
                          <a:cs typeface="宋体" panose="02010600030101010101" pitchFamily="2" charset="-122"/>
                        </a:rPr>
                        <a:t>25.1%</a:t>
                      </a:r>
                      <a:endParaRPr lang="en-US" altLang="en-US" sz="1185" b="0">
                        <a:latin typeface="宋体" panose="02010600030101010101" pitchFamily="2" charset="-122"/>
                        <a:ea typeface="宋体" panose="02010600030101010101" pitchFamily="2" charset="-122"/>
                        <a:cs typeface="宋体" panose="02010600030101010101" pitchFamily="2" charset="-122"/>
                      </a:endParaRPr>
                    </a:p>
                  </a:txBody>
                  <a:tcPr marL="58064" marR="58064"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09245">
                <a:tc>
                  <a:txBody>
                    <a:bodyPr/>
                    <a:p>
                      <a:pPr indent="0" algn="ctr">
                        <a:buNone/>
                      </a:pPr>
                      <a:r>
                        <a:rPr lang="en-US" sz="1185" b="1">
                          <a:latin typeface="宋体" panose="02010600030101010101" pitchFamily="2" charset="-122"/>
                          <a:ea typeface="宋体" panose="02010600030101010101" pitchFamily="2" charset="-122"/>
                          <a:cs typeface="宋体" panose="02010600030101010101" pitchFamily="2" charset="-122"/>
                        </a:rPr>
                        <a:t>功耗</a:t>
                      </a:r>
                      <a:endParaRPr lang="en-US" altLang="en-US" sz="1185" b="1">
                        <a:latin typeface="宋体" panose="02010600030101010101" pitchFamily="2" charset="-122"/>
                        <a:ea typeface="宋体" panose="02010600030101010101" pitchFamily="2" charset="-122"/>
                        <a:cs typeface="宋体" panose="02010600030101010101" pitchFamily="2" charset="-122"/>
                      </a:endParaRPr>
                    </a:p>
                  </a:txBody>
                  <a:tcPr marL="58064" marR="58064"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185" b="0">
                          <a:latin typeface="宋体" panose="02010600030101010101" pitchFamily="2" charset="-122"/>
                          <a:ea typeface="宋体" panose="02010600030101010101" pitchFamily="2" charset="-122"/>
                          <a:cs typeface="宋体" panose="02010600030101010101" pitchFamily="2" charset="-122"/>
                        </a:rPr>
                        <a:t>4.86V0.12~0.14A</a:t>
                      </a:r>
                      <a:endParaRPr lang="en-US" altLang="en-US" sz="1185" b="0">
                        <a:latin typeface="宋体" panose="02010600030101010101" pitchFamily="2" charset="-122"/>
                        <a:ea typeface="宋体" panose="02010600030101010101" pitchFamily="2" charset="-122"/>
                        <a:cs typeface="宋体" panose="02010600030101010101" pitchFamily="2" charset="-122"/>
                      </a:endParaRPr>
                    </a:p>
                  </a:txBody>
                  <a:tcPr marL="58064" marR="58064"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185" b="0">
                          <a:latin typeface="宋体" panose="02010600030101010101" pitchFamily="2" charset="-122"/>
                          <a:ea typeface="宋体" panose="02010600030101010101" pitchFamily="2" charset="-122"/>
                          <a:cs typeface="宋体" panose="02010600030101010101" pitchFamily="2" charset="-122"/>
                        </a:rPr>
                        <a:t>4.86V0.11~0.14V</a:t>
                      </a:r>
                      <a:endParaRPr lang="en-US" altLang="en-US" sz="1185" b="0">
                        <a:latin typeface="宋体" panose="02010600030101010101" pitchFamily="2" charset="-122"/>
                        <a:ea typeface="宋体" panose="02010600030101010101" pitchFamily="2" charset="-122"/>
                        <a:cs typeface="宋体" panose="02010600030101010101" pitchFamily="2" charset="-122"/>
                      </a:endParaRPr>
                    </a:p>
                  </a:txBody>
                  <a:tcPr marL="58064" marR="58064"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09880">
                <a:tc gridSpan="3">
                  <a:txBody>
                    <a:bodyPr/>
                    <a:p>
                      <a:pPr indent="0" algn="ctr">
                        <a:buNone/>
                      </a:pPr>
                      <a:endParaRPr lang="en-US" altLang="en-US" sz="845" b="0">
                        <a:latin typeface="Calibri" panose="020F0502020204030204" charset="0"/>
                        <a:ea typeface="Calibri" panose="020F0502020204030204" charset="0"/>
                        <a:cs typeface="Calibri" panose="020F0502020204030204" charset="0"/>
                      </a:endParaRPr>
                    </a:p>
                  </a:txBody>
                  <a:tcPr marL="58064" marR="58064"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r>
            </a:tbl>
          </a:graphicData>
        </a:graphic>
      </p:graphicFrame>
      <p:pic>
        <p:nvPicPr>
          <p:cNvPr id="6" name="图片 5"/>
          <p:cNvPicPr/>
          <p:nvPr>
            <p:custDataLst>
              <p:tags r:id="rId2"/>
            </p:custDataLst>
          </p:nvPr>
        </p:nvPicPr>
        <p:blipFill>
          <a:blip r:embed="rId3"/>
          <a:stretch>
            <a:fillRect/>
          </a:stretch>
        </p:blipFill>
        <p:spPr>
          <a:xfrm>
            <a:off x="6522615" y="1902111"/>
            <a:ext cx="4467766" cy="1919365"/>
          </a:xfrm>
          <a:prstGeom prst="rect">
            <a:avLst/>
          </a:prstGeom>
          <a:noFill/>
          <a:ln w="9525">
            <a:noFill/>
          </a:ln>
        </p:spPr>
      </p:pic>
      <p:sp>
        <p:nvSpPr>
          <p:cNvPr id="100" name="文本框 99"/>
          <p:cNvSpPr txBox="1"/>
          <p:nvPr>
            <p:custDataLst>
              <p:tags r:id="rId4"/>
            </p:custDataLst>
          </p:nvPr>
        </p:nvSpPr>
        <p:spPr>
          <a:xfrm>
            <a:off x="993016" y="4904545"/>
            <a:ext cx="9797901" cy="561975"/>
          </a:xfrm>
          <a:prstGeom prst="rect">
            <a:avLst/>
          </a:prstGeom>
          <a:noFill/>
          <a:ln w="9525">
            <a:noFill/>
          </a:ln>
        </p:spPr>
        <p:txBody>
          <a:bodyPr wrap="square">
            <a:spAutoFit/>
          </a:bodyPr>
          <a:p>
            <a:pPr indent="266700"/>
            <a:r>
              <a:rPr lang="en-US" altLang="zh-CN" sz="1525" b="0">
                <a:latin typeface="Calibri" panose="020F0502020204030204" charset="0"/>
                <a:ea typeface="宋体" panose="02010600030101010101" pitchFamily="2" charset="-122"/>
              </a:rPr>
              <a:t> </a:t>
            </a:r>
            <a:r>
              <a:rPr lang="zh-CN" sz="1525" b="0">
                <a:latin typeface="Calibri" panose="020F0502020204030204" charset="0"/>
                <a:ea typeface="宋体" panose="02010600030101010101" pitchFamily="2" charset="-122"/>
              </a:rPr>
              <a:t>通过以上实验可以看到，开启</a:t>
            </a:r>
            <a:r>
              <a:rPr lang="en-US" sz="1525" b="0">
                <a:latin typeface="Calibri" panose="020F0502020204030204" charset="0"/>
                <a:ea typeface="宋体" panose="02010600030101010101" pitchFamily="2" charset="-122"/>
              </a:rPr>
              <a:t>NEON</a:t>
            </a:r>
            <a:r>
              <a:rPr lang="zh-CN" sz="1525" b="0">
                <a:latin typeface="Calibri" panose="020F0502020204030204" charset="0"/>
                <a:ea typeface="宋体" panose="02010600030101010101" pitchFamily="2" charset="-122"/>
              </a:rPr>
              <a:t>加速后，图像单帧处理时间由</a:t>
            </a:r>
            <a:r>
              <a:rPr lang="en-US" sz="1525" b="0">
                <a:latin typeface="Calibri" panose="020F0502020204030204" charset="0"/>
                <a:ea typeface="宋体" panose="02010600030101010101" pitchFamily="2" charset="-122"/>
              </a:rPr>
              <a:t>75.9ms</a:t>
            </a:r>
            <a:r>
              <a:rPr lang="zh-CN" sz="1525" b="0">
                <a:latin typeface="Calibri" panose="020F0502020204030204" charset="0"/>
                <a:ea typeface="宋体" panose="02010600030101010101" pitchFamily="2" charset="-122"/>
              </a:rPr>
              <a:t>降为</a:t>
            </a:r>
            <a:r>
              <a:rPr lang="en-US" sz="1525" b="0">
                <a:latin typeface="Calibri" panose="020F0502020204030204" charset="0"/>
                <a:ea typeface="宋体" panose="02010600030101010101" pitchFamily="2" charset="-122"/>
              </a:rPr>
              <a:t>43.26ms</a:t>
            </a:r>
            <a:r>
              <a:rPr lang="zh-CN" sz="1525" b="0">
                <a:latin typeface="Calibri" panose="020F0502020204030204" charset="0"/>
                <a:ea typeface="宋体" panose="02010600030101010101" pitchFamily="2" charset="-122"/>
              </a:rPr>
              <a:t>帧率由</a:t>
            </a:r>
            <a:r>
              <a:rPr lang="en-US" sz="1525" b="0">
                <a:latin typeface="Calibri" panose="020F0502020204030204" charset="0"/>
                <a:ea typeface="宋体" panose="02010600030101010101" pitchFamily="2" charset="-122"/>
              </a:rPr>
              <a:t>13.2</a:t>
            </a:r>
            <a:r>
              <a:rPr lang="zh-CN" sz="1525" b="0">
                <a:latin typeface="Calibri" panose="020F0502020204030204" charset="0"/>
                <a:ea typeface="宋体" panose="02010600030101010101" pitchFamily="2" charset="-122"/>
              </a:rPr>
              <a:t>提升到</a:t>
            </a:r>
            <a:r>
              <a:rPr lang="en-US" sz="1525" b="0">
                <a:latin typeface="Calibri" panose="020F0502020204030204" charset="0"/>
                <a:ea typeface="宋体" panose="02010600030101010101" pitchFamily="2" charset="-122"/>
              </a:rPr>
              <a:t>22.7</a:t>
            </a:r>
            <a:r>
              <a:rPr lang="zh-CN" sz="1525" b="0">
                <a:latin typeface="Calibri" panose="020F0502020204030204" charset="0"/>
                <a:ea typeface="宋体" panose="02010600030101010101" pitchFamily="2" charset="-122"/>
              </a:rPr>
              <a:t>，</a:t>
            </a:r>
            <a:r>
              <a:rPr lang="en-US" sz="1525" b="0">
                <a:latin typeface="Calibri" panose="020F0502020204030204" charset="0"/>
                <a:ea typeface="宋体" panose="02010600030101010101" pitchFamily="2" charset="-122"/>
              </a:rPr>
              <a:t>CPU</a:t>
            </a:r>
            <a:r>
              <a:rPr lang="zh-CN" sz="1525" b="0">
                <a:latin typeface="Calibri" panose="020F0502020204030204" charset="0"/>
                <a:ea typeface="宋体" panose="02010600030101010101" pitchFamily="2" charset="-122"/>
              </a:rPr>
              <a:t>占用率由</a:t>
            </a:r>
            <a:r>
              <a:rPr lang="en-US" sz="1525" b="0">
                <a:latin typeface="Calibri" panose="020F0502020204030204" charset="0"/>
                <a:ea typeface="宋体" panose="02010600030101010101" pitchFamily="2" charset="-122"/>
              </a:rPr>
              <a:t>49.9%</a:t>
            </a:r>
            <a:r>
              <a:rPr lang="zh-CN" sz="1525" b="0">
                <a:latin typeface="Calibri" panose="020F0502020204030204" charset="0"/>
                <a:ea typeface="宋体" panose="02010600030101010101" pitchFamily="2" charset="-122"/>
              </a:rPr>
              <a:t>降到</a:t>
            </a:r>
            <a:r>
              <a:rPr lang="en-US" sz="1525" b="0">
                <a:latin typeface="Calibri" panose="020F0502020204030204" charset="0"/>
                <a:ea typeface="宋体" panose="02010600030101010101" pitchFamily="2" charset="-122"/>
              </a:rPr>
              <a:t>25.1%</a:t>
            </a:r>
            <a:r>
              <a:rPr lang="zh-CN" sz="1525" b="0">
                <a:latin typeface="Calibri" panose="020F0502020204030204" charset="0"/>
                <a:ea typeface="宋体" panose="02010600030101010101" pitchFamily="2" charset="-122"/>
              </a:rPr>
              <a:t>，从视频效果也可以看出加速后的图像相交加速前更加流畅，没有顿挫感。</a:t>
            </a:r>
            <a:endParaRPr lang="zh-CN" altLang="en-US" sz="1525" b="0">
              <a:latin typeface="Calibri" panose="020F0502020204030204" charset="0"/>
              <a:ea typeface="宋体" panose="02010600030101010101" pitchFamily="2" charset="-122"/>
            </a:endParaRPr>
          </a:p>
        </p:txBody>
      </p:sp>
      <p:sp>
        <p:nvSpPr>
          <p:cNvPr id="2" name="标题 1"/>
          <p:cNvSpPr>
            <a:spLocks noGrp="1"/>
          </p:cNvSpPr>
          <p:nvPr>
            <p:ph type="title"/>
            <p:custDataLst>
              <p:tags r:id="rId5"/>
            </p:custDataLst>
          </p:nvPr>
        </p:nvSpPr>
        <p:spPr/>
        <p:txBody>
          <a:bodyPr/>
          <a:p>
            <a:r>
              <a:rPr lang="en-US" altLang="zh-CN"/>
              <a:t>7.4 NEON</a:t>
            </a:r>
            <a:r>
              <a:rPr lang="zh-CN" altLang="en-US"/>
              <a:t>优化</a:t>
            </a:r>
            <a:endParaRPr lang="zh-CN" alt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custDataLst>
              <p:tags r:id="rId1"/>
            </p:custDataLst>
          </p:nvPr>
        </p:nvSpPr>
        <p:spPr>
          <a:xfrm>
            <a:off x="913983" y="1953455"/>
            <a:ext cx="9548438" cy="2209165"/>
          </a:xfrm>
          <a:prstGeom prst="rect">
            <a:avLst/>
          </a:prstGeom>
          <a:noFill/>
        </p:spPr>
        <p:txBody>
          <a:bodyPr wrap="square" rtlCol="0">
            <a:spAutoFit/>
          </a:bodyPr>
          <a:p>
            <a:r>
              <a:rPr lang="en-US" altLang="zh-CN" sz="1525"/>
              <a:t>1 </a:t>
            </a:r>
            <a:r>
              <a:rPr lang="zh-CN" altLang="en-US" sz="1525"/>
              <a:t>红外算法大部分的处理数据都是</a:t>
            </a:r>
            <a:r>
              <a:rPr lang="en-US" altLang="zh-CN" sz="1525"/>
              <a:t>Y16</a:t>
            </a:r>
            <a:r>
              <a:rPr lang="zh-CN" altLang="en-US" sz="1525"/>
              <a:t>，一个向量最多处理</a:t>
            </a:r>
            <a:r>
              <a:rPr lang="en-US" altLang="zh-CN" sz="1525"/>
              <a:t>8</a:t>
            </a:r>
            <a:r>
              <a:rPr lang="zh-CN" altLang="en-US" sz="1525"/>
              <a:t>个数据</a:t>
            </a:r>
            <a:endParaRPr lang="zh-CN" altLang="en-US" sz="1525"/>
          </a:p>
          <a:p>
            <a:endParaRPr lang="zh-CN" altLang="en-US" sz="1525"/>
          </a:p>
          <a:p>
            <a:r>
              <a:rPr lang="en-US" altLang="zh-CN" sz="1525"/>
              <a:t>2 </a:t>
            </a:r>
            <a:r>
              <a:rPr lang="zh-CN" altLang="en-US" sz="1525"/>
              <a:t>需要考虑</a:t>
            </a:r>
            <a:r>
              <a:rPr lang="en-US" altLang="zh-CN" sz="1525"/>
              <a:t>Y16</a:t>
            </a:r>
            <a:r>
              <a:rPr lang="zh-CN" altLang="en-US" sz="1525"/>
              <a:t>数据乘加，累加运算溢出</a:t>
            </a:r>
            <a:endParaRPr lang="zh-CN" altLang="en-US" sz="1525"/>
          </a:p>
          <a:p>
            <a:endParaRPr lang="zh-CN" altLang="en-US" sz="1525"/>
          </a:p>
          <a:p>
            <a:r>
              <a:rPr lang="en-US" altLang="zh-CN" sz="1525"/>
              <a:t>3 </a:t>
            </a:r>
            <a:r>
              <a:rPr lang="zh-CN" altLang="en-US" sz="1525"/>
              <a:t>指针数据加载，存储，类型转换都需要额外的开销</a:t>
            </a:r>
            <a:endParaRPr lang="zh-CN" altLang="en-US" sz="1525"/>
          </a:p>
          <a:p>
            <a:endParaRPr lang="zh-CN" altLang="en-US" sz="1525"/>
          </a:p>
          <a:p>
            <a:r>
              <a:rPr lang="en-US" altLang="zh-CN" sz="1525"/>
              <a:t>4 </a:t>
            </a:r>
            <a:r>
              <a:rPr lang="zh-CN" altLang="en-US" sz="1525"/>
              <a:t>部分代码需要</a:t>
            </a:r>
            <a:r>
              <a:rPr lang="en-US" altLang="zh-CN" sz="1525"/>
              <a:t>NEON</a:t>
            </a:r>
            <a:r>
              <a:rPr lang="zh-CN" altLang="en-US" sz="1525"/>
              <a:t>指令与</a:t>
            </a:r>
            <a:r>
              <a:rPr lang="en-US" altLang="zh-CN" sz="1525"/>
              <a:t>C</a:t>
            </a:r>
            <a:r>
              <a:rPr lang="zh-CN" altLang="en-US" sz="1525"/>
              <a:t>代码进行混编</a:t>
            </a:r>
            <a:endParaRPr lang="zh-CN" altLang="en-US" sz="1525"/>
          </a:p>
          <a:p>
            <a:endParaRPr lang="zh-CN" altLang="en-US" sz="1525"/>
          </a:p>
          <a:p>
            <a:r>
              <a:rPr lang="en-US" altLang="zh-CN" sz="1525"/>
              <a:t>5 Y16</a:t>
            </a:r>
            <a:r>
              <a:rPr lang="zh-CN" altLang="en-US" sz="1525"/>
              <a:t>数据查表操作只能由</a:t>
            </a:r>
            <a:r>
              <a:rPr lang="en-US" altLang="zh-CN" sz="1525"/>
              <a:t>C</a:t>
            </a:r>
            <a:r>
              <a:rPr lang="zh-CN" altLang="en-US" sz="1525"/>
              <a:t>语言实现</a:t>
            </a:r>
            <a:endParaRPr lang="zh-CN" altLang="en-US" sz="1525"/>
          </a:p>
        </p:txBody>
      </p:sp>
      <p:sp>
        <p:nvSpPr>
          <p:cNvPr id="6" name="文本框 5"/>
          <p:cNvSpPr txBox="1"/>
          <p:nvPr>
            <p:custDataLst>
              <p:tags r:id="rId2"/>
            </p:custDataLst>
          </p:nvPr>
        </p:nvSpPr>
        <p:spPr>
          <a:xfrm>
            <a:off x="974736" y="1114203"/>
            <a:ext cx="6790359" cy="326390"/>
          </a:xfrm>
          <a:prstGeom prst="rect">
            <a:avLst/>
          </a:prstGeom>
          <a:noFill/>
        </p:spPr>
        <p:txBody>
          <a:bodyPr wrap="square" rtlCol="0">
            <a:spAutoFit/>
            <a:scene3d>
              <a:camera prst="orthographicFront"/>
              <a:lightRig rig="threePt" dir="t"/>
            </a:scene3d>
          </a:bodyPr>
          <a:p>
            <a:r>
              <a:rPr lang="en-US" altLang="zh-CN" sz="1525">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NEON</a:t>
            </a:r>
            <a:r>
              <a:rPr lang="zh-CN" altLang="en-US" sz="1525">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加速实际效果与理想状态的差距</a:t>
            </a:r>
            <a:endParaRPr lang="zh-CN" altLang="en-US" sz="1525">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
        <p:nvSpPr>
          <p:cNvPr id="7" name="文本框 6"/>
          <p:cNvSpPr txBox="1"/>
          <p:nvPr/>
        </p:nvSpPr>
        <p:spPr>
          <a:xfrm>
            <a:off x="6641433" y="5757238"/>
            <a:ext cx="4064000" cy="326390"/>
          </a:xfrm>
          <a:prstGeom prst="rect">
            <a:avLst/>
          </a:prstGeom>
          <a:noFill/>
        </p:spPr>
        <p:txBody>
          <a:bodyPr wrap="square" rtlCol="0">
            <a:spAutoFit/>
          </a:bodyPr>
          <a:p>
            <a:endParaRPr lang="zh-CN" altLang="en-US" sz="1525"/>
          </a:p>
        </p:txBody>
      </p:sp>
      <p:sp>
        <p:nvSpPr>
          <p:cNvPr id="2" name="标题 1"/>
          <p:cNvSpPr>
            <a:spLocks noGrp="1"/>
          </p:cNvSpPr>
          <p:nvPr>
            <p:ph type="title"/>
            <p:custDataLst>
              <p:tags r:id="rId3"/>
            </p:custDataLst>
          </p:nvPr>
        </p:nvSpPr>
        <p:spPr/>
        <p:txBody>
          <a:bodyPr/>
          <a:p>
            <a:r>
              <a:rPr lang="en-US" altLang="zh-CN"/>
              <a:t>7.4 NEON</a:t>
            </a:r>
            <a:r>
              <a:rPr lang="zh-CN" altLang="en-US"/>
              <a:t>优化</a:t>
            </a:r>
            <a:endParaRPr lang="zh-CN" alt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3335" y="-7620"/>
            <a:ext cx="12219305" cy="6873875"/>
          </a:xfrm>
          <a:prstGeom prst="rect">
            <a:avLst/>
          </a:prstGeom>
        </p:spPr>
      </p:pic>
      <p:sp>
        <p:nvSpPr>
          <p:cNvPr id="8" name="矩形 7"/>
          <p:cNvSpPr/>
          <p:nvPr/>
        </p:nvSpPr>
        <p:spPr>
          <a:xfrm>
            <a:off x="6392663" y="2003796"/>
            <a:ext cx="6093984" cy="1134798"/>
          </a:xfrm>
          <a:prstGeom prst="rect">
            <a:avLst/>
          </a:prstGeom>
          <a:scene3d>
            <a:camera prst="orthographicFront">
              <a:rot lat="0" lon="0" rev="0"/>
            </a:camera>
            <a:lightRig rig="threePt" dir="t"/>
          </a:scene3d>
        </p:spPr>
        <p:txBody>
          <a:bodyPr>
            <a:spAutoFit/>
          </a:bodyPr>
          <a:lstStyle/>
          <a:p>
            <a:r>
              <a:rPr lang="en-US" altLang="zh-CN" sz="6775"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Thanks!</a:t>
            </a:r>
            <a:endParaRPr lang="zh-CN" altLang="en-US" sz="6775"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5" name="矩形 4"/>
          <p:cNvSpPr/>
          <p:nvPr/>
        </p:nvSpPr>
        <p:spPr>
          <a:xfrm>
            <a:off x="8513445" y="5995670"/>
            <a:ext cx="4060825" cy="403860"/>
          </a:xfrm>
          <a:prstGeom prst="rect">
            <a:avLst/>
          </a:prstGeom>
        </p:spPr>
        <p:txBody>
          <a:bodyPr wrap="square">
            <a:spAutoFit/>
          </a:bodyPr>
          <a:lstStyle/>
          <a:p>
            <a:r>
              <a:rPr lang="zh-CN" altLang="en-US" sz="1015"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武汉高德智感科技有限公司</a:t>
            </a:r>
            <a:endParaRPr lang="zh-CN" altLang="en-US" sz="1015"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a:p>
            <a:r>
              <a:rPr lang="en-US" altLang="zh-CN" sz="1015"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Wuhan Guide Sensmart Tech Co.,Ltd.</a:t>
            </a:r>
            <a:endParaRPr lang="zh-CN" altLang="en-US" sz="1015"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0" name="矩形 9"/>
          <p:cNvSpPr/>
          <p:nvPr/>
        </p:nvSpPr>
        <p:spPr>
          <a:xfrm>
            <a:off x="8513445" y="6399530"/>
            <a:ext cx="4262120" cy="403860"/>
          </a:xfrm>
          <a:prstGeom prst="rect">
            <a:avLst/>
          </a:prstGeom>
        </p:spPr>
        <p:txBody>
          <a:bodyPr wrap="square">
            <a:spAutoFit/>
          </a:bodyPr>
          <a:lstStyle/>
          <a:p>
            <a:r>
              <a:rPr lang="zh-CN" altLang="en-US" sz="1015"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湖北省武汉市东湖开发区光谷大道黄龙山南路</a:t>
            </a:r>
            <a:r>
              <a:rPr lang="en-US" altLang="zh-CN" sz="1015"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6</a:t>
            </a:r>
            <a:r>
              <a:rPr lang="zh-CN" altLang="en-US" sz="1015"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号，</a:t>
            </a:r>
            <a:r>
              <a:rPr lang="en-US" altLang="zh-CN" sz="1015"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430205</a:t>
            </a:r>
            <a:endParaRPr lang="en-US" altLang="zh-CN" sz="1015"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a:p>
            <a:r>
              <a:rPr lang="en-US" altLang="zh-CN" sz="1015"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No.6 Huanglongshan South Rd,Wuhan,430205,P.R.China</a:t>
            </a:r>
            <a:endParaRPr lang="zh-CN" altLang="en-US" sz="1015"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pic>
        <p:nvPicPr>
          <p:cNvPr id="3" name="图片 2" descr="扫码评价"/>
          <p:cNvPicPr>
            <a:picLocks noChangeAspect="1"/>
          </p:cNvPicPr>
          <p:nvPr/>
        </p:nvPicPr>
        <p:blipFill>
          <a:blip r:embed="rId2"/>
          <a:stretch>
            <a:fillRect/>
          </a:stretch>
        </p:blipFill>
        <p:spPr>
          <a:xfrm>
            <a:off x="-13335" y="-7620"/>
            <a:ext cx="5083810" cy="68732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nodeType="withEffect">
                                  <p:stCondLst>
                                    <p:cond delay="0"/>
                                  </p:stCondLst>
                                  <p:iterate type="lt">
                                    <p:tmPct val="10000"/>
                                  </p:iterate>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p:cTn id="7" dur="500" fill="hold"/>
                                        <p:tgtEl>
                                          <p:spTgt spid="8">
                                            <p:txEl>
                                              <p:pRg st="0" end="0"/>
                                            </p:txEl>
                                          </p:spTgt>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8">
                                            <p:txEl>
                                              <p:pRg st="0" end="0"/>
                                            </p:txEl>
                                          </p:spTgt>
                                        </p:tgtEl>
                                        <p:attrNameLst>
                                          <p:attrName>ppt_y</p:attrName>
                                        </p:attrNameLst>
                                      </p:cBhvr>
                                      <p:tavLst>
                                        <p:tav tm="0">
                                          <p:val>
                                            <p:strVal val="#ppt_y"/>
                                          </p:val>
                                        </p:tav>
                                        <p:tav tm="100000">
                                          <p:val>
                                            <p:strVal val="#ppt_y"/>
                                          </p:val>
                                        </p:tav>
                                      </p:tavLst>
                                    </p:anim>
                                    <p:anim calcmode="lin" valueType="num">
                                      <p:cBhvr>
                                        <p:cTn id="9" dur="500" fill="hold"/>
                                        <p:tgtEl>
                                          <p:spTgt spid="8">
                                            <p:txEl>
                                              <p:pRg st="0" end="0"/>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8">
                                            <p:txEl>
                                              <p:pRg st="0" end="0"/>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8">
                                            <p:txEl>
                                              <p:pRg st="0" end="0"/>
                                            </p:txEl>
                                          </p:spTgt>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0" grpId="0"/>
    </p:bldLst>
  </p:timing>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UNIT_PLACING_PICTURE_USER_VIEWPORT" val="{&quot;height&quot;:2730,&quot;width&quot;:7740}"/>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KSO_WM_UNIT_TABLE_BEAUTIFY" val="smartTable{1f0b03a9-7ebd-4e31-8927-099c8558fa28}"/>
  <p:tag name="TABLE_ENDDRAG_ORIGIN_RECT" val="460*201"/>
  <p:tag name="TABLE_ENDDRAG_RECT" val="198*97*460*201"/>
  <p:tag name="KSO_WM_BEAUTIFY_FLAG" val=""/>
</p:tagLst>
</file>

<file path=ppt/tags/tag130.xml><?xml version="1.0" encoding="utf-8"?>
<p:tagLst xmlns:p="http://schemas.openxmlformats.org/presentationml/2006/main">
  <p:tag name="KSO_WM_BEAUTIFY_FLAG" val=""/>
</p:tagLst>
</file>

<file path=ppt/tags/tag131.xml><?xml version="1.0" encoding="utf-8"?>
<p:tagLst xmlns:p="http://schemas.openxmlformats.org/presentationml/2006/main">
  <p:tag name="KSO_WM_BEAUTIFY_FLAG" val=""/>
</p:tagLst>
</file>

<file path=ppt/tags/tag132.xml><?xml version="1.0" encoding="utf-8"?>
<p:tagLst xmlns:p="http://schemas.openxmlformats.org/presentationml/2006/main">
  <p:tag name="KSO_WM_BEAUTIFY_FLAG" val=""/>
</p:tagLst>
</file>

<file path=ppt/tags/tag133.xml><?xml version="1.0" encoding="utf-8"?>
<p:tagLst xmlns:p="http://schemas.openxmlformats.org/presentationml/2006/main">
  <p:tag name="KSO_WM_BEAUTIFY_FLAG" val=""/>
</p:tagLst>
</file>

<file path=ppt/tags/tag134.xml><?xml version="1.0" encoding="utf-8"?>
<p:tagLst xmlns:p="http://schemas.openxmlformats.org/presentationml/2006/main">
  <p:tag name="KSO_WM_BEAUTIFY_FLAG" val=""/>
</p:tagLst>
</file>

<file path=ppt/tags/tag135.xml><?xml version="1.0" encoding="utf-8"?>
<p:tagLst xmlns:p="http://schemas.openxmlformats.org/presentationml/2006/main">
  <p:tag name="KSO_WM_BEAUTIFY_FLAG" val=""/>
</p:tagLst>
</file>

<file path=ppt/tags/tag136.xml><?xml version="1.0" encoding="utf-8"?>
<p:tagLst xmlns:p="http://schemas.openxmlformats.org/presentationml/2006/main">
  <p:tag name="KSO_WPP_MARK_KEY" val="d56400f6-bfd5-459c-a3f9-28c945937f3c"/>
  <p:tag name="COMMONDATA" val="eyJoZGlkIjoiOTQ1YjM4ZjE4OGFiOTQ5ZjBiOThmZTEzMjM5YTlkNTAifQ=="/>
</p:tagLst>
</file>

<file path=ppt/theme/theme1.xml><?xml version="1.0" encoding="utf-8"?>
<a:theme xmlns:a="http://schemas.openxmlformats.org/drawingml/2006/main" name="default">
  <a:themeElements>
    <a:clrScheme name="高德智感">
      <a:dk1>
        <a:srgbClr val="000000"/>
      </a:dk1>
      <a:lt1>
        <a:srgbClr val="F5F5F5"/>
      </a:lt1>
      <a:dk2>
        <a:srgbClr val="C90915"/>
      </a:dk2>
      <a:lt2>
        <a:srgbClr val="B4B4B4"/>
      </a:lt2>
      <a:accent1>
        <a:srgbClr val="FFF100"/>
      </a:accent1>
      <a:accent2>
        <a:srgbClr val="6A258A"/>
      </a:accent2>
      <a:accent3>
        <a:srgbClr val="3D9740"/>
      </a:accent3>
      <a:accent4>
        <a:srgbClr val="E62E8B"/>
      </a:accent4>
      <a:accent5>
        <a:srgbClr val="1D50A2"/>
      </a:accent5>
      <a:accent6>
        <a:srgbClr val="FFFFFF"/>
      </a:accent6>
      <a:hlink>
        <a:srgbClr val="000099"/>
      </a:hlink>
      <a:folHlink>
        <a:srgbClr val="5F5F5F"/>
      </a:folHlink>
    </a:clrScheme>
    <a:fontScheme name="高德红外">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lnDef>
      <a:spPr>
        <a:ln w="57150">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Template>
  <TotalTime>0</TotalTime>
  <Words>5909</Words>
  <Application>WPS 演示</Application>
  <PresentationFormat>宽屏</PresentationFormat>
  <Paragraphs>462</Paragraphs>
  <Slides>44</Slides>
  <Notes>21</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vt:i4>
      </vt:variant>
      <vt:variant>
        <vt:lpstr>幻灯片标题</vt:lpstr>
      </vt:variant>
      <vt:variant>
        <vt:i4>44</vt:i4>
      </vt:variant>
    </vt:vector>
  </HeadingPairs>
  <TitlesOfParts>
    <vt:vector size="57" baseType="lpstr">
      <vt:lpstr>Arial</vt:lpstr>
      <vt:lpstr>宋体</vt:lpstr>
      <vt:lpstr>Wingdings</vt:lpstr>
      <vt:lpstr>微软雅黑</vt:lpstr>
      <vt:lpstr>Impact</vt:lpstr>
      <vt:lpstr>张海山锐谐体</vt:lpstr>
      <vt:lpstr>Arial Unicode MS</vt:lpstr>
      <vt:lpstr>Calibri</vt:lpstr>
      <vt:lpstr>黑体</vt:lpstr>
      <vt:lpstr>Times New Roman</vt:lpstr>
      <vt:lpstr>Wingdings</vt:lpstr>
      <vt:lpstr>default</vt:lpstr>
      <vt:lpstr>Visio.Drawing.15</vt:lpstr>
      <vt:lpstr>快门/激光技术及算法知识分享</vt:lpstr>
      <vt:lpstr>PowerPoint 演示文稿</vt:lpstr>
      <vt:lpstr>一、激光</vt:lpstr>
      <vt:lpstr>一、激光</vt:lpstr>
      <vt:lpstr>一、激光</vt:lpstr>
      <vt:lpstr>一、激光</vt:lpstr>
      <vt:lpstr>一、激光</vt:lpstr>
      <vt:lpstr>二、快门</vt:lpstr>
      <vt:lpstr>二、快门</vt:lpstr>
      <vt:lpstr>二、快门</vt:lpstr>
      <vt:lpstr>二、快门</vt:lpstr>
      <vt:lpstr>三、激光结构设计</vt:lpstr>
      <vt:lpstr>三、激光结构设计</vt:lpstr>
      <vt:lpstr>三、激光结构设计</vt:lpstr>
      <vt:lpstr>三、激光结构设计</vt:lpstr>
      <vt:lpstr>三、激光结构设计</vt:lpstr>
      <vt:lpstr>四、快门选型及结构设计</vt:lpstr>
      <vt:lpstr>四、快门选型及结构设计</vt:lpstr>
      <vt:lpstr>四、快门选型及结构设计</vt:lpstr>
      <vt:lpstr>四、快门选型及结构设计</vt:lpstr>
      <vt:lpstr>四、快门选型及结构设计</vt:lpstr>
      <vt:lpstr>五、激光测距测试方案</vt:lpstr>
      <vt:lpstr>六、快门测试方案</vt:lpstr>
      <vt:lpstr>六、快门测试方案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7.4 NEON优化</vt:lpstr>
      <vt:lpstr>PowerPoint 演示文稿</vt:lpstr>
      <vt:lpstr>7.4 NEON优化</vt:lpstr>
      <vt:lpstr>7.4 NEON优化</vt:lpstr>
      <vt:lpstr>7.4 NEON优化</vt:lpstr>
      <vt:lpstr>7.4 NEON优化</vt:lpstr>
      <vt:lpstr>7.4 NEON优化</vt:lpstr>
      <vt:lpstr>7.4 NEON优化</vt:lpstr>
      <vt:lpstr>7.4 NEON优化</vt:lpstr>
      <vt:lpstr>7.4 NEON优化</vt:lpstr>
      <vt:lpstr>7.4 NEON优化</vt:lpstr>
      <vt:lpstr>PowerPoint 演示文稿</vt:lpstr>
    </vt:vector>
  </TitlesOfParts>
  <Company>SysCeo.com</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崔红豆</dc:creator>
  <cp:lastModifiedBy>juan</cp:lastModifiedBy>
  <cp:revision>747</cp:revision>
  <dcterms:created xsi:type="dcterms:W3CDTF">2022-12-21T00:54:00Z</dcterms:created>
  <dcterms:modified xsi:type="dcterms:W3CDTF">2023-08-31T05:52:54Z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6C12E01629CD467E905130C3FAA50FA3_13</vt:lpwstr>
  </property>
  <property fmtid="{D5CDD505-2E9C-101B-9397-08002B2CF9AE}" pid="3" name="KSOProductBuildVer">
    <vt:lpwstr>2052-12.1.0.15120</vt:lpwstr>
  </property>
</Properties>
</file>